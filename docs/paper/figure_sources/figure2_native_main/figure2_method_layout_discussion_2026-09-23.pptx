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46304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/>
    <p:restoredTop sz="94658"/>
  </p:normalViewPr>
  <p:slideViewPr>
    <p:cSldViewPr snapToGrid="0">
      <p:cViewPr varScale="1">
        <p:scale>
          <a:sx n="116" d="100"/>
          <a:sy n="116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stored teacher annotation arrow HF supervision (optional)"/>
          <p:cNvSpPr/>
          <p:nvPr/>
        </p:nvSpPr>
        <p:spPr>
          <a:xfrm>
            <a:off x="127762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</p:sp>
      <p:sp>
        <p:nvSpPr>
          <p:cNvPr id="239" name="Restored teacher annotation arrow Native + C/W classification"/>
          <p:cNvSpPr/>
          <p:nvPr/>
        </p:nvSpPr>
        <p:spPr>
          <a:xfrm>
            <a:off x="107696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</p:sp>
      <p:sp>
        <p:nvSpPr>
          <p:cNvPr id="237" name="Restored teacher annotation arrow Attention regularization"/>
          <p:cNvSpPr/>
          <p:nvPr/>
        </p:nvSpPr>
        <p:spPr>
          <a:xfrm>
            <a:off x="88138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</p:sp>
      <p:sp>
        <p:nvSpPr>
          <p:cNvPr id="235" name="Restored teacher annotation arrow Patient contrastive"/>
          <p:cNvSpPr/>
          <p:nvPr/>
        </p:nvSpPr>
        <p:spPr>
          <a:xfrm>
            <a:off x="64770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</p:sp>
      <p:sp>
        <p:nvSpPr>
          <p:cNvPr id="234" name="HF loss to objective"/>
          <p:cNvSpPr/>
          <p:nvPr/>
        </p:nvSpPr>
        <p:spPr>
          <a:xfrm>
            <a:off x="12649200" y="4800600"/>
            <a:ext cx="127000" cy="457200"/>
          </a:xfrm>
          <a:custGeom>
            <a:avLst/>
            <a:gdLst/>
            <a:ahLst/>
            <a:cxnLst/>
            <a:rect l="0" t="0" r="r" b="b"/>
            <a:pathLst>
              <a:path w="127000" h="457200" fill="none" stroke="1">
                <a:moveTo>
                  <a:pt x="0" y="0"/>
                </a:moveTo>
                <a:lnTo>
                  <a:pt x="0" y="254000"/>
                </a:lnTo>
                <a:lnTo>
                  <a:pt x="127000" y="254000"/>
                </a:lnTo>
                <a:lnTo>
                  <a:pt x="127000" y="4572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  <a:tailEnd type="triangle" w="sm" len="sm"/>
          </a:ln>
        </p:spPr>
      </p:sp>
      <p:sp>
        <p:nvSpPr>
          <p:cNvPr id="233" name="Classification loss to objective"/>
          <p:cNvSpPr/>
          <p:nvPr/>
        </p:nvSpPr>
        <p:spPr>
          <a:xfrm>
            <a:off x="8788400" y="4800600"/>
            <a:ext cx="1981200" cy="457200"/>
          </a:xfrm>
          <a:custGeom>
            <a:avLst/>
            <a:gdLst/>
            <a:ahLst/>
            <a:cxnLst/>
            <a:rect l="0" t="0" r="r" b="b"/>
            <a:pathLst>
              <a:path w="1981200" h="457200" fill="none" stroke="1">
                <a:moveTo>
                  <a:pt x="0" y="0"/>
                </a:moveTo>
                <a:lnTo>
                  <a:pt x="0" y="127000"/>
                </a:lnTo>
                <a:lnTo>
                  <a:pt x="1981200" y="127000"/>
                </a:lnTo>
                <a:lnTo>
                  <a:pt x="1981200" y="4572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232" name="Patient contrastive term branch"/>
          <p:cNvSpPr/>
          <p:nvPr/>
        </p:nvSpPr>
        <p:spPr>
          <a:xfrm>
            <a:off x="6477000" y="5080000"/>
            <a:ext cx="13" cy="177800"/>
          </a:xfrm>
          <a:custGeom>
            <a:avLst/>
            <a:gdLst/>
            <a:ahLst/>
            <a:cxnLst/>
            <a:rect l="0" t="0" r="r" b="b"/>
            <a:pathLst>
              <a:path w="13" h="177800" fill="none" stroke="1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16510">
            <a:solidFill>
              <a:srgbClr val="7030A0"/>
            </a:solidFill>
            <a:prstDash val="dash"/>
            <a:round/>
            <a:tailEnd type="triangle" w="sm" len="sm"/>
          </a:ln>
        </p:spPr>
      </p:sp>
      <p:sp>
        <p:nvSpPr>
          <p:cNvPr id="231" name="PAFA regularization to objective terms"/>
          <p:cNvSpPr/>
          <p:nvPr/>
        </p:nvSpPr>
        <p:spPr>
          <a:xfrm>
            <a:off x="5753100" y="4800600"/>
            <a:ext cx="3060700" cy="457200"/>
          </a:xfrm>
          <a:custGeom>
            <a:avLst/>
            <a:gdLst/>
            <a:ahLst/>
            <a:cxnLst/>
            <a:rect l="0" t="0" r="r" b="b"/>
            <a:pathLst>
              <a:path w="3060700" h="457200" fill="none" stroke="1">
                <a:moveTo>
                  <a:pt x="0" y="0"/>
                </a:moveTo>
                <a:lnTo>
                  <a:pt x="0" y="279400"/>
                </a:lnTo>
                <a:lnTo>
                  <a:pt x="3060700" y="279400"/>
                </a:lnTo>
                <a:lnTo>
                  <a:pt x="3060700" y="457200"/>
                </a:lnTo>
              </a:path>
            </a:pathLst>
          </a:custGeom>
          <a:noFill/>
          <a:ln w="16510">
            <a:solidFill>
              <a:srgbClr val="7030A0"/>
            </a:solidFill>
            <a:prstDash val="dash"/>
            <a:round/>
            <a:tailEnd type="triangle" w="sm" len="sm"/>
          </a:ln>
        </p:spPr>
      </p:sp>
      <p:sp>
        <p:nvSpPr>
          <p:cNvPr id="220" name="Optional HF C/W supervision"/>
          <p:cNvSpPr/>
          <p:nvPr/>
        </p:nvSpPr>
        <p:spPr>
          <a:xfrm>
            <a:off x="8140700" y="4140200"/>
            <a:ext cx="4508500" cy="152400"/>
          </a:xfrm>
          <a:custGeom>
            <a:avLst/>
            <a:gdLst/>
            <a:ahLst/>
            <a:cxnLst/>
            <a:rect l="0" t="0" r="r" b="b"/>
            <a:pathLst>
              <a:path w="4508500" h="152400" fill="none" stroke="1">
                <a:moveTo>
                  <a:pt x="0" y="0"/>
                </a:moveTo>
                <a:lnTo>
                  <a:pt x="4508500" y="0"/>
                </a:lnTo>
                <a:lnTo>
                  <a:pt x="4508500" y="152400"/>
                </a:lnTo>
              </a:path>
            </a:pathLst>
          </a:custGeom>
          <a:noFill/>
          <a:ln w="16510">
            <a:solidFill>
              <a:srgbClr val="B6993A"/>
            </a:solidFill>
            <a:prstDash val="dash"/>
            <a:round/>
            <a:tailEnd type="triangle" w="sm" len="sm"/>
          </a:ln>
        </p:spPr>
      </p:sp>
      <p:sp>
        <p:nvSpPr>
          <p:cNvPr id="218" name="Attention representation to regularization"/>
          <p:cNvSpPr/>
          <p:nvPr/>
        </p:nvSpPr>
        <p:spPr>
          <a:xfrm>
            <a:off x="57531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 stroke="1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</p:sp>
      <p:sp>
        <p:nvSpPr>
          <p:cNvPr id="217" name="Wheeze supervision to Lcls"/>
          <p:cNvSpPr/>
          <p:nvPr/>
        </p:nvSpPr>
        <p:spPr>
          <a:xfrm>
            <a:off x="94742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 stroke="1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216" name="Crackle supervision to Lcls"/>
          <p:cNvSpPr/>
          <p:nvPr/>
        </p:nvSpPr>
        <p:spPr>
          <a:xfrm>
            <a:off x="81407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 stroke="1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215" name="Native task supervision to Lcls"/>
          <p:cNvSpPr/>
          <p:nvPr/>
        </p:nvSpPr>
        <p:spPr>
          <a:xfrm>
            <a:off x="7315200" y="3441700"/>
            <a:ext cx="101600" cy="1104900"/>
          </a:xfrm>
          <a:custGeom>
            <a:avLst/>
            <a:gdLst/>
            <a:ahLst/>
            <a:cxnLst/>
            <a:rect l="0" t="0" r="r" b="b"/>
            <a:pathLst>
              <a:path w="101600" h="1104900" fill="none" stroke="1">
                <a:moveTo>
                  <a:pt x="0" y="0"/>
                </a:moveTo>
                <a:lnTo>
                  <a:pt x="0" y="1104900"/>
                </a:lnTo>
                <a:lnTo>
                  <a:pt x="101600" y="11049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  <a:tailEnd type="triangle" w="sm" len="sm"/>
          </a:ln>
        </p:spPr>
      </p:sp>
      <p:sp>
        <p:nvSpPr>
          <p:cNvPr id="214" name="Native task supervision upper route"/>
          <p:cNvSpPr/>
          <p:nvPr/>
        </p:nvSpPr>
        <p:spPr>
          <a:xfrm>
            <a:off x="7315200" y="2768600"/>
            <a:ext cx="101600" cy="546100"/>
          </a:xfrm>
          <a:custGeom>
            <a:avLst/>
            <a:gdLst/>
            <a:ahLst/>
            <a:cxnLst/>
            <a:rect l="0" t="0" r="r" b="b"/>
            <a:pathLst>
              <a:path w="101600" h="546100" fill="none" stroke="1">
                <a:moveTo>
                  <a:pt x="101600" y="0"/>
                </a:moveTo>
                <a:lnTo>
                  <a:pt x="0" y="0"/>
                </a:lnTo>
                <a:lnTo>
                  <a:pt x="0" y="546100"/>
                </a:lnTo>
              </a:path>
            </a:pathLst>
          </a:custGeom>
          <a:noFill/>
          <a:ln w="16510">
            <a:solidFill>
              <a:srgbClr val="32631C"/>
            </a:solidFill>
            <a:prstDash val="dash"/>
            <a:round/>
          </a:ln>
        </p:spPr>
      </p:sp>
      <p:sp>
        <p:nvSpPr>
          <p:cNvPr id="213" name="SPRSound native readout"/>
          <p:cNvSpPr/>
          <p:nvPr/>
        </p:nvSpPr>
        <p:spPr>
          <a:xfrm>
            <a:off x="10033000" y="2413000"/>
            <a:ext cx="1041400" cy="1244600"/>
          </a:xfrm>
          <a:custGeom>
            <a:avLst/>
            <a:gdLst/>
            <a:ahLst/>
            <a:cxnLst/>
            <a:rect l="0" t="0" r="r" b="b"/>
            <a:pathLst>
              <a:path w="1041400" h="1244600" fill="none" stroke="1">
                <a:moveTo>
                  <a:pt x="0" y="0"/>
                </a:moveTo>
                <a:lnTo>
                  <a:pt x="533400" y="0"/>
                </a:lnTo>
                <a:lnTo>
                  <a:pt x="533400" y="1244600"/>
                </a:lnTo>
                <a:lnTo>
                  <a:pt x="1041400" y="1244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12" name="ICBHI to KAUH"/>
          <p:cNvSpPr/>
          <p:nvPr/>
        </p:nvSpPr>
        <p:spPr>
          <a:xfrm>
            <a:off x="10871200" y="2997200"/>
            <a:ext cx="203200" cy="13"/>
          </a:xfrm>
          <a:custGeom>
            <a:avLst/>
            <a:gdLst/>
            <a:ahLst/>
            <a:cxnLst/>
            <a:rect l="0" t="0" r="r" b="b"/>
            <a:pathLst>
              <a:path w="203200" h="13" fill="none" stroke="1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11" name="ICBHI to HF test"/>
          <p:cNvSpPr/>
          <p:nvPr/>
        </p:nvSpPr>
        <p:spPr>
          <a:xfrm>
            <a:off x="10871200" y="2311400"/>
            <a:ext cx="203200" cy="13"/>
          </a:xfrm>
          <a:custGeom>
            <a:avLst/>
            <a:gdLst/>
            <a:ahLst/>
            <a:cxnLst/>
            <a:rect l="0" t="0" r="r" b="b"/>
            <a:pathLst>
              <a:path w="203200" h="13" fill="none" stroke="1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10" name="ICBHI external readout bus"/>
          <p:cNvSpPr/>
          <p:nvPr/>
        </p:nvSpPr>
        <p:spPr>
          <a:xfrm>
            <a:off x="10871200" y="1625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 stroke="1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09" name="ICBHI native readout"/>
          <p:cNvSpPr/>
          <p:nvPr/>
        </p:nvSpPr>
        <p:spPr>
          <a:xfrm>
            <a:off x="10033000" y="1625600"/>
            <a:ext cx="1041400" cy="13"/>
          </a:xfrm>
          <a:custGeom>
            <a:avLst/>
            <a:gdLst/>
            <a:ahLst/>
            <a:cxnLst/>
            <a:rect l="0" t="0" r="r" b="b"/>
            <a:pathLst>
              <a:path w="1041400" h="13" fill="none" stroke="1">
                <a:moveTo>
                  <a:pt x="0" y="0"/>
                </a:moveTo>
                <a:lnTo>
                  <a:pt x="1041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8" name="Shared h to Wheeze"/>
          <p:cNvSpPr/>
          <p:nvPr/>
        </p:nvSpPr>
        <p:spPr>
          <a:xfrm>
            <a:off x="9474200" y="3378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7" name="Shared h to Crackle"/>
          <p:cNvSpPr/>
          <p:nvPr/>
        </p:nvSpPr>
        <p:spPr>
          <a:xfrm>
            <a:off x="8140700" y="3378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6" name="Shared h to SPRSound"/>
          <p:cNvSpPr/>
          <p:nvPr/>
        </p:nvSpPr>
        <p:spPr>
          <a:xfrm>
            <a:off x="7188200" y="24130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 stroke="1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 stroke="1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4" name="Shared representation vertical bus"/>
          <p:cNvSpPr/>
          <p:nvPr/>
        </p:nvSpPr>
        <p:spPr>
          <a:xfrm>
            <a:off x="7188200" y="1625600"/>
            <a:ext cx="2286000" cy="1752600"/>
          </a:xfrm>
          <a:custGeom>
            <a:avLst/>
            <a:gdLst/>
            <a:ahLst/>
            <a:cxnLst/>
            <a:rect l="0" t="0" r="r" b="b"/>
            <a:pathLst>
              <a:path w="2286000" h="1752600" fill="none" stroke="1">
                <a:moveTo>
                  <a:pt x="0" y="0"/>
                </a:moveTo>
                <a:lnTo>
                  <a:pt x="0" y="1752600"/>
                </a:lnTo>
                <a:lnTo>
                  <a:pt x="2286000" y="1752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 stroke="1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</p:sp>
      <p:sp>
        <p:nvSpPr>
          <p:cNvPr id="202" name="Encoder tokens to attention"/>
          <p:cNvSpPr/>
          <p:nvPr/>
        </p:nvSpPr>
        <p:spPr>
          <a:xfrm>
            <a:off x="4419600" y="2197100"/>
            <a:ext cx="304800" cy="1460500"/>
          </a:xfrm>
          <a:custGeom>
            <a:avLst/>
            <a:gdLst/>
            <a:ahLst/>
            <a:cxnLst/>
            <a:rect l="0" t="0" r="r" b="b"/>
            <a:pathLst>
              <a:path w="304800" h="1460500" fill="none" stroke="1">
                <a:moveTo>
                  <a:pt x="0" y="0"/>
                </a:moveTo>
                <a:lnTo>
                  <a:pt x="0" y="1460500"/>
                </a:lnTo>
                <a:lnTo>
                  <a:pt x="304800" y="14605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1" name="Encoder to mean pooling"/>
          <p:cNvSpPr/>
          <p:nvPr/>
        </p:nvSpPr>
        <p:spPr>
          <a:xfrm>
            <a:off x="4191000" y="2197100"/>
            <a:ext cx="533400" cy="13"/>
          </a:xfrm>
          <a:custGeom>
            <a:avLst/>
            <a:gdLst/>
            <a:ahLst/>
            <a:cxnLst/>
            <a:rect l="0" t="0" r="r" b="b"/>
            <a:pathLst>
              <a:path w="533400" h="13" fill="none" stroke="1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200" name="Audio to BEATs"/>
          <p:cNvSpPr/>
          <p:nvPr/>
        </p:nvSpPr>
        <p:spPr>
          <a:xfrm>
            <a:off x="2501900" y="2387600"/>
            <a:ext cx="317500" cy="13"/>
          </a:xfrm>
          <a:custGeom>
            <a:avLst/>
            <a:gdLst/>
            <a:ahLst/>
            <a:cxnLst/>
            <a:rect l="0" t="0" r="r" b="b"/>
            <a:pathLst>
              <a:path w="317500" h="13" fill="none" stroke="1">
                <a:moveTo>
                  <a:pt x="0" y="0"/>
                </a:moveTo>
                <a:lnTo>
                  <a:pt x="3175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</p:sp>
      <p:sp>
        <p:nvSpPr>
          <p:cNvPr id="135" name="Auxiliary heads boundary"/>
          <p:cNvSpPr/>
          <p:nvPr/>
        </p:nvSpPr>
        <p:spPr>
          <a:xfrm>
            <a:off x="7416800" y="3429000"/>
            <a:ext cx="2743200" cy="6096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7416800" y="1270000"/>
            <a:ext cx="2743200" cy="14986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2819400" y="15621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908300" y="19050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71600"/>
            <a:ext cx="2489200" cy="5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2159000"/>
            <a:ext cx="2489200" cy="5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rtlCol="0" anchor="b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Native 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41402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/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3530600"/>
            <a:ext cx="1193800" cy="4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3530600"/>
            <a:ext cx="1117600" cy="406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10744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1023600" y="914400"/>
            <a:ext cx="3251200" cy="355600"/>
          </a:xfrm>
          <a:prstGeom prst="rect">
            <a:avLst/>
          </a:prstGeom>
          <a:noFill/>
        </p:spPr>
        <p:txBody>
          <a:bodyPr wrap="square" rtlCol="0" anchor="b" bIns="0">
            <a:spAutoFit/>
          </a:bodyPr>
          <a:lstStyle/>
          <a:p>
            <a:pPr algn="ctr"/>
            <a:r>
              <a:rPr lang="en-US" b="1" dirty="0" sz="160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1074400" y="3378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10744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1400" dirty="0">
                    <a:solidFill>
                      <a:schemeClr val="tx1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/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1074400" y="2717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/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200764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30700" y="15875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4241800" y="1778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5257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751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143500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4" name="Auxiliary C/W heads heading"/>
          <p:cNvSpPr txBox="1"/>
          <p:nvPr/>
        </p:nvSpPr>
        <p:spPr>
          <a:xfrm>
            <a:off x="7416800" y="3035300"/>
            <a:ext cx="2743200" cy="342900"/>
          </a:xfrm>
          <a:prstGeom prst="rect">
            <a:avLst/>
          </a:prstGeom>
          <a:noFill/>
        </p:spPr>
        <p:txBody>
          <a:bodyPr wrap="none" rtlCol="0" anchor="b" tIns="0" bIns="0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Auxiliary C/W heads</a:t>
            </a:r>
          </a:p>
        </p:txBody>
      </p:sp>
      <p:sp xmlns:a14="http://schemas.microsoft.com/office/drawing/2010/main">
        <p:nvSpPr>
          <p:cNvPr id="136" name="Shared representation h_i"/>
          <p:cNvSpPr>
            <a:spLocks noGrp="1"/>
          </p:cNvSpPr>
          <p:nvPr/>
        </p:nvSpPr>
        <p:spPr>
          <a:xfrm>
            <a:off x="6845300" y="1905000"/>
            <a:ext cx="2794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00" b="0" i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</m:ctrlPr>
                    </m:sSubPr>
                    <m:e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</m:e>
                    <m:sub>
                      <m:r>
                        <a:rPr lang="en-US" sz="1400" b="0" i="1" smtClean="0">
                          <a:solidFill>
                            <a:srgbClr val="242424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𝑖</m:t>
                      </m:r>
                    </m:sub>
                  </m:sSub>
                </m:oMath>
              </m:oMathPara>
            </a14:m>
            <a:endParaRPr sz="900" b="0" i="1" baseline="-20000" dirty="0">
              <a:solidFill>
                <a:srgbClr val="242424"/>
              </a:solidFill>
              <a:latin typeface="Arial"/>
              <a:ea typeface="Arial"/>
              <a:cs typeface="Arial"/>
            </a:endParaRPr>
          </a:p>
        </p:txBody>
      </p:sp>
      <p:sp xmlns:a14="http://schemas.microsoft.com/office/drawing/2010/main">
        <p:nvSpPr>
          <p:cNvPr id="156" name="PAFA regularization losses"/>
          <p:cNvSpPr/>
          <p:nvPr/>
        </p:nvSpPr>
        <p:spPr>
          <a:xfrm>
            <a:off x="4724400" y="4292600"/>
            <a:ext cx="2057400" cy="508000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a14:m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PCSL</ns0:t>
                      </ns0:r>
                    </ns0:sub>
                  </ns0:sSub>
                  <ns0:r>
                    <ns0:rPr>
                      <ns0:nor/>
                    </ns0:rPr>
                    <a:rPr lang="en-US" i="1" smtClean="0" sz="180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ns0:t>, </ns0:t>
                  </ns0:r>
                  <ns0:sSub>
                    <ns0:sSubPr>
                      <ns0:ctrl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GPAL</ns0:t>
                      </ns0:r>
                    </ns0:sub>
                  </ns0:sSub>
                </ns0:oMath>
              </ns0:oMathPara>
            </a14:m>
          </a:p>
          <a:p>
            <a:pPr algn="ctr"/>
            <a:r>
              <a:rPr sz="1200" lang="en-US">
                <a:solidFill>
                  <a:srgbClr val="7030A0"/>
                </a:solidFill>
                <a:latin typeface="Arial"/>
              </a:rPr>
              <a:t>Patient regularization</a:t>
            </a:r>
          </a:p>
        </p:txBody>
      </p:sp>
      <p:sp>
        <p:nvSpPr>
          <p:cNvPr id="157" name="Classification loss L_cls"/>
          <p:cNvSpPr/>
          <p:nvPr/>
        </p:nvSpPr>
        <p:spPr>
          <a:xfrm>
            <a:off x="7416800" y="4292600"/>
            <a:ext cx="2743200" cy="50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ns0:m xmlns:ns0="http://schemas.microsoft.com/office/drawing/2010/main">
              <ns0:oMathPara xmlns:ns0="http://schemas.openxmlformats.org/officeDocument/2006/math">
                <ns0:oMath>
                  <ns0:sSub>
                    <ns0:sSubPr>
                      <ns0:ctrl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ns0:ctrlPr>
                    </ns0:sSubPr>
                    <ns0:e>
                      <ns0: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ℒ</ns0:t>
                      </ns0:r>
                    </ns0:e>
                    <ns0:sub>
                      <ns0:r>
                        <ns0:rPr>
                          <ns0:sty ns0:val="p"/>
                        </ns0:rPr>
                        <a:rPr lang="en-US" b="0" i="1" smtClean="0" sz="1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ns0:t>cls</ns0:t>
                      </ns0:r>
                    </ns0:sub>
                  </ns0:sSub>
                </ns0:oMath>
              </ns0:oMathPara>
            </ns0:m>
          </a:p>
          <a:p>
            <a:pPr algn="ctr"/>
            <a:r>
              <a:rPr sz="1200" lang="en-US">
                <a:solidFill>
                  <a:srgbClr val="32631C"/>
                </a:solidFill>
                <a:latin typeface="Arial"/>
              </a:rPr>
              <a:t>Native + C/W</a:t>
            </a:r>
          </a:p>
        </p:txBody>
      </p:sp>
      <p:sp>
        <p:nvSpPr>
          <p:cNvPr id="219" name="Optional HF loss"/>
          <p:cNvSpPr/>
          <p:nvPr/>
        </p:nvSpPr>
        <p:spPr>
          <a:xfrm>
            <a:off x="11074400" y="4292600"/>
            <a:ext cx="3149600" cy="508000"/>
          </a:xfrm>
          <a:prstGeom prst="rect">
            <a:avLst/>
          </a:prstGeom>
          <a:solidFill>
            <a:srgbClr val="FFF5DB"/>
          </a:solidFill>
          <a:ln>
            <a:solidFill>
              <a:srgbClr val="B69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none" lIns="0" rIns="0" tIns="0" bIns="0">
            <a:noAutofit/>
          </a:bodyPr>
          <a:lstStyle/>
          <a:p>
            <a:pPr algn="ctr"/>
            <ns0:m xmlns:ns0="http://schemas.microsoft.com/office/drawing/2010/main">
              <ns0:oMathPara xmlns:ns0="http://schemas.openxmlformats.org/officeDocument/2006/math">
                <ns0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ns0:oMath>
              </ns0:oMathPara>
            </ns0:m>
          </a:p>
          <a:p>
            <a:pPr algn="ctr"/>
            <a:r>
              <a:rPr sz="1200" lang="en-US">
                <a:solidFill>
                  <a:srgbClr val="B6993A"/>
                </a:solidFill>
                <a:latin typeface="Arial"/>
              </a:rPr>
              <a:t>HF C/W (optional)</a:t>
            </a:r>
          </a:p>
        </p:txBody>
      </p:sp>
      <p:sp>
        <p:nvSpPr>
          <p:cNvPr id="221" name="C/W optional HF branch"/>
          <p:cNvSpPr/>
          <p:nvPr/>
        </p:nvSpPr>
        <p:spPr>
          <a:xfrm>
            <a:off x="8121650" y="41211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</p:sp>
      <p:sp>
        <p:nvSpPr>
          <p:cNvPr id="222" name="C/W optional HF branch"/>
          <p:cNvSpPr/>
          <p:nvPr/>
        </p:nvSpPr>
        <p:spPr>
          <a:xfrm>
            <a:off x="9455150" y="41211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</p:sp>
      <p:sp xmlns:a14="http://schemas.microsoft.com/office/drawing/2010/main">
        <p:nvSpPr>
          <p:cNvPr id="223" name="Total loss equals"/>
          <p:cNvSpPr/>
          <p:nvPr/>
        </p:nvSpPr>
        <p:spPr>
          <a:xfrm>
            <a:off x="4572000" y="5257800"/>
            <a:ext cx="8255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ℒ</m:t>
                  </m:r>
                  <m:r>
                    <a:rPr lang="en-US" b="0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=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4" name="Weighted patient contrastive term"/>
          <p:cNvSpPr/>
          <p:nvPr/>
        </p:nvSpPr>
        <p:spPr>
          <a:xfrm>
            <a:off x="5397500" y="5257800"/>
            <a:ext cx="2159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PCSL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5" name="Weighted attention regularization term"/>
          <p:cNvSpPr/>
          <p:nvPr/>
        </p:nvSpPr>
        <p:spPr>
          <a:xfrm>
            <a:off x="7734300" y="5257800"/>
            <a:ext cx="2159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GPAL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6" name="Classification term"/>
          <p:cNvSpPr/>
          <p:nvPr/>
        </p:nvSpPr>
        <p:spPr>
          <a:xfrm>
            <a:off x="10071100" y="5257800"/>
            <a:ext cx="13970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cls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7" name="Weighted optional HF term"/>
          <p:cNvSpPr/>
          <p:nvPr/>
        </p:nvSpPr>
        <p:spPr>
          <a:xfrm>
            <a:off x="11645900" y="5257800"/>
            <a:ext cx="22606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  <m:sSub>
                    <m:sSubPr>
                      <m:ctrl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e>
                    <m: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rgbClr val="B6993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HF</m:t>
                      </m:r>
                    </m:sub>
                  </m:sSub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8" name="Objective addition"/>
          <p:cNvSpPr/>
          <p:nvPr/>
        </p:nvSpPr>
        <p:spPr>
          <a:xfrm>
            <a:off x="74676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29" name="Objective addition"/>
          <p:cNvSpPr/>
          <p:nvPr/>
        </p:nvSpPr>
        <p:spPr>
          <a:xfrm>
            <a:off x="98552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 xmlns:a14="http://schemas.microsoft.com/office/drawing/2010/main">
        <p:nvSpPr>
          <p:cNvPr id="230" name="Objective addition"/>
          <p:cNvSpPr/>
          <p:nvPr/>
        </p:nvSpPr>
        <p:spPr>
          <a:xfrm>
            <a:off x="11379200" y="5257800"/>
            <a:ext cx="279400" cy="60960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r>
                    <m:rPr>
                      <m:nor/>
                    </m:rPr>
                    <a:rPr lang="en-US" i="1" smtClean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 + </m:t>
                  </m:r>
                </m:oMath>
              </m:oMathPara>
            </a14:m>
            <a:endParaRPr/>
          </a:p>
        </p:txBody>
      </p:sp>
      <p:sp>
        <p:nvSpPr>
          <p:cNvPr id="236" name="Bottom aligned loss annotation Patient contrastive"/>
          <p:cNvSpPr txBox="1"/>
          <p:nvPr/>
        </p:nvSpPr>
        <p:spPr>
          <a:xfrm>
            <a:off x="55118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Patient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Attention</a:t>
            </a:r>
          </a:p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/W classification"/>
          <p:cNvSpPr txBox="1"/>
          <p:nvPr/>
        </p:nvSpPr>
        <p:spPr>
          <a:xfrm>
            <a:off x="98044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Native + C/W</a:t>
            </a:r>
          </a:p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11000" y="6172200"/>
            <a:ext cx="1930400" cy="406400"/>
          </a:xfrm>
          <a:prstGeom prst="rect">
            <a:avLst/>
          </a:prstGeom>
          <a:noFill/>
        </p:spPr>
        <p:txBody>
          <a:bodyPr anchor="b" wrap="none" lIns="0" rIns="0" tIns="0" bIns="0">
            <a:noAutofit/>
          </a:bodyPr>
          <a:lstStyle/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HF supervision</a:t>
            </a:r>
          </a:p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112</Words>
  <Application>Microsoft Macintosh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14</cp:revision>
  <dcterms:created xsi:type="dcterms:W3CDTF">2026-09-14T23:48:42Z</dcterms:created>
  <dcterms:modified xsi:type="dcterms:W3CDTF">2026-09-21T05:25:07Z</dcterms:modified>
</cp:coreProperties>
</file>