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</p:sldIdLst>
  <p:sldSz cx="17881600" cy="51308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6993A"/>
    <a:srgbClr val="AA9438"/>
    <a:srgbClr val="C1A842"/>
    <a:srgbClr val="7030A0"/>
    <a:srgbClr val="3E6D8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357"/>
    <p:restoredTop sz="94658"/>
  </p:normalViewPr>
  <p:slideViewPr>
    <p:cSldViewPr snapToGrid="0">
      <p:cViewPr>
        <p:scale>
          <a:sx n="158" d="100"/>
          <a:sy n="158" d="100"/>
        </p:scale>
        <p:origin x="-3632" y="-7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53065F-80AF-C505-DEE1-9C1B5C9D33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15E307-6B0B-7C17-B23D-C509787753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E74BAE-3147-4AA5-3948-B3BA115BE4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B7762-F530-8641-8C82-FC24CB528642}" type="datetimeFigureOut">
              <a:rPr lang="en-US" smtClean="0"/>
              <a:t>9/23/26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A83511-5802-5CD2-1887-601D097681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EE6538-B562-A041-1DAC-CF43440E3D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6F9E1-0089-FE42-9720-94190B3BA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3804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D8A64B-C7EE-B347-9B8B-63F90CC815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5C1657-3AF8-211F-5AB4-E8EF527841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0947FB-8251-E2A1-2DAD-F2284EC8D8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B7762-F530-8641-8C82-FC24CB528642}" type="datetimeFigureOut">
              <a:rPr lang="en-US" smtClean="0"/>
              <a:t>9/23/26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E288A9-80FE-D21A-5EBB-A93EAA221D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28126C-9DDA-B433-C59A-A2009EC2D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6F9E1-0089-FE42-9720-94190B3BA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90671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4A9638-EC2D-390E-92C4-909D93E2D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5506D7-1A3F-7645-1406-D593AF42A0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44A9A1-6840-36DB-22AB-9ADBF6A547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B7762-F530-8641-8C82-FC24CB528642}" type="datetimeFigureOut">
              <a:rPr lang="en-US" smtClean="0"/>
              <a:t>9/23/26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9C71A0-7789-8C85-2862-09C9A0E348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3F76EB-3486-91FB-8414-A26D793BE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6F9E1-0089-FE42-9720-94190B3BA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57325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8BEA78-16D3-239C-8789-C9541DFFA7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C15AEA-EB5C-17E2-655E-8ED5AB1113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7BD561-547D-42C9-69B0-8003573117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732101-475C-F697-C4AE-90D33C0268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B7762-F530-8641-8C82-FC24CB528642}" type="datetimeFigureOut">
              <a:rPr lang="en-US" smtClean="0"/>
              <a:t>9/23/26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2D697D-EBC3-CAC1-24F0-4A409CEE35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B1DE23-35ED-76B7-144C-D7CB58643F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6F9E1-0089-FE42-9720-94190B3BA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910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26D4BB-458F-8C81-0545-3B7759DAF3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524C93-4D75-E814-5B5F-3C89CE8909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36D098-082C-21C5-F8C2-28B898AB50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A03B4B8-728C-440E-1C07-F1416D5FF1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B64EC70-D557-49D7-8CBC-54C6685008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110ABCB-2FDE-26C7-50C2-16F8DDFAC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B7762-F530-8641-8C82-FC24CB528642}" type="datetimeFigureOut">
              <a:rPr lang="en-US" smtClean="0"/>
              <a:t>9/23/26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2D91BB3-4D21-D594-C31D-40CBFD2910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85141F4-7CC5-3E56-9552-ECE1A78E2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6F9E1-0089-FE42-9720-94190B3BA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0432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C007B4-1F1C-04F9-6C77-A13C636405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C51F2F-0F75-C47C-F670-0E5CF38E5C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B7762-F530-8641-8C82-FC24CB528642}" type="datetimeFigureOut">
              <a:rPr lang="en-US" smtClean="0"/>
              <a:t>9/23/26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3DCD1D-40E4-AE3A-B1E7-0ECB4F137C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920CDC-CC89-6FF4-5039-BDC7598F55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6F9E1-0089-FE42-9720-94190B3BA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7105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EE87D2-B834-16C5-4C1C-755B11E538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B7762-F530-8641-8C82-FC24CB528642}" type="datetimeFigureOut">
              <a:rPr lang="en-US" smtClean="0"/>
              <a:t>9/23/26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3126A26-A70A-9F19-D66D-AF2427338B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717FEE-7FE9-0805-C458-FE02326621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6F9E1-0089-FE42-9720-94190B3BA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38461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BC5D18-C1FE-CDDE-0D2E-9F71F957E3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5B534F-FCEC-D246-C824-C5BB7266C9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D9A9B7-0C78-74EE-1C14-2F9F5E797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4C750E-B0C7-6CFC-D1B4-DF4432EC33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B7762-F530-8641-8C82-FC24CB528642}" type="datetimeFigureOut">
              <a:rPr lang="en-US" smtClean="0"/>
              <a:t>9/23/26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D8C8F4-0884-A911-543C-9E57F534FA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5920B0-6B65-BD5D-7136-1714F577D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6F9E1-0089-FE42-9720-94190B3BA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77583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4986B1-4A7E-23BD-7F32-D5D171D53F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1406E6B-7391-1F54-5872-8C270878295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1F0628-1AE3-E48B-5CFD-497FD3E96C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B173A8-A072-116E-60AA-D33B10B0B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B7762-F530-8641-8C82-FC24CB528642}" type="datetimeFigureOut">
              <a:rPr lang="en-US" smtClean="0"/>
              <a:t>9/23/26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BEE8FB-BC70-F475-8650-63402EAB8B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04EC12-1F02-A477-F9F3-FE3F016DAD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6F9E1-0089-FE42-9720-94190B3BA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0645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FE899D-CDA1-E095-AE49-55B7BF6C09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3F8306-5091-41EC-A134-F2E8B86867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0EC8BC-2836-A34A-0097-A6F6C216E4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B7762-F530-8641-8C82-FC24CB528642}" type="datetimeFigureOut">
              <a:rPr lang="en-US" smtClean="0"/>
              <a:t>9/23/26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4BC960-7576-8611-5EDB-38EC4D7544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DB74E6-A3B4-70F0-87DD-4C138F6781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6F9E1-0089-FE42-9720-94190B3BA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1176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D98CDAE-5BD6-C3E6-7D49-2A610A79EAC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7A1F40-E605-CA74-79C7-871C0BBD45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B703F6-C619-EC8E-D4E5-8E0471BCB9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B7762-F530-8641-8C82-FC24CB528642}" type="datetimeFigureOut">
              <a:rPr lang="en-US" smtClean="0"/>
              <a:t>9/23/26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4A7D02-BCA8-1E3A-964E-6E64B54CF0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44FD23-C44C-1C9B-F443-1D84273E8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6F9E1-0089-FE42-9720-94190B3BA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9607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00D6B52-5F18-F7DB-CE21-1F0C0AC095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94A54E-BA15-04F4-70DB-1A6A1255B4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003A2C-C6A9-E1A4-704C-61E6B9BAA0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3B7762-F530-8641-8C82-FC24CB528642}" type="datetimeFigureOut">
              <a:rPr lang="en-US" smtClean="0"/>
              <a:t>9/23/26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36D620-6D58-848D-F8EB-E9334C62EA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3DFC71-82DE-96CF-C182-0D188AF38C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26F9E1-0089-FE42-9720-94190B3BA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435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a14="http://schemas.microsoft.com/office/drawing/2010/main" xmlns:m="http://schemas.openxmlformats.org/officeDocument/2006/math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Shared C-W heads dashed boundary"/>
          <p:cNvSpPr/>
          <p:nvPr/>
        </p:nvSpPr>
        <p:spPr>
          <a:xfrm>
            <a:off x="7416800" y="1828800"/>
            <a:ext cx="2743200" cy="609600"/>
          </a:xfrm>
          <a:prstGeom prst="rect">
            <a:avLst/>
          </a:prstGeom>
          <a:noFill/>
          <a:ln w="19050">
            <a:solidFill>
              <a:srgbClr val="32631C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419" name="HF train C-W supervision to HF loss"/>
          <p:cNvSpPr/>
          <p:nvPr/>
        </p:nvSpPr>
        <p:spPr>
          <a:xfrm>
            <a:off x="9804400" y="2514600"/>
            <a:ext cx="990600" cy="304800"/>
          </a:xfrm>
          <a:custGeom>
            <a:avLst/>
            <a:gdLst/>
            <a:ahLst/>
            <a:cxnLst/>
            <a:rect l="0" t="0" r="r" b="b"/>
            <a:pathLst>
              <a:path w="990600" h="304800" fill="none">
                <a:moveTo>
                  <a:pt x="0" y="0"/>
                </a:moveTo>
                <a:lnTo>
                  <a:pt x="0" y="254000"/>
                </a:lnTo>
                <a:lnTo>
                  <a:pt x="787400" y="254000"/>
                </a:lnTo>
                <a:lnTo>
                  <a:pt x="787400" y="304800"/>
                </a:lnTo>
                <a:lnTo>
                  <a:pt x="990600" y="304800"/>
                </a:lnTo>
              </a:path>
            </a:pathLst>
          </a:custGeom>
          <a:noFill/>
          <a:ln w="19050">
            <a:solidFill>
              <a:srgbClr val="B6993A"/>
            </a:solidFill>
            <a:prstDash val="dash"/>
            <a:round/>
            <a:tailEnd type="triangl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12" name="Wheeze joins C-W supervision"/>
          <p:cNvSpPr/>
          <p:nvPr/>
        </p:nvSpPr>
        <p:spPr>
          <a:xfrm>
            <a:off x="9474200" y="2362200"/>
            <a:ext cx="13" cy="152400"/>
          </a:xfrm>
          <a:custGeom>
            <a:avLst/>
            <a:gdLst/>
            <a:ahLst/>
            <a:cxnLst/>
            <a:rect l="0" t="0" r="r" b="b"/>
            <a:pathLst>
              <a:path w="13" h="152400" fill="none">
                <a:moveTo>
                  <a:pt x="0" y="0"/>
                </a:moveTo>
                <a:lnTo>
                  <a:pt x="0" y="152400"/>
                </a:lnTo>
              </a:path>
            </a:pathLst>
          </a:custGeom>
          <a:noFill/>
          <a:ln w="19050">
            <a:solidFill>
              <a:srgbClr val="32631C"/>
            </a:solidFill>
            <a:prstDash val="dash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11" name="C-W joint supervision to CLS"/>
          <p:cNvSpPr/>
          <p:nvPr/>
        </p:nvSpPr>
        <p:spPr>
          <a:xfrm>
            <a:off x="8140700" y="2159000"/>
            <a:ext cx="2654300" cy="355600"/>
          </a:xfrm>
          <a:custGeom>
            <a:avLst/>
            <a:gdLst/>
            <a:ahLst/>
            <a:cxnLst/>
            <a:rect l="0" t="0" r="r" b="b"/>
            <a:pathLst>
              <a:path w="2654300" h="355600" fill="none">
                <a:moveTo>
                  <a:pt x="0" y="203200"/>
                </a:moveTo>
                <a:lnTo>
                  <a:pt x="0" y="355600"/>
                </a:lnTo>
                <a:lnTo>
                  <a:pt x="2324100" y="355600"/>
                </a:lnTo>
                <a:lnTo>
                  <a:pt x="2324100" y="0"/>
                </a:lnTo>
                <a:lnTo>
                  <a:pt x="2654300" y="0"/>
                </a:lnTo>
              </a:path>
            </a:pathLst>
          </a:custGeom>
          <a:noFill/>
          <a:ln w="19050">
            <a:solidFill>
              <a:srgbClr val="32631C"/>
            </a:solidFill>
            <a:prstDash val="dash"/>
            <a:round/>
            <a:tailEnd type="triangl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10" name="ICBHI batch native CE to CLS"/>
          <p:cNvSpPr/>
          <p:nvPr/>
        </p:nvSpPr>
        <p:spPr>
          <a:xfrm>
            <a:off x="8788400" y="1143000"/>
            <a:ext cx="2006600" cy="863600"/>
          </a:xfrm>
          <a:custGeom>
            <a:avLst/>
            <a:gdLst/>
            <a:ahLst/>
            <a:cxnLst/>
            <a:rect l="0" t="0" r="r" b="b"/>
            <a:pathLst>
              <a:path w="2006600" h="863600" fill="none">
                <a:moveTo>
                  <a:pt x="0" y="0"/>
                </a:moveTo>
                <a:lnTo>
                  <a:pt x="0" y="101600"/>
                </a:lnTo>
                <a:lnTo>
                  <a:pt x="1498600" y="101600"/>
                </a:lnTo>
                <a:lnTo>
                  <a:pt x="1498600" y="863600"/>
                </a:lnTo>
                <a:lnTo>
                  <a:pt x="2006600" y="863600"/>
                </a:lnTo>
              </a:path>
            </a:pathLst>
          </a:custGeom>
          <a:noFill/>
          <a:ln w="19050">
            <a:solidFill>
              <a:srgbClr val="32631C"/>
            </a:solidFill>
            <a:prstDash val="dash"/>
            <a:round/>
            <a:tailEnd type="triangl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09" name="SPRSound native inference"/>
          <p:cNvSpPr/>
          <p:nvPr/>
        </p:nvSpPr>
        <p:spPr>
          <a:xfrm>
            <a:off x="10033000" y="2921000"/>
            <a:ext cx="4318000" cy="228600"/>
          </a:xfrm>
          <a:custGeom>
            <a:avLst/>
            <a:gdLst/>
            <a:ahLst/>
            <a:cxnLst/>
            <a:rect l="0" t="0" r="r" b="b"/>
            <a:pathLst>
              <a:path w="4318000" h="228600" fill="none">
                <a:moveTo>
                  <a:pt x="0" y="228600"/>
                </a:moveTo>
                <a:lnTo>
                  <a:pt x="3530600" y="228600"/>
                </a:lnTo>
                <a:lnTo>
                  <a:pt x="3530600" y="0"/>
                </a:lnTo>
                <a:lnTo>
                  <a:pt x="4318000" y="0"/>
                </a:lnTo>
              </a:path>
            </a:pathLst>
          </a:custGeom>
          <a:noFill/>
          <a:ln w="21590">
            <a:solidFill>
              <a:srgbClr val="000000"/>
            </a:solidFill>
            <a:prstDash val="solid"/>
            <a:round/>
            <a:tailEnd type="triangl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08" name="ICBHI readout to KAUH"/>
          <p:cNvSpPr/>
          <p:nvPr/>
        </p:nvSpPr>
        <p:spPr>
          <a:xfrm>
            <a:off x="14046200" y="2235200"/>
            <a:ext cx="304800" cy="13"/>
          </a:xfrm>
          <a:custGeom>
            <a:avLst/>
            <a:gdLst/>
            <a:ahLst/>
            <a:cxnLst/>
            <a:rect l="0" t="0" r="r" b="b"/>
            <a:pathLst>
              <a:path w="304800" h="13" fill="none">
                <a:moveTo>
                  <a:pt x="0" y="0"/>
                </a:moveTo>
                <a:lnTo>
                  <a:pt x="304800" y="0"/>
                </a:lnTo>
              </a:path>
            </a:pathLst>
          </a:custGeom>
          <a:noFill/>
          <a:ln w="21590">
            <a:solidFill>
              <a:srgbClr val="000000"/>
            </a:solidFill>
            <a:prstDash val="solid"/>
            <a:round/>
            <a:tailEnd type="triangl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07" name="ICBHI readout to HF test"/>
          <p:cNvSpPr/>
          <p:nvPr/>
        </p:nvSpPr>
        <p:spPr>
          <a:xfrm>
            <a:off x="14046200" y="1549400"/>
            <a:ext cx="304800" cy="13"/>
          </a:xfrm>
          <a:custGeom>
            <a:avLst/>
            <a:gdLst/>
            <a:ahLst/>
            <a:cxnLst/>
            <a:rect l="0" t="0" r="r" b="b"/>
            <a:pathLst>
              <a:path w="304800" h="13" fill="none">
                <a:moveTo>
                  <a:pt x="0" y="0"/>
                </a:moveTo>
                <a:lnTo>
                  <a:pt x="304800" y="0"/>
                </a:lnTo>
              </a:path>
            </a:pathLst>
          </a:custGeom>
          <a:noFill/>
          <a:ln w="21590">
            <a:solidFill>
              <a:srgbClr val="000000"/>
            </a:solidFill>
            <a:prstDash val="solid"/>
            <a:round/>
            <a:tailEnd type="triangl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06" name="Fixed ICBHI readout bus"/>
          <p:cNvSpPr/>
          <p:nvPr/>
        </p:nvSpPr>
        <p:spPr>
          <a:xfrm>
            <a:off x="14046200" y="863600"/>
            <a:ext cx="13" cy="1371600"/>
          </a:xfrm>
          <a:custGeom>
            <a:avLst/>
            <a:gdLst/>
            <a:ahLst/>
            <a:cxnLst/>
            <a:rect l="0" t="0" r="r" b="b"/>
            <a:pathLst>
              <a:path w="13" h="1371600" fill="none">
                <a:moveTo>
                  <a:pt x="0" y="0"/>
                </a:moveTo>
                <a:lnTo>
                  <a:pt x="0" y="1371600"/>
                </a:lnTo>
              </a:path>
            </a:pathLst>
          </a:custGeom>
          <a:noFill/>
          <a:ln w="21590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05" name="ICBHI native inference"/>
          <p:cNvSpPr/>
          <p:nvPr/>
        </p:nvSpPr>
        <p:spPr>
          <a:xfrm>
            <a:off x="10033000" y="863600"/>
            <a:ext cx="4318000" cy="13"/>
          </a:xfrm>
          <a:custGeom>
            <a:avLst/>
            <a:gdLst/>
            <a:ahLst/>
            <a:cxnLst/>
            <a:rect l="0" t="0" r="r" b="b"/>
            <a:pathLst>
              <a:path w="4318000" h="13" fill="none">
                <a:moveTo>
                  <a:pt x="0" y="0"/>
                </a:moveTo>
                <a:lnTo>
                  <a:pt x="4318000" y="0"/>
                </a:lnTo>
              </a:path>
            </a:pathLst>
          </a:custGeom>
          <a:noFill/>
          <a:ln w="21590">
            <a:solidFill>
              <a:srgbClr val="000000"/>
            </a:solidFill>
            <a:prstDash val="solid"/>
            <a:round/>
            <a:tailEnd type="triangl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04" name="Shared h to SPRSound"/>
          <p:cNvSpPr/>
          <p:nvPr/>
        </p:nvSpPr>
        <p:spPr>
          <a:xfrm>
            <a:off x="7188200" y="3149600"/>
            <a:ext cx="355600" cy="13"/>
          </a:xfrm>
          <a:custGeom>
            <a:avLst/>
            <a:gdLst/>
            <a:ahLst/>
            <a:cxnLst/>
            <a:rect l="0" t="0" r="r" b="b"/>
            <a:pathLst>
              <a:path w="355600" h="13" fill="none">
                <a:moveTo>
                  <a:pt x="0" y="0"/>
                </a:moveTo>
                <a:lnTo>
                  <a:pt x="355600" y="0"/>
                </a:lnTo>
              </a:path>
            </a:pathLst>
          </a:custGeom>
          <a:noFill/>
          <a:ln w="21590">
            <a:solidFill>
              <a:srgbClr val="000000"/>
            </a:solidFill>
            <a:prstDash val="solid"/>
            <a:round/>
            <a:tailEnd type="triangl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03" name="Shared h to Wheeze"/>
          <p:cNvSpPr/>
          <p:nvPr/>
        </p:nvSpPr>
        <p:spPr>
          <a:xfrm>
            <a:off x="9474200" y="1752600"/>
            <a:ext cx="13" cy="152400"/>
          </a:xfrm>
          <a:custGeom>
            <a:avLst/>
            <a:gdLst/>
            <a:ahLst/>
            <a:cxnLst/>
            <a:rect l="0" t="0" r="r" b="b"/>
            <a:pathLst>
              <a:path w="13" h="152400" fill="none">
                <a:moveTo>
                  <a:pt x="0" y="0"/>
                </a:moveTo>
                <a:lnTo>
                  <a:pt x="0" y="152400"/>
                </a:lnTo>
              </a:path>
            </a:pathLst>
          </a:custGeom>
          <a:noFill/>
          <a:ln w="21590">
            <a:solidFill>
              <a:srgbClr val="000000"/>
            </a:solidFill>
            <a:prstDash val="solid"/>
            <a:round/>
            <a:tailEnd type="triangl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02" name="Shared h to Crackle"/>
          <p:cNvSpPr/>
          <p:nvPr/>
        </p:nvSpPr>
        <p:spPr>
          <a:xfrm>
            <a:off x="8140700" y="1752600"/>
            <a:ext cx="13" cy="152400"/>
          </a:xfrm>
          <a:custGeom>
            <a:avLst/>
            <a:gdLst/>
            <a:ahLst/>
            <a:cxnLst/>
            <a:rect l="0" t="0" r="r" b="b"/>
            <a:pathLst>
              <a:path w="13" h="152400" fill="none">
                <a:moveTo>
                  <a:pt x="0" y="0"/>
                </a:moveTo>
                <a:lnTo>
                  <a:pt x="0" y="152400"/>
                </a:lnTo>
              </a:path>
            </a:pathLst>
          </a:custGeom>
          <a:noFill/>
          <a:ln w="21590">
            <a:solidFill>
              <a:srgbClr val="000000"/>
            </a:solidFill>
            <a:prstDash val="solid"/>
            <a:round/>
            <a:tailEnd type="triangl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01" name="Shared h to both C-W heads"/>
          <p:cNvSpPr/>
          <p:nvPr/>
        </p:nvSpPr>
        <p:spPr>
          <a:xfrm>
            <a:off x="7188200" y="1752600"/>
            <a:ext cx="2286000" cy="13"/>
          </a:xfrm>
          <a:custGeom>
            <a:avLst/>
            <a:gdLst/>
            <a:ahLst/>
            <a:cxnLst/>
            <a:rect l="0" t="0" r="r" b="b"/>
            <a:pathLst>
              <a:path w="2286000" h="13" fill="none">
                <a:moveTo>
                  <a:pt x="0" y="0"/>
                </a:moveTo>
                <a:lnTo>
                  <a:pt x="2286000" y="0"/>
                </a:lnTo>
              </a:path>
            </a:pathLst>
          </a:custGeom>
          <a:noFill/>
          <a:ln w="21590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00" name="Shared h trunk"/>
          <p:cNvSpPr/>
          <p:nvPr/>
        </p:nvSpPr>
        <p:spPr>
          <a:xfrm>
            <a:off x="7188200" y="863600"/>
            <a:ext cx="13" cy="2286000"/>
          </a:xfrm>
          <a:custGeom>
            <a:avLst/>
            <a:gdLst/>
            <a:ahLst/>
            <a:cxnLst/>
            <a:rect l="0" t="0" r="r" b="b"/>
            <a:pathLst>
              <a:path w="13" h="2286000" fill="none">
                <a:moveTo>
                  <a:pt x="0" y="0"/>
                </a:moveTo>
                <a:lnTo>
                  <a:pt x="0" y="2286000"/>
                </a:lnTo>
              </a:path>
            </a:pathLst>
          </a:custGeom>
          <a:noFill/>
          <a:ln w="21590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41" name="Restored teacher annotation arrow HF supervision (optional)"/>
          <p:cNvSpPr/>
          <p:nvPr/>
        </p:nvSpPr>
        <p:spPr>
          <a:xfrm>
            <a:off x="12776200" y="4470400"/>
            <a:ext cx="13" cy="241300"/>
          </a:xfrm>
          <a:custGeom>
            <a:avLst/>
            <a:gdLst/>
            <a:ahLst/>
            <a:cxnLst/>
            <a:rect l="0" t="0" r="r" b="b"/>
            <a:pathLst>
              <a:path w="13" h="241300" fill="none">
                <a:moveTo>
                  <a:pt x="0" y="241300"/>
                </a:moveTo>
                <a:lnTo>
                  <a:pt x="0" y="0"/>
                </a:lnTo>
              </a:path>
            </a:pathLst>
          </a:custGeom>
          <a:noFill/>
          <a:ln w="21590">
            <a:solidFill>
              <a:srgbClr val="B6993A"/>
            </a:solidFill>
            <a:prstDash val="solid"/>
            <a:round/>
            <a:tailEnd type="triangl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39" name="Restored teacher annotation arrow Native + C-W classification"/>
          <p:cNvSpPr/>
          <p:nvPr/>
        </p:nvSpPr>
        <p:spPr>
          <a:xfrm>
            <a:off x="10769600" y="4470400"/>
            <a:ext cx="13" cy="241300"/>
          </a:xfrm>
          <a:custGeom>
            <a:avLst/>
            <a:gdLst/>
            <a:ahLst/>
            <a:cxnLst/>
            <a:rect l="0" t="0" r="r" b="b"/>
            <a:pathLst>
              <a:path w="13" h="241300" fill="none">
                <a:moveTo>
                  <a:pt x="0" y="241300"/>
                </a:moveTo>
                <a:lnTo>
                  <a:pt x="0" y="0"/>
                </a:lnTo>
              </a:path>
            </a:pathLst>
          </a:custGeom>
          <a:noFill/>
          <a:ln w="21590">
            <a:solidFill>
              <a:srgbClr val="32631C"/>
            </a:solidFill>
            <a:prstDash val="solid"/>
            <a:round/>
            <a:tailEnd type="triangl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37" name="Restored teacher annotation arrow Attention regularization"/>
          <p:cNvSpPr/>
          <p:nvPr/>
        </p:nvSpPr>
        <p:spPr>
          <a:xfrm>
            <a:off x="8813800" y="4470400"/>
            <a:ext cx="13" cy="241300"/>
          </a:xfrm>
          <a:custGeom>
            <a:avLst/>
            <a:gdLst/>
            <a:ahLst/>
            <a:cxnLst/>
            <a:rect l="0" t="0" r="r" b="b"/>
            <a:pathLst>
              <a:path w="13" h="241300" fill="none">
                <a:moveTo>
                  <a:pt x="0" y="241300"/>
                </a:moveTo>
                <a:lnTo>
                  <a:pt x="0" y="0"/>
                </a:lnTo>
              </a:path>
            </a:pathLst>
          </a:custGeom>
          <a:noFill/>
          <a:ln w="21590">
            <a:solidFill>
              <a:srgbClr val="7030A0"/>
            </a:solidFill>
            <a:prstDash val="solid"/>
            <a:round/>
            <a:tailEnd type="triangl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35" name="Restored teacher annotation arrow Patient contrastive"/>
          <p:cNvSpPr/>
          <p:nvPr/>
        </p:nvSpPr>
        <p:spPr>
          <a:xfrm>
            <a:off x="6477000" y="4470400"/>
            <a:ext cx="13" cy="241300"/>
          </a:xfrm>
          <a:custGeom>
            <a:avLst/>
            <a:gdLst/>
            <a:ahLst/>
            <a:cxnLst/>
            <a:rect l="0" t="0" r="r" b="b"/>
            <a:pathLst>
              <a:path w="13" h="241300" fill="none">
                <a:moveTo>
                  <a:pt x="0" y="241300"/>
                </a:moveTo>
                <a:lnTo>
                  <a:pt x="0" y="0"/>
                </a:lnTo>
              </a:path>
            </a:pathLst>
          </a:custGeom>
          <a:noFill/>
          <a:ln w="21590">
            <a:solidFill>
              <a:srgbClr val="333333"/>
            </a:solidFill>
            <a:prstDash val="solid"/>
            <a:round/>
            <a:tailEnd type="triangl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05" name="Shared h to ICBHI"/>
          <p:cNvSpPr/>
          <p:nvPr/>
        </p:nvSpPr>
        <p:spPr>
          <a:xfrm>
            <a:off x="7188200" y="863600"/>
            <a:ext cx="355600" cy="13"/>
          </a:xfrm>
          <a:custGeom>
            <a:avLst/>
            <a:gdLst/>
            <a:ahLst/>
            <a:cxnLst/>
            <a:rect l="0" t="0" r="r" b="b"/>
            <a:pathLst>
              <a:path w="355600" h="13" fill="none">
                <a:moveTo>
                  <a:pt x="0" y="0"/>
                </a:moveTo>
                <a:lnTo>
                  <a:pt x="355600" y="0"/>
                </a:lnTo>
              </a:path>
            </a:pathLst>
          </a:custGeom>
          <a:noFill/>
          <a:ln w="21590">
            <a:solidFill>
              <a:srgbClr val="000000"/>
            </a:solidFill>
            <a:prstDash val="solid"/>
            <a:round/>
            <a:tailEnd type="triangl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03" name="Shared representation trunk"/>
          <p:cNvSpPr/>
          <p:nvPr/>
        </p:nvSpPr>
        <p:spPr>
          <a:xfrm>
            <a:off x="6781800" y="1435100"/>
            <a:ext cx="406400" cy="13"/>
          </a:xfrm>
          <a:custGeom>
            <a:avLst/>
            <a:gdLst/>
            <a:ahLst/>
            <a:cxnLst/>
            <a:rect l="0" t="0" r="r" b="b"/>
            <a:pathLst>
              <a:path w="406400" h="13" fill="none">
                <a:moveTo>
                  <a:pt x="0" y="0"/>
                </a:moveTo>
                <a:lnTo>
                  <a:pt x="406400" y="0"/>
                </a:lnTo>
              </a:path>
            </a:pathLst>
          </a:custGeom>
          <a:noFill/>
          <a:ln w="21590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02" name="Encoder tokens to attention"/>
          <p:cNvSpPr/>
          <p:nvPr/>
        </p:nvSpPr>
        <p:spPr>
          <a:xfrm>
            <a:off x="4419600" y="2895600"/>
            <a:ext cx="304800" cy="13"/>
          </a:xfrm>
          <a:custGeom>
            <a:avLst/>
            <a:gdLst/>
            <a:ahLst/>
            <a:cxnLst/>
            <a:rect l="0" t="0" r="r" b="b"/>
            <a:pathLst>
              <a:path w="304800" h="13" fill="none">
                <a:moveTo>
                  <a:pt x="0" y="0"/>
                </a:moveTo>
                <a:lnTo>
                  <a:pt x="304800" y="0"/>
                </a:lnTo>
              </a:path>
            </a:pathLst>
          </a:custGeom>
          <a:noFill/>
          <a:ln w="21590">
            <a:solidFill>
              <a:srgbClr val="000000"/>
            </a:solidFill>
            <a:prstDash val="solid"/>
            <a:round/>
            <a:tailEnd type="triangl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01" name="Encoder to mean pooling"/>
          <p:cNvSpPr/>
          <p:nvPr/>
        </p:nvSpPr>
        <p:spPr>
          <a:xfrm>
            <a:off x="2286000" y="1435100"/>
            <a:ext cx="2438400" cy="1771650"/>
          </a:xfrm>
          <a:custGeom>
            <a:avLst/>
            <a:gdLst/>
            <a:ahLst/>
            <a:cxnLst/>
            <a:rect l="0" t="0" r="r" b="b"/>
            <a:pathLst>
              <a:path w="2438400" h="1771650" fill="none">
                <a:moveTo>
                  <a:pt x="0" y="1771650"/>
                </a:moveTo>
                <a:lnTo>
                  <a:pt x="2133600" y="1771650"/>
                </a:lnTo>
                <a:lnTo>
                  <a:pt x="2133600" y="0"/>
                </a:lnTo>
                <a:lnTo>
                  <a:pt x="2438400" y="0"/>
                </a:lnTo>
              </a:path>
            </a:pathLst>
          </a:custGeom>
          <a:noFill/>
          <a:ln w="21590">
            <a:solidFill>
              <a:srgbClr val="000000"/>
            </a:solidFill>
            <a:prstDash val="solid"/>
            <a:round/>
            <a:tailEnd type="triangl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00" name="Audio to BEATs"/>
          <p:cNvSpPr/>
          <p:nvPr/>
        </p:nvSpPr>
        <p:spPr>
          <a:xfrm>
            <a:off x="1600200" y="1841500"/>
            <a:ext cx="13" cy="673100"/>
          </a:xfrm>
          <a:custGeom>
            <a:avLst/>
            <a:gdLst/>
            <a:ahLst/>
            <a:cxnLst/>
            <a:rect l="0" t="0" r="r" b="b"/>
            <a:pathLst>
              <a:path w="13" h="673100" fill="none">
                <a:moveTo>
                  <a:pt x="0" y="0"/>
                </a:moveTo>
                <a:lnTo>
                  <a:pt x="0" y="673100"/>
                </a:lnTo>
              </a:path>
            </a:pathLst>
          </a:custGeom>
          <a:noFill/>
          <a:ln w="21590">
            <a:solidFill>
              <a:srgbClr val="000000"/>
            </a:solidFill>
            <a:prstDash val="solid"/>
            <a:round/>
            <a:tailEnd type="triangl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B1BEC89-978F-F3FA-3E97-975EB444F247}"/>
              </a:ext>
            </a:extLst>
          </p:cNvPr>
          <p:cNvSpPr/>
          <p:nvPr/>
        </p:nvSpPr>
        <p:spPr>
          <a:xfrm>
            <a:off x="4724400" y="1155700"/>
            <a:ext cx="2057400" cy="558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Mean Pooling</a:t>
            </a:r>
          </a:p>
          <a:p>
            <a:pPr algn="ctr"/>
            <a:r>
              <a:rPr lang="en-US" sz="1400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(Linear D→d)</a:t>
            </a:r>
          </a:p>
        </p:txBody>
      </p:sp>
      <p:sp>
        <p:nvSpPr>
          <p:cNvPr id="5" name="Trapezoid 4">
            <a:extLst>
              <a:ext uri="{FF2B5EF4-FFF2-40B4-BE49-F238E27FC236}">
                <a16:creationId xmlns:a16="http://schemas.microsoft.com/office/drawing/2014/main" id="{E88512CF-F65D-A594-8804-E4CF7DAE210E}"/>
              </a:ext>
            </a:extLst>
          </p:cNvPr>
          <p:cNvSpPr/>
          <p:nvPr/>
        </p:nvSpPr>
        <p:spPr>
          <a:xfrm>
            <a:off x="914400" y="2374900"/>
            <a:ext cx="1371600" cy="1663700"/>
          </a:xfrm>
          <a:custGeom>
            <a:avLst/>
            <a:gdLst/>
            <a:ahLst/>
            <a:cxnLst/>
            <a:rect l="0" t="0" r="r" b="b"/>
            <a:pathLst>
              <a:path w="1371600" h="1663700">
                <a:moveTo>
                  <a:pt x="0" y="0"/>
                </a:moveTo>
                <a:lnTo>
                  <a:pt x="1371600" y="279400"/>
                </a:lnTo>
                <a:lnTo>
                  <a:pt x="1371600" y="1384300"/>
                </a:lnTo>
                <a:lnTo>
                  <a:pt x="0" y="1663700"/>
                </a:lnTo>
                <a:close/>
              </a:path>
            </a:pathLst>
          </a:custGeom>
          <a:solidFill>
            <a:schemeClr val="bg2"/>
          </a:solidFill>
          <a:ln w="19050">
            <a:solidFill>
              <a:srgbClr val="3E6D8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D7D9726-5393-837A-CC69-6739933CDFA6}"/>
              </a:ext>
            </a:extLst>
          </p:cNvPr>
          <p:cNvSpPr txBox="1"/>
          <p:nvPr/>
        </p:nvSpPr>
        <p:spPr>
          <a:xfrm>
            <a:off x="1003300" y="2717800"/>
            <a:ext cx="1206500" cy="9779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BEATs </a:t>
            </a: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Encoder</a:t>
            </a:r>
          </a:p>
          <a:p>
            <a:r>
              <a:rPr lang="en-US" sz="1400" dirty="0">
                <a:solidFill>
                  <a:srgbClr val="3E6D8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(Pretrained)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409BB53-B426-E5F7-E1D1-CC691474571B}"/>
              </a:ext>
            </a:extLst>
          </p:cNvPr>
          <p:cNvSpPr/>
          <p:nvPr/>
        </p:nvSpPr>
        <p:spPr>
          <a:xfrm>
            <a:off x="4724400" y="2616200"/>
            <a:ext cx="2057400" cy="558800"/>
          </a:xfrm>
          <a:prstGeom prst="rect">
            <a:avLst/>
          </a:prstGeom>
          <a:solidFill>
            <a:srgbClr val="7030A0">
              <a:alpha val="14118"/>
            </a:srgbClr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Attention </a:t>
            </a:r>
            <a14:m>
              <m:oMath xmlns:m="http://schemas.openxmlformats.org/officeDocument/2006/math">
                <m:r>
                  <a:rPr lang="en-US" b="1" i="1" smtClean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Arial" panose="020B0604020202020204" pitchFamily="34" charset="0"/>
                  </a:rPr>
                  <m:t>𝓖</m:t>
                </m:r>
              </m:oMath>
            </a14:m>
            <a:endParaRPr lang="en-US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14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(PAFA projection)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E34F695-08C1-8326-0D4D-8D8606C52AB6}"/>
              </a:ext>
            </a:extLst>
          </p:cNvPr>
          <p:cNvSpPr/>
          <p:nvPr/>
        </p:nvSpPr>
        <p:spPr>
          <a:xfrm>
            <a:off x="7543800" y="584200"/>
            <a:ext cx="2489200" cy="5588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n-US" sz="1400" b="0" i="0">
                <a:solidFill>
                  <a:srgbClr val="000000"/>
                </a:solidFill>
                <a:latin typeface="Arial"/>
              </a:rPr>
              <a:t>ICBHI native head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D70CF65-1FA8-4758-8934-EDB36A80D00F}"/>
              </a:ext>
            </a:extLst>
          </p:cNvPr>
          <p:cNvSpPr/>
          <p:nvPr/>
        </p:nvSpPr>
        <p:spPr>
          <a:xfrm>
            <a:off x="7543800" y="2870200"/>
            <a:ext cx="2489200" cy="5588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n-US" sz="1400" b="0" i="0">
                <a:solidFill>
                  <a:srgbClr val="000000"/>
                </a:solidFill>
                <a:latin typeface="Arial"/>
              </a:rPr>
              <a:t>SPRSound native head</a:t>
            </a:r>
          </a:p>
        </p:txBody>
      </p:sp>
      <p:sp>
        <p:nvSpPr>
          <p:cNvPr id="16" name="schematic-audio-wave-2">
            <a:extLst>
              <a:ext uri="{FF2B5EF4-FFF2-40B4-BE49-F238E27FC236}">
                <a16:creationId xmlns:a16="http://schemas.microsoft.com/office/drawing/2014/main" id="{73DAFDB9-56E0-6E8D-1AA2-549245A0B754}"/>
              </a:ext>
            </a:extLst>
          </p:cNvPr>
          <p:cNvSpPr>
            <a:spLocks noGrp="1"/>
          </p:cNvSpPr>
          <p:nvPr/>
        </p:nvSpPr>
        <p:spPr>
          <a:xfrm>
            <a:off x="762000" y="1422400"/>
            <a:ext cx="1676400" cy="419100"/>
          </a:xfrm>
          <a:custGeom>
            <a:avLst/>
            <a:gdLst/>
            <a:ahLst/>
            <a:cxnLst/>
            <a:rect l="0" t="0" r="0" b="0"/>
            <a:pathLst>
              <a:path w="762000" h="182389">
                <a:moveTo>
                  <a:pt x="0" y="88788"/>
                </a:moveTo>
                <a:lnTo>
                  <a:pt x="4233" y="80732"/>
                </a:lnTo>
                <a:lnTo>
                  <a:pt x="8467" y="78958"/>
                </a:lnTo>
                <a:lnTo>
                  <a:pt x="12700" y="83179"/>
                </a:lnTo>
                <a:lnTo>
                  <a:pt x="16933" y="88353"/>
                </a:lnTo>
                <a:lnTo>
                  <a:pt x="21167" y="90261"/>
                </a:lnTo>
                <a:lnTo>
                  <a:pt x="25400" y="89865"/>
                </a:lnTo>
                <a:lnTo>
                  <a:pt x="29633" y="91473"/>
                </a:lnTo>
                <a:lnTo>
                  <a:pt x="33867" y="97136"/>
                </a:lnTo>
                <a:lnTo>
                  <a:pt x="38100" y="104136"/>
                </a:lnTo>
                <a:lnTo>
                  <a:pt x="42333" y="108118"/>
                </a:lnTo>
                <a:lnTo>
                  <a:pt x="46567" y="107141"/>
                </a:lnTo>
                <a:lnTo>
                  <a:pt x="50800" y="101484"/>
                </a:lnTo>
                <a:lnTo>
                  <a:pt x="55033" y="90973"/>
                </a:lnTo>
                <a:lnTo>
                  <a:pt x="59267" y="75754"/>
                </a:lnTo>
                <a:lnTo>
                  <a:pt x="63500" y="60763"/>
                </a:lnTo>
                <a:lnTo>
                  <a:pt x="67733" y="56251"/>
                </a:lnTo>
                <a:lnTo>
                  <a:pt x="71967" y="69420"/>
                </a:lnTo>
                <a:lnTo>
                  <a:pt x="76200" y="94651"/>
                </a:lnTo>
                <a:lnTo>
                  <a:pt x="80433" y="115473"/>
                </a:lnTo>
                <a:lnTo>
                  <a:pt x="84667" y="119536"/>
                </a:lnTo>
                <a:lnTo>
                  <a:pt x="88900" y="110851"/>
                </a:lnTo>
                <a:lnTo>
                  <a:pt x="93133" y="104280"/>
                </a:lnTo>
                <a:lnTo>
                  <a:pt x="97367" y="107679"/>
                </a:lnTo>
                <a:lnTo>
                  <a:pt x="101600" y="112773"/>
                </a:lnTo>
                <a:lnTo>
                  <a:pt x="105833" y="105615"/>
                </a:lnTo>
                <a:lnTo>
                  <a:pt x="110067" y="83369"/>
                </a:lnTo>
                <a:lnTo>
                  <a:pt x="114300" y="57187"/>
                </a:lnTo>
                <a:lnTo>
                  <a:pt x="118533" y="40006"/>
                </a:lnTo>
                <a:lnTo>
                  <a:pt x="122767" y="36968"/>
                </a:lnTo>
                <a:lnTo>
                  <a:pt x="127000" y="49042"/>
                </a:lnTo>
                <a:lnTo>
                  <a:pt x="131233" y="78733"/>
                </a:lnTo>
                <a:lnTo>
                  <a:pt x="135467" y="123688"/>
                </a:lnTo>
                <a:lnTo>
                  <a:pt x="139700" y="165789"/>
                </a:lnTo>
                <a:lnTo>
                  <a:pt x="143933" y="177412"/>
                </a:lnTo>
                <a:lnTo>
                  <a:pt x="148167" y="147036"/>
                </a:lnTo>
                <a:lnTo>
                  <a:pt x="152400" y="96025"/>
                </a:lnTo>
                <a:lnTo>
                  <a:pt x="156633" y="61403"/>
                </a:lnTo>
                <a:lnTo>
                  <a:pt x="160867" y="59232"/>
                </a:lnTo>
                <a:lnTo>
                  <a:pt x="165100" y="70348"/>
                </a:lnTo>
                <a:lnTo>
                  <a:pt x="169333" y="66079"/>
                </a:lnTo>
                <a:lnTo>
                  <a:pt x="173567" y="43454"/>
                </a:lnTo>
                <a:lnTo>
                  <a:pt x="177800" y="28196"/>
                </a:lnTo>
                <a:lnTo>
                  <a:pt x="182033" y="44236"/>
                </a:lnTo>
                <a:lnTo>
                  <a:pt x="186267" y="88243"/>
                </a:lnTo>
                <a:lnTo>
                  <a:pt x="190500" y="136756"/>
                </a:lnTo>
                <a:lnTo>
                  <a:pt x="194733" y="170308"/>
                </a:lnTo>
                <a:lnTo>
                  <a:pt x="198967" y="182389"/>
                </a:lnTo>
                <a:lnTo>
                  <a:pt x="203200" y="169586"/>
                </a:lnTo>
                <a:lnTo>
                  <a:pt x="207433" y="127671"/>
                </a:lnTo>
                <a:lnTo>
                  <a:pt x="211667" y="65101"/>
                </a:lnTo>
                <a:lnTo>
                  <a:pt x="215900" y="11776"/>
                </a:lnTo>
                <a:lnTo>
                  <a:pt x="220133" y="0"/>
                </a:lnTo>
                <a:lnTo>
                  <a:pt x="224367" y="32532"/>
                </a:lnTo>
                <a:lnTo>
                  <a:pt x="228600" y="76991"/>
                </a:lnTo>
                <a:lnTo>
                  <a:pt x="232833" y="98341"/>
                </a:lnTo>
                <a:lnTo>
                  <a:pt x="237067" y="93999"/>
                </a:lnTo>
                <a:lnTo>
                  <a:pt x="241300" y="91106"/>
                </a:lnTo>
                <a:lnTo>
                  <a:pt x="245533" y="110892"/>
                </a:lnTo>
                <a:lnTo>
                  <a:pt x="249767" y="143425"/>
                </a:lnTo>
                <a:lnTo>
                  <a:pt x="254000" y="160244"/>
                </a:lnTo>
                <a:lnTo>
                  <a:pt x="258233" y="145566"/>
                </a:lnTo>
                <a:lnTo>
                  <a:pt x="262467" y="108852"/>
                </a:lnTo>
                <a:lnTo>
                  <a:pt x="266700" y="70052"/>
                </a:lnTo>
                <a:lnTo>
                  <a:pt x="270933" y="41708"/>
                </a:lnTo>
                <a:lnTo>
                  <a:pt x="275167" y="28080"/>
                </a:lnTo>
                <a:lnTo>
                  <a:pt x="279400" y="33198"/>
                </a:lnTo>
                <a:lnTo>
                  <a:pt x="283633" y="59489"/>
                </a:lnTo>
                <a:lnTo>
                  <a:pt x="287867" y="97904"/>
                </a:lnTo>
                <a:lnTo>
                  <a:pt x="292100" y="127739"/>
                </a:lnTo>
                <a:lnTo>
                  <a:pt x="296333" y="133035"/>
                </a:lnTo>
                <a:lnTo>
                  <a:pt x="300567" y="118157"/>
                </a:lnTo>
                <a:lnTo>
                  <a:pt x="304800" y="102734"/>
                </a:lnTo>
                <a:lnTo>
                  <a:pt x="309033" y="100416"/>
                </a:lnTo>
                <a:lnTo>
                  <a:pt x="313267" y="105696"/>
                </a:lnTo>
                <a:lnTo>
                  <a:pt x="317500" y="103043"/>
                </a:lnTo>
                <a:lnTo>
                  <a:pt x="321733" y="86141"/>
                </a:lnTo>
                <a:lnTo>
                  <a:pt x="325967" y="64873"/>
                </a:lnTo>
                <a:lnTo>
                  <a:pt x="330200" y="54218"/>
                </a:lnTo>
                <a:lnTo>
                  <a:pt x="334433" y="59946"/>
                </a:lnTo>
                <a:lnTo>
                  <a:pt x="338667" y="76434"/>
                </a:lnTo>
                <a:lnTo>
                  <a:pt x="342900" y="95160"/>
                </a:lnTo>
                <a:lnTo>
                  <a:pt x="347133" y="111230"/>
                </a:lnTo>
                <a:lnTo>
                  <a:pt x="351367" y="121806"/>
                </a:lnTo>
                <a:lnTo>
                  <a:pt x="355600" y="122847"/>
                </a:lnTo>
                <a:lnTo>
                  <a:pt x="359833" y="111793"/>
                </a:lnTo>
                <a:lnTo>
                  <a:pt x="364067" y="93299"/>
                </a:lnTo>
                <a:lnTo>
                  <a:pt x="368300" y="78479"/>
                </a:lnTo>
                <a:lnTo>
                  <a:pt x="372533" y="75394"/>
                </a:lnTo>
                <a:lnTo>
                  <a:pt x="376767" y="80757"/>
                </a:lnTo>
                <a:lnTo>
                  <a:pt x="381000" y="83528"/>
                </a:lnTo>
                <a:lnTo>
                  <a:pt x="385233" y="77745"/>
                </a:lnTo>
                <a:lnTo>
                  <a:pt x="389467" y="70173"/>
                </a:lnTo>
                <a:lnTo>
                  <a:pt x="393700" y="73380"/>
                </a:lnTo>
                <a:lnTo>
                  <a:pt x="397933" y="91593"/>
                </a:lnTo>
                <a:lnTo>
                  <a:pt x="402167" y="115271"/>
                </a:lnTo>
                <a:lnTo>
                  <a:pt x="406400" y="130044"/>
                </a:lnTo>
                <a:lnTo>
                  <a:pt x="410633" y="129130"/>
                </a:lnTo>
                <a:lnTo>
                  <a:pt x="414867" y="115789"/>
                </a:lnTo>
                <a:lnTo>
                  <a:pt x="419100" y="96216"/>
                </a:lnTo>
                <a:lnTo>
                  <a:pt x="423333" y="74604"/>
                </a:lnTo>
                <a:lnTo>
                  <a:pt x="427567" y="56072"/>
                </a:lnTo>
                <a:lnTo>
                  <a:pt x="431800" y="49338"/>
                </a:lnTo>
                <a:lnTo>
                  <a:pt x="436033" y="60271"/>
                </a:lnTo>
                <a:lnTo>
                  <a:pt x="440267" y="82404"/>
                </a:lnTo>
                <a:lnTo>
                  <a:pt x="444500" y="99387"/>
                </a:lnTo>
                <a:lnTo>
                  <a:pt x="448733" y="101357"/>
                </a:lnTo>
                <a:lnTo>
                  <a:pt x="452967" y="96939"/>
                </a:lnTo>
                <a:lnTo>
                  <a:pt x="457200" y="103771"/>
                </a:lnTo>
                <a:lnTo>
                  <a:pt x="461433" y="125915"/>
                </a:lnTo>
                <a:lnTo>
                  <a:pt x="465667" y="145032"/>
                </a:lnTo>
                <a:lnTo>
                  <a:pt x="469900" y="137958"/>
                </a:lnTo>
                <a:lnTo>
                  <a:pt x="474133" y="101615"/>
                </a:lnTo>
                <a:lnTo>
                  <a:pt x="478367" y="56900"/>
                </a:lnTo>
                <a:lnTo>
                  <a:pt x="482600" y="28531"/>
                </a:lnTo>
                <a:lnTo>
                  <a:pt x="486833" y="25463"/>
                </a:lnTo>
                <a:lnTo>
                  <a:pt x="491067" y="41812"/>
                </a:lnTo>
                <a:lnTo>
                  <a:pt x="495300" y="69923"/>
                </a:lnTo>
                <a:lnTo>
                  <a:pt x="499533" y="104604"/>
                </a:lnTo>
                <a:lnTo>
                  <a:pt x="503767" y="135976"/>
                </a:lnTo>
                <a:lnTo>
                  <a:pt x="508000" y="148717"/>
                </a:lnTo>
                <a:lnTo>
                  <a:pt x="512233" y="136265"/>
                </a:lnTo>
                <a:lnTo>
                  <a:pt x="516467" y="112438"/>
                </a:lnTo>
                <a:lnTo>
                  <a:pt x="520700" y="99879"/>
                </a:lnTo>
                <a:lnTo>
                  <a:pt x="524933" y="104081"/>
                </a:lnTo>
                <a:lnTo>
                  <a:pt x="529167" y="105117"/>
                </a:lnTo>
                <a:lnTo>
                  <a:pt x="533400" y="81197"/>
                </a:lnTo>
                <a:lnTo>
                  <a:pt x="537633" y="38147"/>
                </a:lnTo>
                <a:lnTo>
                  <a:pt x="541867" y="8590"/>
                </a:lnTo>
                <a:lnTo>
                  <a:pt x="546100" y="19873"/>
                </a:lnTo>
                <a:lnTo>
                  <a:pt x="550333" y="67074"/>
                </a:lnTo>
                <a:lnTo>
                  <a:pt x="554567" y="120162"/>
                </a:lnTo>
                <a:lnTo>
                  <a:pt x="558800" y="153133"/>
                </a:lnTo>
                <a:lnTo>
                  <a:pt x="563033" y="160732"/>
                </a:lnTo>
                <a:lnTo>
                  <a:pt x="567267" y="149968"/>
                </a:lnTo>
                <a:lnTo>
                  <a:pt x="571500" y="126201"/>
                </a:lnTo>
                <a:lnTo>
                  <a:pt x="575733" y="93792"/>
                </a:lnTo>
                <a:lnTo>
                  <a:pt x="579967" y="64230"/>
                </a:lnTo>
                <a:lnTo>
                  <a:pt x="584200" y="52110"/>
                </a:lnTo>
                <a:lnTo>
                  <a:pt x="588433" y="59385"/>
                </a:lnTo>
                <a:lnTo>
                  <a:pt x="592667" y="70295"/>
                </a:lnTo>
                <a:lnTo>
                  <a:pt x="596900" y="68740"/>
                </a:lnTo>
                <a:lnTo>
                  <a:pt x="601133" y="59040"/>
                </a:lnTo>
                <a:lnTo>
                  <a:pt x="605367" y="62749"/>
                </a:lnTo>
                <a:lnTo>
                  <a:pt x="609600" y="92684"/>
                </a:lnTo>
                <a:lnTo>
                  <a:pt x="613833" y="134665"/>
                </a:lnTo>
                <a:lnTo>
                  <a:pt x="618067" y="159246"/>
                </a:lnTo>
                <a:lnTo>
                  <a:pt x="622300" y="150041"/>
                </a:lnTo>
                <a:lnTo>
                  <a:pt x="626533" y="116912"/>
                </a:lnTo>
                <a:lnTo>
                  <a:pt x="630767" y="82464"/>
                </a:lnTo>
                <a:lnTo>
                  <a:pt x="635000" y="61082"/>
                </a:lnTo>
                <a:lnTo>
                  <a:pt x="639233" y="53353"/>
                </a:lnTo>
                <a:lnTo>
                  <a:pt x="643467" y="55391"/>
                </a:lnTo>
                <a:lnTo>
                  <a:pt x="647700" y="65794"/>
                </a:lnTo>
                <a:lnTo>
                  <a:pt x="651933" y="82164"/>
                </a:lnTo>
                <a:lnTo>
                  <a:pt x="656167" y="96997"/>
                </a:lnTo>
                <a:lnTo>
                  <a:pt x="660400" y="102967"/>
                </a:lnTo>
                <a:lnTo>
                  <a:pt x="664633" y="101670"/>
                </a:lnTo>
                <a:lnTo>
                  <a:pt x="668867" y="102425"/>
                </a:lnTo>
                <a:lnTo>
                  <a:pt x="673100" y="110362"/>
                </a:lnTo>
                <a:lnTo>
                  <a:pt x="677333" y="118451"/>
                </a:lnTo>
                <a:lnTo>
                  <a:pt x="681567" y="114462"/>
                </a:lnTo>
                <a:lnTo>
                  <a:pt x="685800" y="95390"/>
                </a:lnTo>
                <a:lnTo>
                  <a:pt x="690033" y="72298"/>
                </a:lnTo>
                <a:lnTo>
                  <a:pt x="694267" y="60052"/>
                </a:lnTo>
                <a:lnTo>
                  <a:pt x="698500" y="63959"/>
                </a:lnTo>
                <a:lnTo>
                  <a:pt x="702733" y="77431"/>
                </a:lnTo>
                <a:lnTo>
                  <a:pt x="706967" y="90771"/>
                </a:lnTo>
                <a:lnTo>
                  <a:pt x="711200" y="99445"/>
                </a:lnTo>
                <a:lnTo>
                  <a:pt x="715433" y="103991"/>
                </a:lnTo>
                <a:lnTo>
                  <a:pt x="719667" y="105319"/>
                </a:lnTo>
                <a:lnTo>
                  <a:pt x="723900" y="103106"/>
                </a:lnTo>
                <a:lnTo>
                  <a:pt x="728133" y="98238"/>
                </a:lnTo>
                <a:lnTo>
                  <a:pt x="732367" y="93840"/>
                </a:lnTo>
                <a:lnTo>
                  <a:pt x="736600" y="92160"/>
                </a:lnTo>
                <a:lnTo>
                  <a:pt x="740833" y="91522"/>
                </a:lnTo>
                <a:lnTo>
                  <a:pt x="745067" y="88266"/>
                </a:lnTo>
                <a:lnTo>
                  <a:pt x="749300" y="81940"/>
                </a:lnTo>
                <a:lnTo>
                  <a:pt x="753533" y="77148"/>
                </a:lnTo>
                <a:lnTo>
                  <a:pt x="757767" y="79174"/>
                </a:lnTo>
                <a:lnTo>
                  <a:pt x="762000" y="88152"/>
                </a:lnTo>
              </a:path>
            </a:pathLst>
          </a:custGeom>
          <a:noFill/>
          <a:ln w="9525">
            <a:solidFill>
              <a:srgbClr val="3E6D8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FE34B95-D4B8-01BA-C527-256839BD99BB}"/>
              </a:ext>
            </a:extLst>
          </p:cNvPr>
          <p:cNvSpPr txBox="1"/>
          <p:nvPr/>
        </p:nvSpPr>
        <p:spPr>
          <a:xfrm>
            <a:off x="431800" y="939800"/>
            <a:ext cx="22606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Respiratory Audio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114FA59-563A-043A-122C-900056924235}"/>
              </a:ext>
            </a:extLst>
          </p:cNvPr>
          <p:cNvSpPr txBox="1"/>
          <p:nvPr/>
        </p:nvSpPr>
        <p:spPr>
          <a:xfrm>
            <a:off x="7416800" y="152400"/>
            <a:ext cx="2743200" cy="355600"/>
          </a:xfrm>
          <a:prstGeom prst="rect">
            <a:avLst/>
          </a:prstGeom>
          <a:noFill/>
        </p:spPr>
        <p:txBody>
          <a:bodyPr wrap="none" tIns="0" bIns="0" rtlCol="0" anchor="b">
            <a:noAutofit/>
          </a:bodyPr>
          <a:lstStyle/>
          <a:p>
            <a:pPr algn="ctr"/>
            <a:r>
              <a:rPr lang="en-US" sz="1600" b="1" i="0">
                <a:solidFill>
                  <a:srgbClr val="000000"/>
                </a:solidFill>
                <a:latin typeface="Arial"/>
              </a:rPr>
              <a:t>Task heads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A783F65-A714-083E-F75E-A5A137A02379}"/>
              </a:ext>
            </a:extLst>
          </p:cNvPr>
          <p:cNvSpPr txBox="1"/>
          <p:nvPr/>
        </p:nvSpPr>
        <p:spPr>
          <a:xfrm>
            <a:off x="584200" y="4368800"/>
            <a:ext cx="2209800" cy="6096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solidFill>
                  <a:schemeClr val="bg2">
                    <a:lumMod val="50000"/>
                  </a:schemeClr>
                </a:solidFill>
              </a:rPr>
              <a:t>∗: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</a:rPr>
              <a:t>Training + Inference</a:t>
            </a:r>
          </a:p>
          <a:p>
            <a:r>
              <a:rPr lang="en-US" altLang="zh-CN" sz="1400" b="1" dirty="0">
                <a:solidFill>
                  <a:schemeClr val="bg2">
                    <a:lumMod val="50000"/>
                  </a:schemeClr>
                </a:solidFill>
              </a:rPr>
              <a:t>#: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</a:rPr>
              <a:t>Inference Only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4554C06-8AD1-9F3E-F2A5-EF79EDFA84CE}"/>
              </a:ext>
            </a:extLst>
          </p:cNvPr>
          <p:cNvSpPr/>
          <p:nvPr/>
        </p:nvSpPr>
        <p:spPr>
          <a:xfrm>
            <a:off x="7543800" y="1905000"/>
            <a:ext cx="1193800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n-US" sz="1400" i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3B33EB4-1B8D-E213-9AB1-D0A54E790C74}"/>
              </a:ext>
            </a:extLst>
          </p:cNvPr>
          <p:cNvSpPr/>
          <p:nvPr/>
        </p:nvSpPr>
        <p:spPr>
          <a:xfrm>
            <a:off x="8915400" y="1905000"/>
            <a:ext cx="1117600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n-US" sz="1400" i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5222A8E-5216-64FF-83D9-E52A1610B798}"/>
              </a:ext>
            </a:extLst>
          </p:cNvPr>
          <p:cNvSpPr/>
          <p:nvPr/>
        </p:nvSpPr>
        <p:spPr>
          <a:xfrm>
            <a:off x="14351000" y="584200"/>
            <a:ext cx="3149600" cy="55880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14:m>
              <m:oMath xmlns:m="http://schemas.openxmlformats.org/officeDocument/2006/math">
                <m:sSup>
                  <m:sSupPr>
                    <m:ctrlPr>
                      <a:rPr lang="en-US" sz="1400" b="1" i="0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</m:ctrlPr>
                  </m:sSupPr>
                  <m:e>
                    <m:r>
                      <m:rPr>
                        <m:nor/>
                      </m:rPr>
                      <a:rPr lang="en-US" sz="1400" b="1" i="0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m:t>ICBHI</m:t>
                    </m:r>
                  </m:e>
                  <m:sup>
                    <m:r>
                      <a:rPr lang="en-US" sz="1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∗</m:t>
                    </m:r>
                  </m:sup>
                </m:sSup>
              </m:oMath>
            </a14:m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</a:p>
          <a:p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Normal </a:t>
            </a:r>
            <a14:m>
              <m:oMath xmlns:m="http://schemas.openxmlformats.org/officeDocument/2006/math">
                <m:r>
                  <a:rPr lang="en-US" sz="1400" i="1" smtClean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Arial" panose="020B0604020202020204" pitchFamily="34" charset="0"/>
                  </a:rPr>
                  <m:t>∙</m:t>
                </m:r>
              </m:oMath>
            </a14:m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Crackle </a:t>
            </a:r>
            <a14:m>
              <m:oMath xmlns:m="http://schemas.openxmlformats.org/officeDocument/2006/math">
                <m:r>
                  <a:rPr lang="en-US" sz="1400" i="1" smtClean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Arial" panose="020B0604020202020204" pitchFamily="34" charset="0"/>
                  </a:rPr>
                  <m:t>∙</m:t>
                </m:r>
              </m:oMath>
            </a14:m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Wheeze </a:t>
            </a:r>
            <a14:m>
              <m:oMath xmlns:m="http://schemas.openxmlformats.org/officeDocument/2006/math">
                <m:r>
                  <a:rPr lang="en-US" sz="1400" i="1" smtClean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Arial" panose="020B0604020202020204" pitchFamily="34" charset="0"/>
                  </a:rPr>
                  <m:t>∙</m:t>
                </m:r>
              </m:oMath>
            </a14:m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Both 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3F0888A-3FC5-088E-2D94-4C82E57ED049}"/>
              </a:ext>
            </a:extLst>
          </p:cNvPr>
          <p:cNvSpPr txBox="1"/>
          <p:nvPr/>
        </p:nvSpPr>
        <p:spPr>
          <a:xfrm>
            <a:off x="14300200" y="152400"/>
            <a:ext cx="3251200" cy="355600"/>
          </a:xfrm>
          <a:prstGeom prst="rect">
            <a:avLst/>
          </a:prstGeom>
          <a:noFill/>
        </p:spPr>
        <p:txBody>
          <a:bodyPr wrap="square" bIns="0" rtlCol="0" anchor="b">
            <a:spAutoFit/>
          </a:bodyPr>
          <a:lstStyle/>
          <a:p>
            <a:pPr algn="ctr"/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Task-Specific Outputs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2C738B9-6736-51F6-F5FE-9B7EF824FC25}"/>
              </a:ext>
            </a:extLst>
          </p:cNvPr>
          <p:cNvSpPr/>
          <p:nvPr/>
        </p:nvSpPr>
        <p:spPr>
          <a:xfrm>
            <a:off x="14351000" y="2641600"/>
            <a:ext cx="3149600" cy="55880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14:m>
              <m:oMath xmlns:m="http://schemas.openxmlformats.org/officeDocument/2006/math">
                <m:sSup>
                  <m:sSupPr>
                    <m:ctrlPr>
                      <a:rPr lang="en-US" sz="1400" b="1" i="0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</m:ctrlPr>
                  </m:sSupPr>
                  <m:e>
                    <m:r>
                      <m:rPr>
                        <m:nor/>
                      </m:rPr>
                      <a:rPr lang="en-US" sz="1400" b="1" i="0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m:t>SPRSound</m:t>
                    </m:r>
                  </m:e>
                  <m:sup>
                    <m:r>
                      <a:rPr lang="en-US" sz="1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∗</m:t>
                    </m:r>
                  </m:sup>
                </m:sSup>
              </m:oMath>
            </a14:m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</a:p>
          <a:p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Normal </a:t>
            </a:r>
            <a14:m>
              <m:oMath xmlns:m="http://schemas.openxmlformats.org/officeDocument/2006/math">
                <m:r>
                  <a:rPr lang="en-US" sz="1400" i="1" smtClean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Arial" panose="020B0604020202020204" pitchFamily="34" charset="0"/>
                  </a:rPr>
                  <m:t>∙</m:t>
                </m:r>
              </m:oMath>
            </a14:m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Adventitious</a:t>
            </a:r>
            <a:r>
              <a:rPr lang="zh-CN" alt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(Abnormal)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13A3B43-3589-DB43-9169-6CF6C6DF521F}"/>
              </a:ext>
            </a:extLst>
          </p:cNvPr>
          <p:cNvSpPr/>
          <p:nvPr/>
        </p:nvSpPr>
        <p:spPr>
          <a:xfrm>
            <a:off x="14351000" y="1270000"/>
            <a:ext cx="3149600" cy="55880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14:m>
              <m:oMath xmlns:m="http://schemas.openxmlformats.org/officeDocument/2006/math">
                <m:sSup>
                  <m:sSupPr>
                    <m:ctrlPr>
                      <a:rPr lang="en-US" sz="1400" b="1" i="0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</m:ctrlPr>
                  </m:sSupPr>
                  <m:e>
                    <m:r>
                      <m:rPr>
                        <m:nor/>
                      </m:rPr>
                      <a:rPr lang="en-US" sz="1400" b="1" i="0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m:t>HF test</m:t>
                    </m:r>
                  </m:e>
                  <m:sup>
                    <m:r>
                      <a:rPr lang="en-US" sz="1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#</m:t>
                    </m:r>
                  </m:sup>
                </m:sSup>
              </m:oMath>
            </a14:m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Crackle </a:t>
            </a:r>
            <a14:m>
              <m:oMath xmlns:m="http://schemas.openxmlformats.org/officeDocument/2006/math">
                <m:r>
                  <a:rPr lang="en-US" sz="1400" i="1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Arial" panose="020B0604020202020204" pitchFamily="34" charset="0"/>
                  </a:rPr>
                  <m:t>∙</m:t>
                </m:r>
              </m:oMath>
            </a14:m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Wheeze </a:t>
            </a:r>
            <a14:m>
              <m:oMath xmlns:m="http://schemas.openxmlformats.org/officeDocument/2006/math">
                <m:r>
                  <a:rPr lang="en-US" sz="1400" i="1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Arial" panose="020B0604020202020204" pitchFamily="34" charset="0"/>
                  </a:rPr>
                  <m:t>∙</m:t>
                </m:r>
              </m:oMath>
            </a14:m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Both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AF08D42-B00A-1453-47E2-1B0D5CC59295}"/>
              </a:ext>
            </a:extLst>
          </p:cNvPr>
          <p:cNvSpPr/>
          <p:nvPr/>
        </p:nvSpPr>
        <p:spPr>
          <a:xfrm>
            <a:off x="14351000" y="1955800"/>
            <a:ext cx="3149600" cy="55880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14:m>
              <m:oMath xmlns:m="http://schemas.openxmlformats.org/officeDocument/2006/math">
                <m:sSup>
                  <m:sSupPr>
                    <m:ctrlPr>
                      <a:rPr lang="en-US" sz="1400" b="1" i="0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</m:ctrlPr>
                  </m:sSupPr>
                  <m:e>
                    <m:r>
                      <m:rPr>
                        <m:nor/>
                      </m:rPr>
                      <a:rPr lang="en-US" sz="1400" b="1" i="0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m:t>KAUH</m:t>
                    </m:r>
                  </m:e>
                  <m:sup>
                    <m:r>
                      <a:rPr lang="en-US" sz="1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#</m:t>
                    </m:r>
                  </m:sup>
                </m:sSup>
              </m:oMath>
            </a14:m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</a:p>
          <a:p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Normal </a:t>
            </a:r>
            <a14:m>
              <m:oMath xmlns:m="http://schemas.openxmlformats.org/officeDocument/2006/math">
                <m:r>
                  <a:rPr lang="en-US" sz="1400" i="1" smtClean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Arial" panose="020B0604020202020204" pitchFamily="34" charset="0"/>
                  </a:rPr>
                  <m:t>∙</m:t>
                </m:r>
              </m:oMath>
            </a14:m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Abnormal</a:t>
            </a:r>
          </a:p>
        </p:txBody>
      </p:sp>
      <p:sp>
        <p:nvSpPr>
          <p:cNvPr id="47" name="tokens">
            <a:extLst>
              <a:ext uri="{FF2B5EF4-FFF2-40B4-BE49-F238E27FC236}">
                <a16:creationId xmlns:a16="http://schemas.microsoft.com/office/drawing/2014/main" id="{6301923F-367F-1136-E521-3DF8B5748FEE}"/>
              </a:ext>
            </a:extLst>
          </p:cNvPr>
          <p:cNvSpPr>
            <a:spLocks noGrp="1"/>
          </p:cNvSpPr>
          <p:nvPr/>
        </p:nvSpPr>
        <p:spPr>
          <a:xfrm>
            <a:off x="3225800" y="2908300"/>
            <a:ext cx="254000" cy="152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900" b="0" i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14:m>
              <m:oMathPara xmlns:m="http://schemas.openxmlformats.org/officeDocument/2006/math">
                <m:oMath>
                  <m:sSub>
                    <m:sSubPr>
                      <m:ctrlPr>
                        <a:rPr lang="en-US" sz="1400" b="0" i="1" smtClean="0">
                          <a:solidFill>
                            <a:srgbClr val="242424"/>
                          </a:solidFill>
                          <a:latin typeface="Cambria Math" panose="02040503050406030204" pitchFamily="18" charset="0"/>
                          <a:cs typeface="Arial"/>
                        </a:rPr>
                      </m:ctrlPr>
                    </m:sSubPr>
                    <m:e>
                      <m:r>
                        <a:rPr lang="en-US" sz="1400" b="0" i="1" smtClean="0">
                          <a:solidFill>
                            <a:srgbClr val="242424"/>
                          </a:solidFill>
                          <a:latin typeface="Cambria Math" panose="02040503050406030204" pitchFamily="18" charset="0"/>
                          <a:cs typeface="Arial"/>
                        </a:rPr>
                        <m:t>𝐻</m:t>
                      </m:r>
                    </m:e>
                    <m:sub>
                      <m:r>
                        <a:rPr lang="en-US" sz="1400" b="0" i="1" smtClean="0">
                          <a:solidFill>
                            <a:srgbClr val="242424"/>
                          </a:solidFill>
                          <a:latin typeface="Cambria Math" panose="02040503050406030204" pitchFamily="18" charset="0"/>
                          <a:cs typeface="Arial"/>
                        </a:rPr>
                        <m:t>𝑖</m:t>
                      </m:r>
                    </m:sub>
                  </m:sSub>
                </m:oMath>
              </m:oMathPara>
            </a14:m>
            <a:endParaRPr sz="900" b="0" i="1" baseline="-20000" dirty="0">
              <a:solidFill>
                <a:srgbClr val="242424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A8806B1-5ED6-0BA5-698D-FFA85ED77602}"/>
              </a:ext>
            </a:extLst>
          </p:cNvPr>
          <p:cNvSpPr txBox="1"/>
          <p:nvPr/>
        </p:nvSpPr>
        <p:spPr>
          <a:xfrm>
            <a:off x="3098800" y="3263900"/>
            <a:ext cx="514350" cy="2768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/>
            <a14:m>
              <m:oMathPara xmlns:m="http://schemas.openxmlformats.org/officeDocument/2006/math">
                <m:oMath>
                  <m:box>
                    <m:boxPr>
                      <m:noBreak m:val="on"/>
                      <m:ctrlPr>
                        <a:rPr lang="en-US" sz="12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</m:ctrlPr>
                    </m:boxPr>
                    <m:e>
                      <m:sSub>
                        <m:sSubPr>
                          <m:ctrlPr>
                            <a:rPr lang="en-US" sz="12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2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T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2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r>
                        <a:rPr lang="en-US" sz="1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m:rPr>
                          <m:sty m:val="p"/>
                        </m:rPr>
                        <a:rPr lang="en-US" altLang="zh-CN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D</m:t>
                      </m:r>
                    </m:e>
                  </m:box>
                </m:oMath>
              </m:oMathPara>
            </a14:m>
            <a:endParaRPr lang="en-US" sz="1200" dirty="0"/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074BE785-9BB6-F04B-A13E-EF7A29504FC6}"/>
              </a:ext>
            </a:extLst>
          </p:cNvPr>
          <p:cNvSpPr/>
          <p:nvPr/>
        </p:nvSpPr>
        <p:spPr>
          <a:xfrm>
            <a:off x="4508500" y="3860800"/>
            <a:ext cx="9715500" cy="609600"/>
          </a:xfrm>
          <a:prstGeom prst="rect">
            <a:avLst/>
          </a:prstGeom>
          <a:solidFill>
            <a:srgbClr val="E8E8E8">
              <a:alpha val="100000"/>
            </a:srgbClr>
          </a:solidFill>
          <a:ln>
            <a:solidFill>
              <a:srgbClr val="3E6D85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8" name="tokens">
            <a:extLst>
              <a:ext uri="{FF2B5EF4-FFF2-40B4-BE49-F238E27FC236}">
                <a16:creationId xmlns:a16="http://schemas.microsoft.com/office/drawing/2014/main" id="{D35DEA37-5F1F-16DF-6170-E9221563D967}"/>
              </a:ext>
            </a:extLst>
          </p:cNvPr>
          <p:cNvSpPr>
            <a:spLocks noGrp="1"/>
          </p:cNvSpPr>
          <p:nvPr/>
        </p:nvSpPr>
        <p:spPr>
          <a:xfrm>
            <a:off x="5816600" y="3237230"/>
            <a:ext cx="254000" cy="152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900" b="0" i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14:m>
              <m:oMathPara xmlns:m="http://schemas.openxmlformats.org/officeDocument/2006/math">
                <m:oMath>
                  <m:sSub>
                    <m:sSubPr>
                      <m:ctrlPr>
                        <a:rPr lang="en-US" sz="1400" b="0" i="1" smtClean="0">
                          <a:solidFill>
                            <a:srgbClr val="242424"/>
                          </a:solidFill>
                          <a:latin typeface="Cambria Math" panose="02040503050406030204" pitchFamily="18" charset="0"/>
                          <a:cs typeface="Arial"/>
                        </a:rPr>
                      </m:ctrlPr>
                    </m:sSubPr>
                    <m:e>
                      <m:r>
                        <a:rPr lang="en-US" sz="1400" b="0" i="1" smtClean="0">
                          <a:solidFill>
                            <a:srgbClr val="242424"/>
                          </a:solidFill>
                          <a:latin typeface="Cambria Math" panose="02040503050406030204" pitchFamily="18" charset="0"/>
                          <a:cs typeface="Arial"/>
                        </a:rPr>
                        <m:t>𝑍</m:t>
                      </m:r>
                    </m:e>
                    <m:sub>
                      <m:r>
                        <a:rPr lang="en-US" sz="1400" b="0" i="1" smtClean="0">
                          <a:solidFill>
                            <a:srgbClr val="242424"/>
                          </a:solidFill>
                          <a:latin typeface="Cambria Math" panose="02040503050406030204" pitchFamily="18" charset="0"/>
                          <a:cs typeface="Arial"/>
                        </a:rPr>
                        <m:t>𝑖</m:t>
                      </m:r>
                    </m:sub>
                  </m:sSub>
                </m:oMath>
              </m:oMathPara>
            </a14:m>
            <a:endParaRPr sz="900" b="0" i="1" baseline="-20000" dirty="0">
              <a:solidFill>
                <a:srgbClr val="242424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59886ED4-1488-130B-B9D3-9B8C68A17B2E}"/>
              </a:ext>
            </a:extLst>
          </p:cNvPr>
          <p:cNvSpPr txBox="1"/>
          <p:nvPr/>
        </p:nvSpPr>
        <p:spPr>
          <a:xfrm>
            <a:off x="5305425" y="3175000"/>
            <a:ext cx="514350" cy="2768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/>
            <a14:m>
              <m:oMathPara xmlns:m="http://schemas.openxmlformats.org/officeDocument/2006/math">
                <m:oMath>
                  <m:box>
                    <m:boxPr>
                      <m:noBreak m:val="on"/>
                      <m:ctrlPr>
                        <a:rPr lang="en-US" sz="12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</m:ctrlPr>
                    </m:boxPr>
                    <m:e>
                      <m:sSup>
                        <m:sSupPr>
                          <m:ctrlPr>
                            <a:rPr lang="en-US" sz="1200" i="0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200" i="0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sz="12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𝐷</m:t>
                          </m:r>
                        </m:sup>
                      </m:sSup>
                    </m:e>
                  </m:box>
                </m:oMath>
              </m:oMathPara>
            </a14:m>
            <a:endParaRPr lang="en-US" sz="1200" dirty="0"/>
          </a:p>
        </p:txBody>
      </p:sp>
      <p:sp>
        <p:nvSpPr>
          <p:cNvPr id="134" name="Auxiliary C-W heads heading"/>
          <p:cNvSpPr txBox="1"/>
          <p:nvPr/>
        </p:nvSpPr>
        <p:spPr>
          <a:xfrm>
            <a:off x="7416800" y="1346200"/>
            <a:ext cx="2743200" cy="304800"/>
          </a:xfrm>
          <a:prstGeom prst="rect">
            <a:avLst/>
          </a:prstGeom>
          <a:noFill/>
        </p:spPr>
        <p:txBody>
          <a:bodyPr wrap="none" tIns="0" bIns="0" rtlCol="0" anchor="b">
            <a:noAutofit/>
          </a:bodyPr>
          <a:lstStyle/>
          <a:p>
            <a:pPr algn="ctr"/>
            <a:r>
              <a:rPr lang="en-US" sz="1600" b="1" i="0">
                <a:solidFill>
                  <a:srgbClr val="000000"/>
                </a:solidFill>
                <a:latin typeface="Arial"/>
              </a:rPr>
              <a:t>Shared C-W heads</a:t>
            </a:r>
          </a:p>
        </p:txBody>
      </p:sp>
      <p:sp>
        <p:nvSpPr>
          <p:cNvPr id="136" name="Shared representation h_i"/>
          <p:cNvSpPr>
            <a:spLocks noGrp="1"/>
          </p:cNvSpPr>
          <p:nvPr/>
        </p:nvSpPr>
        <p:spPr>
          <a:xfrm>
            <a:off x="6845300" y="1143000"/>
            <a:ext cx="279400" cy="152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900" b="0" i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14:m>
              <m:oMathPara xmlns:m="http://schemas.openxmlformats.org/officeDocument/2006/math">
                <m:oMath>
                  <m:sSub>
                    <m:sSubPr>
                      <m:ctrlPr>
                        <a:rPr lang="en-US" sz="1400" b="0" i="1" smtClean="0">
                          <a:solidFill>
                            <a:srgbClr val="242424"/>
                          </a:solidFill>
                          <a:latin typeface="Cambria Math" panose="02040503050406030204" pitchFamily="18" charset="0"/>
                          <a:cs typeface="Arial"/>
                        </a:rPr>
                      </m:ctrlPr>
                    </m:sSubPr>
                    <m:e>
                      <m:r>
                        <a:rPr lang="en-US" sz="1400" b="0" i="1" smtClean="0">
                          <a:solidFill>
                            <a:srgbClr val="242424"/>
                          </a:solidFill>
                          <a:latin typeface="Cambria Math" panose="02040503050406030204" pitchFamily="18" charset="0"/>
                          <a:cs typeface="Arial"/>
                        </a:rPr>
                        <m:t>ℎ</m:t>
                      </m:r>
                    </m:e>
                    <m:sub>
                      <m:r>
                        <a:rPr lang="en-US" sz="1400" b="0" i="1" smtClean="0">
                          <a:solidFill>
                            <a:srgbClr val="242424"/>
                          </a:solidFill>
                          <a:latin typeface="Cambria Math" panose="02040503050406030204" pitchFamily="18" charset="0"/>
                          <a:cs typeface="Arial"/>
                        </a:rPr>
                        <m:t>𝑖</m:t>
                      </m:r>
                    </m:sub>
                  </m:sSub>
                </m:oMath>
              </m:oMathPara>
            </a14:m>
            <a:endParaRPr sz="900" b="0" i="1" baseline="-20000" dirty="0">
              <a:solidFill>
                <a:srgbClr val="242424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7" name="Classification loss L_cls"/>
          <p:cNvSpPr/>
          <p:nvPr/>
        </p:nvSpPr>
        <p:spPr>
          <a:xfrm>
            <a:off x="10795000" y="1879600"/>
            <a:ext cx="2387600" cy="533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>
            <a:noAutofit/>
          </a:bodyPr>
          <a:lstStyle/>
          <a:p>
            <a:pPr algn="ctr"/>
            <a14:m>
              <m:oMathPara xmlns:m="http://schemas.openxmlformats.org/officeDocument/2006/math">
                <m:oMath>
                  <m:sSub>
                    <m:sSubPr>
                      <m:ctrlPr>
                        <a:rPr lang="en-US" sz="1800" b="0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</m:ctrlPr>
                    </m:sSubPr>
                    <m:e>
                      <m:r>
                        <a:rPr lang="en-US" sz="1800" b="0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ℒ</m:t>
                      </m:r>
                    </m:e>
                    <m:sub>
                      <m:r>
                        <m:rPr>
                          <m:sty m:val="p"/>
                        </m:rPr>
                        <a:rPr lang="en-US" sz="1800" b="0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cls</m:t>
                      </m:r>
                    </m:sub>
                  </m:sSub>
                </m:oMath>
              </m:oMathPara>
            </a14:m>
            <a:endParaRPr dirty="0"/>
          </a:p>
          <a:p>
            <a:pPr algn="ctr"/>
            <a:r>
              <a:rPr lang="en-US" sz="1100" dirty="0">
                <a:solidFill>
                  <a:srgbClr val="32631C"/>
                </a:solidFill>
                <a:latin typeface="Arial"/>
              </a:rPr>
              <a:t>(ICBHI or </a:t>
            </a:r>
            <a:r>
              <a:rPr lang="en-US" sz="1100" dirty="0" err="1">
                <a:solidFill>
                  <a:srgbClr val="32631C"/>
                </a:solidFill>
                <a:latin typeface="Arial"/>
              </a:rPr>
              <a:t>SPRSound</a:t>
            </a:r>
            <a:r>
              <a:rPr lang="en-US" sz="1100" dirty="0">
                <a:solidFill>
                  <a:srgbClr val="32631C"/>
                </a:solidFill>
                <a:latin typeface="Arial"/>
              </a:rPr>
              <a:t>) + </a:t>
            </a:r>
            <a:r>
              <a:rPr lang="en-US" sz="1100" i="1" dirty="0">
                <a:solidFill>
                  <a:srgbClr val="32631C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C-W</a:t>
            </a:r>
          </a:p>
        </p:txBody>
      </p:sp>
      <p:sp>
        <p:nvSpPr>
          <p:cNvPr id="219" name="Optional HF loss"/>
          <p:cNvSpPr/>
          <p:nvPr/>
        </p:nvSpPr>
        <p:spPr>
          <a:xfrm>
            <a:off x="10795000" y="2590800"/>
            <a:ext cx="2387600" cy="457200"/>
          </a:xfrm>
          <a:prstGeom prst="rect">
            <a:avLst/>
          </a:prstGeom>
          <a:solidFill>
            <a:srgbClr val="FFF5DB"/>
          </a:solidFill>
          <a:ln>
            <a:solidFill>
              <a:srgbClr val="B699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>
            <a:noAutofit/>
          </a:bodyPr>
          <a:lstStyle/>
          <a:p>
            <a:pPr algn="ctr"/>
            <a14:m>
              <m:oMathPara xmlns:m="http://schemas.openxmlformats.org/officeDocument/2006/math">
                <m:oMath>
                  <m:sSub>
                    <m:sSubPr>
                      <m:ctrlPr>
                        <a:rPr lang="en-US" b="0" i="1" smtClean="0">
                          <a:solidFill>
                            <a:srgbClr val="B6993A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</m:ctrlPr>
                    </m:sSubPr>
                    <m:e>
                      <m:r>
                        <a:rPr lang="en-US" b="0" i="1" smtClean="0">
                          <a:solidFill>
                            <a:srgbClr val="B6993A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ℒ</m:t>
                      </m:r>
                    </m:e>
                    <m:sub>
                      <m:r>
                        <m:rPr>
                          <m:sty m:val="p"/>
                        </m:rPr>
                        <a:rPr lang="en-US" b="0" i="1" smtClean="0">
                          <a:solidFill>
                            <a:srgbClr val="B6993A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HF</m:t>
                      </m:r>
                    </m:sub>
                  </m:sSub>
                </m:oMath>
              </m:oMathPara>
            </a14:m>
            <a:endParaRPr dirty="0"/>
          </a:p>
          <a:p>
            <a:pPr algn="ctr"/>
            <a:r>
              <a:rPr lang="en-US" sz="1200" dirty="0">
                <a:solidFill>
                  <a:srgbClr val="B6993A"/>
                </a:solidFill>
                <a:latin typeface="Arial"/>
              </a:rPr>
              <a:t>Shared </a:t>
            </a:r>
            <a:r>
              <a:rPr lang="en-US" sz="1200" i="1" dirty="0">
                <a:solidFill>
                  <a:srgbClr val="B6993A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C-W</a:t>
            </a:r>
            <a:r>
              <a:rPr lang="en-US" sz="1200" dirty="0">
                <a:solidFill>
                  <a:srgbClr val="B6993A"/>
                </a:solidFill>
                <a:latin typeface="Arial"/>
              </a:rPr>
              <a:t> supervision</a:t>
            </a:r>
          </a:p>
        </p:txBody>
      </p:sp>
      <p:sp>
        <p:nvSpPr>
          <p:cNvPr id="223" name="Total loss equals"/>
          <p:cNvSpPr/>
          <p:nvPr/>
        </p:nvSpPr>
        <p:spPr>
          <a:xfrm>
            <a:off x="4572000" y="3860800"/>
            <a:ext cx="825500" cy="609600"/>
          </a:xfrm>
          <a:prstGeom prst="rect">
            <a:avLst/>
          </a:prstGeom>
          <a:noFill/>
          <a:ln w="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14:m>
              <m:oMathPara xmlns:m="http://schemas.openxmlformats.org/officeDocument/2006/math">
                <m:oMath>
                  <m:r>
                    <a:rPr lang="en-US" i="1" smtClean="0">
                      <a:solidFill>
                        <a:schemeClr val="tx1"/>
                      </a:solidFill>
                      <a:latin typeface="Cambria Math" panose="02040503050406030204" pitchFamily="18" charset="0"/>
                      <a:ea typeface="Cambria Math" panose="02040503050406030204" pitchFamily="18" charset="0"/>
                    </a:rPr>
                    <m:t>ℒ</m:t>
                  </m:r>
                  <m:r>
                    <a:rPr lang="en-US" b="0" i="1" smtClean="0">
                      <a:solidFill>
                        <a:schemeClr val="tx1"/>
                      </a:solidFill>
                      <a:latin typeface="Cambria Math" panose="02040503050406030204" pitchFamily="18" charset="0"/>
                      <a:ea typeface="Cambria Math" panose="02040503050406030204" pitchFamily="18" charset="0"/>
                    </a:rPr>
                    <m:t>=</m:t>
                  </m:r>
                </m:oMath>
              </m:oMathPara>
            </a14:m>
            <a:endParaRPr/>
          </a:p>
        </p:txBody>
      </p:sp>
      <p:sp>
        <p:nvSpPr>
          <p:cNvPr id="224" name="Weighted patient contrastive term"/>
          <p:cNvSpPr/>
          <p:nvPr/>
        </p:nvSpPr>
        <p:spPr>
          <a:xfrm>
            <a:off x="5397500" y="3860800"/>
            <a:ext cx="2159000" cy="609600"/>
          </a:xfrm>
          <a:prstGeom prst="rect">
            <a:avLst/>
          </a:prstGeom>
          <a:noFill/>
          <a:ln w="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14:m>
              <m:oMathPara xmlns:m="http://schemas.openxmlformats.org/officeDocument/2006/math">
                <m:oMath>
                  <m:sSub>
                    <m:sSubPr>
                      <m:ctrlP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</m:ctrlPr>
                    </m:sSubPr>
                    <m:e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</m:e>
                    <m:sub>
                      <m:r>
                        <m:rPr>
                          <m:sty m:val="p"/>
                        </m:rP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p</m:t>
                      </m:r>
                    </m:sub>
                  </m:sSub>
                  <m:sSub>
                    <m:sSubPr>
                      <m:ctrlP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</m:ctrlPr>
                    </m:sSubPr>
                    <m:e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ℒ</m:t>
                      </m:r>
                    </m:e>
                    <m:sub>
                      <m:r>
                        <m:rPr>
                          <m:sty m:val="p"/>
                        </m:rP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PCSL</m:t>
                      </m:r>
                    </m:sub>
                  </m:sSub>
                </m:oMath>
              </m:oMathPara>
            </a14:m>
            <a:endParaRPr/>
          </a:p>
        </p:txBody>
      </p:sp>
      <p:sp>
        <p:nvSpPr>
          <p:cNvPr id="225" name="Weighted attention regularization term"/>
          <p:cNvSpPr/>
          <p:nvPr/>
        </p:nvSpPr>
        <p:spPr>
          <a:xfrm>
            <a:off x="7734300" y="3860800"/>
            <a:ext cx="2159000" cy="609600"/>
          </a:xfrm>
          <a:prstGeom prst="rect">
            <a:avLst/>
          </a:prstGeom>
          <a:noFill/>
          <a:ln w="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14:m>
              <m:oMathPara xmlns:m="http://schemas.openxmlformats.org/officeDocument/2006/math">
                <m:oMath>
                  <m:sSub>
                    <m:sSubPr>
                      <m:ctrlPr>
                        <a:rPr lang="en-US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</m:ctrlPr>
                    </m:sSubPr>
                    <m:e>
                      <m:r>
                        <a:rPr lang="en-US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</m:e>
                    <m:sub>
                      <m:r>
                        <a:rPr lang="en-US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𝑔</m:t>
                      </m:r>
                    </m:sub>
                  </m:sSub>
                  <m:sSub>
                    <m:sSubPr>
                      <m:ctrlPr>
                        <a:rPr lang="en-US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</m:ctrlPr>
                    </m:sSubPr>
                    <m:e>
                      <m:r>
                        <a:rPr lang="en-US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ℒ</m:t>
                      </m:r>
                    </m:e>
                    <m:sub>
                      <m:r>
                        <m:rPr>
                          <m:sty m:val="p"/>
                        </m:rPr>
                        <a:rPr lang="en-US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GPAL</m:t>
                      </m:r>
                    </m:sub>
                  </m:sSub>
                </m:oMath>
              </m:oMathPara>
            </a14:m>
            <a:endParaRPr/>
          </a:p>
        </p:txBody>
      </p:sp>
      <p:sp>
        <p:nvSpPr>
          <p:cNvPr id="226" name="Classification term"/>
          <p:cNvSpPr/>
          <p:nvPr/>
        </p:nvSpPr>
        <p:spPr>
          <a:xfrm>
            <a:off x="10071100" y="3860800"/>
            <a:ext cx="1397000" cy="609600"/>
          </a:xfrm>
          <a:prstGeom prst="rect">
            <a:avLst/>
          </a:prstGeom>
          <a:noFill/>
          <a:ln w="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14:m>
              <m:oMathPara xmlns:m="http://schemas.openxmlformats.org/officeDocument/2006/math">
                <m:oMath>
                  <m:sSub>
                    <m:sSubPr>
                      <m:ctrlPr>
                        <a:rPr lang="en-US" b="0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</m:ctrlPr>
                    </m:sSubPr>
                    <m:e>
                      <m:r>
                        <a:rPr lang="en-US" b="0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ℒ</m:t>
                      </m:r>
                    </m:e>
                    <m:sub>
                      <m:r>
                        <m:rPr>
                          <m:sty m:val="p"/>
                        </m:rPr>
                        <a:rPr lang="en-US" b="0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cls</m:t>
                      </m:r>
                    </m:sub>
                  </m:sSub>
                </m:oMath>
              </m:oMathPara>
            </a14:m>
            <a:endParaRPr/>
          </a:p>
        </p:txBody>
      </p:sp>
      <p:sp>
        <p:nvSpPr>
          <p:cNvPr id="227" name="Weighted optional HF term"/>
          <p:cNvSpPr/>
          <p:nvPr/>
        </p:nvSpPr>
        <p:spPr>
          <a:xfrm>
            <a:off x="11645900" y="3860800"/>
            <a:ext cx="2260600" cy="609600"/>
          </a:xfrm>
          <a:prstGeom prst="rect">
            <a:avLst/>
          </a:prstGeom>
          <a:noFill/>
          <a:ln w="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14:m>
              <m:oMathPara xmlns:m="http://schemas.openxmlformats.org/officeDocument/2006/math">
                <m:oMath>
                  <m:sSub>
                    <m:sSubPr>
                      <m:ctrlPr>
                        <a:rPr lang="en-US" b="0" i="1" smtClean="0">
                          <a:solidFill>
                            <a:srgbClr val="B6993A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</m:ctrlPr>
                    </m:sSubPr>
                    <m:e>
                      <m:r>
                        <a:rPr lang="en-US" b="0" i="1" smtClean="0">
                          <a:solidFill>
                            <a:srgbClr val="B6993A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</m:e>
                    <m:sub>
                      <m:r>
                        <m:rPr>
                          <m:sty m:val="p"/>
                        </m:rPr>
                        <a:rPr lang="en-US" b="0" i="1" smtClean="0">
                          <a:solidFill>
                            <a:srgbClr val="B6993A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HF</m:t>
                      </m:r>
                    </m:sub>
                  </m:sSub>
                  <m:sSub>
                    <m:sSubPr>
                      <m:ctrlPr>
                        <a:rPr lang="en-US" b="0" i="1" smtClean="0">
                          <a:solidFill>
                            <a:srgbClr val="B6993A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</m:ctrlPr>
                    </m:sSubPr>
                    <m:e>
                      <m:r>
                        <a:rPr lang="en-US" b="0" i="1" smtClean="0">
                          <a:solidFill>
                            <a:srgbClr val="B6993A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ℒ</m:t>
                      </m:r>
                    </m:e>
                    <m:sub>
                      <m:r>
                        <m:rPr>
                          <m:sty m:val="p"/>
                        </m:rPr>
                        <a:rPr lang="en-US" b="0" i="1" smtClean="0">
                          <a:solidFill>
                            <a:srgbClr val="B6993A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HF</m:t>
                      </m:r>
                    </m:sub>
                  </m:sSub>
                </m:oMath>
              </m:oMathPara>
            </a14:m>
            <a:endParaRPr/>
          </a:p>
        </p:txBody>
      </p:sp>
      <p:sp>
        <p:nvSpPr>
          <p:cNvPr id="228" name="Objective addition"/>
          <p:cNvSpPr/>
          <p:nvPr/>
        </p:nvSpPr>
        <p:spPr>
          <a:xfrm>
            <a:off x="7467600" y="3860800"/>
            <a:ext cx="279400" cy="609600"/>
          </a:xfrm>
          <a:prstGeom prst="rect">
            <a:avLst/>
          </a:prstGeom>
          <a:noFill/>
          <a:ln w="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14:m>
              <m:oMathPara xmlns:m="http://schemas.openxmlformats.org/officeDocument/2006/math">
                <m:oMath>
                  <m:r>
                    <m:rPr>
                      <m:nor/>
                    </m:rPr>
                    <a:rPr lang="en-US" i="1" smtClean="0">
                      <a:solidFill>
                        <a:schemeClr val="tx1"/>
                      </a:solidFill>
                      <a:latin typeface="Cambria Math" panose="02040503050406030204" pitchFamily="18" charset="0"/>
                      <a:ea typeface="Cambria Math" panose="02040503050406030204" pitchFamily="18" charset="0"/>
                    </a:rPr>
                    <m:t> + </m:t>
                  </m:r>
                </m:oMath>
              </m:oMathPara>
            </a14:m>
            <a:endParaRPr/>
          </a:p>
        </p:txBody>
      </p:sp>
      <p:sp>
        <p:nvSpPr>
          <p:cNvPr id="229" name="Objective addition"/>
          <p:cNvSpPr/>
          <p:nvPr/>
        </p:nvSpPr>
        <p:spPr>
          <a:xfrm>
            <a:off x="9855200" y="3860800"/>
            <a:ext cx="279400" cy="609600"/>
          </a:xfrm>
          <a:prstGeom prst="rect">
            <a:avLst/>
          </a:prstGeom>
          <a:noFill/>
          <a:ln w="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14:m>
              <m:oMathPara xmlns:m="http://schemas.openxmlformats.org/officeDocument/2006/math">
                <m:oMath>
                  <m:r>
                    <m:rPr>
                      <m:nor/>
                    </m:rPr>
                    <a:rPr lang="en-US" i="1" smtClean="0">
                      <a:solidFill>
                        <a:schemeClr val="tx1"/>
                      </a:solidFill>
                      <a:latin typeface="Cambria Math" panose="02040503050406030204" pitchFamily="18" charset="0"/>
                      <a:ea typeface="Cambria Math" panose="02040503050406030204" pitchFamily="18" charset="0"/>
                    </a:rPr>
                    <m:t> + </m:t>
                  </m:r>
                </m:oMath>
              </m:oMathPara>
            </a14:m>
            <a:endParaRPr/>
          </a:p>
        </p:txBody>
      </p:sp>
      <p:sp>
        <p:nvSpPr>
          <p:cNvPr id="230" name="Objective addition"/>
          <p:cNvSpPr/>
          <p:nvPr/>
        </p:nvSpPr>
        <p:spPr>
          <a:xfrm>
            <a:off x="11379200" y="3860800"/>
            <a:ext cx="279400" cy="609600"/>
          </a:xfrm>
          <a:prstGeom prst="rect">
            <a:avLst/>
          </a:prstGeom>
          <a:noFill/>
          <a:ln w="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14:m>
              <m:oMathPara xmlns:m="http://schemas.openxmlformats.org/officeDocument/2006/math">
                <m:oMath>
                  <m:r>
                    <m:rPr>
                      <m:nor/>
                    </m:rPr>
                    <a:rPr lang="en-US" i="1" smtClean="0">
                      <a:solidFill>
                        <a:schemeClr val="tx1"/>
                      </a:solidFill>
                      <a:latin typeface="Cambria Math" panose="02040503050406030204" pitchFamily="18" charset="0"/>
                      <a:ea typeface="Cambria Math" panose="02040503050406030204" pitchFamily="18" charset="0"/>
                    </a:rPr>
                    <m:t> + </m:t>
                  </m:r>
                </m:oMath>
              </m:oMathPara>
            </a14:m>
            <a:endParaRPr/>
          </a:p>
        </p:txBody>
      </p:sp>
      <p:sp>
        <p:nvSpPr>
          <p:cNvPr id="236" name="Bottom aligned loss annotation Patient contrastive"/>
          <p:cNvSpPr txBox="1"/>
          <p:nvPr/>
        </p:nvSpPr>
        <p:spPr>
          <a:xfrm>
            <a:off x="5511800" y="4521200"/>
            <a:ext cx="1930400" cy="406400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ctr"/>
            <a:r>
              <a:rPr sz="1200" b="0" dirty="0">
                <a:solidFill>
                  <a:srgbClr val="333333"/>
                </a:solidFill>
                <a:latin typeface="Arial"/>
              </a:rPr>
              <a:t>Patient</a:t>
            </a:r>
            <a:r>
              <a:rPr lang="en-US" sz="1200" b="0" dirty="0">
                <a:solidFill>
                  <a:srgbClr val="333333"/>
                </a:solidFill>
                <a:latin typeface="Arial"/>
              </a:rPr>
              <a:t> </a:t>
            </a:r>
            <a:r>
              <a:rPr sz="1200" b="0" dirty="0">
                <a:solidFill>
                  <a:srgbClr val="333333"/>
                </a:solidFill>
                <a:latin typeface="Arial"/>
              </a:rPr>
              <a:t>contrastive</a:t>
            </a:r>
          </a:p>
        </p:txBody>
      </p:sp>
      <p:sp>
        <p:nvSpPr>
          <p:cNvPr id="238" name="Bottom aligned loss annotation Attention regularization"/>
          <p:cNvSpPr txBox="1"/>
          <p:nvPr/>
        </p:nvSpPr>
        <p:spPr>
          <a:xfrm>
            <a:off x="7848600" y="4508500"/>
            <a:ext cx="1930400" cy="406400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ctr"/>
            <a:r>
              <a:rPr sz="1200" b="0" dirty="0">
                <a:solidFill>
                  <a:srgbClr val="7030A0"/>
                </a:solidFill>
                <a:latin typeface="Arial"/>
              </a:rPr>
              <a:t>Attention</a:t>
            </a:r>
            <a:r>
              <a:rPr lang="en-US" sz="1200" b="0" dirty="0">
                <a:solidFill>
                  <a:srgbClr val="7030A0"/>
                </a:solidFill>
                <a:latin typeface="Arial"/>
              </a:rPr>
              <a:t> </a:t>
            </a:r>
            <a:r>
              <a:rPr sz="1200" b="0" dirty="0">
                <a:solidFill>
                  <a:srgbClr val="7030A0"/>
                </a:solidFill>
                <a:latin typeface="Arial"/>
              </a:rPr>
              <a:t>regularization</a:t>
            </a:r>
          </a:p>
        </p:txBody>
      </p:sp>
      <p:sp>
        <p:nvSpPr>
          <p:cNvPr id="240" name="Bottom aligned loss annotation Native + C-W classification"/>
          <p:cNvSpPr txBox="1"/>
          <p:nvPr/>
        </p:nvSpPr>
        <p:spPr>
          <a:xfrm>
            <a:off x="9829800" y="4508500"/>
            <a:ext cx="1930400" cy="406400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ctr"/>
            <a:r>
              <a:rPr sz="1200" b="0" dirty="0">
                <a:solidFill>
                  <a:srgbClr val="32631C"/>
                </a:solidFill>
                <a:latin typeface="Arial"/>
              </a:rPr>
              <a:t>Native + </a:t>
            </a:r>
            <a:r>
              <a:rPr sz="1200" i="1" dirty="0">
                <a:solidFill>
                  <a:srgbClr val="32631C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C-W</a:t>
            </a:r>
            <a:r>
              <a:rPr lang="en-US" sz="1200" i="1" dirty="0">
                <a:solidFill>
                  <a:srgbClr val="32631C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sz="1200" b="0" dirty="0">
                <a:solidFill>
                  <a:srgbClr val="32631C"/>
                </a:solidFill>
                <a:latin typeface="Arial"/>
              </a:rPr>
              <a:t>classification</a:t>
            </a:r>
          </a:p>
        </p:txBody>
      </p:sp>
      <p:sp>
        <p:nvSpPr>
          <p:cNvPr id="242" name="Bottom aligned loss annotation HF supervision (optional)"/>
          <p:cNvSpPr txBox="1"/>
          <p:nvPr/>
        </p:nvSpPr>
        <p:spPr>
          <a:xfrm>
            <a:off x="11836400" y="4508500"/>
            <a:ext cx="1930400" cy="406400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ctr"/>
            <a:r>
              <a:rPr sz="1200" b="0" dirty="0">
                <a:solidFill>
                  <a:srgbClr val="B6993A"/>
                </a:solidFill>
                <a:latin typeface="Arial"/>
              </a:rPr>
              <a:t>HF supervision</a:t>
            </a:r>
            <a:r>
              <a:rPr lang="en-US" sz="1200" b="0" dirty="0">
                <a:solidFill>
                  <a:srgbClr val="B6993A"/>
                </a:solidFill>
                <a:latin typeface="Arial"/>
              </a:rPr>
              <a:t> </a:t>
            </a:r>
            <a:r>
              <a:rPr sz="1200" b="0" dirty="0">
                <a:solidFill>
                  <a:srgbClr val="B6993A"/>
                </a:solidFill>
                <a:latin typeface="Arial"/>
              </a:rPr>
              <a:t>(optional)</a:t>
            </a:r>
          </a:p>
        </p:txBody>
      </p:sp>
      <p:sp>
        <p:nvSpPr>
          <p:cNvPr id="413" name="C-W supervision junction"/>
          <p:cNvSpPr/>
          <p:nvPr/>
        </p:nvSpPr>
        <p:spPr>
          <a:xfrm>
            <a:off x="9455150" y="2495550"/>
            <a:ext cx="38100" cy="38100"/>
          </a:xfrm>
          <a:prstGeom prst="ellipse">
            <a:avLst/>
          </a:prstGeom>
          <a:solidFill>
            <a:srgbClr val="32631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17" name="Classification training group title"/>
          <p:cNvSpPr txBox="1"/>
          <p:nvPr/>
        </p:nvSpPr>
        <p:spPr>
          <a:xfrm>
            <a:off x="10668000" y="1485900"/>
            <a:ext cx="2641600" cy="292100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ctr"/>
            <a:r>
              <a:rPr sz="1400">
                <a:solidFill>
                  <a:srgbClr val="32631C"/>
                </a:solidFill>
                <a:latin typeface="Arial"/>
              </a:rPr>
              <a:t>Training supervision</a:t>
            </a:r>
          </a:p>
        </p:txBody>
      </p:sp>
      <p:sp>
        <p:nvSpPr>
          <p:cNvPr id="418" name="HF training source"/>
          <p:cNvSpPr txBox="1"/>
          <p:nvPr/>
        </p:nvSpPr>
        <p:spPr>
          <a:xfrm>
            <a:off x="8153400" y="2540000"/>
            <a:ext cx="1549400" cy="203200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ctr"/>
            <a:r>
              <a:rPr sz="1100">
                <a:solidFill>
                  <a:srgbClr val="B6993A"/>
                </a:solidFill>
                <a:latin typeface="Arial"/>
              </a:rPr>
              <a:t>HF train (optional)</a:t>
            </a:r>
          </a:p>
        </p:txBody>
      </p:sp>
      <p:sp>
        <p:nvSpPr>
          <p:cNvPr id="420" name="Optional HF train C-W junction"/>
          <p:cNvSpPr/>
          <p:nvPr/>
        </p:nvSpPr>
        <p:spPr>
          <a:xfrm>
            <a:off x="9785350" y="2495550"/>
            <a:ext cx="38100" cy="38100"/>
          </a:xfrm>
          <a:prstGeom prst="ellipse">
            <a:avLst/>
          </a:prstGeom>
          <a:solidFill>
            <a:srgbClr val="B6993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" name="Attention representation to PCSL and GPAL objective"/>
          <p:cNvSpPr/>
          <p:nvPr/>
        </p:nvSpPr>
        <p:spPr>
          <a:xfrm>
            <a:off x="5753100" y="3175000"/>
            <a:ext cx="3060700" cy="685800"/>
          </a:xfrm>
          <a:custGeom>
            <a:avLst/>
            <a:gdLst/>
            <a:ahLst/>
            <a:cxnLst/>
            <a:rect l="0" t="0" r="r" b="b"/>
            <a:pathLst>
              <a:path w="3060700" h="685800" fill="none">
                <a:moveTo>
                  <a:pt x="0" y="0"/>
                </a:moveTo>
                <a:lnTo>
                  <a:pt x="0" y="381000"/>
                </a:lnTo>
                <a:lnTo>
                  <a:pt x="3060700" y="381000"/>
                </a:lnTo>
                <a:lnTo>
                  <a:pt x="3060700" y="685800"/>
                </a:lnTo>
              </a:path>
            </a:pathLst>
          </a:custGeom>
          <a:noFill/>
          <a:ln w="19050">
            <a:solidFill>
              <a:srgbClr val="7030A0"/>
            </a:solidFill>
            <a:prstDash val="dash"/>
            <a:round/>
            <a:tailEnd type="triangl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02" name="PCSL objective branch"/>
          <p:cNvSpPr/>
          <p:nvPr/>
        </p:nvSpPr>
        <p:spPr>
          <a:xfrm>
            <a:off x="6477000" y="3556000"/>
            <a:ext cx="13" cy="304800"/>
          </a:xfrm>
          <a:custGeom>
            <a:avLst/>
            <a:gdLst/>
            <a:ahLst/>
            <a:cxnLst/>
            <a:rect l="0" t="0" r="r" b="b"/>
            <a:pathLst>
              <a:path w="13" h="304800" fill="none">
                <a:moveTo>
                  <a:pt x="0" y="0"/>
                </a:moveTo>
                <a:lnTo>
                  <a:pt x="0" y="304800"/>
                </a:lnTo>
              </a:path>
            </a:pathLst>
          </a:custGeom>
          <a:noFill/>
          <a:ln w="19050">
            <a:solidFill>
              <a:srgbClr val="7030A0"/>
            </a:solidFill>
            <a:prstDash val="dash"/>
            <a:round/>
            <a:tailEnd type="triangl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03" name="PAFA objective branch junction"/>
          <p:cNvSpPr/>
          <p:nvPr/>
        </p:nvSpPr>
        <p:spPr>
          <a:xfrm>
            <a:off x="6457950" y="3536950"/>
            <a:ext cx="38100" cy="38100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00" name="Non-junction crossover bridge"/>
          <p:cNvSpPr/>
          <p:nvPr/>
        </p:nvSpPr>
        <p:spPr>
          <a:xfrm>
            <a:off x="10693400" y="2768600"/>
            <a:ext cx="76200" cy="101600"/>
          </a:xfrm>
          <a:custGeom>
            <a:avLst/>
            <a:gdLst/>
            <a:ahLst/>
            <a:cxnLst/>
            <a:rect l="0" t="0" r="r" b="b"/>
            <a:pathLst>
              <a:path w="76200" h="101600" fill="none">
                <a:moveTo>
                  <a:pt x="0" y="101600"/>
                </a:moveTo>
                <a:cubicBezTo>
                  <a:pt x="76200" y="101600"/>
                  <a:pt x="76200" y="0"/>
                  <a:pt x="0" y="0"/>
                </a:cubicBezTo>
              </a:path>
            </a:pathLst>
          </a:custGeom>
          <a:noFill/>
          <a:ln w="57150">
            <a:solidFill>
              <a:srgbClr val="FFFFFF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14" name="SPRSound batch native CE to CLS"/>
          <p:cNvSpPr/>
          <p:nvPr/>
        </p:nvSpPr>
        <p:spPr>
          <a:xfrm>
            <a:off x="10033000" y="2336800"/>
            <a:ext cx="762000" cy="660400"/>
          </a:xfrm>
          <a:custGeom>
            <a:avLst/>
            <a:gdLst/>
            <a:ahLst/>
            <a:cxnLst/>
            <a:rect l="0" t="0" r="r" b="b"/>
            <a:pathLst>
              <a:path w="762000" h="660400" fill="none">
                <a:moveTo>
                  <a:pt x="0" y="660400"/>
                </a:moveTo>
                <a:lnTo>
                  <a:pt x="660400" y="660400"/>
                </a:lnTo>
                <a:lnTo>
                  <a:pt x="660400" y="533400"/>
                </a:lnTo>
                <a:cubicBezTo>
                  <a:pt x="736600" y="533400"/>
                  <a:pt x="736600" y="431800"/>
                  <a:pt x="660400" y="431800"/>
                </a:cubicBezTo>
                <a:lnTo>
                  <a:pt x="660400" y="0"/>
                </a:lnTo>
                <a:lnTo>
                  <a:pt x="762000" y="0"/>
                </a:lnTo>
              </a:path>
            </a:pathLst>
          </a:custGeom>
          <a:noFill/>
          <a:ln w="19050">
            <a:solidFill>
              <a:srgbClr val="32631C"/>
            </a:solidFill>
            <a:prstDash val="dash"/>
            <a:round/>
            <a:tailEnd type="triangl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01" name="Non-junction crossover bridge"/>
          <p:cNvSpPr/>
          <p:nvPr/>
        </p:nvSpPr>
        <p:spPr>
          <a:xfrm>
            <a:off x="13766800" y="2870200"/>
            <a:ext cx="76200" cy="101600"/>
          </a:xfrm>
          <a:custGeom>
            <a:avLst/>
            <a:gdLst/>
            <a:ahLst/>
            <a:cxnLst/>
            <a:rect l="0" t="0" r="r" b="b"/>
            <a:pathLst>
              <a:path w="76200" h="101600" fill="none">
                <a:moveTo>
                  <a:pt x="0" y="0"/>
                </a:moveTo>
                <a:cubicBezTo>
                  <a:pt x="76200" y="0"/>
                  <a:pt x="76200" y="101600"/>
                  <a:pt x="0" y="101600"/>
                </a:cubicBezTo>
              </a:path>
            </a:pathLst>
          </a:custGeom>
          <a:noFill/>
          <a:ln w="57150">
            <a:solidFill>
              <a:srgbClr val="FFFFFF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608" name="Classification loss to total objective"/>
          <p:cNvSpPr/>
          <p:nvPr/>
        </p:nvSpPr>
        <p:spPr>
          <a:xfrm>
            <a:off x="10769600" y="2032000"/>
            <a:ext cx="3073400" cy="1828800"/>
          </a:xfrm>
          <a:custGeom>
            <a:avLst/>
            <a:gdLst/>
            <a:ahLst/>
            <a:cxnLst/>
            <a:rect l="0" t="0" r="r" b="b"/>
            <a:pathLst>
              <a:path w="3073400" h="1828800" fill="none">
                <a:moveTo>
                  <a:pt x="2413000" y="0"/>
                </a:moveTo>
                <a:lnTo>
                  <a:pt x="2997200" y="0"/>
                </a:lnTo>
                <a:lnTo>
                  <a:pt x="2997200" y="838200"/>
                </a:lnTo>
                <a:cubicBezTo>
                  <a:pt x="3073400" y="838200"/>
                  <a:pt x="3073400" y="939800"/>
                  <a:pt x="2997200" y="939800"/>
                </a:cubicBezTo>
                <a:lnTo>
                  <a:pt x="2997200" y="1574800"/>
                </a:lnTo>
                <a:lnTo>
                  <a:pt x="0" y="1574800"/>
                </a:lnTo>
                <a:lnTo>
                  <a:pt x="0" y="1828800"/>
                </a:lnTo>
              </a:path>
            </a:pathLst>
          </a:custGeom>
          <a:noFill/>
          <a:ln w="19050">
            <a:solidFill>
              <a:srgbClr val="32631C"/>
            </a:solidFill>
            <a:prstDash val="dash"/>
            <a:round/>
            <a:tailEnd type="triangl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02" name="Non-junction crossover bridge"/>
          <p:cNvSpPr/>
          <p:nvPr/>
        </p:nvSpPr>
        <p:spPr>
          <a:xfrm>
            <a:off x="11988800" y="3098800"/>
            <a:ext cx="76200" cy="101600"/>
          </a:xfrm>
          <a:custGeom>
            <a:avLst/>
            <a:gdLst/>
            <a:ahLst/>
            <a:cxnLst/>
            <a:rect l="0" t="0" r="r" b="b"/>
            <a:pathLst>
              <a:path w="76200" h="101600" fill="none">
                <a:moveTo>
                  <a:pt x="0" y="0"/>
                </a:moveTo>
                <a:cubicBezTo>
                  <a:pt x="76200" y="0"/>
                  <a:pt x="76200" y="101600"/>
                  <a:pt x="0" y="101600"/>
                </a:cubicBezTo>
              </a:path>
            </a:pathLst>
          </a:custGeom>
          <a:noFill/>
          <a:ln w="57150">
            <a:solidFill>
              <a:srgbClr val="FFFFFF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703" name="Non-junction crossover bridge"/>
          <p:cNvSpPr/>
          <p:nvPr/>
        </p:nvSpPr>
        <p:spPr>
          <a:xfrm>
            <a:off x="11988800" y="3556000"/>
            <a:ext cx="76200" cy="101600"/>
          </a:xfrm>
          <a:custGeom>
            <a:avLst/>
            <a:gdLst/>
            <a:ahLst/>
            <a:cxnLst/>
            <a:rect l="0" t="0" r="r" b="b"/>
            <a:pathLst>
              <a:path w="76200" h="101600" fill="none">
                <a:moveTo>
                  <a:pt x="0" y="0"/>
                </a:moveTo>
                <a:cubicBezTo>
                  <a:pt x="76200" y="0"/>
                  <a:pt x="76200" y="101600"/>
                  <a:pt x="0" y="101600"/>
                </a:cubicBezTo>
              </a:path>
            </a:pathLst>
          </a:custGeom>
          <a:noFill/>
          <a:ln w="57150">
            <a:solidFill>
              <a:srgbClr val="FFFFFF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607" name="Optional HF loss to total objective"/>
          <p:cNvSpPr/>
          <p:nvPr/>
        </p:nvSpPr>
        <p:spPr>
          <a:xfrm>
            <a:off x="11988800" y="3048000"/>
            <a:ext cx="787400" cy="812800"/>
          </a:xfrm>
          <a:custGeom>
            <a:avLst/>
            <a:gdLst/>
            <a:ahLst/>
            <a:cxnLst/>
            <a:rect l="0" t="0" r="r" b="b"/>
            <a:pathLst>
              <a:path w="787400" h="812800" fill="none">
                <a:moveTo>
                  <a:pt x="0" y="0"/>
                </a:moveTo>
                <a:lnTo>
                  <a:pt x="0" y="50800"/>
                </a:lnTo>
                <a:cubicBezTo>
                  <a:pt x="76200" y="50800"/>
                  <a:pt x="76200" y="152400"/>
                  <a:pt x="0" y="152400"/>
                </a:cubicBezTo>
                <a:lnTo>
                  <a:pt x="0" y="508000"/>
                </a:lnTo>
                <a:cubicBezTo>
                  <a:pt x="76200" y="508000"/>
                  <a:pt x="76200" y="609600"/>
                  <a:pt x="0" y="609600"/>
                </a:cubicBezTo>
                <a:lnTo>
                  <a:pt x="0" y="660400"/>
                </a:lnTo>
                <a:lnTo>
                  <a:pt x="787400" y="660400"/>
                </a:lnTo>
                <a:lnTo>
                  <a:pt x="787400" y="812800"/>
                </a:lnTo>
              </a:path>
            </a:pathLst>
          </a:custGeom>
          <a:noFill/>
          <a:ln w="19050">
            <a:solidFill>
              <a:srgbClr val="B6993A"/>
            </a:solidFill>
            <a:prstDash val="dash"/>
            <a:round/>
            <a:tailEnd type="triangl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9658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</TotalTime>
  <Words>125</Words>
  <Application>Microsoft Macintosh PowerPoint</Application>
  <PresentationFormat>Custom</PresentationFormat>
  <Paragraphs>48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Cambria Math</vt:lpstr>
      <vt:lpstr>Consolas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Nie, Jingping</dc:creator>
  <cp:lastModifiedBy>Zilong Zeng</cp:lastModifiedBy>
  <cp:revision>20</cp:revision>
  <dcterms:created xsi:type="dcterms:W3CDTF">2026-09-14T23:48:42Z</dcterms:created>
  <dcterms:modified xsi:type="dcterms:W3CDTF">2026-09-23T16:39:52Z</dcterms:modified>
</cp:coreProperties>
</file>