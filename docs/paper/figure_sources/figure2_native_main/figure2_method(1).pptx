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5130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8"/>
    <p:restoredTop sz="94643"/>
  </p:normalViewPr>
  <p:slideViewPr>
    <p:cSldViewPr snapToGrid="0">
      <p:cViewPr>
        <p:scale>
          <a:sx n="82" d="100"/>
          <a:sy n="82" d="100"/>
        </p:scale>
        <p:origin x="1648" y="2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1828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9" name="HF train C-W supervision to HF loss"/>
          <p:cNvSpPr/>
          <p:nvPr/>
        </p:nvSpPr>
        <p:spPr>
          <a:xfrm>
            <a:off x="9804400" y="2514600"/>
            <a:ext cx="990600" cy="304800"/>
          </a:xfrm>
          <a:custGeom>
            <a:avLst/>
            <a:gdLst/>
            <a:ahLst/>
            <a:cxnLst/>
            <a:rect l="0" t="0" r="r" b="b"/>
            <a:pathLst>
              <a:path w="990600" h="304800" fill="none">
                <a:moveTo>
                  <a:pt x="0" y="0"/>
                </a:moveTo>
                <a:lnTo>
                  <a:pt x="0" y="254000"/>
                </a:lnTo>
                <a:lnTo>
                  <a:pt x="787400" y="254000"/>
                </a:lnTo>
                <a:lnTo>
                  <a:pt x="787400" y="304800"/>
                </a:lnTo>
                <a:lnTo>
                  <a:pt x="990600" y="304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2362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159000"/>
            <a:ext cx="2654300" cy="355600"/>
          </a:xfrm>
          <a:custGeom>
            <a:avLst/>
            <a:gdLst/>
            <a:ahLst/>
            <a:cxnLst/>
            <a:rect l="0" t="0" r="r" b="b"/>
            <a:pathLst>
              <a:path w="2654300" h="355600" fill="none">
                <a:moveTo>
                  <a:pt x="0" y="203200"/>
                </a:moveTo>
                <a:lnTo>
                  <a:pt x="0" y="355600"/>
                </a:lnTo>
                <a:lnTo>
                  <a:pt x="2324100" y="355600"/>
                </a:lnTo>
                <a:lnTo>
                  <a:pt x="23241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143000"/>
            <a:ext cx="2006600" cy="863600"/>
          </a:xfrm>
          <a:custGeom>
            <a:avLst/>
            <a:gdLst/>
            <a:ahLst/>
            <a:cxnLst/>
            <a:rect l="0" t="0" r="r" b="b"/>
            <a:pathLst>
              <a:path w="2006600" h="863600" fill="none">
                <a:moveTo>
                  <a:pt x="0" y="0"/>
                </a:moveTo>
                <a:lnTo>
                  <a:pt x="0" y="101600"/>
                </a:lnTo>
                <a:lnTo>
                  <a:pt x="1498600" y="101600"/>
                </a:lnTo>
                <a:lnTo>
                  <a:pt x="1498600" y="863600"/>
                </a:lnTo>
                <a:lnTo>
                  <a:pt x="2006600" y="863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3276600"/>
            <a:ext cx="4318000" cy="533400"/>
          </a:xfrm>
          <a:custGeom>
            <a:avLst/>
            <a:gdLst/>
            <a:ahLst/>
            <a:cxnLst/>
            <a:rect l="0" t="0" r="r" b="b"/>
            <a:pathLst>
              <a:path w="4318000" h="533400" fill="none">
                <a:moveTo>
                  <a:pt x="0" y="0"/>
                </a:moveTo>
                <a:lnTo>
                  <a:pt x="4165600" y="0"/>
                </a:lnTo>
                <a:lnTo>
                  <a:pt x="4165600" y="533400"/>
                </a:lnTo>
                <a:lnTo>
                  <a:pt x="4318000" y="533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31242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438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752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863600"/>
            <a:ext cx="4318000" cy="889000"/>
          </a:xfrm>
          <a:custGeom>
            <a:avLst/>
            <a:gdLst/>
            <a:ahLst/>
            <a:cxnLst/>
            <a:rect l="0" t="0" r="r" b="b"/>
            <a:pathLst>
              <a:path w="4318000" h="889000" fill="none">
                <a:moveTo>
                  <a:pt x="0" y="0"/>
                </a:moveTo>
                <a:lnTo>
                  <a:pt x="4013200" y="0"/>
                </a:lnTo>
                <a:lnTo>
                  <a:pt x="4013200" y="889000"/>
                </a:lnTo>
                <a:lnTo>
                  <a:pt x="4318000" y="889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3149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1752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1752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1752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863600"/>
            <a:ext cx="13" cy="2286000"/>
          </a:xfrm>
          <a:custGeom>
            <a:avLst/>
            <a:gdLst/>
            <a:ahLst/>
            <a:cxnLst/>
            <a:rect l="0" t="0" r="r" b="b"/>
            <a:pathLst>
              <a:path w="13" h="2286000" fill="none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863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1435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2895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1435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1841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155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2374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2717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2616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616200"/>
                <a:ext cx="2057400" cy="558800"/>
              </a:xfrm>
              <a:prstGeom prst="rect">
                <a:avLst/>
              </a:prstGeom>
              <a:blipFill>
                <a:blip r:embed="rId2"/>
                <a:stretch>
                  <a:fillRect t="-4255" b="-8511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584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2870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1422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939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152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43688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1905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1905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4351000" y="1473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1473200"/>
                <a:ext cx="3149600" cy="558800"/>
              </a:xfrm>
              <a:prstGeom prst="rect">
                <a:avLst/>
              </a:prstGeom>
              <a:blipFill>
                <a:blip r:embed="rId3"/>
                <a:stretch>
                  <a:fillRect l="-398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1041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4351000" y="35306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(Abnormal)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530600"/>
                <a:ext cx="3149600" cy="558800"/>
              </a:xfrm>
              <a:prstGeom prst="rect">
                <a:avLst/>
              </a:prstGeom>
              <a:blipFill>
                <a:blip r:embed="rId4"/>
                <a:stretch>
                  <a:fillRect l="-398" b="-212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4351000" y="2159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Crackle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2159000"/>
                <a:ext cx="3149600" cy="558800"/>
              </a:xfrm>
              <a:prstGeom prst="rect">
                <a:avLst/>
              </a:prstGeom>
              <a:blipFill>
                <a:blip r:embed="rId5"/>
                <a:stretch>
                  <a:fillRect l="-398" b="-4255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4351000" y="2844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2844800"/>
                <a:ext cx="3149600" cy="558800"/>
              </a:xfrm>
              <a:prstGeom prst="rect">
                <a:avLst/>
              </a:prstGeom>
              <a:blipFill>
                <a:blip r:embed="rId6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2908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800" y="2908300"/>
                <a:ext cx="254000" cy="152400"/>
              </a:xfrm>
              <a:prstGeom prst="rect">
                <a:avLst/>
              </a:prstGeom>
              <a:blipFill>
                <a:blip r:embed="rId7"/>
                <a:stretch>
                  <a:fillRect l="-4545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3263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3263900"/>
                <a:ext cx="514350" cy="2768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3860800"/>
            <a:ext cx="9715500" cy="609600"/>
          </a:xfrm>
          <a:prstGeom prst="rect">
            <a:avLst/>
          </a:prstGeom>
          <a:solidFill>
            <a:srgbClr val="E8E8E8">
              <a:alpha val="100000"/>
            </a:srgbClr>
          </a:solidFill>
          <a:ln>
            <a:solidFill>
              <a:srgbClr val="3E6D8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23723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600" y="3237230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545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305425" y="3175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425" y="3175000"/>
                <a:ext cx="514350" cy="2768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1346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Shared representation h_i"/>
              <p:cNvSpPr>
                <a:spLocks noGrp="1"/>
              </p:cNvSpPr>
              <p:nvPr/>
            </p:nvSpPr>
            <p:spPr>
              <a:xfrm>
                <a:off x="6845300" y="1143000"/>
                <a:ext cx="2794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36" name="Shared representation h_i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00" y="1143000"/>
                <a:ext cx="279400" cy="152400"/>
              </a:xfrm>
              <a:prstGeom prst="rect">
                <a:avLst/>
              </a:prstGeom>
              <a:blipFill>
                <a:blip r:embed="rId11"/>
                <a:stretch>
                  <a:fillRect l="-4348" t="-23077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Classification loss L_cls"/>
              <p:cNvSpPr/>
              <p:nvPr/>
            </p:nvSpPr>
            <p:spPr>
              <a:xfrm>
                <a:off x="10795000" y="1879600"/>
                <a:ext cx="2387561" cy="533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57" name="Classification loss L_c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1879600"/>
                <a:ext cx="2387561" cy="533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Optional HF loss"/>
              <p:cNvSpPr/>
              <p:nvPr/>
            </p:nvSpPr>
            <p:spPr>
              <a:xfrm>
                <a:off x="10795000" y="2590800"/>
                <a:ext cx="2387600" cy="457200"/>
              </a:xfrm>
              <a:prstGeom prst="rect">
                <a:avLst/>
              </a:prstGeom>
              <a:solidFill>
                <a:srgbClr val="FFF5DB"/>
              </a:solidFill>
              <a:ln>
                <a:solidFill>
                  <a:srgbClr val="B699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19" name="Optional HF los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2590800"/>
                <a:ext cx="238760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B6993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otal loss equals"/>
              <p:cNvSpPr/>
              <p:nvPr/>
            </p:nvSpPr>
            <p:spPr>
              <a:xfrm>
                <a:off x="4572000" y="3860800"/>
                <a:ext cx="8255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3" name="Total loss equa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860800"/>
                <a:ext cx="825500" cy="6096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Weighted patient contrastive term"/>
              <p:cNvSpPr/>
              <p:nvPr/>
            </p:nvSpPr>
            <p:spPr>
              <a:xfrm>
                <a:off x="5397500" y="3860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4" name="Weighted patient contrastive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3860800"/>
                <a:ext cx="2159000" cy="6096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Weighted attention regularization term"/>
              <p:cNvSpPr/>
              <p:nvPr/>
            </p:nvSpPr>
            <p:spPr>
              <a:xfrm>
                <a:off x="7734300" y="3860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5" name="Weighted attention regulariz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3860800"/>
                <a:ext cx="2159000" cy="6096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Classification term"/>
              <p:cNvSpPr/>
              <p:nvPr/>
            </p:nvSpPr>
            <p:spPr>
              <a:xfrm>
                <a:off x="10071100" y="3860800"/>
                <a:ext cx="13970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6" name="Classific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0" y="3860800"/>
                <a:ext cx="1397000" cy="6096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Weighted optional HF term"/>
              <p:cNvSpPr/>
              <p:nvPr/>
            </p:nvSpPr>
            <p:spPr>
              <a:xfrm>
                <a:off x="11645900" y="3860800"/>
                <a:ext cx="22606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7" name="Weighted optional HF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00" y="3860800"/>
                <a:ext cx="2260600" cy="609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Objective addition"/>
              <p:cNvSpPr/>
              <p:nvPr/>
            </p:nvSpPr>
            <p:spPr>
              <a:xfrm>
                <a:off x="7467600" y="3860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8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3860800"/>
                <a:ext cx="279400" cy="609600"/>
              </a:xfrm>
              <a:prstGeom prst="rect">
                <a:avLst/>
              </a:prstGeom>
              <a:blipFill>
                <a:blip r:embed="rId19"/>
                <a:stretch>
                  <a:fillRect l="-17391"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Objective addition"/>
              <p:cNvSpPr/>
              <p:nvPr/>
            </p:nvSpPr>
            <p:spPr>
              <a:xfrm>
                <a:off x="9855200" y="3860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9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3860800"/>
                <a:ext cx="279400" cy="609600"/>
              </a:xfrm>
              <a:prstGeom prst="rect">
                <a:avLst/>
              </a:prstGeom>
              <a:blipFill>
                <a:blip r:embed="rId19"/>
                <a:stretch>
                  <a:fillRect l="-17391"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Objective addition"/>
              <p:cNvSpPr/>
              <p:nvPr/>
            </p:nvSpPr>
            <p:spPr>
              <a:xfrm>
                <a:off x="11379200" y="3860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0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0" y="3860800"/>
                <a:ext cx="279400" cy="609600"/>
              </a:xfrm>
              <a:prstGeom prst="rect">
                <a:avLst/>
              </a:prstGeom>
              <a:blipFill>
                <a:blip r:embed="rId19"/>
                <a:stretch>
                  <a:fillRect l="-17391"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Bottom aligned loss annotation Patient contrastive"/>
          <p:cNvSpPr txBox="1"/>
          <p:nvPr/>
        </p:nvSpPr>
        <p:spPr>
          <a:xfrm>
            <a:off x="5511800" y="4521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33333"/>
                </a:solidFill>
                <a:latin typeface="Arial"/>
              </a:rPr>
              <a:t>Patient</a:t>
            </a:r>
            <a:r>
              <a:rPr lang="en-US" sz="1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200" b="0" dirty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Patient alignment"/>
          <p:cNvSpPr txBox="1"/>
          <p:nvPr/>
        </p:nvSpPr>
        <p:spPr>
          <a:xfrm>
            <a:off x="78486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7030A0"/>
                </a:solidFill>
                <a:latin typeface="Arial"/>
              </a:rPr>
              <a:t>Patient</a:t>
            </a:r>
            <a:r>
              <a:rPr lang="en-US" sz="1200" b="0" dirty="0">
                <a:solidFill>
                  <a:srgbClr val="7030A0"/>
                </a:solidFill>
                <a:latin typeface="Arial"/>
              </a:rPr>
              <a:t> </a:t>
            </a:r>
            <a:r>
              <a:rPr sz="1200" b="0" dirty="0">
                <a:solidFill>
                  <a:srgbClr val="7030A0"/>
                </a:solidFill>
                <a:latin typeface="Arial"/>
              </a:rPr>
              <a:t>alignment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298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2631C"/>
                </a:solidFill>
                <a:latin typeface="Arial"/>
              </a:rPr>
              <a:t>Native + </a:t>
            </a:r>
            <a:r>
              <a:rPr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  <a:r>
              <a:rPr lang="en-US"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200" b="0" dirty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364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B6993A"/>
                </a:solidFill>
                <a:latin typeface="Arial"/>
              </a:rPr>
              <a:t>HF supervision</a:t>
            </a:r>
            <a:r>
              <a:rPr lang="en-US" sz="1200" b="0" dirty="0">
                <a:solidFill>
                  <a:srgbClr val="B6993A"/>
                </a:solidFill>
                <a:latin typeface="Arial"/>
              </a:rPr>
              <a:t> </a:t>
            </a:r>
            <a:r>
              <a:rPr sz="1200" b="0" dirty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2495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1485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8153400" y="2540000"/>
            <a:ext cx="15494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2495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Attention representation to PCSL and GPAL objective"/>
          <p:cNvSpPr/>
          <p:nvPr/>
        </p:nvSpPr>
        <p:spPr>
          <a:xfrm>
            <a:off x="5753100" y="3175000"/>
            <a:ext cx="3060700" cy="685800"/>
          </a:xfrm>
          <a:custGeom>
            <a:avLst/>
            <a:gdLst/>
            <a:ahLst/>
            <a:cxnLst/>
            <a:rect l="0" t="0" r="r" b="b"/>
            <a:pathLst>
              <a:path w="3060700" h="685800" fill="none">
                <a:moveTo>
                  <a:pt x="0" y="0"/>
                </a:moveTo>
                <a:lnTo>
                  <a:pt x="0" y="381000"/>
                </a:lnTo>
                <a:lnTo>
                  <a:pt x="3060700" y="381000"/>
                </a:lnTo>
                <a:lnTo>
                  <a:pt x="3060700" y="685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3556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3536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" name="Non-junction crossover bridge"/>
          <p:cNvSpPr/>
          <p:nvPr/>
        </p:nvSpPr>
        <p:spPr>
          <a:xfrm>
            <a:off x="10693400" y="2768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101600"/>
                </a:moveTo>
                <a:cubicBezTo>
                  <a:pt x="76200" y="101600"/>
                  <a:pt x="76200" y="0"/>
                  <a:pt x="0" y="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2336800"/>
            <a:ext cx="762000" cy="660400"/>
          </a:xfrm>
          <a:custGeom>
            <a:avLst/>
            <a:gdLst/>
            <a:ahLst/>
            <a:cxnLst/>
            <a:rect l="0" t="0" r="r" b="b"/>
            <a:pathLst>
              <a:path w="762000" h="660400" fill="none">
                <a:moveTo>
                  <a:pt x="0" y="660400"/>
                </a:moveTo>
                <a:lnTo>
                  <a:pt x="660400" y="660400"/>
                </a:lnTo>
                <a:lnTo>
                  <a:pt x="660400" y="533400"/>
                </a:lnTo>
                <a:cubicBezTo>
                  <a:pt x="736600" y="533400"/>
                  <a:pt x="736600" y="431800"/>
                  <a:pt x="660400" y="431800"/>
                </a:cubicBezTo>
                <a:lnTo>
                  <a:pt x="660400" y="0"/>
                </a:lnTo>
                <a:lnTo>
                  <a:pt x="7620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1" name="Non-junction crossover bridge"/>
          <p:cNvSpPr/>
          <p:nvPr/>
        </p:nvSpPr>
        <p:spPr>
          <a:xfrm>
            <a:off x="13766800" y="3225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0769600" y="2032000"/>
            <a:ext cx="3073400" cy="1828800"/>
          </a:xfrm>
          <a:custGeom>
            <a:avLst/>
            <a:gdLst/>
            <a:ahLst/>
            <a:cxnLst/>
            <a:rect l="0" t="0" r="r" b="b"/>
            <a:pathLst>
              <a:path w="3073400" h="1828800" fill="none">
                <a:moveTo>
                  <a:pt x="2413000" y="0"/>
                </a:moveTo>
                <a:lnTo>
                  <a:pt x="2997200" y="0"/>
                </a:lnTo>
                <a:lnTo>
                  <a:pt x="2997200" y="1193800"/>
                </a:lnTo>
                <a:cubicBezTo>
                  <a:pt x="3073400" y="1193800"/>
                  <a:pt x="3073400" y="1295400"/>
                  <a:pt x="2997200" y="1295400"/>
                </a:cubicBezTo>
                <a:lnTo>
                  <a:pt x="2997200" y="1574800"/>
                </a:lnTo>
                <a:lnTo>
                  <a:pt x="0" y="1574800"/>
                </a:lnTo>
                <a:lnTo>
                  <a:pt x="0" y="1828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2" name="Non-junction crossover bridge"/>
          <p:cNvSpPr/>
          <p:nvPr/>
        </p:nvSpPr>
        <p:spPr>
          <a:xfrm>
            <a:off x="11988800" y="3225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3" name="Non-junction crossover bridge"/>
          <p:cNvSpPr/>
          <p:nvPr/>
        </p:nvSpPr>
        <p:spPr>
          <a:xfrm>
            <a:off x="11988800" y="35560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1988800" y="3048000"/>
            <a:ext cx="787400" cy="812800"/>
          </a:xfrm>
          <a:custGeom>
            <a:avLst/>
            <a:gdLst/>
            <a:ahLst/>
            <a:cxnLst/>
            <a:rect l="0" t="0" r="r" b="b"/>
            <a:pathLst>
              <a:path w="787400" h="812800" fill="none">
                <a:moveTo>
                  <a:pt x="0" y="0"/>
                </a:moveTo>
                <a:lnTo>
                  <a:pt x="0" y="177800"/>
                </a:lnTo>
                <a:cubicBezTo>
                  <a:pt x="76200" y="177800"/>
                  <a:pt x="76200" y="279400"/>
                  <a:pt x="0" y="279400"/>
                </a:cubicBezTo>
                <a:lnTo>
                  <a:pt x="0" y="508000"/>
                </a:lnTo>
                <a:cubicBezTo>
                  <a:pt x="76200" y="508000"/>
                  <a:pt x="76200" y="609600"/>
                  <a:pt x="0" y="609600"/>
                </a:cubicBezTo>
                <a:lnTo>
                  <a:pt x="0" y="660400"/>
                </a:lnTo>
                <a:lnTo>
                  <a:pt x="787400" y="660400"/>
                </a:lnTo>
                <a:lnTo>
                  <a:pt x="787400" y="812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115</Words>
  <Application>Microsoft Macintosh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21</cp:revision>
  <dcterms:created xsi:type="dcterms:W3CDTF">2026-09-14T23:48:42Z</dcterms:created>
  <dcterms:modified xsi:type="dcterms:W3CDTF">2026-09-23T18:06:57Z</dcterms:modified>
</cp:coreProperties>
</file>