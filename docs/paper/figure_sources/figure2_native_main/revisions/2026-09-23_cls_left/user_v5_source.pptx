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43"/>
  </p:normalViewPr>
  <p:slideViewPr>
    <p:cSldViewPr snapToGrid="0">
      <p:cViewPr>
        <p:scale>
          <a:sx n="88" d="100"/>
          <a:sy n="88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9" Type="http://schemas.openxmlformats.org/officeDocument/2006/relationships/image" Target="../media/image8.png"/><Relationship Id="rId14" Type="http://schemas.openxmlformats.org/officeDocument/2006/relationships/image" Target="../media/image7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2590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</p:sp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584200"/>
          </a:xfrm>
          <a:custGeom>
            <a:avLst/>
            <a:gdLst/>
            <a:ahLst/>
            <a:cxnLst/>
            <a:rect l="0" t="0" r="r" b="b"/>
            <a:pathLst>
              <a:path w="990600" h="584200" fill="none">
                <a:moveTo>
                  <a:pt x="0" y="0"/>
                </a:moveTo>
                <a:lnTo>
                  <a:pt x="0" y="584200"/>
                </a:lnTo>
                <a:lnTo>
                  <a:pt x="990600" y="5842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09900"/>
            <a:ext cx="3327400" cy="1358900"/>
          </a:xfrm>
          <a:custGeom>
            <a:avLst/>
            <a:gdLst/>
            <a:ahLst/>
            <a:cxnLst/>
            <a:rect l="0" t="0" r="r" b="b"/>
            <a:pathLst>
              <a:path w="3327400" h="1358900" fill="none">
                <a:moveTo>
                  <a:pt x="0" y="1358900"/>
                </a:moveTo>
                <a:lnTo>
                  <a:pt x="3327400" y="1358900"/>
                </a:lnTo>
                <a:lnTo>
                  <a:pt x="3327400" y="0"/>
                </a:lnTo>
                <a:lnTo>
                  <a:pt x="31496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97200"/>
            <a:ext cx="2654300" cy="279400"/>
          </a:xfrm>
          <a:custGeom>
            <a:avLst/>
            <a:gdLst/>
            <a:ahLst/>
            <a:cxnLst/>
            <a:rect l="0" t="0" r="r" b="b"/>
            <a:pathLst>
              <a:path w="2654300" h="279400" fill="none">
                <a:moveTo>
                  <a:pt x="0" y="127000"/>
                </a:moveTo>
                <a:lnTo>
                  <a:pt x="0" y="279400"/>
                </a:lnTo>
                <a:lnTo>
                  <a:pt x="2400300" y="279400"/>
                </a:lnTo>
                <a:lnTo>
                  <a:pt x="24003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3200400" cy="736600"/>
          </a:xfrm>
          <a:custGeom>
            <a:avLst/>
            <a:gdLst/>
            <a:ahLst/>
            <a:cxnLst/>
            <a:rect l="0" t="0" r="r" b="b"/>
            <a:pathLst>
              <a:path w="3200400" h="736600" fill="none">
                <a:moveTo>
                  <a:pt x="0" y="0"/>
                </a:moveTo>
                <a:lnTo>
                  <a:pt x="0" y="203200"/>
                </a:lnTo>
                <a:lnTo>
                  <a:pt x="3200400" y="203200"/>
                </a:lnTo>
                <a:lnTo>
                  <a:pt x="3200400" y="736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45212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3793684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599"/>
            <a:ext cx="45719" cy="2158999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45212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14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 stroke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895600"/>
          </a:xfrm>
          <a:custGeom>
            <a:avLst/>
            <a:gdLst/>
            <a:ahLst/>
            <a:cxnLst/>
            <a:rect l="0" t="0" r="r" b="b"/>
            <a:pathLst>
              <a:path w="13" h="2895600" fill="none">
                <a:moveTo>
                  <a:pt x="0" y="0"/>
                </a:moveTo>
                <a:lnTo>
                  <a:pt x="0" y="2895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42418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4864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4241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blipFill>
                <a:blip r:embed="rId8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 xmlns:m="http://schemas.openxmlformats.org/officeDocument/2006/math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:m="http://schemas.openxmlformats.org/officeDocument/2006/math"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108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blipFill>
                <a:blip r:embed="rId14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PAFA regularization losses"/>
              <p:cNvSpPr/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7030A0"/>
                    </a:solidFill>
                    <a:latin typeface="Arial"/>
                  </a:rPr>
                  <a:t>Patient regularization</a:t>
                </a:r>
              </a:p>
            </p:txBody>
          </p:sp>
        </mc:Choice>
        <mc:Fallback>
          <p:sp>
            <p:nvSpPr>
              <p:cNvPr id="156" name="PAFA regularization losse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blipFill>
                <a:blip r:embed="rId15"/>
                <a:stretch>
                  <a:fillRect b="-930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100">
                    <a:solidFill>
                      <a:srgbClr val="32631C"/>
                    </a:solidFill>
                    <a:latin typeface="Arial"/>
                  </a:rPr>
                  <a:t>(ICBHI or SPRSound) + C-W</a:t>
                </a:r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B6993A"/>
                    </a:solidFill>
                    <a:latin typeface="Arial"/>
                  </a:rPr>
                  <a:t>Shared C-W supervision</a:t>
                </a:r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blipFill>
                <a:blip r:embed="rId17"/>
                <a:stretch>
                  <a:fillRect b="-15385"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2077700" y="5257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9639300" y="5257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9906000" y="3390900"/>
            <a:ext cx="15875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PAFA losses to weighted objective"/>
          <p:cNvSpPr/>
          <p:nvPr/>
        </p:nvSpPr>
        <p:spPr>
          <a:xfrm>
            <a:off x="5753100" y="4800600"/>
            <a:ext cx="3060700" cy="457200"/>
          </a:xfrm>
          <a:custGeom>
            <a:avLst/>
            <a:gdLst/>
            <a:ahLst/>
            <a:cxnLst/>
            <a:rect l="0" t="0" r="r" b="b"/>
            <a:pathLst>
              <a:path w="3060700" h="457200" fill="none" stroke="1">
                <a:moveTo>
                  <a:pt x="0" y="0"/>
                </a:moveTo>
                <a:lnTo>
                  <a:pt x="0" y="152400"/>
                </a:lnTo>
                <a:lnTo>
                  <a:pt x="3060700" y="152400"/>
                </a:lnTo>
                <a:lnTo>
                  <a:pt x="3060700" y="4572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4953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 stroke="1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4933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" name="Loss connector crossover bridge"/>
          <p:cNvSpPr/>
          <p:nvPr/>
        </p:nvSpPr>
        <p:spPr>
          <a:xfrm>
            <a:off x="11988800" y="4318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5" name="Loss connector crossover bridge"/>
          <p:cNvSpPr/>
          <p:nvPr/>
        </p:nvSpPr>
        <p:spPr>
          <a:xfrm>
            <a:off x="11988800" y="44704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6" name="Loss connector crossover bridge"/>
          <p:cNvSpPr/>
          <p:nvPr/>
        </p:nvSpPr>
        <p:spPr>
          <a:xfrm>
            <a:off x="13766800" y="44704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0769600" y="4089400"/>
            <a:ext cx="1295400" cy="1168400"/>
          </a:xfrm>
          <a:custGeom>
            <a:avLst/>
            <a:gdLst/>
            <a:ahLst/>
            <a:cxnLst/>
            <a:rect l="0" t="0" r="r" b="b"/>
            <a:pathLst>
              <a:path w="1295400" h="1168400" fill="none" stroke="1">
                <a:moveTo>
                  <a:pt x="1219200" y="0"/>
                </a:moveTo>
                <a:lnTo>
                  <a:pt x="1219200" y="228600"/>
                </a:lnTo>
                <a:cubicBezTo>
                  <a:pt x="1295400" y="228600"/>
                  <a:pt x="1295400" y="330200"/>
                  <a:pt x="1219200" y="330200"/>
                </a:cubicBezTo>
                <a:lnTo>
                  <a:pt x="1219200" y="381000"/>
                </a:lnTo>
                <a:cubicBezTo>
                  <a:pt x="1295400" y="381000"/>
                  <a:pt x="1295400" y="482600"/>
                  <a:pt x="1219200" y="482600"/>
                </a:cubicBezTo>
                <a:lnTo>
                  <a:pt x="1219200" y="812800"/>
                </a:lnTo>
                <a:lnTo>
                  <a:pt x="0" y="812800"/>
                </a:lnTo>
                <a:lnTo>
                  <a:pt x="0" y="11684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2776200" y="2794000"/>
            <a:ext cx="1066800" cy="2463800"/>
          </a:xfrm>
          <a:custGeom>
            <a:avLst/>
            <a:gdLst/>
            <a:ahLst/>
            <a:cxnLst/>
            <a:rect l="0" t="0" r="r" b="b"/>
            <a:pathLst>
              <a:path w="1066800" h="2463800" fill="none" stroke="1">
                <a:moveTo>
                  <a:pt x="406400" y="0"/>
                </a:moveTo>
                <a:lnTo>
                  <a:pt x="990600" y="0"/>
                </a:lnTo>
                <a:lnTo>
                  <a:pt x="990600" y="1676400"/>
                </a:lnTo>
                <a:cubicBezTo>
                  <a:pt x="1066800" y="1676400"/>
                  <a:pt x="1066800" y="1778000"/>
                  <a:pt x="990600" y="1778000"/>
                </a:cubicBezTo>
                <a:lnTo>
                  <a:pt x="990600" y="2260600"/>
                </a:lnTo>
                <a:lnTo>
                  <a:pt x="0" y="2260600"/>
                </a:lnTo>
                <a:lnTo>
                  <a:pt x="0" y="2463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138</Words>
  <Application>Microsoft Macintosh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18</cp:revision>
  <dcterms:created xsi:type="dcterms:W3CDTF">2026-09-14T23:48:42Z</dcterms:created>
  <dcterms:modified xsi:type="dcterms:W3CDTF">2026-09-23T15:44:26Z</dcterms:modified>
</cp:coreProperties>
</file>