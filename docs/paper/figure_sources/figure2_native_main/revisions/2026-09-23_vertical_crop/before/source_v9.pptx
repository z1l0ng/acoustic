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6223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58"/>
  </p:normalViewPr>
  <p:slideViewPr>
    <p:cSldViewPr snapToGrid="0">
      <p:cViewPr>
        <p:scale>
          <a:sx n="158" d="100"/>
          <a:sy n="158" d="100"/>
        </p:scale>
        <p:origin x="-3632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2590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9" name="HF train C-W supervision to HF loss"/>
          <p:cNvSpPr/>
          <p:nvPr/>
        </p:nvSpPr>
        <p:spPr>
          <a:xfrm>
            <a:off x="9804400" y="3276600"/>
            <a:ext cx="990600" cy="304800"/>
          </a:xfrm>
          <a:custGeom>
            <a:avLst/>
            <a:gdLst/>
            <a:ahLst/>
            <a:cxnLst/>
            <a:rect l="0" t="0" r="r" b="b"/>
            <a:pathLst>
              <a:path w="990600" h="304800" fill="none">
                <a:moveTo>
                  <a:pt x="0" y="0"/>
                </a:moveTo>
                <a:lnTo>
                  <a:pt x="0" y="254000"/>
                </a:lnTo>
                <a:lnTo>
                  <a:pt x="787400" y="254000"/>
                </a:lnTo>
                <a:lnTo>
                  <a:pt x="787400" y="304800"/>
                </a:lnTo>
                <a:lnTo>
                  <a:pt x="990600" y="304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3124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921000"/>
            <a:ext cx="2654300" cy="355600"/>
          </a:xfrm>
          <a:custGeom>
            <a:avLst/>
            <a:gdLst/>
            <a:ahLst/>
            <a:cxnLst/>
            <a:rect l="0" t="0" r="r" b="b"/>
            <a:pathLst>
              <a:path w="2654300" h="355600" fill="none">
                <a:moveTo>
                  <a:pt x="0" y="203200"/>
                </a:moveTo>
                <a:lnTo>
                  <a:pt x="0" y="355600"/>
                </a:lnTo>
                <a:lnTo>
                  <a:pt x="2324100" y="355600"/>
                </a:lnTo>
                <a:lnTo>
                  <a:pt x="23241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905000"/>
            <a:ext cx="2006600" cy="863600"/>
          </a:xfrm>
          <a:custGeom>
            <a:avLst/>
            <a:gdLst/>
            <a:ahLst/>
            <a:cxnLst/>
            <a:rect l="0" t="0" r="r" b="b"/>
            <a:pathLst>
              <a:path w="2006600" h="863600" fill="none">
                <a:moveTo>
                  <a:pt x="0" y="0"/>
                </a:moveTo>
                <a:lnTo>
                  <a:pt x="0" y="101600"/>
                </a:lnTo>
                <a:lnTo>
                  <a:pt x="1498600" y="101600"/>
                </a:lnTo>
                <a:lnTo>
                  <a:pt x="1498600" y="863600"/>
                </a:lnTo>
                <a:lnTo>
                  <a:pt x="2006600" y="863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3683000"/>
            <a:ext cx="4318000" cy="228600"/>
          </a:xfrm>
          <a:custGeom>
            <a:avLst/>
            <a:gdLst/>
            <a:ahLst/>
            <a:cxnLst/>
            <a:rect l="0" t="0" r="r" b="b"/>
            <a:pathLst>
              <a:path w="4318000" h="228600" fill="none">
                <a:moveTo>
                  <a:pt x="0" y="228600"/>
                </a:moveTo>
                <a:lnTo>
                  <a:pt x="3530600" y="228600"/>
                </a:lnTo>
                <a:lnTo>
                  <a:pt x="3530600" y="0"/>
                </a:ln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29972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311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625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16256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3911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2514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1625600"/>
            <a:ext cx="13" cy="2286000"/>
          </a:xfrm>
          <a:custGeom>
            <a:avLst/>
            <a:gdLst/>
            <a:ahLst/>
            <a:cxnLst/>
            <a:rect l="0" t="0" r="r" b="b"/>
            <a:pathLst>
              <a:path w="13" h="2286000" fill="none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5232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3657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2197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2603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3136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3479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9BB53-B426-E5F7-E1D1-CC691474571B}"/>
              </a:ext>
            </a:extLst>
          </p:cNvPr>
          <p:cNvSpPr/>
          <p:nvPr/>
        </p:nvSpPr>
        <p:spPr>
          <a:xfrm>
            <a:off x="4724400" y="3378200"/>
            <a:ext cx="2057400" cy="558800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14:m>
              <m:oMath xmlns:m="http://schemas.openxmlformats.org/officeDocument/2006/math">
                <m:r>
                  <a:rPr lang="en-US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𝓖</m:t>
                </m:r>
              </m:oMath>
            </a14:m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(PAFA projection)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3632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51308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667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667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222A8E-5216-64FF-83D9-E52A1610B798}"/>
              </a:ext>
            </a:extLst>
          </p:cNvPr>
          <p:cNvSpPr/>
          <p:nvPr/>
        </p:nvSpPr>
        <p:spPr>
          <a:xfrm>
            <a:off x="14351000" y="13462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Crackle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914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C738B9-6736-51F6-F5FE-9B7EF824FC25}"/>
              </a:ext>
            </a:extLst>
          </p:cNvPr>
          <p:cNvSpPr/>
          <p:nvPr/>
        </p:nvSpPr>
        <p:spPr>
          <a:xfrm>
            <a:off x="14351000" y="34036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SPRSound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Adventitious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(Abnormal)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3A3B43-3589-DB43-9169-6CF6C6DF521F}"/>
              </a:ext>
            </a:extLst>
          </p:cNvPr>
          <p:cNvSpPr/>
          <p:nvPr/>
        </p:nvSpPr>
        <p:spPr>
          <a:xfrm>
            <a:off x="14351000" y="20320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 test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Crackle </a:t>
            </a:r>
            <a14:m>
              <m:oMath xmlns:m="http://schemas.openxmlformats.org/officeDocument/2006/math">
                <m:r>
                  <a:rPr lang="en-US" sz="1400" i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F08D42-B00A-1453-47E2-1B0D5CC59295}"/>
              </a:ext>
            </a:extLst>
          </p:cNvPr>
          <p:cNvSpPr/>
          <p:nvPr/>
        </p:nvSpPr>
        <p:spPr>
          <a:xfrm>
            <a:off x="14351000" y="2717800"/>
            <a:ext cx="3149600" cy="558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KAUH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Abnormal</a:t>
            </a:r>
          </a:p>
        </p:txBody>
      </p:sp>
      <p:sp>
        <p:nvSpPr>
          <p:cNvPr id="47" name="tokens">
            <a:extLst>
              <a:ext uri="{FF2B5EF4-FFF2-40B4-BE49-F238E27FC236}">
                <a16:creationId xmlns:a16="http://schemas.microsoft.com/office/drawing/2014/main" id="{6301923F-367F-1136-E521-3DF8B5748FEE}"/>
              </a:ext>
            </a:extLst>
          </p:cNvPr>
          <p:cNvSpPr>
            <a:spLocks noGrp="1"/>
          </p:cNvSpPr>
          <p:nvPr/>
        </p:nvSpPr>
        <p:spPr>
          <a:xfrm>
            <a:off x="3225800" y="3670300"/>
            <a:ext cx="2540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𝐻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8806B1-5ED6-0BA5-698D-FFA85ED77602}"/>
              </a:ext>
            </a:extLst>
          </p:cNvPr>
          <p:cNvSpPr txBox="1"/>
          <p:nvPr/>
        </p:nvSpPr>
        <p:spPr>
          <a:xfrm>
            <a:off x="3098800" y="4025900"/>
            <a:ext cx="51435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14:m>
              <m:oMathPara xmlns:m="http://schemas.openxmlformats.org/officeDocument/2006/math">
                <m:oMath>
                  <m:box>
                    <m:boxPr>
                      <m:noBreak m:val="on"/>
                      <m:ctrlP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boxPr>
                    <m:e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4622800"/>
            <a:ext cx="9715500" cy="609600"/>
          </a:xfrm>
          <a:prstGeom prst="rect">
            <a:avLst/>
          </a:prstGeom>
          <a:solidFill>
            <a:srgbClr val="E8E8E8">
              <a:alpha val="100000"/>
            </a:srgbClr>
          </a:solidFill>
          <a:ln>
            <a:solidFill>
              <a:srgbClr val="3E6D8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" name="tokens">
            <a:extLst>
              <a:ext uri="{FF2B5EF4-FFF2-40B4-BE49-F238E27FC236}">
                <a16:creationId xmlns:a16="http://schemas.microsoft.com/office/drawing/2014/main" id="{D35DEA37-5F1F-16DF-6170-E9221563D967}"/>
              </a:ext>
            </a:extLst>
          </p:cNvPr>
          <p:cNvSpPr>
            <a:spLocks noGrp="1"/>
          </p:cNvSpPr>
          <p:nvPr/>
        </p:nvSpPr>
        <p:spPr>
          <a:xfrm>
            <a:off x="5816600" y="3999230"/>
            <a:ext cx="2540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𝑍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9886ED4-1488-130B-B9D3-9B8C68A17B2E}"/>
              </a:ext>
            </a:extLst>
          </p:cNvPr>
          <p:cNvSpPr txBox="1"/>
          <p:nvPr/>
        </p:nvSpPr>
        <p:spPr>
          <a:xfrm>
            <a:off x="5305425" y="3937000"/>
            <a:ext cx="514350" cy="276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14:m>
              <m:oMathPara xmlns:m="http://schemas.openxmlformats.org/officeDocument/2006/math">
                <m:oMath>
                  <m:box>
                    <m:boxPr>
                      <m:noBreak m:val="on"/>
                      <m:ctrlP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boxPr>
                    <m:e>
                      <m:sSup>
                        <m:sSupPr>
                          <m:ctrlPr>
                            <a:rPr lang="en-US" sz="120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e>
                  </m:box>
                </m:oMath>
              </m:oMathPara>
            </a14:m>
            <a:endParaRPr lang="en-US" sz="1200" dirty="0"/>
          </a:p>
        </p:txBody>
      </p:sp>
      <p:sp>
        <p:nvSpPr>
          <p:cNvPr id="134" name="Auxiliary C-W heads heading"/>
          <p:cNvSpPr txBox="1"/>
          <p:nvPr/>
        </p:nvSpPr>
        <p:spPr>
          <a:xfrm>
            <a:off x="7416800" y="2108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p:sp>
        <p:nvSpPr>
          <p:cNvPr id="136" name="Shared representation h_i"/>
          <p:cNvSpPr>
            <a:spLocks noGrp="1"/>
          </p:cNvSpPr>
          <p:nvPr/>
        </p:nvSpPr>
        <p:spPr>
          <a:xfrm>
            <a:off x="6845300" y="1905000"/>
            <a:ext cx="2794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ℎ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Classification loss L_cls"/>
          <p:cNvSpPr/>
          <p:nvPr/>
        </p:nvSpPr>
        <p:spPr>
          <a:xfrm>
            <a:off x="10795000" y="2641600"/>
            <a:ext cx="2387600" cy="533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8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sz="18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sz="18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 dirty="0"/>
          </a:p>
          <a:p>
            <a:pPr algn="ctr"/>
            <a:r>
              <a:rPr lang="en-US" sz="1100" dirty="0">
                <a:solidFill>
                  <a:srgbClr val="32631C"/>
                </a:solidFill>
                <a:latin typeface="Arial"/>
              </a:rPr>
              <a:t>(ICBHI or </a:t>
            </a:r>
            <a:r>
              <a:rPr lang="en-US" sz="1100" dirty="0" err="1">
                <a:solidFill>
                  <a:srgbClr val="32631C"/>
                </a:solidFill>
                <a:latin typeface="Arial"/>
              </a:rPr>
              <a:t>SPRSound</a:t>
            </a:r>
            <a:r>
              <a:rPr lang="en-US" sz="1100" dirty="0">
                <a:solidFill>
                  <a:srgbClr val="32631C"/>
                </a:solidFill>
                <a:latin typeface="Arial"/>
              </a:rPr>
              <a:t>) + </a:t>
            </a:r>
            <a:r>
              <a:rPr lang="en-US" sz="11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</a:p>
        </p:txBody>
      </p:sp>
      <p:sp>
        <p:nvSpPr>
          <p:cNvPr id="219" name="Optional HF loss"/>
          <p:cNvSpPr/>
          <p:nvPr/>
        </p:nvSpPr>
        <p:spPr>
          <a:xfrm>
            <a:off x="10795000" y="3352800"/>
            <a:ext cx="2387600" cy="457200"/>
          </a:xfrm>
          <a:prstGeom prst="rect">
            <a:avLst/>
          </a:prstGeom>
          <a:solidFill>
            <a:srgbClr val="FFF5DB"/>
          </a:solidFill>
          <a:ln>
            <a:solidFill>
              <a:srgbClr val="B69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Autofit/>
          </a:bodyPr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m:oMath>
              </m:oMathPara>
            </a14:m>
            <a:endParaRPr dirty="0"/>
          </a:p>
          <a:p>
            <a:pPr algn="ctr"/>
            <a:r>
              <a:rPr lang="en-US" sz="1200" dirty="0">
                <a:solidFill>
                  <a:srgbClr val="B6993A"/>
                </a:solidFill>
                <a:latin typeface="Arial"/>
              </a:rPr>
              <a:t>Shared </a:t>
            </a:r>
            <a:r>
              <a:rPr lang="en-US" sz="1200" i="1" dirty="0">
                <a:solidFill>
                  <a:srgbClr val="B6993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  <a:r>
              <a:rPr lang="en-US" sz="1200" dirty="0">
                <a:solidFill>
                  <a:srgbClr val="B6993A"/>
                </a:solidFill>
                <a:latin typeface="Arial"/>
              </a:rPr>
              <a:t> supervision</a:t>
            </a:r>
          </a:p>
        </p:txBody>
      </p:sp>
      <p:sp>
        <p:nvSpPr>
          <p:cNvPr id="223" name="Total loss equals"/>
          <p:cNvSpPr/>
          <p:nvPr/>
        </p:nvSpPr>
        <p:spPr>
          <a:xfrm>
            <a:off x="4572000" y="4622800"/>
            <a:ext cx="8255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ℒ</m:t>
                  </m:r>
                  <m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=</m:t>
                  </m:r>
                </m:oMath>
              </m:oMathPara>
            </a14:m>
            <a:endParaRPr/>
          </a:p>
        </p:txBody>
      </p:sp>
      <p:sp>
        <p:nvSpPr>
          <p:cNvPr id="224" name="Weighted patient contrastive term"/>
          <p:cNvSpPr/>
          <p:nvPr/>
        </p:nvSpPr>
        <p:spPr>
          <a:xfrm>
            <a:off x="5397500" y="4622800"/>
            <a:ext cx="21590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PCSL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5" name="Weighted attention regularization term"/>
          <p:cNvSpPr/>
          <p:nvPr/>
        </p:nvSpPr>
        <p:spPr>
          <a:xfrm>
            <a:off x="7734300" y="4622800"/>
            <a:ext cx="21590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GPAL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6" name="Classification term"/>
          <p:cNvSpPr/>
          <p:nvPr/>
        </p:nvSpPr>
        <p:spPr>
          <a:xfrm>
            <a:off x="10071100" y="4622800"/>
            <a:ext cx="13970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7" name="Weighted optional HF term"/>
          <p:cNvSpPr/>
          <p:nvPr/>
        </p:nvSpPr>
        <p:spPr>
          <a:xfrm>
            <a:off x="11645900" y="4622800"/>
            <a:ext cx="22606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m:oMath>
              </m:oMathPara>
            </a14:m>
            <a:endParaRPr/>
          </a:p>
        </p:txBody>
      </p:sp>
      <p:sp>
        <p:nvSpPr>
          <p:cNvPr id="228" name="Objective addition"/>
          <p:cNvSpPr/>
          <p:nvPr/>
        </p:nvSpPr>
        <p:spPr>
          <a:xfrm>
            <a:off x="7467600" y="4622800"/>
            <a:ext cx="2794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29" name="Objective addition"/>
          <p:cNvSpPr/>
          <p:nvPr/>
        </p:nvSpPr>
        <p:spPr>
          <a:xfrm>
            <a:off x="9855200" y="4622800"/>
            <a:ext cx="2794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30" name="Objective addition"/>
          <p:cNvSpPr/>
          <p:nvPr/>
        </p:nvSpPr>
        <p:spPr>
          <a:xfrm>
            <a:off x="11379200" y="4622800"/>
            <a:ext cx="279400" cy="609600"/>
          </a:xfrm>
          <a:prstGeom prst="rect">
            <a:avLst/>
          </a:prstGeom>
          <a:noFill/>
          <a:ln w="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36" name="Bottom aligned loss annotation Patient contrastive"/>
          <p:cNvSpPr txBox="1"/>
          <p:nvPr/>
        </p:nvSpPr>
        <p:spPr>
          <a:xfrm>
            <a:off x="5511800" y="5283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33333"/>
                </a:solidFill>
                <a:latin typeface="Arial"/>
              </a:rPr>
              <a:t>Patient</a:t>
            </a:r>
            <a:r>
              <a:rPr lang="en-US" sz="1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200" b="0" dirty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5270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7030A0"/>
                </a:solidFill>
                <a:latin typeface="Arial"/>
              </a:rPr>
              <a:t>Attention</a:t>
            </a:r>
            <a:r>
              <a:rPr lang="en-US" sz="1200" b="0" dirty="0">
                <a:solidFill>
                  <a:srgbClr val="7030A0"/>
                </a:solidFill>
                <a:latin typeface="Arial"/>
              </a:rPr>
              <a:t> </a:t>
            </a:r>
            <a:r>
              <a:rPr sz="1200" b="0" dirty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29800" y="5270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2631C"/>
                </a:solidFill>
                <a:latin typeface="Arial"/>
              </a:rPr>
              <a:t>Native + </a:t>
            </a:r>
            <a:r>
              <a:rPr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  <a:r>
              <a:rPr lang="en-US"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200" b="0" dirty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36400" y="5270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B6993A"/>
                </a:solidFill>
                <a:latin typeface="Arial"/>
              </a:rPr>
              <a:t>HF supervision</a:t>
            </a:r>
            <a:r>
              <a:rPr lang="en-US" sz="1200" b="0" dirty="0">
                <a:solidFill>
                  <a:srgbClr val="B6993A"/>
                </a:solidFill>
                <a:latin typeface="Arial"/>
              </a:rPr>
              <a:t> </a:t>
            </a:r>
            <a:r>
              <a:rPr sz="1200" b="0" dirty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3257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2247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8153400" y="3302000"/>
            <a:ext cx="15494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3257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Attention representation to PCSL and GPAL objective"/>
          <p:cNvSpPr/>
          <p:nvPr/>
        </p:nvSpPr>
        <p:spPr>
          <a:xfrm>
            <a:off x="5753100" y="3937000"/>
            <a:ext cx="3060700" cy="685800"/>
          </a:xfrm>
          <a:custGeom>
            <a:avLst/>
            <a:gdLst/>
            <a:ahLst/>
            <a:cxnLst/>
            <a:rect l="0" t="0" r="r" b="b"/>
            <a:pathLst>
              <a:path w="3060700" h="685800" fill="none">
                <a:moveTo>
                  <a:pt x="0" y="0"/>
                </a:moveTo>
                <a:lnTo>
                  <a:pt x="0" y="381000"/>
                </a:lnTo>
                <a:lnTo>
                  <a:pt x="3060700" y="381000"/>
                </a:lnTo>
                <a:lnTo>
                  <a:pt x="3060700" y="685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4318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4298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" name="Non-junction crossover bridge"/>
          <p:cNvSpPr/>
          <p:nvPr/>
        </p:nvSpPr>
        <p:spPr>
          <a:xfrm>
            <a:off x="10693400" y="3530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101600"/>
                </a:moveTo>
                <a:cubicBezTo>
                  <a:pt x="76200" y="101600"/>
                  <a:pt x="76200" y="0"/>
                  <a:pt x="0" y="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3098800"/>
            <a:ext cx="762000" cy="660400"/>
          </a:xfrm>
          <a:custGeom>
            <a:avLst/>
            <a:gdLst/>
            <a:ahLst/>
            <a:cxnLst/>
            <a:rect l="0" t="0" r="r" b="b"/>
            <a:pathLst>
              <a:path w="762000" h="660400" fill="none">
                <a:moveTo>
                  <a:pt x="0" y="660400"/>
                </a:moveTo>
                <a:lnTo>
                  <a:pt x="660400" y="660400"/>
                </a:lnTo>
                <a:lnTo>
                  <a:pt x="660400" y="533400"/>
                </a:lnTo>
                <a:cubicBezTo>
                  <a:pt x="736600" y="533400"/>
                  <a:pt x="736600" y="431800"/>
                  <a:pt x="660400" y="431800"/>
                </a:cubicBezTo>
                <a:lnTo>
                  <a:pt x="660400" y="0"/>
                </a:lnTo>
                <a:lnTo>
                  <a:pt x="7620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1" name="Non-junction crossover bridge"/>
          <p:cNvSpPr/>
          <p:nvPr/>
        </p:nvSpPr>
        <p:spPr>
          <a:xfrm>
            <a:off x="13766800" y="36322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0769600" y="2794000"/>
            <a:ext cx="3073400" cy="1828800"/>
          </a:xfrm>
          <a:custGeom>
            <a:avLst/>
            <a:gdLst/>
            <a:ahLst/>
            <a:cxnLst/>
            <a:rect l="0" t="0" r="r" b="b"/>
            <a:pathLst>
              <a:path w="3073400" h="1828800" fill="none">
                <a:moveTo>
                  <a:pt x="2413000" y="0"/>
                </a:moveTo>
                <a:lnTo>
                  <a:pt x="2997200" y="0"/>
                </a:lnTo>
                <a:lnTo>
                  <a:pt x="2997200" y="838200"/>
                </a:lnTo>
                <a:cubicBezTo>
                  <a:pt x="3073400" y="838200"/>
                  <a:pt x="3073400" y="939800"/>
                  <a:pt x="2997200" y="939800"/>
                </a:cubicBezTo>
                <a:lnTo>
                  <a:pt x="2997200" y="1574800"/>
                </a:lnTo>
                <a:lnTo>
                  <a:pt x="0" y="1574800"/>
                </a:lnTo>
                <a:lnTo>
                  <a:pt x="0" y="1828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2" name="Non-junction crossover bridge"/>
          <p:cNvSpPr/>
          <p:nvPr/>
        </p:nvSpPr>
        <p:spPr>
          <a:xfrm>
            <a:off x="11988800" y="3860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3" name="Non-junction crossover bridge"/>
          <p:cNvSpPr/>
          <p:nvPr/>
        </p:nvSpPr>
        <p:spPr>
          <a:xfrm>
            <a:off x="11988800" y="43180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1988800" y="3810000"/>
            <a:ext cx="787400" cy="812800"/>
          </a:xfrm>
          <a:custGeom>
            <a:avLst/>
            <a:gdLst/>
            <a:ahLst/>
            <a:cxnLst/>
            <a:rect l="0" t="0" r="r" b="b"/>
            <a:pathLst>
              <a:path w="787400" h="812800" fill="none">
                <a:moveTo>
                  <a:pt x="0" y="0"/>
                </a:moveTo>
                <a:lnTo>
                  <a:pt x="0" y="50800"/>
                </a:lnTo>
                <a:cubicBezTo>
                  <a:pt x="76200" y="50800"/>
                  <a:pt x="76200" y="152400"/>
                  <a:pt x="0" y="152400"/>
                </a:cubicBezTo>
                <a:lnTo>
                  <a:pt x="0" y="508000"/>
                </a:lnTo>
                <a:cubicBezTo>
                  <a:pt x="76200" y="508000"/>
                  <a:pt x="76200" y="609600"/>
                  <a:pt x="0" y="609600"/>
                </a:cubicBezTo>
                <a:lnTo>
                  <a:pt x="0" y="660400"/>
                </a:lnTo>
                <a:lnTo>
                  <a:pt x="787400" y="660400"/>
                </a:lnTo>
                <a:lnTo>
                  <a:pt x="787400" y="812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125</Words>
  <Application>Microsoft Macintosh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20</cp:revision>
  <dcterms:created xsi:type="dcterms:W3CDTF">2026-09-14T23:48:42Z</dcterms:created>
  <dcterms:modified xsi:type="dcterms:W3CDTF">2026-09-23T16:39:52Z</dcterms:modified>
</cp:coreProperties>
</file>