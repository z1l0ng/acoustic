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78816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/>
    <p:restoredTop sz="94643"/>
  </p:normalViewPr>
  <p:slideViewPr>
    <p:cSldViewPr snapToGrid="0">
      <p:cViewPr>
        <p:scale>
          <a:sx n="88" d="100"/>
          <a:sy n="88" d="100"/>
        </p:scale>
        <p:origin x="184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6.png"/><Relationship Id="rId18" Type="http://schemas.openxmlformats.org/officeDocument/2006/relationships/image" Target="../media/image14.png"/><Relationship Id="rId21" Type="http://schemas.openxmlformats.org/officeDocument/2006/relationships/image" Target="../media/image17.png"/><Relationship Id="rId7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23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9" Type="http://schemas.openxmlformats.org/officeDocument/2006/relationships/image" Target="../media/image8.png"/><Relationship Id="rId14" Type="http://schemas.openxmlformats.org/officeDocument/2006/relationships/image" Target="../media/image7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red C-W heads dashed boundary"/>
          <p:cNvSpPr/>
          <p:nvPr/>
        </p:nvSpPr>
        <p:spPr>
          <a:xfrm>
            <a:off x="7416800" y="2590800"/>
            <a:ext cx="2743200" cy="609600"/>
          </a:xfrm>
          <a:prstGeom prst="rect">
            <a:avLst/>
          </a:prstGeom>
          <a:noFill/>
          <a:ln w="19050">
            <a:solidFill>
              <a:srgbClr val="32631C"/>
            </a:solidFill>
            <a:prstDash val="dash"/>
          </a:ln>
        </p:spPr>
      </p:sp>
      <p:sp>
        <p:nvSpPr>
          <p:cNvPr id="419" name="HF train C-W supervision to HF loss"/>
          <p:cNvSpPr/>
          <p:nvPr/>
        </p:nvSpPr>
        <p:spPr>
          <a:xfrm>
            <a:off x="9804400" y="3276600"/>
            <a:ext cx="990600" cy="584200"/>
          </a:xfrm>
          <a:custGeom>
            <a:avLst/>
            <a:gdLst/>
            <a:ahLst/>
            <a:cxnLst/>
            <a:rect l="0" t="0" r="r" b="b"/>
            <a:pathLst>
              <a:path w="990600" h="584200" fill="none">
                <a:moveTo>
                  <a:pt x="0" y="0"/>
                </a:moveTo>
                <a:lnTo>
                  <a:pt x="0" y="584200"/>
                </a:lnTo>
                <a:lnTo>
                  <a:pt x="990600" y="5842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2" name="Wheeze joins C-W supervision"/>
          <p:cNvSpPr/>
          <p:nvPr/>
        </p:nvSpPr>
        <p:spPr>
          <a:xfrm>
            <a:off x="9474200" y="3124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1" name="C-W joint supervision to CLS"/>
          <p:cNvSpPr/>
          <p:nvPr/>
        </p:nvSpPr>
        <p:spPr>
          <a:xfrm>
            <a:off x="8140700" y="2921000"/>
            <a:ext cx="2654300" cy="355600"/>
          </a:xfrm>
          <a:custGeom>
            <a:avLst/>
            <a:gdLst/>
            <a:ahLst/>
            <a:cxnLst/>
            <a:rect l="0" t="0" r="r" b="b"/>
            <a:pathLst>
              <a:path w="2654300" h="355600" fill="none" stroke="1">
                <a:moveTo>
                  <a:pt x="0" y="203200"/>
                </a:moveTo>
                <a:lnTo>
                  <a:pt x="0" y="355600"/>
                </a:lnTo>
                <a:lnTo>
                  <a:pt x="2324100" y="355600"/>
                </a:lnTo>
                <a:lnTo>
                  <a:pt x="2324100" y="0"/>
                </a:lnTo>
                <a:lnTo>
                  <a:pt x="26543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" name="ICBHI batch native CE to CLS"/>
          <p:cNvSpPr/>
          <p:nvPr/>
        </p:nvSpPr>
        <p:spPr>
          <a:xfrm>
            <a:off x="8788400" y="1905000"/>
            <a:ext cx="2006600" cy="863600"/>
          </a:xfrm>
          <a:custGeom>
            <a:avLst/>
            <a:gdLst/>
            <a:ahLst/>
            <a:cxnLst/>
            <a:rect l="0" t="0" r="r" b="b"/>
            <a:pathLst>
              <a:path w="2006600" h="863600" fill="none" stroke="1">
                <a:moveTo>
                  <a:pt x="0" y="0"/>
                </a:moveTo>
                <a:lnTo>
                  <a:pt x="0" y="101600"/>
                </a:lnTo>
                <a:lnTo>
                  <a:pt x="1498600" y="101600"/>
                </a:lnTo>
                <a:lnTo>
                  <a:pt x="1498600" y="863600"/>
                </a:lnTo>
                <a:lnTo>
                  <a:pt x="2006600" y="8636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PRSound native inference"/>
          <p:cNvSpPr/>
          <p:nvPr/>
        </p:nvSpPr>
        <p:spPr>
          <a:xfrm>
            <a:off x="10033000" y="45212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8" name="ICBHI readout to KAUH"/>
          <p:cNvSpPr/>
          <p:nvPr/>
        </p:nvSpPr>
        <p:spPr>
          <a:xfrm>
            <a:off x="14046200" y="3793684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BHI readout to HF test"/>
          <p:cNvSpPr/>
          <p:nvPr/>
        </p:nvSpPr>
        <p:spPr>
          <a:xfrm>
            <a:off x="14046200" y="23114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6" name="Fixed ICBHI readout bus"/>
          <p:cNvSpPr/>
          <p:nvPr/>
        </p:nvSpPr>
        <p:spPr>
          <a:xfrm>
            <a:off x="14046200" y="1625599"/>
            <a:ext cx="45719" cy="2158999"/>
          </a:xfrm>
          <a:custGeom>
            <a:avLst/>
            <a:gdLst/>
            <a:ahLst/>
            <a:cxnLst/>
            <a:rect l="0" t="0" r="r" b="b"/>
            <a:pathLst>
              <a:path w="13" h="1371600" fill="none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5" name="ICBHI native inference"/>
          <p:cNvSpPr/>
          <p:nvPr/>
        </p:nvSpPr>
        <p:spPr>
          <a:xfrm>
            <a:off x="10033000" y="1625600"/>
            <a:ext cx="4318000" cy="13"/>
          </a:xfrm>
          <a:custGeom>
            <a:avLst/>
            <a:gdLst/>
            <a:ahLst/>
            <a:cxnLst/>
            <a:rect l="0" t="0" r="r" b="b"/>
            <a:pathLst>
              <a:path w="4318000" h="13" fill="none">
                <a:moveTo>
                  <a:pt x="0" y="0"/>
                </a:moveTo>
                <a:lnTo>
                  <a:pt x="4318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red h to SPRSound"/>
          <p:cNvSpPr/>
          <p:nvPr/>
        </p:nvSpPr>
        <p:spPr>
          <a:xfrm>
            <a:off x="7188200" y="45212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red h to Wheeze"/>
          <p:cNvSpPr/>
          <p:nvPr/>
        </p:nvSpPr>
        <p:spPr>
          <a:xfrm>
            <a:off x="94742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 stroke="1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red h to Crackle"/>
          <p:cNvSpPr/>
          <p:nvPr/>
        </p:nvSpPr>
        <p:spPr>
          <a:xfrm>
            <a:off x="8140700" y="2514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 stroke="1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red h to both C-W heads"/>
          <p:cNvSpPr/>
          <p:nvPr/>
        </p:nvSpPr>
        <p:spPr>
          <a:xfrm>
            <a:off x="7188200" y="25146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 stroke="1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red h trunk"/>
          <p:cNvSpPr/>
          <p:nvPr/>
        </p:nvSpPr>
        <p:spPr>
          <a:xfrm>
            <a:off x="7188200" y="1625600"/>
            <a:ext cx="13" cy="2895600"/>
          </a:xfrm>
          <a:custGeom>
            <a:avLst/>
            <a:gdLst/>
            <a:ahLst/>
            <a:cxnLst/>
            <a:rect l="0" t="0" r="r" b="b"/>
            <a:pathLst>
              <a:path w="13" h="2895600" fill="none">
                <a:moveTo>
                  <a:pt x="0" y="0"/>
                </a:moveTo>
                <a:lnTo>
                  <a:pt x="0" y="2895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Restored teacher annotation arrow HF supervision (optional)"/>
          <p:cNvSpPr/>
          <p:nvPr/>
        </p:nvSpPr>
        <p:spPr>
          <a:xfrm>
            <a:off x="127762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 stroke="1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Restored teacher annotation arrow Attention regularization"/>
          <p:cNvSpPr/>
          <p:nvPr/>
        </p:nvSpPr>
        <p:spPr>
          <a:xfrm>
            <a:off x="88138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Restored teacher annotation arrow Patient contrastive"/>
          <p:cNvSpPr/>
          <p:nvPr/>
        </p:nvSpPr>
        <p:spPr>
          <a:xfrm>
            <a:off x="6477000" y="5867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8" name="Attention representation to regularization"/>
          <p:cNvSpPr/>
          <p:nvPr/>
        </p:nvSpPr>
        <p:spPr>
          <a:xfrm>
            <a:off x="5753100" y="3937000"/>
            <a:ext cx="13" cy="355600"/>
          </a:xfrm>
          <a:custGeom>
            <a:avLst/>
            <a:gdLst/>
            <a:ahLst/>
            <a:cxnLst/>
            <a:rect l="0" t="0" r="r" b="b"/>
            <a:pathLst>
              <a:path w="13" h="355600" fill="none">
                <a:moveTo>
                  <a:pt x="0" y="0"/>
                </a:moveTo>
                <a:lnTo>
                  <a:pt x="0" y="35560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red h to ICBHI"/>
          <p:cNvSpPr/>
          <p:nvPr/>
        </p:nvSpPr>
        <p:spPr>
          <a:xfrm>
            <a:off x="7188200" y="1625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red representation trunk"/>
          <p:cNvSpPr/>
          <p:nvPr/>
        </p:nvSpPr>
        <p:spPr>
          <a:xfrm>
            <a:off x="6781800" y="2197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Encoder tokens to attention"/>
          <p:cNvSpPr/>
          <p:nvPr/>
        </p:nvSpPr>
        <p:spPr>
          <a:xfrm>
            <a:off x="4419600" y="3657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" name="Encoder to mean pooling"/>
          <p:cNvSpPr/>
          <p:nvPr/>
        </p:nvSpPr>
        <p:spPr>
          <a:xfrm>
            <a:off x="2286000" y="2197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Audio to BEATs"/>
          <p:cNvSpPr/>
          <p:nvPr/>
        </p:nvSpPr>
        <p:spPr>
          <a:xfrm>
            <a:off x="1600200" y="2603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917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3136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3479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3378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574" y="3006913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1346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42418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2184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1701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914400"/>
            <a:ext cx="2743200" cy="3556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54864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2667000"/>
            <a:ext cx="119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C: Crackle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2667000"/>
            <a:ext cx="1117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W: Wheeze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4351000" y="1346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1939512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4300200" y="914400"/>
            <a:ext cx="3251200" cy="355600"/>
          </a:xfrm>
          <a:prstGeom prst="rect">
            <a:avLst/>
          </a:prstGeom>
          <a:noFill/>
        </p:spPr>
        <p:txBody>
          <a:bodyPr wrap="square" bIns="0" rtlCol="0" anchor="b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4351000" y="4241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 xmlns="" xmlns:m="http://schemas.openxmlformats.org/officeDocument/2006/math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3831390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4351000" y="2032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Wheeze(or Rhonchi</a:t>
                </a:r>
                <a:r>
                  <a:rPr lang="en-US" altLang="zh-CN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lang="en-US"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Stridor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Other</a:t>
                </a:r>
              </a:p>
            </p:txBody>
          </p:sp>
        </mc:Choice>
        <mc:Fallback xmlns:m="http://schemas.openxmlformats.org/officeDocument/2006/math"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285" y="2570138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4351000" y="3554173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3554173"/>
                <a:ext cx="3149600" cy="558800"/>
              </a:xfrm>
              <a:prstGeom prst="rect">
                <a:avLst/>
              </a:prstGeom>
              <a:blipFill>
                <a:blip r:embed="rId8"/>
                <a:stretch>
                  <a:fillRect l="-398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25800" y="36703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 xmlns:m="http://schemas.openxmlformats.org/officeDocument/2006/math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45" y="2238876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098800" y="40259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="" xmlns:m="http://schemas.openxmlformats.org/officeDocument/2006/math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719" y="2460613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5257800"/>
            <a:ext cx="9715500" cy="6096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9751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 xmlns:m="http://schemas.openxmlformats.org/officeDocument/2006/math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63" y="3628735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143500" y="3937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 xmlns:m="http://schemas.openxmlformats.org/officeDocument/2006/math"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700" y="3567073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34" name="Auxiliary C-W heads heading"/>
          <p:cNvSpPr txBox="1"/>
          <p:nvPr/>
        </p:nvSpPr>
        <p:spPr>
          <a:xfrm>
            <a:off x="7416800" y="2108200"/>
            <a:ext cx="2743200" cy="3048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Shared representation h_i"/>
              <p:cNvSpPr>
                <a:spLocks noGrp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36" name="Shared representation h_i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300" y="1905000"/>
                <a:ext cx="279400" cy="152400"/>
              </a:xfrm>
              <a:prstGeom prst="rect">
                <a:avLst/>
              </a:prstGeom>
              <a:blipFill>
                <a:blip r:embed="rId14"/>
                <a:stretch>
                  <a:fillRect l="-4348" t="-23077" b="-384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PAFA regularization losses"/>
              <p:cNvSpPr/>
              <p:nvPr/>
            </p:nvSpPr>
            <p:spPr>
              <a:xfrm>
                <a:off x="4724400" y="4292600"/>
                <a:ext cx="2057400" cy="5080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200">
                    <a:solidFill>
                      <a:srgbClr val="7030A0"/>
                    </a:solidFill>
                    <a:latin typeface="Arial"/>
                  </a:rPr>
                  <a:t>Patient regularization</a:t>
                </a:r>
              </a:p>
            </p:txBody>
          </p:sp>
        </mc:Choice>
        <mc:Fallback>
          <p:sp>
            <p:nvSpPr>
              <p:cNvPr id="156" name="PAFA regularization losse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292600"/>
                <a:ext cx="2057400" cy="508000"/>
              </a:xfrm>
              <a:prstGeom prst="rect">
                <a:avLst/>
              </a:prstGeom>
              <a:blipFill>
                <a:blip r:embed="rId15"/>
                <a:stretch>
                  <a:fillRect b="-930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Classification loss L_cls"/>
              <p:cNvSpPr/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100">
                    <a:solidFill>
                      <a:srgbClr val="32631C"/>
                    </a:solidFill>
                    <a:latin typeface="Arial"/>
                  </a:rPr>
                  <a:t>(ICBHI or SPRSound) + C-W</a:t>
                </a:r>
              </a:p>
            </p:txBody>
          </p:sp>
        </mc:Choice>
        <mc:Fallback>
          <p:sp>
            <p:nvSpPr>
              <p:cNvPr id="157" name="Classification loss L_c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2641600"/>
                <a:ext cx="2387600" cy="533400"/>
              </a:xfrm>
              <a:prstGeom prst="rect">
                <a:avLst/>
              </a:prstGeom>
              <a:blipFill>
                <a:blip r:embed="rId16"/>
                <a:stretch>
                  <a:fillRect b="-4444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Optional HF loss"/>
              <p:cNvSpPr/>
              <p:nvPr/>
            </p:nvSpPr>
            <p:spPr>
              <a:xfrm>
                <a:off x="10795000" y="3632200"/>
                <a:ext cx="2387600" cy="457200"/>
              </a:xfrm>
              <a:prstGeom prst="rect">
                <a:avLst/>
              </a:prstGeom>
              <a:solidFill>
                <a:srgbClr val="FFF5DB"/>
              </a:solidFill>
              <a:ln>
                <a:solidFill>
                  <a:srgbClr val="B699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ctr"/>
                <a:r>
                  <a:rPr lang="en-US" sz="1200">
                    <a:solidFill>
                      <a:srgbClr val="B6993A"/>
                    </a:solidFill>
                    <a:latin typeface="Arial"/>
                  </a:rPr>
                  <a:t>Shared C-W supervision</a:t>
                </a:r>
              </a:p>
            </p:txBody>
          </p:sp>
        </mc:Choice>
        <mc:Fallback>
          <p:sp>
            <p:nvSpPr>
              <p:cNvPr id="219" name="Optional HF los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3632200"/>
                <a:ext cx="2387600" cy="457200"/>
              </a:xfrm>
              <a:prstGeom prst="rect">
                <a:avLst/>
              </a:prstGeom>
              <a:blipFill>
                <a:blip r:embed="rId17"/>
                <a:stretch>
                  <a:fillRect b="-15385"/>
                </a:stretch>
              </a:blipFill>
              <a:ln>
                <a:solidFill>
                  <a:srgbClr val="B6993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Total loss equals"/>
              <p:cNvSpPr/>
              <p:nvPr/>
            </p:nvSpPr>
            <p:spPr>
              <a:xfrm>
                <a:off x="4572000" y="5257800"/>
                <a:ext cx="8255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3" name="Total loss equa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825500" cy="609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Weighted patient contrastive term"/>
              <p:cNvSpPr/>
              <p:nvPr/>
            </p:nvSpPr>
            <p:spPr>
              <a:xfrm>
                <a:off x="5397500" y="5257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4" name="Weighted patient contrastive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0" y="5257800"/>
                <a:ext cx="2159000" cy="6096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Weighted attention regularization term"/>
              <p:cNvSpPr/>
              <p:nvPr/>
            </p:nvSpPr>
            <p:spPr>
              <a:xfrm>
                <a:off x="7734300" y="5257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5" name="Weighted attention regulariz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5257800"/>
                <a:ext cx="2159000" cy="6096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Classification term"/>
              <p:cNvSpPr/>
              <p:nvPr/>
            </p:nvSpPr>
            <p:spPr>
              <a:xfrm>
                <a:off x="10071100" y="5257800"/>
                <a:ext cx="13970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6" name="Classific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00" y="5257800"/>
                <a:ext cx="1397000" cy="6096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Weighted optional HF term"/>
              <p:cNvSpPr/>
              <p:nvPr/>
            </p:nvSpPr>
            <p:spPr>
              <a:xfrm>
                <a:off x="11645900" y="5257800"/>
                <a:ext cx="22606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7" name="Weighted optional HF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900" y="5257800"/>
                <a:ext cx="2260600" cy="6096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Objective addition"/>
              <p:cNvSpPr/>
              <p:nvPr/>
            </p:nvSpPr>
            <p:spPr>
              <a:xfrm>
                <a:off x="74676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8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Objective addition"/>
              <p:cNvSpPr/>
              <p:nvPr/>
            </p:nvSpPr>
            <p:spPr>
              <a:xfrm>
                <a:off x="98552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9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Objective addition"/>
              <p:cNvSpPr/>
              <p:nvPr/>
            </p:nvSpPr>
            <p:spPr>
              <a:xfrm>
                <a:off x="11379200" y="5257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30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200" y="5257800"/>
                <a:ext cx="279400" cy="609600"/>
              </a:xfrm>
              <a:prstGeom prst="rect">
                <a:avLst/>
              </a:prstGeom>
              <a:blipFill>
                <a:blip r:embed="rId23"/>
                <a:stretch>
                  <a:fillRect l="-173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236" name="Bottom aligned loss annotation Patient contrastive"/>
          <p:cNvSpPr txBox="1"/>
          <p:nvPr/>
        </p:nvSpPr>
        <p:spPr>
          <a:xfrm>
            <a:off x="55118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Patient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Attention</a:t>
            </a:r>
          </a:p>
          <a:p>
            <a:pPr algn="ctr"/>
            <a:r>
              <a:rPr sz="1200" b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044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Native + C-W</a:t>
            </a:r>
          </a:p>
          <a:p>
            <a:pPr algn="ctr"/>
            <a:r>
              <a:rPr sz="1200" b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11000" y="6172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HF supervision</a:t>
            </a:r>
          </a:p>
          <a:p>
            <a:pPr algn="ctr"/>
            <a:r>
              <a:rPr sz="1200" b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  <p:sp>
        <p:nvSpPr>
          <p:cNvPr id="413" name="C-W supervision junction"/>
          <p:cNvSpPr/>
          <p:nvPr/>
        </p:nvSpPr>
        <p:spPr>
          <a:xfrm>
            <a:off x="9455150" y="3257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Classification training group title"/>
          <p:cNvSpPr txBox="1"/>
          <p:nvPr/>
        </p:nvSpPr>
        <p:spPr>
          <a:xfrm>
            <a:off x="10668000" y="2247900"/>
            <a:ext cx="2641600" cy="2921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400">
                <a:solidFill>
                  <a:srgbClr val="32631C"/>
                </a:solidFill>
                <a:latin typeface="Arial"/>
              </a:rPr>
              <a:t>Training supervision</a:t>
            </a:r>
          </a:p>
        </p:txBody>
      </p:sp>
      <p:sp>
        <p:nvSpPr>
          <p:cNvPr id="418" name="HF training source"/>
          <p:cNvSpPr txBox="1"/>
          <p:nvPr/>
        </p:nvSpPr>
        <p:spPr>
          <a:xfrm>
            <a:off x="8153400" y="3505200"/>
            <a:ext cx="1549400" cy="2286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100">
                <a:solidFill>
                  <a:srgbClr val="B6993A"/>
                </a:solidFill>
                <a:latin typeface="Arial"/>
              </a:rPr>
              <a:t>HF train (optional)</a:t>
            </a:r>
          </a:p>
        </p:txBody>
      </p:sp>
      <p:sp>
        <p:nvSpPr>
          <p:cNvPr id="420" name="Optional HF train C-W junction"/>
          <p:cNvSpPr/>
          <p:nvPr/>
        </p:nvSpPr>
        <p:spPr>
          <a:xfrm>
            <a:off x="9785350" y="3257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" name="PAFA losses to weighted objective"/>
          <p:cNvSpPr/>
          <p:nvPr/>
        </p:nvSpPr>
        <p:spPr>
          <a:xfrm>
            <a:off x="5753100" y="4800600"/>
            <a:ext cx="3060700" cy="457200"/>
          </a:xfrm>
          <a:custGeom>
            <a:avLst/>
            <a:gdLst/>
            <a:ahLst/>
            <a:cxnLst/>
            <a:rect l="0" t="0" r="r" b="b"/>
            <a:pathLst>
              <a:path w="3060700" h="457200" fill="none" stroke="1">
                <a:moveTo>
                  <a:pt x="0" y="0"/>
                </a:moveTo>
                <a:lnTo>
                  <a:pt x="0" y="152400"/>
                </a:lnTo>
                <a:lnTo>
                  <a:pt x="3060700" y="152400"/>
                </a:lnTo>
                <a:lnTo>
                  <a:pt x="3060700" y="4572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2" name="PCSL objective branch"/>
          <p:cNvSpPr/>
          <p:nvPr/>
        </p:nvSpPr>
        <p:spPr>
          <a:xfrm>
            <a:off x="6477000" y="4953000"/>
            <a:ext cx="13" cy="304800"/>
          </a:xfrm>
          <a:custGeom>
            <a:avLst/>
            <a:gdLst/>
            <a:ahLst/>
            <a:cxnLst/>
            <a:rect l="0" t="0" r="r" b="b"/>
            <a:pathLst>
              <a:path w="13" h="304800" fill="none" stroke="1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3" name="PAFA objective branch junction"/>
          <p:cNvSpPr/>
          <p:nvPr/>
        </p:nvSpPr>
        <p:spPr>
          <a:xfrm>
            <a:off x="6457950" y="4933950"/>
            <a:ext cx="38100" cy="381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" name="Non-junction crossover bridge"/>
          <p:cNvSpPr/>
          <p:nvPr/>
        </p:nvSpPr>
        <p:spPr>
          <a:xfrm>
            <a:off x="10693400" y="38100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101600"/>
                </a:moveTo>
                <a:cubicBezTo>
                  <a:pt x="76200" y="101600"/>
                  <a:pt x="76200" y="0"/>
                  <a:pt x="0" y="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4" name="SPRSound batch native CE to CLS"/>
          <p:cNvSpPr/>
          <p:nvPr/>
        </p:nvSpPr>
        <p:spPr>
          <a:xfrm>
            <a:off x="10033000" y="3098800"/>
            <a:ext cx="762000" cy="1270000"/>
          </a:xfrm>
          <a:custGeom>
            <a:avLst/>
            <a:gdLst/>
            <a:ahLst/>
            <a:cxnLst/>
            <a:rect l="0" t="0" r="r" b="b"/>
            <a:pathLst>
              <a:path w="762000" h="1270000" fill="none" stroke="1">
                <a:moveTo>
                  <a:pt x="0" y="1270000"/>
                </a:moveTo>
                <a:lnTo>
                  <a:pt x="660400" y="1270000"/>
                </a:lnTo>
                <a:lnTo>
                  <a:pt x="660400" y="812800"/>
                </a:lnTo>
                <a:cubicBezTo>
                  <a:pt x="736600" y="812800"/>
                  <a:pt x="736600" y="711200"/>
                  <a:pt x="660400" y="711200"/>
                </a:cubicBezTo>
                <a:lnTo>
                  <a:pt x="660400" y="0"/>
                </a:lnTo>
                <a:lnTo>
                  <a:pt x="7620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1" name="Non-junction crossover bridge"/>
          <p:cNvSpPr/>
          <p:nvPr/>
        </p:nvSpPr>
        <p:spPr>
          <a:xfrm>
            <a:off x="13766800" y="44704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8" name="Classification loss to total objective"/>
          <p:cNvSpPr/>
          <p:nvPr/>
        </p:nvSpPr>
        <p:spPr>
          <a:xfrm>
            <a:off x="10769600" y="2794000"/>
            <a:ext cx="3073400" cy="2463800"/>
          </a:xfrm>
          <a:custGeom>
            <a:avLst/>
            <a:gdLst/>
            <a:ahLst/>
            <a:cxnLst/>
            <a:rect l="0" t="0" r="r" b="b"/>
            <a:pathLst>
              <a:path w="3073400" h="2463800" fill="none" stroke="1">
                <a:moveTo>
                  <a:pt x="2413000" y="0"/>
                </a:moveTo>
                <a:lnTo>
                  <a:pt x="2997200" y="0"/>
                </a:lnTo>
                <a:lnTo>
                  <a:pt x="2997200" y="1676400"/>
                </a:lnTo>
                <a:cubicBezTo>
                  <a:pt x="3073400" y="1676400"/>
                  <a:pt x="3073400" y="1778000"/>
                  <a:pt x="2997200" y="1778000"/>
                </a:cubicBezTo>
                <a:lnTo>
                  <a:pt x="2997200" y="2057400"/>
                </a:lnTo>
                <a:lnTo>
                  <a:pt x="0" y="2057400"/>
                </a:lnTo>
                <a:lnTo>
                  <a:pt x="0" y="24638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2" name="Non-junction crossover bridge"/>
          <p:cNvSpPr/>
          <p:nvPr/>
        </p:nvSpPr>
        <p:spPr>
          <a:xfrm>
            <a:off x="11988800" y="44704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3" name="Non-junction crossover bridge"/>
          <p:cNvSpPr/>
          <p:nvPr/>
        </p:nvSpPr>
        <p:spPr>
          <a:xfrm>
            <a:off x="11988800" y="48006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 stroke="1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7" name="Optional HF loss to total objective"/>
          <p:cNvSpPr/>
          <p:nvPr/>
        </p:nvSpPr>
        <p:spPr>
          <a:xfrm>
            <a:off x="11988800" y="4089400"/>
            <a:ext cx="787400" cy="1168400"/>
          </a:xfrm>
          <a:custGeom>
            <a:avLst/>
            <a:gdLst/>
            <a:ahLst/>
            <a:cxnLst/>
            <a:rect l="0" t="0" r="r" b="b"/>
            <a:pathLst>
              <a:path w="787400" h="1168400" fill="none" stroke="1">
                <a:moveTo>
                  <a:pt x="0" y="0"/>
                </a:moveTo>
                <a:lnTo>
                  <a:pt x="0" y="381000"/>
                </a:lnTo>
                <a:cubicBezTo>
                  <a:pt x="76200" y="381000"/>
                  <a:pt x="76200" y="482600"/>
                  <a:pt x="0" y="482600"/>
                </a:cubicBezTo>
                <a:lnTo>
                  <a:pt x="0" y="711200"/>
                </a:lnTo>
                <a:cubicBezTo>
                  <a:pt x="76200" y="711200"/>
                  <a:pt x="76200" y="812800"/>
                  <a:pt x="0" y="812800"/>
                </a:cubicBezTo>
                <a:lnTo>
                  <a:pt x="0" y="965200"/>
                </a:lnTo>
                <a:lnTo>
                  <a:pt x="787400" y="965200"/>
                </a:lnTo>
                <a:lnTo>
                  <a:pt x="787400" y="11684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138</Words>
  <Application>Microsoft Macintosh PowerPoint</Application>
  <PresentationFormat>Custom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18</cp:revision>
  <dcterms:created xsi:type="dcterms:W3CDTF">2026-09-14T23:48:42Z</dcterms:created>
  <dcterms:modified xsi:type="dcterms:W3CDTF">2026-09-23T15:44:26Z</dcterms:modified>
</cp:coreProperties>
</file>