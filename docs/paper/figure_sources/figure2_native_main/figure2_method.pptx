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7" r:id="rId2"/>
  </p:sldIdLst>
  <p:sldSz cx="17881600" cy="51308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CEAF7"/>
    <a:srgbClr val="B6993A"/>
    <a:srgbClr val="03520D"/>
    <a:srgbClr val="D8F2CF"/>
    <a:srgbClr val="AA9438"/>
    <a:srgbClr val="C1A842"/>
    <a:srgbClr val="7030A0"/>
    <a:srgbClr val="3E6D8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92"/>
    <p:restoredTop sz="94589"/>
  </p:normalViewPr>
  <p:slideViewPr>
    <p:cSldViewPr snapToGrid="0">
      <p:cViewPr>
        <p:scale>
          <a:sx n="283" d="100"/>
          <a:sy n="283" d="100"/>
        </p:scale>
        <p:origin x="-12552" y="-19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D241DC-3C91-5049-94D6-89A200CD372D}" type="datetimeFigureOut">
              <a:rPr lang="en-US" smtClean="0"/>
              <a:t>9/23/26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947863" y="1143000"/>
            <a:ext cx="10753726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AA0E84-4C93-DF42-8319-FD1F43F496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85102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AA0E84-4C93-DF42-8319-FD1F43F4962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066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53065F-80AF-C505-DEE1-9C1B5C9D33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15E307-6B0B-7C17-B23D-C509787753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E74BAE-3147-4AA5-3948-B3BA115BE4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B7762-F530-8641-8C82-FC24CB528642}" type="datetimeFigureOut">
              <a:rPr lang="en-US" smtClean="0"/>
              <a:t>9/23/26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A83511-5802-5CD2-1887-601D097681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EE6538-B562-A041-1DAC-CF43440E3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6F9E1-0089-FE42-9720-94190B3BAD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33804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D8A64B-C7EE-B347-9B8B-63F90CC815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5C1657-3AF8-211F-5AB4-E8EF527841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0947FB-8251-E2A1-2DAD-F2284EC8D8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B7762-F530-8641-8C82-FC24CB528642}" type="datetimeFigureOut">
              <a:rPr lang="en-US" smtClean="0"/>
              <a:t>9/23/26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E288A9-80FE-D21A-5EBB-A93EAA221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28126C-9DDA-B433-C59A-A2009EC2D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6F9E1-0089-FE42-9720-94190B3BAD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90671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4A9638-EC2D-390E-92C4-909D93E2D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5506D7-1A3F-7645-1406-D593AF42A0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44A9A1-6840-36DB-22AB-9ADBF6A547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B7762-F530-8641-8C82-FC24CB528642}" type="datetimeFigureOut">
              <a:rPr lang="en-US" smtClean="0"/>
              <a:t>9/23/26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9C71A0-7789-8C85-2862-09C9A0E348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3F76EB-3486-91FB-8414-A26D793BEB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6F9E1-0089-FE42-9720-94190B3BAD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7325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8BEA78-16D3-239C-8789-C9541DFFA7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C15AEA-EB5C-17E2-655E-8ED5AB1113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7BD561-547D-42C9-69B0-8003573117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732101-475C-F697-C4AE-90D33C026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B7762-F530-8641-8C82-FC24CB528642}" type="datetimeFigureOut">
              <a:rPr lang="en-US" smtClean="0"/>
              <a:t>9/23/26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2D697D-EBC3-CAC1-24F0-4A409CEE35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B1DE23-35ED-76B7-144C-D7CB58643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6F9E1-0089-FE42-9720-94190B3BAD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910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26D4BB-458F-8C81-0545-3B7759DAF3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524C93-4D75-E814-5B5F-3C89CE8909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36D098-082C-21C5-F8C2-28B898AB50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03B4B8-728C-440E-1C07-F1416D5FF1A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B64EC70-D557-49D7-8CBC-54C6685008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110ABCB-2FDE-26C7-50C2-16F8DDFAC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B7762-F530-8641-8C82-FC24CB528642}" type="datetimeFigureOut">
              <a:rPr lang="en-US" smtClean="0"/>
              <a:t>9/23/26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2D91BB3-4D21-D594-C31D-40CBFD2910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85141F4-7CC5-3E56-9552-ECE1A78E2F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6F9E1-0089-FE42-9720-94190B3BAD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0432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C007B4-1F1C-04F9-6C77-A13C636405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4C51F2F-0F75-C47C-F670-0E5CF38E5C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B7762-F530-8641-8C82-FC24CB528642}" type="datetimeFigureOut">
              <a:rPr lang="en-US" smtClean="0"/>
              <a:t>9/23/26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A3DCD1D-40E4-AE3A-B1E7-0ECB4F137C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920CDC-CC89-6FF4-5039-BDC7598F55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6F9E1-0089-FE42-9720-94190B3BAD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7105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EE87D2-B834-16C5-4C1C-755B11E538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B7762-F530-8641-8C82-FC24CB528642}" type="datetimeFigureOut">
              <a:rPr lang="en-US" smtClean="0"/>
              <a:t>9/23/26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3126A26-A70A-9F19-D66D-AF2427338B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717FEE-7FE9-0805-C458-FE0232662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6F9E1-0089-FE42-9720-94190B3BAD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3846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BC5D18-C1FE-CDDE-0D2E-9F71F957E3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5B534F-FCEC-D246-C824-C5BB7266C9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D9A9B7-0C78-74EE-1C14-2F9F5E797B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4C750E-B0C7-6CFC-D1B4-DF4432EC33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B7762-F530-8641-8C82-FC24CB528642}" type="datetimeFigureOut">
              <a:rPr lang="en-US" smtClean="0"/>
              <a:t>9/23/26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D8C8F4-0884-A911-543C-9E57F534FA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E5920B0-6B65-BD5D-7136-1714F577D6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6F9E1-0089-FE42-9720-94190B3BAD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77583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4986B1-4A7E-23BD-7F32-D5D171D53F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1406E6B-7391-1F54-5872-8C270878295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1F0628-1AE3-E48B-5CFD-497FD3E96C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B173A8-A072-116E-60AA-D33B10B0BE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B7762-F530-8641-8C82-FC24CB528642}" type="datetimeFigureOut">
              <a:rPr lang="en-US" smtClean="0"/>
              <a:t>9/23/26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BEE8FB-BC70-F475-8650-63402EAB8B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04EC12-1F02-A477-F9F3-FE3F016DAD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6F9E1-0089-FE42-9720-94190B3BAD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20645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E899D-CDA1-E095-AE49-55B7BF6C09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3F8306-5091-41EC-A134-F2E8B86867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0EC8BC-2836-A34A-0097-A6F6C216E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B7762-F530-8641-8C82-FC24CB528642}" type="datetimeFigureOut">
              <a:rPr lang="en-US" smtClean="0"/>
              <a:t>9/23/26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4BC960-7576-8611-5EDB-38EC4D7544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DB74E6-A3B4-70F0-87DD-4C138F6781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6F9E1-0089-FE42-9720-94190B3BAD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7117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D98CDAE-5BD6-C3E6-7D49-2A610A79EAC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7A1F40-E605-CA74-79C7-871C0BBD45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B703F6-C619-EC8E-D4E5-8E0471BCB9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B7762-F530-8641-8C82-FC24CB528642}" type="datetimeFigureOut">
              <a:rPr lang="en-US" smtClean="0"/>
              <a:t>9/23/26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4A7D02-BCA8-1E3A-964E-6E64B54CF0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44FD23-C44C-1C9B-F443-1D84273E8E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26F9E1-0089-FE42-9720-94190B3BAD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49607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00D6B52-5F18-F7DB-CE21-1F0C0AC095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94A54E-BA15-04F4-70DB-1A6A1255B4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003A2C-C6A9-E1A4-704C-61E6B9BAA0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3B7762-F530-8641-8C82-FC24CB528642}" type="datetimeFigureOut">
              <a:rPr lang="en-US" smtClean="0"/>
              <a:t>9/23/26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36D620-6D58-848D-F8EB-E9334C62EA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3DFC71-82DE-96CF-C182-0D188AF38C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26F9E1-0089-FE42-9720-94190B3BAD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3435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3" Type="http://schemas.openxmlformats.org/officeDocument/2006/relationships/image" Target="../media/image1.png"/><Relationship Id="rId21" Type="http://schemas.openxmlformats.org/officeDocument/2006/relationships/image" Target="../media/image19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20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24" Type="http://schemas.openxmlformats.org/officeDocument/2006/relationships/image" Target="../media/image22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23" Type="http://schemas.openxmlformats.org/officeDocument/2006/relationships/image" Target="../media/image21.pn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Relationship Id="rId22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Rectangle 618">
            <a:extLst>
              <a:ext uri="{FF2B5EF4-FFF2-40B4-BE49-F238E27FC236}">
                <a16:creationId xmlns:a16="http://schemas.microsoft.com/office/drawing/2014/main" id="{D13A3069-F6DF-2242-C991-B30CE529D5FC}"/>
              </a:ext>
            </a:extLst>
          </p:cNvPr>
          <p:cNvSpPr/>
          <p:nvPr/>
        </p:nvSpPr>
        <p:spPr>
          <a:xfrm>
            <a:off x="12509319" y="768361"/>
            <a:ext cx="3412553" cy="3326090"/>
          </a:xfrm>
          <a:prstGeom prst="rect">
            <a:avLst/>
          </a:prstGeom>
          <a:solidFill>
            <a:srgbClr val="DCEAF7">
              <a:alpha val="6117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394C3EFC-498F-3A8E-4D8F-DF4AF6F26350}"/>
              </a:ext>
            </a:extLst>
          </p:cNvPr>
          <p:cNvSpPr/>
          <p:nvPr/>
        </p:nvSpPr>
        <p:spPr>
          <a:xfrm>
            <a:off x="6083261" y="1851265"/>
            <a:ext cx="2717800" cy="926573"/>
          </a:xfrm>
          <a:prstGeom prst="rect">
            <a:avLst/>
          </a:prstGeom>
          <a:solidFill>
            <a:srgbClr val="D8F2CF">
              <a:alpha val="4705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5A20A57B-416D-CBD4-80B3-6933241E0059}"/>
              </a:ext>
            </a:extLst>
          </p:cNvPr>
          <p:cNvSpPr/>
          <p:nvPr/>
        </p:nvSpPr>
        <p:spPr>
          <a:xfrm>
            <a:off x="6096000" y="643326"/>
            <a:ext cx="2717800" cy="926573"/>
          </a:xfrm>
          <a:prstGeom prst="rect">
            <a:avLst/>
          </a:prstGeom>
          <a:solidFill>
            <a:srgbClr val="D8F2CF">
              <a:alpha val="4705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0" name="Audio to BEATs"/>
          <p:cNvSpPr/>
          <p:nvPr/>
        </p:nvSpPr>
        <p:spPr>
          <a:xfrm>
            <a:off x="1892287" y="1212853"/>
            <a:ext cx="13" cy="673100"/>
          </a:xfrm>
          <a:custGeom>
            <a:avLst/>
            <a:gdLst/>
            <a:ahLst/>
            <a:cxnLst/>
            <a:rect l="0" t="0" r="r" b="b"/>
            <a:pathLst>
              <a:path w="13" h="673100" fill="none">
                <a:moveTo>
                  <a:pt x="0" y="0"/>
                </a:moveTo>
                <a:lnTo>
                  <a:pt x="0" y="673100"/>
                </a:lnTo>
              </a:path>
            </a:pathLst>
          </a:custGeom>
          <a:noFill/>
          <a:ln w="28575">
            <a:solidFill>
              <a:srgbClr val="000000"/>
            </a:solidFill>
            <a:prstDash val="solid"/>
            <a:round/>
            <a:tailEnd type="arrow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B1BEC89-978F-F3FA-3E97-975EB444F247}"/>
              </a:ext>
            </a:extLst>
          </p:cNvPr>
          <p:cNvSpPr/>
          <p:nvPr/>
        </p:nvSpPr>
        <p:spPr>
          <a:xfrm>
            <a:off x="3390900" y="1155700"/>
            <a:ext cx="2057400" cy="5588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Mean Pooling</a:t>
            </a:r>
          </a:p>
          <a:p>
            <a:pPr algn="ctr"/>
            <a:r>
              <a:rPr lang="en-US" sz="1400" dirty="0">
                <a:solidFill>
                  <a:schemeClr val="accent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(Linear D→d)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F409BB53-B426-E5F7-E1D1-CC691474571B}"/>
                  </a:ext>
                </a:extLst>
              </p:cNvPr>
              <p:cNvSpPr/>
              <p:nvPr/>
            </p:nvSpPr>
            <p:spPr>
              <a:xfrm>
                <a:off x="3390900" y="2454839"/>
                <a:ext cx="2057400" cy="558800"/>
              </a:xfrm>
              <a:prstGeom prst="rect">
                <a:avLst/>
              </a:prstGeom>
              <a:solidFill>
                <a:srgbClr val="7030A0">
                  <a:alpha val="14118"/>
                </a:srgbClr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Attention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𝓖</m:t>
                    </m:r>
                  </m:oMath>
                </a14:m>
                <a:endParaRPr lang="en-US" b="1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n-US" sz="1400" dirty="0">
                    <a:solidFill>
                      <a:srgbClr val="7030A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(PAFA projection)</a:t>
                </a:r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F409BB53-B426-E5F7-E1D1-CC691474571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0900" y="2454839"/>
                <a:ext cx="2057400" cy="558800"/>
              </a:xfrm>
              <a:prstGeom prst="rect">
                <a:avLst/>
              </a:prstGeom>
              <a:blipFill>
                <a:blip r:embed="rId3"/>
                <a:stretch>
                  <a:fillRect t="-4255" b="-8511"/>
                </a:stretch>
              </a:blipFill>
              <a:ln>
                <a:solidFill>
                  <a:srgbClr val="7030A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BE34F695-08C1-8326-0D4D-8D8606C52AB6}"/>
              </a:ext>
            </a:extLst>
          </p:cNvPr>
          <p:cNvSpPr/>
          <p:nvPr/>
        </p:nvSpPr>
        <p:spPr>
          <a:xfrm>
            <a:off x="6210300" y="685800"/>
            <a:ext cx="2489200" cy="37465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 algn="ctr"/>
            <a:r>
              <a:rPr lang="en-US" sz="1600" b="0" i="0" dirty="0">
                <a:solidFill>
                  <a:srgbClr val="000000"/>
                </a:solidFill>
                <a:latin typeface="Arial"/>
              </a:rPr>
              <a:t>ICBHI Native </a:t>
            </a:r>
            <a:r>
              <a:rPr lang="en-US" sz="1600" dirty="0">
                <a:solidFill>
                  <a:srgbClr val="000000"/>
                </a:solidFill>
                <a:latin typeface="Arial"/>
              </a:rPr>
              <a:t>H</a:t>
            </a:r>
            <a:r>
              <a:rPr lang="en-US" sz="1600" b="0" i="0" dirty="0">
                <a:solidFill>
                  <a:srgbClr val="000000"/>
                </a:solidFill>
                <a:latin typeface="Arial"/>
              </a:rPr>
              <a:t>ead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D70CF65-1FA8-4758-8934-EDB36A80D00F}"/>
              </a:ext>
            </a:extLst>
          </p:cNvPr>
          <p:cNvSpPr/>
          <p:nvPr/>
        </p:nvSpPr>
        <p:spPr>
          <a:xfrm>
            <a:off x="6210300" y="1132841"/>
            <a:ext cx="2489200" cy="3657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 algn="ctr"/>
            <a:r>
              <a:rPr lang="en-US" sz="1600" b="0" i="0" dirty="0" err="1">
                <a:solidFill>
                  <a:srgbClr val="000000"/>
                </a:solidFill>
                <a:latin typeface="Arial"/>
              </a:rPr>
              <a:t>SPRSound</a:t>
            </a:r>
            <a:r>
              <a:rPr lang="en-US" sz="1600" b="0" i="0" dirty="0">
                <a:solidFill>
                  <a:srgbClr val="000000"/>
                </a:solidFill>
                <a:latin typeface="Arial"/>
              </a:rPr>
              <a:t> Native Head</a:t>
            </a:r>
          </a:p>
        </p:txBody>
      </p:sp>
      <p:sp>
        <p:nvSpPr>
          <p:cNvPr id="16" name="schematic-audio-wave-2">
            <a:extLst>
              <a:ext uri="{FF2B5EF4-FFF2-40B4-BE49-F238E27FC236}">
                <a16:creationId xmlns:a16="http://schemas.microsoft.com/office/drawing/2014/main" id="{73DAFDB9-56E0-6E8D-1AA2-549245A0B754}"/>
              </a:ext>
            </a:extLst>
          </p:cNvPr>
          <p:cNvSpPr>
            <a:spLocks noGrp="1"/>
          </p:cNvSpPr>
          <p:nvPr/>
        </p:nvSpPr>
        <p:spPr>
          <a:xfrm>
            <a:off x="1117600" y="768361"/>
            <a:ext cx="1676400" cy="419100"/>
          </a:xfrm>
          <a:custGeom>
            <a:avLst/>
            <a:gdLst/>
            <a:ahLst/>
            <a:cxnLst/>
            <a:rect l="0" t="0" r="0" b="0"/>
            <a:pathLst>
              <a:path w="762000" h="182389">
                <a:moveTo>
                  <a:pt x="0" y="88788"/>
                </a:moveTo>
                <a:lnTo>
                  <a:pt x="4233" y="80732"/>
                </a:lnTo>
                <a:lnTo>
                  <a:pt x="8467" y="78958"/>
                </a:lnTo>
                <a:lnTo>
                  <a:pt x="12700" y="83179"/>
                </a:lnTo>
                <a:lnTo>
                  <a:pt x="16933" y="88353"/>
                </a:lnTo>
                <a:lnTo>
                  <a:pt x="21167" y="90261"/>
                </a:lnTo>
                <a:lnTo>
                  <a:pt x="25400" y="89865"/>
                </a:lnTo>
                <a:lnTo>
                  <a:pt x="29633" y="91473"/>
                </a:lnTo>
                <a:lnTo>
                  <a:pt x="33867" y="97136"/>
                </a:lnTo>
                <a:lnTo>
                  <a:pt x="38100" y="104136"/>
                </a:lnTo>
                <a:lnTo>
                  <a:pt x="42333" y="108118"/>
                </a:lnTo>
                <a:lnTo>
                  <a:pt x="46567" y="107141"/>
                </a:lnTo>
                <a:lnTo>
                  <a:pt x="50800" y="101484"/>
                </a:lnTo>
                <a:lnTo>
                  <a:pt x="55033" y="90973"/>
                </a:lnTo>
                <a:lnTo>
                  <a:pt x="59267" y="75754"/>
                </a:lnTo>
                <a:lnTo>
                  <a:pt x="63500" y="60763"/>
                </a:lnTo>
                <a:lnTo>
                  <a:pt x="67733" y="56251"/>
                </a:lnTo>
                <a:lnTo>
                  <a:pt x="71967" y="69420"/>
                </a:lnTo>
                <a:lnTo>
                  <a:pt x="76200" y="94651"/>
                </a:lnTo>
                <a:lnTo>
                  <a:pt x="80433" y="115473"/>
                </a:lnTo>
                <a:lnTo>
                  <a:pt x="84667" y="119536"/>
                </a:lnTo>
                <a:lnTo>
                  <a:pt x="88900" y="110851"/>
                </a:lnTo>
                <a:lnTo>
                  <a:pt x="93133" y="104280"/>
                </a:lnTo>
                <a:lnTo>
                  <a:pt x="97367" y="107679"/>
                </a:lnTo>
                <a:lnTo>
                  <a:pt x="101600" y="112773"/>
                </a:lnTo>
                <a:lnTo>
                  <a:pt x="105833" y="105615"/>
                </a:lnTo>
                <a:lnTo>
                  <a:pt x="110067" y="83369"/>
                </a:lnTo>
                <a:lnTo>
                  <a:pt x="114300" y="57187"/>
                </a:lnTo>
                <a:lnTo>
                  <a:pt x="118533" y="40006"/>
                </a:lnTo>
                <a:lnTo>
                  <a:pt x="122767" y="36968"/>
                </a:lnTo>
                <a:lnTo>
                  <a:pt x="127000" y="49042"/>
                </a:lnTo>
                <a:lnTo>
                  <a:pt x="131233" y="78733"/>
                </a:lnTo>
                <a:lnTo>
                  <a:pt x="135467" y="123688"/>
                </a:lnTo>
                <a:lnTo>
                  <a:pt x="139700" y="165789"/>
                </a:lnTo>
                <a:lnTo>
                  <a:pt x="143933" y="177412"/>
                </a:lnTo>
                <a:lnTo>
                  <a:pt x="148167" y="147036"/>
                </a:lnTo>
                <a:lnTo>
                  <a:pt x="152400" y="96025"/>
                </a:lnTo>
                <a:lnTo>
                  <a:pt x="156633" y="61403"/>
                </a:lnTo>
                <a:lnTo>
                  <a:pt x="160867" y="59232"/>
                </a:lnTo>
                <a:lnTo>
                  <a:pt x="165100" y="70348"/>
                </a:lnTo>
                <a:lnTo>
                  <a:pt x="169333" y="66079"/>
                </a:lnTo>
                <a:lnTo>
                  <a:pt x="173567" y="43454"/>
                </a:lnTo>
                <a:lnTo>
                  <a:pt x="177800" y="28196"/>
                </a:lnTo>
                <a:lnTo>
                  <a:pt x="182033" y="44236"/>
                </a:lnTo>
                <a:lnTo>
                  <a:pt x="186267" y="88243"/>
                </a:lnTo>
                <a:lnTo>
                  <a:pt x="190500" y="136756"/>
                </a:lnTo>
                <a:lnTo>
                  <a:pt x="194733" y="170308"/>
                </a:lnTo>
                <a:lnTo>
                  <a:pt x="198967" y="182389"/>
                </a:lnTo>
                <a:lnTo>
                  <a:pt x="203200" y="169586"/>
                </a:lnTo>
                <a:lnTo>
                  <a:pt x="207433" y="127671"/>
                </a:lnTo>
                <a:lnTo>
                  <a:pt x="211667" y="65101"/>
                </a:lnTo>
                <a:lnTo>
                  <a:pt x="215900" y="11776"/>
                </a:lnTo>
                <a:lnTo>
                  <a:pt x="220133" y="0"/>
                </a:lnTo>
                <a:lnTo>
                  <a:pt x="224367" y="32532"/>
                </a:lnTo>
                <a:lnTo>
                  <a:pt x="228600" y="76991"/>
                </a:lnTo>
                <a:lnTo>
                  <a:pt x="232833" y="98341"/>
                </a:lnTo>
                <a:lnTo>
                  <a:pt x="237067" y="93999"/>
                </a:lnTo>
                <a:lnTo>
                  <a:pt x="241300" y="91106"/>
                </a:lnTo>
                <a:lnTo>
                  <a:pt x="245533" y="110892"/>
                </a:lnTo>
                <a:lnTo>
                  <a:pt x="249767" y="143425"/>
                </a:lnTo>
                <a:lnTo>
                  <a:pt x="254000" y="160244"/>
                </a:lnTo>
                <a:lnTo>
                  <a:pt x="258233" y="145566"/>
                </a:lnTo>
                <a:lnTo>
                  <a:pt x="262467" y="108852"/>
                </a:lnTo>
                <a:lnTo>
                  <a:pt x="266700" y="70052"/>
                </a:lnTo>
                <a:lnTo>
                  <a:pt x="270933" y="41708"/>
                </a:lnTo>
                <a:lnTo>
                  <a:pt x="275167" y="28080"/>
                </a:lnTo>
                <a:lnTo>
                  <a:pt x="279400" y="33198"/>
                </a:lnTo>
                <a:lnTo>
                  <a:pt x="283633" y="59489"/>
                </a:lnTo>
                <a:lnTo>
                  <a:pt x="287867" y="97904"/>
                </a:lnTo>
                <a:lnTo>
                  <a:pt x="292100" y="127739"/>
                </a:lnTo>
                <a:lnTo>
                  <a:pt x="296333" y="133035"/>
                </a:lnTo>
                <a:lnTo>
                  <a:pt x="300567" y="118157"/>
                </a:lnTo>
                <a:lnTo>
                  <a:pt x="304800" y="102734"/>
                </a:lnTo>
                <a:lnTo>
                  <a:pt x="309033" y="100416"/>
                </a:lnTo>
                <a:lnTo>
                  <a:pt x="313267" y="105696"/>
                </a:lnTo>
                <a:lnTo>
                  <a:pt x="317500" y="103043"/>
                </a:lnTo>
                <a:lnTo>
                  <a:pt x="321733" y="86141"/>
                </a:lnTo>
                <a:lnTo>
                  <a:pt x="325967" y="64873"/>
                </a:lnTo>
                <a:lnTo>
                  <a:pt x="330200" y="54218"/>
                </a:lnTo>
                <a:lnTo>
                  <a:pt x="334433" y="59946"/>
                </a:lnTo>
                <a:lnTo>
                  <a:pt x="338667" y="76434"/>
                </a:lnTo>
                <a:lnTo>
                  <a:pt x="342900" y="95160"/>
                </a:lnTo>
                <a:lnTo>
                  <a:pt x="347133" y="111230"/>
                </a:lnTo>
                <a:lnTo>
                  <a:pt x="351367" y="121806"/>
                </a:lnTo>
                <a:lnTo>
                  <a:pt x="355600" y="122847"/>
                </a:lnTo>
                <a:lnTo>
                  <a:pt x="359833" y="111793"/>
                </a:lnTo>
                <a:lnTo>
                  <a:pt x="364067" y="93299"/>
                </a:lnTo>
                <a:lnTo>
                  <a:pt x="368300" y="78479"/>
                </a:lnTo>
                <a:lnTo>
                  <a:pt x="372533" y="75394"/>
                </a:lnTo>
                <a:lnTo>
                  <a:pt x="376767" y="80757"/>
                </a:lnTo>
                <a:lnTo>
                  <a:pt x="381000" y="83528"/>
                </a:lnTo>
                <a:lnTo>
                  <a:pt x="385233" y="77745"/>
                </a:lnTo>
                <a:lnTo>
                  <a:pt x="389467" y="70173"/>
                </a:lnTo>
                <a:lnTo>
                  <a:pt x="393700" y="73380"/>
                </a:lnTo>
                <a:lnTo>
                  <a:pt x="397933" y="91593"/>
                </a:lnTo>
                <a:lnTo>
                  <a:pt x="402167" y="115271"/>
                </a:lnTo>
                <a:lnTo>
                  <a:pt x="406400" y="130044"/>
                </a:lnTo>
                <a:lnTo>
                  <a:pt x="410633" y="129130"/>
                </a:lnTo>
                <a:lnTo>
                  <a:pt x="414867" y="115789"/>
                </a:lnTo>
                <a:lnTo>
                  <a:pt x="419100" y="96216"/>
                </a:lnTo>
                <a:lnTo>
                  <a:pt x="423333" y="74604"/>
                </a:lnTo>
                <a:lnTo>
                  <a:pt x="427567" y="56072"/>
                </a:lnTo>
                <a:lnTo>
                  <a:pt x="431800" y="49338"/>
                </a:lnTo>
                <a:lnTo>
                  <a:pt x="436033" y="60271"/>
                </a:lnTo>
                <a:lnTo>
                  <a:pt x="440267" y="82404"/>
                </a:lnTo>
                <a:lnTo>
                  <a:pt x="444500" y="99387"/>
                </a:lnTo>
                <a:lnTo>
                  <a:pt x="448733" y="101357"/>
                </a:lnTo>
                <a:lnTo>
                  <a:pt x="452967" y="96939"/>
                </a:lnTo>
                <a:lnTo>
                  <a:pt x="457200" y="103771"/>
                </a:lnTo>
                <a:lnTo>
                  <a:pt x="461433" y="125915"/>
                </a:lnTo>
                <a:lnTo>
                  <a:pt x="465667" y="145032"/>
                </a:lnTo>
                <a:lnTo>
                  <a:pt x="469900" y="137958"/>
                </a:lnTo>
                <a:lnTo>
                  <a:pt x="474133" y="101615"/>
                </a:lnTo>
                <a:lnTo>
                  <a:pt x="478367" y="56900"/>
                </a:lnTo>
                <a:lnTo>
                  <a:pt x="482600" y="28531"/>
                </a:lnTo>
                <a:lnTo>
                  <a:pt x="486833" y="25463"/>
                </a:lnTo>
                <a:lnTo>
                  <a:pt x="491067" y="41812"/>
                </a:lnTo>
                <a:lnTo>
                  <a:pt x="495300" y="69923"/>
                </a:lnTo>
                <a:lnTo>
                  <a:pt x="499533" y="104604"/>
                </a:lnTo>
                <a:lnTo>
                  <a:pt x="503767" y="135976"/>
                </a:lnTo>
                <a:lnTo>
                  <a:pt x="508000" y="148717"/>
                </a:lnTo>
                <a:lnTo>
                  <a:pt x="512233" y="136265"/>
                </a:lnTo>
                <a:lnTo>
                  <a:pt x="516467" y="112438"/>
                </a:lnTo>
                <a:lnTo>
                  <a:pt x="520700" y="99879"/>
                </a:lnTo>
                <a:lnTo>
                  <a:pt x="524933" y="104081"/>
                </a:lnTo>
                <a:lnTo>
                  <a:pt x="529167" y="105117"/>
                </a:lnTo>
                <a:lnTo>
                  <a:pt x="533400" y="81197"/>
                </a:lnTo>
                <a:lnTo>
                  <a:pt x="537633" y="38147"/>
                </a:lnTo>
                <a:lnTo>
                  <a:pt x="541867" y="8590"/>
                </a:lnTo>
                <a:lnTo>
                  <a:pt x="546100" y="19873"/>
                </a:lnTo>
                <a:lnTo>
                  <a:pt x="550333" y="67074"/>
                </a:lnTo>
                <a:lnTo>
                  <a:pt x="554567" y="120162"/>
                </a:lnTo>
                <a:lnTo>
                  <a:pt x="558800" y="153133"/>
                </a:lnTo>
                <a:lnTo>
                  <a:pt x="563033" y="160732"/>
                </a:lnTo>
                <a:lnTo>
                  <a:pt x="567267" y="149968"/>
                </a:lnTo>
                <a:lnTo>
                  <a:pt x="571500" y="126201"/>
                </a:lnTo>
                <a:lnTo>
                  <a:pt x="575733" y="93792"/>
                </a:lnTo>
                <a:lnTo>
                  <a:pt x="579967" y="64230"/>
                </a:lnTo>
                <a:lnTo>
                  <a:pt x="584200" y="52110"/>
                </a:lnTo>
                <a:lnTo>
                  <a:pt x="588433" y="59385"/>
                </a:lnTo>
                <a:lnTo>
                  <a:pt x="592667" y="70295"/>
                </a:lnTo>
                <a:lnTo>
                  <a:pt x="596900" y="68740"/>
                </a:lnTo>
                <a:lnTo>
                  <a:pt x="601133" y="59040"/>
                </a:lnTo>
                <a:lnTo>
                  <a:pt x="605367" y="62749"/>
                </a:lnTo>
                <a:lnTo>
                  <a:pt x="609600" y="92684"/>
                </a:lnTo>
                <a:lnTo>
                  <a:pt x="613833" y="134665"/>
                </a:lnTo>
                <a:lnTo>
                  <a:pt x="618067" y="159246"/>
                </a:lnTo>
                <a:lnTo>
                  <a:pt x="622300" y="150041"/>
                </a:lnTo>
                <a:lnTo>
                  <a:pt x="626533" y="116912"/>
                </a:lnTo>
                <a:lnTo>
                  <a:pt x="630767" y="82464"/>
                </a:lnTo>
                <a:lnTo>
                  <a:pt x="635000" y="61082"/>
                </a:lnTo>
                <a:lnTo>
                  <a:pt x="639233" y="53353"/>
                </a:lnTo>
                <a:lnTo>
                  <a:pt x="643467" y="55391"/>
                </a:lnTo>
                <a:lnTo>
                  <a:pt x="647700" y="65794"/>
                </a:lnTo>
                <a:lnTo>
                  <a:pt x="651933" y="82164"/>
                </a:lnTo>
                <a:lnTo>
                  <a:pt x="656167" y="96997"/>
                </a:lnTo>
                <a:lnTo>
                  <a:pt x="660400" y="102967"/>
                </a:lnTo>
                <a:lnTo>
                  <a:pt x="664633" y="101670"/>
                </a:lnTo>
                <a:lnTo>
                  <a:pt x="668867" y="102425"/>
                </a:lnTo>
                <a:lnTo>
                  <a:pt x="673100" y="110362"/>
                </a:lnTo>
                <a:lnTo>
                  <a:pt x="677333" y="118451"/>
                </a:lnTo>
                <a:lnTo>
                  <a:pt x="681567" y="114462"/>
                </a:lnTo>
                <a:lnTo>
                  <a:pt x="685800" y="95390"/>
                </a:lnTo>
                <a:lnTo>
                  <a:pt x="690033" y="72298"/>
                </a:lnTo>
                <a:lnTo>
                  <a:pt x="694267" y="60052"/>
                </a:lnTo>
                <a:lnTo>
                  <a:pt x="698500" y="63959"/>
                </a:lnTo>
                <a:lnTo>
                  <a:pt x="702733" y="77431"/>
                </a:lnTo>
                <a:lnTo>
                  <a:pt x="706967" y="90771"/>
                </a:lnTo>
                <a:lnTo>
                  <a:pt x="711200" y="99445"/>
                </a:lnTo>
                <a:lnTo>
                  <a:pt x="715433" y="103991"/>
                </a:lnTo>
                <a:lnTo>
                  <a:pt x="719667" y="105319"/>
                </a:lnTo>
                <a:lnTo>
                  <a:pt x="723900" y="103106"/>
                </a:lnTo>
                <a:lnTo>
                  <a:pt x="728133" y="98238"/>
                </a:lnTo>
                <a:lnTo>
                  <a:pt x="732367" y="93840"/>
                </a:lnTo>
                <a:lnTo>
                  <a:pt x="736600" y="92160"/>
                </a:lnTo>
                <a:lnTo>
                  <a:pt x="740833" y="91522"/>
                </a:lnTo>
                <a:lnTo>
                  <a:pt x="745067" y="88266"/>
                </a:lnTo>
                <a:lnTo>
                  <a:pt x="749300" y="81940"/>
                </a:lnTo>
                <a:lnTo>
                  <a:pt x="753533" y="77148"/>
                </a:lnTo>
                <a:lnTo>
                  <a:pt x="757767" y="79174"/>
                </a:lnTo>
                <a:lnTo>
                  <a:pt x="762000" y="88152"/>
                </a:lnTo>
              </a:path>
            </a:pathLst>
          </a:custGeom>
          <a:noFill/>
          <a:ln w="9525">
            <a:solidFill>
              <a:srgbClr val="3E6D8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FE34B95-D4B8-01BA-C527-256839BD99BB}"/>
              </a:ext>
            </a:extLst>
          </p:cNvPr>
          <p:cNvSpPr txBox="1"/>
          <p:nvPr/>
        </p:nvSpPr>
        <p:spPr>
          <a:xfrm>
            <a:off x="914400" y="370173"/>
            <a:ext cx="22606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Respiratory Audio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114FA59-563A-043A-122C-900056924235}"/>
              </a:ext>
            </a:extLst>
          </p:cNvPr>
          <p:cNvSpPr txBox="1"/>
          <p:nvPr/>
        </p:nvSpPr>
        <p:spPr>
          <a:xfrm>
            <a:off x="6083300" y="298457"/>
            <a:ext cx="2743200" cy="365760"/>
          </a:xfrm>
          <a:prstGeom prst="rect">
            <a:avLst/>
          </a:prstGeom>
          <a:noFill/>
        </p:spPr>
        <p:txBody>
          <a:bodyPr wrap="none" tIns="0" bIns="0" rtlCol="0" anchor="b">
            <a:noAutofit/>
          </a:bodyPr>
          <a:lstStyle/>
          <a:p>
            <a:pPr algn="ctr"/>
            <a:r>
              <a:rPr lang="en-US" b="1" i="0" dirty="0">
                <a:solidFill>
                  <a:schemeClr val="accent6">
                    <a:lumMod val="50000"/>
                  </a:schemeClr>
                </a:solidFill>
                <a:latin typeface="Arial"/>
              </a:rPr>
              <a:t>Task Heads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A783F65-A714-083E-F75E-A5A137A02379}"/>
              </a:ext>
            </a:extLst>
          </p:cNvPr>
          <p:cNvSpPr txBox="1"/>
          <p:nvPr/>
        </p:nvSpPr>
        <p:spPr>
          <a:xfrm>
            <a:off x="861065" y="3601757"/>
            <a:ext cx="1827231" cy="477054"/>
          </a:xfrm>
          <a:prstGeom prst="rect">
            <a:avLst/>
          </a:prstGeom>
          <a:noFill/>
        </p:spPr>
        <p:txBody>
          <a:bodyPr wrap="none" bIns="0" rtlCol="0">
            <a:spAutoFit/>
          </a:bodyPr>
          <a:lstStyle/>
          <a:p>
            <a:r>
              <a:rPr lang="en-US" altLang="zh-CN" sz="1400" b="1" dirty="0">
                <a:solidFill>
                  <a:schemeClr val="bg2">
                    <a:lumMod val="50000"/>
                  </a:schemeClr>
                </a:solidFill>
              </a:rPr>
              <a:t>∗:</a:t>
            </a: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Training + Inference</a:t>
            </a:r>
          </a:p>
          <a:p>
            <a:r>
              <a:rPr lang="en-US" altLang="zh-CN" sz="1400" b="1" dirty="0">
                <a:solidFill>
                  <a:schemeClr val="bg2">
                    <a:lumMod val="50000"/>
                  </a:schemeClr>
                </a:solidFill>
              </a:rPr>
              <a:t>#:</a:t>
            </a: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Inference Only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5222A8E-5216-64FF-83D9-E52A1610B798}"/>
                  </a:ext>
                </a:extLst>
              </p:cNvPr>
              <p:cNvSpPr/>
              <p:nvPr/>
            </p:nvSpPr>
            <p:spPr>
              <a:xfrm>
                <a:off x="12596205" y="873125"/>
                <a:ext cx="3251200" cy="640080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2">
                    <a:lumMod val="90000"/>
                    <a:lumOff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1600" b="1" i="0" dirty="0" smtClean="0">
                            <a:solidFill>
                              <a:schemeClr val="tx1"/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en-US" sz="1600" b="1" i="0" dirty="0" smtClean="0">
                            <a:solidFill>
                              <a:schemeClr val="tx1"/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m:t>ICBHI</m:t>
                        </m:r>
                      </m:e>
                      <m:sup>
                        <m:r>
                          <a:rPr lang="en-US" sz="16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6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: </a:t>
                </a:r>
              </a:p>
              <a:p>
                <a:r>
                  <a:rPr lang="en-US" sz="16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Normal </a:t>
                </a:r>
                <a14:m>
                  <m:oMath xmlns:m="http://schemas.openxmlformats.org/officeDocument/2006/math">
                    <m:r>
                      <a:rPr lang="en-US" sz="16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∙</m:t>
                    </m:r>
                  </m:oMath>
                </a14:m>
                <a:r>
                  <a:rPr lang="en-US" sz="16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Crackle </a:t>
                </a:r>
                <a14:m>
                  <m:oMath xmlns:m="http://schemas.openxmlformats.org/officeDocument/2006/math">
                    <m:r>
                      <a:rPr lang="en-US" sz="16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∙</m:t>
                    </m:r>
                  </m:oMath>
                </a14:m>
                <a:r>
                  <a:rPr lang="en-US" sz="16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Wheeze </a:t>
                </a:r>
                <a14:m>
                  <m:oMath xmlns:m="http://schemas.openxmlformats.org/officeDocument/2006/math">
                    <m:r>
                      <a:rPr lang="en-US" sz="16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∙</m:t>
                    </m:r>
                  </m:oMath>
                </a14:m>
                <a:r>
                  <a:rPr lang="en-US" sz="16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Both </a:t>
                </a:r>
              </a:p>
            </p:txBody>
          </p:sp>
        </mc:Choice>
        <mc:Fallback xmlns=""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5222A8E-5216-64FF-83D9-E52A1610B79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96205" y="873125"/>
                <a:ext cx="3251200" cy="640080"/>
              </a:xfrm>
              <a:prstGeom prst="rect">
                <a:avLst/>
              </a:prstGeom>
              <a:blipFill>
                <a:blip r:embed="rId4"/>
                <a:stretch>
                  <a:fillRect l="-775" r="-775" b="-5660"/>
                </a:stretch>
              </a:blipFill>
              <a:ln>
                <a:solidFill>
                  <a:schemeClr val="tx2">
                    <a:lumMod val="90000"/>
                    <a:lumOff val="1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TextBox 30">
            <a:extLst>
              <a:ext uri="{FF2B5EF4-FFF2-40B4-BE49-F238E27FC236}">
                <a16:creationId xmlns:a16="http://schemas.microsoft.com/office/drawing/2014/main" id="{D3F0888A-3FC5-088E-2D94-4C82E57ED049}"/>
              </a:ext>
            </a:extLst>
          </p:cNvPr>
          <p:cNvSpPr txBox="1"/>
          <p:nvPr/>
        </p:nvSpPr>
        <p:spPr>
          <a:xfrm>
            <a:off x="12596205" y="340507"/>
            <a:ext cx="3251200" cy="323165"/>
          </a:xfrm>
          <a:prstGeom prst="rect">
            <a:avLst/>
          </a:prstGeom>
          <a:noFill/>
        </p:spPr>
        <p:txBody>
          <a:bodyPr wrap="square" bIns="0" rtlCol="0" anchor="b">
            <a:spAutoFit/>
          </a:bodyPr>
          <a:lstStyle/>
          <a:p>
            <a:pPr algn="ctr"/>
            <a:r>
              <a:rPr lang="en-US" b="1" dirty="0">
                <a:solidFill>
                  <a:schemeClr val="tx2">
                    <a:lumMod val="90000"/>
                    <a:lumOff val="1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Task-Specific Outputs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B2C738B9-6736-51F6-F5FE-9B7EF824FC25}"/>
                  </a:ext>
                </a:extLst>
              </p:cNvPr>
              <p:cNvSpPr/>
              <p:nvPr/>
            </p:nvSpPr>
            <p:spPr>
              <a:xfrm>
                <a:off x="12596205" y="3329744"/>
                <a:ext cx="3251200" cy="640080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2">
                    <a:lumMod val="90000"/>
                    <a:lumOff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1600" b="1" i="0" dirty="0">
                            <a:solidFill>
                              <a:schemeClr val="tx1"/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en-US" sz="1600" b="1" i="0" dirty="0">
                            <a:solidFill>
                              <a:schemeClr val="tx1"/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m:t>HF test</m:t>
                        </m:r>
                      </m:e>
                      <m:sup>
                        <m:r>
                          <a:rPr lang="en-US" sz="1600" b="1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#</m:t>
                        </m:r>
                      </m:sup>
                    </m:sSup>
                  </m:oMath>
                </a14:m>
                <a:r>
                  <a:rPr lang="en-US" sz="16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</a:p>
              <a:p>
                <a:r>
                  <a:rPr lang="en-US" sz="160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Wheeze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∙</m:t>
                    </m:r>
                  </m:oMath>
                </a14:m>
                <a:r>
                  <a:rPr lang="en-US" sz="16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Both</a:t>
                </a:r>
              </a:p>
            </p:txBody>
          </p:sp>
        </mc:Choice>
        <mc:Fallback xmlns=""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B2C738B9-6736-51F6-F5FE-9B7EF824FC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96205" y="3329744"/>
                <a:ext cx="3251200" cy="640080"/>
              </a:xfrm>
              <a:prstGeom prst="rect">
                <a:avLst/>
              </a:prstGeom>
              <a:blipFill>
                <a:blip r:embed="rId5"/>
                <a:stretch>
                  <a:fillRect l="-775" b="-5660"/>
                </a:stretch>
              </a:blipFill>
              <a:ln>
                <a:solidFill>
                  <a:schemeClr val="tx2">
                    <a:lumMod val="90000"/>
                    <a:lumOff val="1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013A3B43-3589-DB43-9169-6CF6C6DF521F}"/>
                  </a:ext>
                </a:extLst>
              </p:cNvPr>
              <p:cNvSpPr/>
              <p:nvPr/>
            </p:nvSpPr>
            <p:spPr>
              <a:xfrm>
                <a:off x="12596205" y="1691998"/>
                <a:ext cx="3251200" cy="640080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2">
                    <a:lumMod val="90000"/>
                    <a:lumOff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1600" b="1" i="0" dirty="0">
                            <a:solidFill>
                              <a:schemeClr val="tx1"/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en-US" sz="1600" b="1" i="0" dirty="0">
                            <a:solidFill>
                              <a:schemeClr val="tx1"/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m:t>SPRSound</m:t>
                        </m:r>
                      </m:e>
                      <m:sup>
                        <m:r>
                          <a:rPr lang="en-US" sz="16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6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: </a:t>
                </a:r>
              </a:p>
              <a:p>
                <a:r>
                  <a:rPr lang="en-US" sz="16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Normal </a:t>
                </a:r>
                <a14:m>
                  <m:oMath xmlns:m="http://schemas.openxmlformats.org/officeDocument/2006/math">
                    <m:r>
                      <a:rPr lang="en-US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∙</m:t>
                    </m:r>
                  </m:oMath>
                </a14:m>
                <a:r>
                  <a:rPr lang="en-US" sz="16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Adventitious</a:t>
                </a:r>
                <a:r>
                  <a:rPr lang="zh-CN" altLang="en-US" sz="16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16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(Abnormal)</a:t>
                </a:r>
              </a:p>
            </p:txBody>
          </p:sp>
        </mc:Choice>
        <mc:Fallback xmlns=""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013A3B43-3589-DB43-9169-6CF6C6DF521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96205" y="1691998"/>
                <a:ext cx="3251200" cy="640080"/>
              </a:xfrm>
              <a:prstGeom prst="rect">
                <a:avLst/>
              </a:prstGeom>
              <a:blipFill>
                <a:blip r:embed="rId6"/>
                <a:stretch>
                  <a:fillRect l="-775" b="-7547"/>
                </a:stretch>
              </a:blipFill>
              <a:ln>
                <a:solidFill>
                  <a:schemeClr val="tx2">
                    <a:lumMod val="90000"/>
                    <a:lumOff val="1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DAF08D42-B00A-1453-47E2-1B0D5CC59295}"/>
                  </a:ext>
                </a:extLst>
              </p:cNvPr>
              <p:cNvSpPr/>
              <p:nvPr/>
            </p:nvSpPr>
            <p:spPr>
              <a:xfrm>
                <a:off x="12596205" y="2510871"/>
                <a:ext cx="3251200" cy="640080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2">
                    <a:lumMod val="90000"/>
                    <a:lumOff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1600" b="1" i="0" dirty="0" smtClean="0">
                            <a:solidFill>
                              <a:schemeClr val="tx1"/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en-US" sz="1600" b="1" i="0" dirty="0" smtClean="0">
                            <a:solidFill>
                              <a:schemeClr val="tx1"/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m:t>KAUH</m:t>
                        </m:r>
                      </m:e>
                      <m:sup>
                        <m:r>
                          <a:rPr lang="en-US" sz="1600" b="1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#</m:t>
                        </m:r>
                      </m:sup>
                    </m:sSup>
                  </m:oMath>
                </a14:m>
                <a:r>
                  <a:rPr lang="en-US" sz="16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: </a:t>
                </a:r>
              </a:p>
              <a:p>
                <a:r>
                  <a:rPr lang="en-US" sz="16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Normal </a:t>
                </a:r>
                <a14:m>
                  <m:oMath xmlns:m="http://schemas.openxmlformats.org/officeDocument/2006/math">
                    <m:r>
                      <a:rPr lang="en-US" sz="16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∙</m:t>
                    </m:r>
                  </m:oMath>
                </a14:m>
                <a:r>
                  <a:rPr lang="en-US" sz="16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Abnormal</a:t>
                </a:r>
              </a:p>
            </p:txBody>
          </p:sp>
        </mc:Choice>
        <mc:Fallback xmlns=""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DAF08D42-B00A-1453-47E2-1B0D5CC5929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96205" y="2510871"/>
                <a:ext cx="3251200" cy="640080"/>
              </a:xfrm>
              <a:prstGeom prst="rect">
                <a:avLst/>
              </a:prstGeom>
              <a:blipFill>
                <a:blip r:embed="rId7"/>
                <a:stretch>
                  <a:fillRect l="-775" b="-5660"/>
                </a:stretch>
              </a:blipFill>
              <a:ln>
                <a:solidFill>
                  <a:schemeClr val="tx2">
                    <a:lumMod val="90000"/>
                    <a:lumOff val="1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okens">
                <a:extLst>
                  <a:ext uri="{FF2B5EF4-FFF2-40B4-BE49-F238E27FC236}">
                    <a16:creationId xmlns:a16="http://schemas.microsoft.com/office/drawing/2014/main" id="{6301923F-367F-1136-E521-3DF8B5748FE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641051" y="2297485"/>
                <a:ext cx="254000" cy="15240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>
                  <a:buNone/>
                  <a:defRPr sz="900" b="0" i="0">
                    <a:solidFill>
                      <a:srgbClr val="242424"/>
                    </a:solidFill>
                    <a:latin typeface="Arial"/>
                    <a:ea typeface="Arial"/>
                    <a:cs typeface="Arial"/>
                  </a:defRPr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600" b="0" i="1" smtClean="0">
                              <a:solidFill>
                                <a:srgbClr val="242424"/>
                              </a:solidFill>
                              <a:latin typeface="Cambria Math" panose="02040503050406030204" pitchFamily="18" charset="0"/>
                              <a:cs typeface="Arial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solidFill>
                                <a:srgbClr val="242424"/>
                              </a:solidFill>
                              <a:latin typeface="Cambria Math" panose="02040503050406030204" pitchFamily="18" charset="0"/>
                              <a:cs typeface="Arial"/>
                            </a:rPr>
                            <m:t>𝐻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rgbClr val="242424"/>
                              </a:solidFill>
                              <a:latin typeface="Cambria Math" panose="02040503050406030204" pitchFamily="18" charset="0"/>
                              <a:cs typeface="Arial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sz="1000" b="0" i="1" baseline="-20000" dirty="0">
                  <a:solidFill>
                    <a:srgbClr val="242424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 xmlns="">
          <p:sp>
            <p:nvSpPr>
              <p:cNvPr id="47" name="tokens">
                <a:extLst>
                  <a:ext uri="{FF2B5EF4-FFF2-40B4-BE49-F238E27FC236}">
                    <a16:creationId xmlns:a16="http://schemas.microsoft.com/office/drawing/2014/main" id="{6301923F-367F-1136-E521-3DF8B5748F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1051" y="2297485"/>
                <a:ext cx="254000" cy="152400"/>
              </a:xfrm>
              <a:prstGeom prst="rect">
                <a:avLst/>
              </a:prstGeom>
              <a:blipFill>
                <a:blip r:embed="rId8"/>
                <a:stretch>
                  <a:fillRect l="-13636" t="-15385" b="-61538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6A8806B1-5ED6-0BA5-698D-FFA85ED77602}"/>
                  </a:ext>
                </a:extLst>
              </p:cNvPr>
              <p:cNvSpPr txBox="1"/>
              <p:nvPr/>
            </p:nvSpPr>
            <p:spPr>
              <a:xfrm>
                <a:off x="2454294" y="2582446"/>
                <a:ext cx="51435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box>
                        <m:boxPr>
                          <m:noBreak m:val="on"/>
                          <m:ctrlPr>
                            <a:rPr lang="en-US" sz="16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boxPr>
                        <m:e>
                          <m:sSub>
                            <m:sSubPr>
                              <m:ctrlPr>
                                <a:rPr lang="en-US" sz="16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6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T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6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en-US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m:rPr>
                              <m:sty m:val="p"/>
                            </m:rPr>
                            <a:rPr lang="en-US" altLang="zh-CN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</m:t>
                          </m:r>
                        </m:e>
                      </m:box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6A8806B1-5ED6-0BA5-698D-FFA85ED776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4294" y="2582446"/>
                <a:ext cx="514350" cy="338554"/>
              </a:xfrm>
              <a:prstGeom prst="rect">
                <a:avLst/>
              </a:prstGeom>
              <a:blipFill>
                <a:blip r:embed="rId9"/>
                <a:stretch>
                  <a:fillRect r="-170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7" name="Rectangle 96">
            <a:extLst>
              <a:ext uri="{FF2B5EF4-FFF2-40B4-BE49-F238E27FC236}">
                <a16:creationId xmlns:a16="http://schemas.microsoft.com/office/drawing/2014/main" id="{074BE785-9BB6-F04B-A13E-EF7A29504FC6}"/>
              </a:ext>
            </a:extLst>
          </p:cNvPr>
          <p:cNvSpPr/>
          <p:nvPr/>
        </p:nvSpPr>
        <p:spPr>
          <a:xfrm>
            <a:off x="3175000" y="3422650"/>
            <a:ext cx="9114692" cy="375024"/>
          </a:xfrm>
          <a:prstGeom prst="rect">
            <a:avLst/>
          </a:prstGeom>
          <a:solidFill>
            <a:srgbClr val="E8E8E8">
              <a:alpha val="100000"/>
            </a:srgb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tokens">
                <a:extLst>
                  <a:ext uri="{FF2B5EF4-FFF2-40B4-BE49-F238E27FC236}">
                    <a16:creationId xmlns:a16="http://schemas.microsoft.com/office/drawing/2014/main" id="{D35DEA37-5F1F-16DF-6170-E9221563D967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483100" y="3062572"/>
                <a:ext cx="254000" cy="15240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>
                  <a:buNone/>
                  <a:defRPr sz="900" b="0" i="0">
                    <a:solidFill>
                      <a:srgbClr val="242424"/>
                    </a:solidFill>
                    <a:latin typeface="Arial"/>
                    <a:ea typeface="Arial"/>
                    <a:cs typeface="Arial"/>
                  </a:defRPr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600" b="0" i="1" smtClean="0">
                              <a:solidFill>
                                <a:srgbClr val="242424"/>
                              </a:solidFill>
                              <a:latin typeface="Cambria Math" panose="02040503050406030204" pitchFamily="18" charset="0"/>
                              <a:cs typeface="Arial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solidFill>
                                <a:srgbClr val="242424"/>
                              </a:solidFill>
                              <a:latin typeface="Cambria Math" panose="02040503050406030204" pitchFamily="18" charset="0"/>
                              <a:cs typeface="Arial"/>
                            </a:rPr>
                            <m:t>𝑍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rgbClr val="242424"/>
                              </a:solidFill>
                              <a:latin typeface="Cambria Math" panose="02040503050406030204" pitchFamily="18" charset="0"/>
                              <a:cs typeface="Arial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sz="900" b="0" i="1" baseline="-20000" dirty="0">
                  <a:solidFill>
                    <a:srgbClr val="242424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 xmlns="">
          <p:sp>
            <p:nvSpPr>
              <p:cNvPr id="118" name="tokens">
                <a:extLst>
                  <a:ext uri="{FF2B5EF4-FFF2-40B4-BE49-F238E27FC236}">
                    <a16:creationId xmlns:a16="http://schemas.microsoft.com/office/drawing/2014/main" id="{D35DEA37-5F1F-16DF-6170-E9221563D9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3100" y="3062572"/>
                <a:ext cx="254000" cy="152400"/>
              </a:xfrm>
              <a:prstGeom prst="rect">
                <a:avLst/>
              </a:prstGeom>
              <a:blipFill>
                <a:blip r:embed="rId10"/>
                <a:stretch>
                  <a:fillRect l="-14286" t="-15385" r="-4762" b="-61538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59886ED4-1488-130B-B9D3-9B8C68A17B2E}"/>
                  </a:ext>
                </a:extLst>
              </p:cNvPr>
              <p:cNvSpPr txBox="1"/>
              <p:nvPr/>
            </p:nvSpPr>
            <p:spPr>
              <a:xfrm>
                <a:off x="3971925" y="3000342"/>
                <a:ext cx="51435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box>
                        <m:boxPr>
                          <m:noBreak m:val="on"/>
                          <m:ctrlPr>
                            <a:rPr lang="en-US" sz="16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boxPr>
                        <m:e>
                          <m:sSup>
                            <m:sSupPr>
                              <m:ctrlPr>
                                <a:rPr lang="en-US" sz="1600" i="0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0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16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𝐷</m:t>
                              </m:r>
                            </m:sup>
                          </m:sSup>
                        </m:e>
                      </m:box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59886ED4-1488-130B-B9D3-9B8C68A17B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1925" y="3000342"/>
                <a:ext cx="514350" cy="33855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4" name="Auxiliary C-W heads heading"/>
          <p:cNvSpPr txBox="1"/>
          <p:nvPr/>
        </p:nvSpPr>
        <p:spPr>
          <a:xfrm>
            <a:off x="6079369" y="1565455"/>
            <a:ext cx="2743200" cy="304800"/>
          </a:xfrm>
          <a:prstGeom prst="rect">
            <a:avLst/>
          </a:prstGeom>
          <a:noFill/>
        </p:spPr>
        <p:txBody>
          <a:bodyPr wrap="none" tIns="0" bIns="0" rtlCol="0" anchor="b">
            <a:noAutofit/>
          </a:bodyPr>
          <a:lstStyle/>
          <a:p>
            <a:pPr algn="ctr"/>
            <a:r>
              <a:rPr lang="en-US" b="1" i="0" dirty="0">
                <a:solidFill>
                  <a:schemeClr val="accent6">
                    <a:lumMod val="50000"/>
                  </a:schemeClr>
                </a:solidFill>
                <a:latin typeface="Arial"/>
              </a:rPr>
              <a:t>Shared </a:t>
            </a:r>
            <a:r>
              <a:rPr lang="en-US" b="1" i="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C-W</a:t>
            </a:r>
            <a:r>
              <a:rPr lang="en-US" b="1" i="0" dirty="0">
                <a:solidFill>
                  <a:schemeClr val="accent6">
                    <a:lumMod val="50000"/>
                  </a:schemeClr>
                </a:solidFill>
                <a:latin typeface="Arial"/>
              </a:rPr>
              <a:t> Heads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6" name="Shared representation h_i"/>
              <p:cNvSpPr>
                <a:spLocks noGrp="1"/>
              </p:cNvSpPr>
              <p:nvPr/>
            </p:nvSpPr>
            <p:spPr>
              <a:xfrm>
                <a:off x="5511800" y="1143000"/>
                <a:ext cx="279400" cy="15240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>
                  <a:buNone/>
                  <a:defRPr sz="900" b="0" i="0">
                    <a:solidFill>
                      <a:srgbClr val="242424"/>
                    </a:solidFill>
                    <a:latin typeface="Arial"/>
                    <a:ea typeface="Arial"/>
                    <a:cs typeface="Arial"/>
                  </a:defRPr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600" b="0" i="1" smtClean="0">
                              <a:solidFill>
                                <a:srgbClr val="242424"/>
                              </a:solidFill>
                              <a:latin typeface="Cambria Math" panose="02040503050406030204" pitchFamily="18" charset="0"/>
                              <a:cs typeface="Arial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solidFill>
                                <a:srgbClr val="242424"/>
                              </a:solidFill>
                              <a:latin typeface="Cambria Math" panose="02040503050406030204" pitchFamily="18" charset="0"/>
                              <a:cs typeface="Arial"/>
                            </a:rPr>
                            <m:t>ℎ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rgbClr val="242424"/>
                              </a:solidFill>
                              <a:latin typeface="Cambria Math" panose="02040503050406030204" pitchFamily="18" charset="0"/>
                              <a:cs typeface="Arial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sz="900" b="0" i="1" baseline="-20000" dirty="0">
                  <a:solidFill>
                    <a:srgbClr val="242424"/>
                  </a:solidFill>
                  <a:latin typeface="Arial"/>
                  <a:ea typeface="Arial"/>
                  <a:cs typeface="Arial"/>
                </a:endParaRPr>
              </a:p>
            </p:txBody>
          </p:sp>
        </mc:Choice>
        <mc:Fallback xmlns="">
          <p:sp>
            <p:nvSpPr>
              <p:cNvPr id="136" name="Shared representation h_i"/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1800" y="1143000"/>
                <a:ext cx="279400" cy="152400"/>
              </a:xfrm>
              <a:prstGeom prst="rect">
                <a:avLst/>
              </a:prstGeom>
              <a:blipFill>
                <a:blip r:embed="rId12"/>
                <a:stretch>
                  <a:fillRect l="-4167" t="-23077" b="-46154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7" name="Classification loss L_cls"/>
              <p:cNvSpPr/>
              <p:nvPr/>
            </p:nvSpPr>
            <p:spPr>
              <a:xfrm>
                <a:off x="10029092" y="1473200"/>
                <a:ext cx="1819969" cy="36576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0" i="1" smtClean="0">
                              <a:solidFill>
                                <a:schemeClr val="accent6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chemeClr val="accent6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ℒ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smtClean="0">
                              <a:solidFill>
                                <a:schemeClr val="accent6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cls</m:t>
                          </m:r>
                        </m:sub>
                      </m:sSub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57" name="Classification loss L_cls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29092" y="1473200"/>
                <a:ext cx="1819969" cy="365760"/>
              </a:xfrm>
              <a:prstGeom prst="rect">
                <a:avLst/>
              </a:prstGeom>
              <a:blipFill>
                <a:blip r:embed="rId13"/>
                <a:stretch>
                  <a:fillRect b="-3226"/>
                </a:stretch>
              </a:blipFill>
              <a:ln>
                <a:solidFill>
                  <a:schemeClr val="accent6">
                    <a:lumMod val="5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9" name="Optional HF loss"/>
              <p:cNvSpPr/>
              <p:nvPr/>
            </p:nvSpPr>
            <p:spPr>
              <a:xfrm>
                <a:off x="10031904" y="2112465"/>
                <a:ext cx="1809750" cy="365760"/>
              </a:xfrm>
              <a:prstGeom prst="rect">
                <a:avLst/>
              </a:prstGeom>
              <a:solidFill>
                <a:srgbClr val="FFF5DB"/>
              </a:solidFill>
              <a:ln>
                <a:solidFill>
                  <a:srgbClr val="B6993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anchor="ctr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B6993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B6993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ℒ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000" b="0" i="1" smtClean="0">
                              <a:solidFill>
                                <a:srgbClr val="B6993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HF</m:t>
                          </m:r>
                        </m:sub>
                      </m:sSub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219" name="Optional HF loss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31904" y="2112465"/>
                <a:ext cx="1809750" cy="365760"/>
              </a:xfrm>
              <a:prstGeom prst="rect">
                <a:avLst/>
              </a:prstGeom>
              <a:blipFill>
                <a:blip r:embed="rId14"/>
                <a:stretch>
                  <a:fillRect b="-3226"/>
                </a:stretch>
              </a:blipFill>
              <a:ln>
                <a:solidFill>
                  <a:srgbClr val="B6993A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3" name="Total loss equals"/>
              <p:cNvSpPr/>
              <p:nvPr/>
            </p:nvSpPr>
            <p:spPr>
              <a:xfrm>
                <a:off x="3238500" y="3306900"/>
                <a:ext cx="825500" cy="609600"/>
              </a:xfrm>
              <a:prstGeom prst="rect">
                <a:avLst/>
              </a:prstGeom>
              <a:noFill/>
              <a:ln w="0"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223" name="Total loss equals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8500" y="3306900"/>
                <a:ext cx="825500" cy="60960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  <a:ln w="0">
                <a:noFill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4" name="Weighted patient contrastive term"/>
              <p:cNvSpPr/>
              <p:nvPr/>
            </p:nvSpPr>
            <p:spPr>
              <a:xfrm>
                <a:off x="4064000" y="3306900"/>
                <a:ext cx="2159000" cy="609600"/>
              </a:xfrm>
              <a:prstGeom prst="rect">
                <a:avLst/>
              </a:prstGeom>
              <a:noFill/>
              <a:ln w="0"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p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ℒ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PCSL</m:t>
                          </m:r>
                        </m:sub>
                      </m:sSub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224" name="Weighted patient contrastive term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4000" y="3306900"/>
                <a:ext cx="2159000" cy="60960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  <a:ln w="0">
                <a:noFill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5" name="Weighted attention regularization term"/>
              <p:cNvSpPr/>
              <p:nvPr/>
            </p:nvSpPr>
            <p:spPr>
              <a:xfrm>
                <a:off x="6034699" y="3329744"/>
                <a:ext cx="2159000" cy="609600"/>
              </a:xfrm>
              <a:prstGeom prst="rect">
                <a:avLst/>
              </a:prstGeom>
              <a:noFill/>
              <a:ln w="0"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𝑔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ℒ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GPAL</m:t>
                          </m:r>
                        </m:sub>
                      </m:sSub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225" name="Weighted attention regularization term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4699" y="3329744"/>
                <a:ext cx="2159000" cy="60960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  <a:ln w="0">
                <a:noFill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6" name="Classification term"/>
              <p:cNvSpPr/>
              <p:nvPr/>
            </p:nvSpPr>
            <p:spPr>
              <a:xfrm>
                <a:off x="8371499" y="3318322"/>
                <a:ext cx="1397000" cy="609600"/>
              </a:xfrm>
              <a:prstGeom prst="rect">
                <a:avLst/>
              </a:prstGeom>
              <a:noFill/>
              <a:ln w="0"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solidFill>
                                <a:schemeClr val="accent6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6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ℒ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solidFill>
                                <a:schemeClr val="accent6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cls</m:t>
                          </m:r>
                        </m:sub>
                      </m:sSub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226" name="Classification term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1499" y="3318322"/>
                <a:ext cx="1397000" cy="60960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  <a:ln w="0">
                <a:noFill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7" name="Weighted optional HF term"/>
              <p:cNvSpPr/>
              <p:nvPr/>
            </p:nvSpPr>
            <p:spPr>
              <a:xfrm>
                <a:off x="10312400" y="3306900"/>
                <a:ext cx="2260600" cy="609600"/>
              </a:xfrm>
              <a:prstGeom prst="rect">
                <a:avLst/>
              </a:prstGeom>
              <a:noFill/>
              <a:ln w="0"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solidFill>
                                <a:srgbClr val="B6993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B6993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solidFill>
                                <a:srgbClr val="B6993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HF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solidFill>
                                <a:srgbClr val="B6993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B6993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ℒ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solidFill>
                                <a:srgbClr val="B6993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HF</m:t>
                          </m:r>
                        </m:sub>
                      </m:sSub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227" name="Weighted optional HF term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12400" y="3306900"/>
                <a:ext cx="2260600" cy="60960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  <a:ln w="0">
                <a:noFill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8" name="Objective addition"/>
              <p:cNvSpPr/>
              <p:nvPr/>
            </p:nvSpPr>
            <p:spPr>
              <a:xfrm>
                <a:off x="5969000" y="3318322"/>
                <a:ext cx="279400" cy="609600"/>
              </a:xfrm>
              <a:prstGeom prst="rect">
                <a:avLst/>
              </a:prstGeom>
              <a:noFill/>
              <a:ln w="0"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m:rPr>
                          <m:nor/>
                        </m:rP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 + 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228" name="Objective addition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69000" y="3318322"/>
                <a:ext cx="279400" cy="609600"/>
              </a:xfrm>
              <a:prstGeom prst="rect">
                <a:avLst/>
              </a:prstGeom>
              <a:blipFill>
                <a:blip r:embed="rId20"/>
                <a:stretch>
                  <a:fillRect l="-12500"/>
                </a:stretch>
              </a:blipFill>
              <a:ln w="0">
                <a:noFill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9" name="Objective addition"/>
              <p:cNvSpPr/>
              <p:nvPr/>
            </p:nvSpPr>
            <p:spPr>
              <a:xfrm>
                <a:off x="8013319" y="3318322"/>
                <a:ext cx="279400" cy="609600"/>
              </a:xfrm>
              <a:prstGeom prst="rect">
                <a:avLst/>
              </a:prstGeom>
              <a:noFill/>
              <a:ln w="0"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m:rPr>
                          <m:nor/>
                        </m:rP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 + 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229" name="Objective addition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3319" y="3318322"/>
                <a:ext cx="279400" cy="609600"/>
              </a:xfrm>
              <a:prstGeom prst="rect">
                <a:avLst/>
              </a:prstGeom>
              <a:blipFill>
                <a:blip r:embed="rId21"/>
                <a:stretch>
                  <a:fillRect l="-18182"/>
                </a:stretch>
              </a:blipFill>
              <a:ln w="0">
                <a:noFill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0" name="Objective addition"/>
              <p:cNvSpPr/>
              <p:nvPr/>
            </p:nvSpPr>
            <p:spPr>
              <a:xfrm>
                <a:off x="10045700" y="3306900"/>
                <a:ext cx="279400" cy="609600"/>
              </a:xfrm>
              <a:prstGeom prst="rect">
                <a:avLst/>
              </a:prstGeom>
              <a:noFill/>
              <a:ln w="0"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m:rPr>
                          <m:nor/>
                        </m:rP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 + 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30" name="Objective addition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45700" y="3306900"/>
                <a:ext cx="279400" cy="609600"/>
              </a:xfrm>
              <a:prstGeom prst="rect">
                <a:avLst/>
              </a:prstGeom>
              <a:blipFill>
                <a:blip r:embed="rId20"/>
                <a:stretch>
                  <a:fillRect l="-17391"/>
                </a:stretch>
              </a:blipFill>
              <a:ln w="0">
                <a:noFill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6" name="Bottom aligned loss annotation Patient contrastive"/>
          <p:cNvSpPr txBox="1"/>
          <p:nvPr/>
        </p:nvSpPr>
        <p:spPr>
          <a:xfrm>
            <a:off x="4178300" y="3866981"/>
            <a:ext cx="1930400" cy="217865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ctr"/>
            <a:r>
              <a:rPr sz="1400" b="0" dirty="0">
                <a:solidFill>
                  <a:srgbClr val="333333"/>
                </a:solidFill>
                <a:latin typeface="Arial"/>
              </a:rPr>
              <a:t>Patient</a:t>
            </a:r>
            <a:r>
              <a:rPr lang="en-US" sz="1400" b="0" dirty="0">
                <a:solidFill>
                  <a:srgbClr val="333333"/>
                </a:solidFill>
                <a:latin typeface="Arial"/>
              </a:rPr>
              <a:t> </a:t>
            </a:r>
            <a:r>
              <a:rPr lang="en-US" sz="1400" dirty="0">
                <a:solidFill>
                  <a:srgbClr val="333333"/>
                </a:solidFill>
                <a:latin typeface="Arial"/>
              </a:rPr>
              <a:t>C</a:t>
            </a:r>
            <a:r>
              <a:rPr sz="1400" b="0" dirty="0">
                <a:solidFill>
                  <a:srgbClr val="333333"/>
                </a:solidFill>
                <a:latin typeface="Arial"/>
              </a:rPr>
              <a:t>ontrastive</a:t>
            </a:r>
          </a:p>
        </p:txBody>
      </p:sp>
      <p:sp>
        <p:nvSpPr>
          <p:cNvPr id="238" name="Bottom aligned loss annotation Patient alignment"/>
          <p:cNvSpPr txBox="1"/>
          <p:nvPr/>
        </p:nvSpPr>
        <p:spPr>
          <a:xfrm>
            <a:off x="6091588" y="3891252"/>
            <a:ext cx="1930400" cy="203200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ctr"/>
            <a:r>
              <a:rPr sz="1400" b="0" dirty="0">
                <a:solidFill>
                  <a:srgbClr val="7030A0"/>
                </a:solidFill>
                <a:latin typeface="Arial"/>
              </a:rPr>
              <a:t>Patient</a:t>
            </a:r>
            <a:r>
              <a:rPr lang="en-US" sz="1400" b="0" dirty="0">
                <a:solidFill>
                  <a:srgbClr val="7030A0"/>
                </a:solidFill>
                <a:latin typeface="Arial"/>
              </a:rPr>
              <a:t> A</a:t>
            </a:r>
            <a:r>
              <a:rPr sz="1400" b="0" dirty="0">
                <a:solidFill>
                  <a:srgbClr val="7030A0"/>
                </a:solidFill>
                <a:latin typeface="Arial"/>
              </a:rPr>
              <a:t>lignment</a:t>
            </a:r>
          </a:p>
        </p:txBody>
      </p:sp>
      <p:sp>
        <p:nvSpPr>
          <p:cNvPr id="240" name="Bottom aligned loss annotation Native + C-W classification"/>
          <p:cNvSpPr txBox="1"/>
          <p:nvPr/>
        </p:nvSpPr>
        <p:spPr>
          <a:xfrm>
            <a:off x="8149792" y="3903570"/>
            <a:ext cx="1930400" cy="190881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ctr"/>
            <a:r>
              <a:rPr sz="1400" b="0" dirty="0">
                <a:solidFill>
                  <a:srgbClr val="32631C"/>
                </a:solidFill>
                <a:latin typeface="Arial"/>
              </a:rPr>
              <a:t>Native + </a:t>
            </a:r>
            <a:r>
              <a:rPr sz="1400" i="1" dirty="0">
                <a:solidFill>
                  <a:srgbClr val="32631C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C-W</a:t>
            </a:r>
            <a:r>
              <a:rPr lang="en-US" sz="1400" i="1" dirty="0">
                <a:solidFill>
                  <a:srgbClr val="32631C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32631C"/>
                </a:solidFill>
                <a:latin typeface="Arial"/>
              </a:rPr>
              <a:t>Cl</a:t>
            </a:r>
            <a:r>
              <a:rPr sz="1400" b="0" dirty="0">
                <a:solidFill>
                  <a:srgbClr val="32631C"/>
                </a:solidFill>
                <a:latin typeface="Arial"/>
              </a:rPr>
              <a:t>assification</a:t>
            </a:r>
          </a:p>
        </p:txBody>
      </p:sp>
      <p:sp>
        <p:nvSpPr>
          <p:cNvPr id="242" name="Bottom aligned loss annotation HF supervision (optional)"/>
          <p:cNvSpPr txBox="1"/>
          <p:nvPr/>
        </p:nvSpPr>
        <p:spPr>
          <a:xfrm>
            <a:off x="10490200" y="3891252"/>
            <a:ext cx="1930400" cy="203200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ctr"/>
            <a:r>
              <a:rPr sz="1400" b="0" dirty="0">
                <a:solidFill>
                  <a:srgbClr val="B6993A"/>
                </a:solidFill>
                <a:latin typeface="Arial"/>
              </a:rPr>
              <a:t>HF </a:t>
            </a:r>
            <a:r>
              <a:rPr lang="en-US" sz="1400" b="0" dirty="0">
                <a:solidFill>
                  <a:srgbClr val="B6993A"/>
                </a:solidFill>
                <a:latin typeface="Arial"/>
              </a:rPr>
              <a:t>S</a:t>
            </a:r>
            <a:r>
              <a:rPr sz="1400" b="0" dirty="0">
                <a:solidFill>
                  <a:srgbClr val="B6993A"/>
                </a:solidFill>
                <a:latin typeface="Arial"/>
              </a:rPr>
              <a:t>upervision</a:t>
            </a:r>
            <a:r>
              <a:rPr lang="en-US" sz="1400" b="0" dirty="0">
                <a:solidFill>
                  <a:srgbClr val="B6993A"/>
                </a:solidFill>
                <a:latin typeface="Arial"/>
              </a:rPr>
              <a:t> </a:t>
            </a:r>
            <a:r>
              <a:rPr sz="1400" b="0" dirty="0">
                <a:solidFill>
                  <a:srgbClr val="B6993A"/>
                </a:solidFill>
                <a:latin typeface="Arial"/>
              </a:rPr>
              <a:t>(</a:t>
            </a:r>
            <a:r>
              <a:rPr lang="en-US" sz="1400" b="0" dirty="0">
                <a:solidFill>
                  <a:srgbClr val="B6993A"/>
                </a:solidFill>
                <a:latin typeface="Arial"/>
              </a:rPr>
              <a:t>O</a:t>
            </a:r>
            <a:r>
              <a:rPr sz="1400" b="0" dirty="0">
                <a:solidFill>
                  <a:srgbClr val="B6993A"/>
                </a:solidFill>
                <a:latin typeface="Arial"/>
              </a:rPr>
              <a:t>ptional)</a:t>
            </a:r>
          </a:p>
        </p:txBody>
      </p:sp>
      <p:sp>
        <p:nvSpPr>
          <p:cNvPr id="413" name="C-W supervision junction"/>
          <p:cNvSpPr/>
          <p:nvPr/>
        </p:nvSpPr>
        <p:spPr>
          <a:xfrm>
            <a:off x="8121650" y="2495550"/>
            <a:ext cx="38100" cy="38100"/>
          </a:xfrm>
          <a:prstGeom prst="ellipse">
            <a:avLst/>
          </a:prstGeom>
          <a:solidFill>
            <a:srgbClr val="32631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17" name="Classification training group title"/>
          <p:cNvSpPr txBox="1"/>
          <p:nvPr/>
        </p:nvSpPr>
        <p:spPr>
          <a:xfrm>
            <a:off x="9648092" y="1091475"/>
            <a:ext cx="2641600" cy="292100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ctr"/>
            <a:r>
              <a:rPr sz="1600" dirty="0">
                <a:latin typeface="Arial"/>
              </a:rPr>
              <a:t>Training </a:t>
            </a:r>
            <a:r>
              <a:rPr lang="en-US" sz="1600" dirty="0">
                <a:latin typeface="Arial"/>
              </a:rPr>
              <a:t>S</a:t>
            </a:r>
            <a:r>
              <a:rPr sz="1600" dirty="0">
                <a:latin typeface="Arial"/>
              </a:rPr>
              <a:t>upervision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18" name="HF training source"/>
              <p:cNvSpPr txBox="1"/>
              <p:nvPr/>
            </p:nvSpPr>
            <p:spPr>
              <a:xfrm>
                <a:off x="9105900" y="2562879"/>
                <a:ext cx="1549400" cy="203200"/>
              </a:xfrm>
              <a:prstGeom prst="rect">
                <a:avLst/>
              </a:prstGeom>
              <a:noFill/>
            </p:spPr>
            <p:txBody>
              <a:bodyPr wrap="none" lIns="0" tIns="0" rIns="0" bIns="0" anchor="b">
                <a:noAutofit/>
              </a:bodyPr>
              <a:lstStyle/>
              <a:p>
                <a:pPr algn="ctr"/>
                <a14:m>
                  <m:oMath xmlns:m="http://schemas.openxmlformats.org/officeDocument/2006/math">
                    <m:sSup>
                      <m:sSupPr>
                        <m:ctrlPr>
                          <a:rPr lang="en-US" sz="1600" b="1" i="0" dirty="0">
                            <a:solidFill>
                              <a:srgbClr val="B6993A"/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en-US" sz="1600" b="1" i="0" dirty="0">
                            <a:solidFill>
                              <a:srgbClr val="B6993A"/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m:t>H</m:t>
                        </m:r>
                        <m:r>
                          <m:rPr>
                            <m:nor/>
                          </m:rPr>
                          <a:rPr lang="en-US" sz="1600" b="1" i="0" dirty="0" smtClean="0">
                            <a:solidFill>
                              <a:srgbClr val="B6993A"/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m:t>F train</m:t>
                        </m:r>
                      </m:e>
                      <m:sup>
                        <m:r>
                          <a:rPr lang="ar-AE" sz="1600" b="1" i="1">
                            <a:solidFill>
                              <a:srgbClr val="B6993A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∗</m:t>
                        </m:r>
                      </m:sup>
                    </m:sSup>
                    <m:r>
                      <a:rPr lang="en-US" sz="1600" b="0" i="0" smtClean="0">
                        <a:solidFill>
                          <a:srgbClr val="B6993A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</m:oMath>
                </a14:m>
                <a:r>
                  <a:rPr lang="en-US" sz="1600" dirty="0">
                    <a:solidFill>
                      <a:srgbClr val="B6993A"/>
                    </a:solidFill>
                    <a:latin typeface="Arial"/>
                  </a:rPr>
                  <a:t>(Optional)</a:t>
                </a:r>
              </a:p>
            </p:txBody>
          </p:sp>
        </mc:Choice>
        <mc:Fallback>
          <p:sp>
            <p:nvSpPr>
              <p:cNvPr id="418" name="HF training source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05900" y="2562879"/>
                <a:ext cx="1549400" cy="203200"/>
              </a:xfrm>
              <a:prstGeom prst="rect">
                <a:avLst/>
              </a:prstGeom>
              <a:blipFill>
                <a:blip r:embed="rId22"/>
                <a:stretch>
                  <a:fillRect l="-13008" t="-47059" r="-15447" b="-647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0" name="Optional HF train C-W junction"/>
          <p:cNvSpPr/>
          <p:nvPr/>
        </p:nvSpPr>
        <p:spPr>
          <a:xfrm>
            <a:off x="8451850" y="2495550"/>
            <a:ext cx="38100" cy="38100"/>
          </a:xfrm>
          <a:prstGeom prst="ellipse">
            <a:avLst/>
          </a:prstGeom>
          <a:solidFill>
            <a:srgbClr val="B6993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0" name="Non-junction crossover bridge"/>
          <p:cNvSpPr/>
          <p:nvPr/>
        </p:nvSpPr>
        <p:spPr>
          <a:xfrm>
            <a:off x="9359900" y="2768600"/>
            <a:ext cx="76200" cy="101600"/>
          </a:xfrm>
          <a:custGeom>
            <a:avLst/>
            <a:gdLst/>
            <a:ahLst/>
            <a:cxnLst/>
            <a:rect l="0" t="0" r="r" b="b"/>
            <a:pathLst>
              <a:path w="76200" h="101600" fill="none">
                <a:moveTo>
                  <a:pt x="0" y="101600"/>
                </a:moveTo>
                <a:cubicBezTo>
                  <a:pt x="76200" y="101600"/>
                  <a:pt x="76200" y="0"/>
                  <a:pt x="0" y="0"/>
                </a:cubicBezTo>
              </a:path>
            </a:pathLst>
          </a:custGeom>
          <a:noFill/>
          <a:ln w="57150">
            <a:solidFill>
              <a:srgbClr val="FFFFFF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02" name="Non-junction crossover bridge"/>
          <p:cNvSpPr/>
          <p:nvPr/>
        </p:nvSpPr>
        <p:spPr>
          <a:xfrm>
            <a:off x="10655300" y="2819400"/>
            <a:ext cx="76200" cy="101600"/>
          </a:xfrm>
          <a:custGeom>
            <a:avLst/>
            <a:gdLst/>
            <a:ahLst/>
            <a:cxnLst/>
            <a:rect l="0" t="0" r="r" b="b"/>
            <a:pathLst>
              <a:path w="76200" h="101600" fill="none">
                <a:moveTo>
                  <a:pt x="0" y="0"/>
                </a:moveTo>
                <a:cubicBezTo>
                  <a:pt x="76200" y="0"/>
                  <a:pt x="76200" y="101600"/>
                  <a:pt x="0" y="101600"/>
                </a:cubicBezTo>
              </a:path>
            </a:pathLst>
          </a:custGeom>
          <a:noFill/>
          <a:ln w="57150">
            <a:solidFill>
              <a:srgbClr val="FFFFFF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703" name="Non-junction crossover bridge"/>
          <p:cNvSpPr/>
          <p:nvPr/>
        </p:nvSpPr>
        <p:spPr>
          <a:xfrm>
            <a:off x="10655300" y="3117850"/>
            <a:ext cx="76200" cy="101600"/>
          </a:xfrm>
          <a:custGeom>
            <a:avLst/>
            <a:gdLst/>
            <a:ahLst/>
            <a:cxnLst/>
            <a:rect l="0" t="0" r="r" b="b"/>
            <a:pathLst>
              <a:path w="76200" h="101600" fill="none">
                <a:moveTo>
                  <a:pt x="0" y="0"/>
                </a:moveTo>
                <a:cubicBezTo>
                  <a:pt x="76200" y="0"/>
                  <a:pt x="76200" y="101600"/>
                  <a:pt x="0" y="101600"/>
                </a:cubicBezTo>
              </a:path>
            </a:pathLst>
          </a:custGeom>
          <a:noFill/>
          <a:ln w="57150">
            <a:solidFill>
              <a:srgbClr val="FFFFFF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5E5C8166-0405-0BFC-BC1F-2D02FB0C533D}"/>
              </a:ext>
            </a:extLst>
          </p:cNvPr>
          <p:cNvCxnSpPr>
            <a:cxnSpLocks/>
          </p:cNvCxnSpPr>
          <p:nvPr/>
        </p:nvCxnSpPr>
        <p:spPr>
          <a:xfrm flipV="1">
            <a:off x="2406630" y="1435100"/>
            <a:ext cx="984270" cy="1106045"/>
          </a:xfrm>
          <a:prstGeom prst="bentConnector3">
            <a:avLst>
              <a:gd name="adj1" fmla="val 73124"/>
            </a:avLst>
          </a:prstGeom>
          <a:ln w="28575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5BCBE0E5-1964-3719-918D-A226B488B53F}"/>
              </a:ext>
            </a:extLst>
          </p:cNvPr>
          <p:cNvCxnSpPr>
            <a:cxnSpLocks/>
            <a:endCxn id="12" idx="1"/>
          </p:cNvCxnSpPr>
          <p:nvPr/>
        </p:nvCxnSpPr>
        <p:spPr>
          <a:xfrm>
            <a:off x="2432570" y="2541145"/>
            <a:ext cx="958330" cy="193094"/>
          </a:xfrm>
          <a:prstGeom prst="bentConnector3">
            <a:avLst>
              <a:gd name="adj1" fmla="val 72331"/>
            </a:avLst>
          </a:prstGeom>
          <a:ln w="28575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Elbow Connector 48">
            <a:extLst>
              <a:ext uri="{FF2B5EF4-FFF2-40B4-BE49-F238E27FC236}">
                <a16:creationId xmlns:a16="http://schemas.microsoft.com/office/drawing/2014/main" id="{C0D8B77B-1315-C6B5-429B-18EDF9686F56}"/>
              </a:ext>
            </a:extLst>
          </p:cNvPr>
          <p:cNvCxnSpPr>
            <a:cxnSpLocks/>
            <a:stCxn id="12" idx="2"/>
          </p:cNvCxnSpPr>
          <p:nvPr/>
        </p:nvCxnSpPr>
        <p:spPr>
          <a:xfrm rot="16200000" flipH="1">
            <a:off x="4573352" y="2859887"/>
            <a:ext cx="403696" cy="711200"/>
          </a:xfrm>
          <a:prstGeom prst="bentConnector3">
            <a:avLst>
              <a:gd name="adj1" fmla="val 63832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Elbow Connector 52">
            <a:extLst>
              <a:ext uri="{FF2B5EF4-FFF2-40B4-BE49-F238E27FC236}">
                <a16:creationId xmlns:a16="http://schemas.microsoft.com/office/drawing/2014/main" id="{B965E38A-D0E0-039B-6AD6-5D78492240B7}"/>
              </a:ext>
            </a:extLst>
          </p:cNvPr>
          <p:cNvCxnSpPr>
            <a:cxnSpLocks/>
            <a:stCxn id="12" idx="2"/>
          </p:cNvCxnSpPr>
          <p:nvPr/>
        </p:nvCxnSpPr>
        <p:spPr>
          <a:xfrm rot="16200000" flipH="1">
            <a:off x="5568274" y="1864964"/>
            <a:ext cx="413098" cy="2710447"/>
          </a:xfrm>
          <a:prstGeom prst="bentConnector3">
            <a:avLst>
              <a:gd name="adj1" fmla="val 62324"/>
            </a:avLst>
          </a:prstGeom>
          <a:ln>
            <a:solidFill>
              <a:srgbClr val="7030A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Elbow Connector 59">
            <a:extLst>
              <a:ext uri="{FF2B5EF4-FFF2-40B4-BE49-F238E27FC236}">
                <a16:creationId xmlns:a16="http://schemas.microsoft.com/office/drawing/2014/main" id="{17013CA8-4FE1-BC26-3403-1663F64857C5}"/>
              </a:ext>
            </a:extLst>
          </p:cNvPr>
          <p:cNvCxnSpPr>
            <a:cxnSpLocks/>
            <a:stCxn id="4" idx="3"/>
            <a:endCxn id="13" idx="1"/>
          </p:cNvCxnSpPr>
          <p:nvPr/>
        </p:nvCxnSpPr>
        <p:spPr>
          <a:xfrm flipV="1">
            <a:off x="5448300" y="873125"/>
            <a:ext cx="762000" cy="561975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Elbow Connector 62">
            <a:extLst>
              <a:ext uri="{FF2B5EF4-FFF2-40B4-BE49-F238E27FC236}">
                <a16:creationId xmlns:a16="http://schemas.microsoft.com/office/drawing/2014/main" id="{2813691E-BA76-E932-292F-D2DEADEF4EAE}"/>
              </a:ext>
            </a:extLst>
          </p:cNvPr>
          <p:cNvCxnSpPr>
            <a:cxnSpLocks/>
            <a:stCxn id="4" idx="3"/>
            <a:endCxn id="28" idx="1"/>
          </p:cNvCxnSpPr>
          <p:nvPr/>
        </p:nvCxnSpPr>
        <p:spPr>
          <a:xfrm>
            <a:off x="5448300" y="1435100"/>
            <a:ext cx="762000" cy="648010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Elbow Connector 74">
            <a:extLst>
              <a:ext uri="{FF2B5EF4-FFF2-40B4-BE49-F238E27FC236}">
                <a16:creationId xmlns:a16="http://schemas.microsoft.com/office/drawing/2014/main" id="{D0E5029F-3612-52DC-7F96-9915C2284272}"/>
              </a:ext>
            </a:extLst>
          </p:cNvPr>
          <p:cNvCxnSpPr>
            <a:cxnSpLocks/>
            <a:stCxn id="4" idx="3"/>
            <a:endCxn id="14" idx="1"/>
          </p:cNvCxnSpPr>
          <p:nvPr/>
        </p:nvCxnSpPr>
        <p:spPr>
          <a:xfrm flipV="1">
            <a:off x="5448300" y="1315721"/>
            <a:ext cx="762000" cy="119379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14554C06-8AD1-9F3E-F2A5-EF79EDFA84CE}"/>
              </a:ext>
            </a:extLst>
          </p:cNvPr>
          <p:cNvSpPr/>
          <p:nvPr/>
        </p:nvSpPr>
        <p:spPr>
          <a:xfrm>
            <a:off x="6210300" y="1900230"/>
            <a:ext cx="2489200" cy="3657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 algn="ctr"/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Crackles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9D721FBD-D72A-90C1-14FE-49B5C3785A3D}"/>
              </a:ext>
            </a:extLst>
          </p:cNvPr>
          <p:cNvSpPr/>
          <p:nvPr/>
        </p:nvSpPr>
        <p:spPr>
          <a:xfrm>
            <a:off x="6210300" y="2346960"/>
            <a:ext cx="2489200" cy="3657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noAutofit/>
          </a:bodyPr>
          <a:lstStyle/>
          <a:p>
            <a:pPr algn="ctr"/>
            <a:r>
              <a:rPr lang="en-US" sz="1600" i="1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W</a:t>
            </a:r>
            <a:r>
              <a:rPr lang="en-US" sz="16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Wheezes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85" name="Elbow Connector 84">
            <a:extLst>
              <a:ext uri="{FF2B5EF4-FFF2-40B4-BE49-F238E27FC236}">
                <a16:creationId xmlns:a16="http://schemas.microsoft.com/office/drawing/2014/main" id="{CFA21CE9-265B-BAA7-57E9-370B5E862A09}"/>
              </a:ext>
            </a:extLst>
          </p:cNvPr>
          <p:cNvCxnSpPr>
            <a:cxnSpLocks/>
            <a:stCxn id="4" idx="3"/>
            <a:endCxn id="82" idx="1"/>
          </p:cNvCxnSpPr>
          <p:nvPr/>
        </p:nvCxnSpPr>
        <p:spPr>
          <a:xfrm>
            <a:off x="5448300" y="1435100"/>
            <a:ext cx="762000" cy="1094740"/>
          </a:xfrm>
          <a:prstGeom prst="bentConnector3">
            <a:avLst>
              <a:gd name="adj1" fmla="val 50000"/>
            </a:avLst>
          </a:prstGeom>
          <a:ln w="28575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Elbow Connector 91">
            <a:extLst>
              <a:ext uri="{FF2B5EF4-FFF2-40B4-BE49-F238E27FC236}">
                <a16:creationId xmlns:a16="http://schemas.microsoft.com/office/drawing/2014/main" id="{7602C22B-B0EA-A7DD-4883-1E7A2E3A8372}"/>
              </a:ext>
            </a:extLst>
          </p:cNvPr>
          <p:cNvCxnSpPr>
            <a:cxnSpLocks/>
            <a:stCxn id="13" idx="3"/>
          </p:cNvCxnSpPr>
          <p:nvPr/>
        </p:nvCxnSpPr>
        <p:spPr>
          <a:xfrm>
            <a:off x="8699500" y="873125"/>
            <a:ext cx="298848" cy="261260"/>
          </a:xfrm>
          <a:prstGeom prst="bentConnector3">
            <a:avLst>
              <a:gd name="adj1" fmla="val 50000"/>
            </a:avLst>
          </a:prstGeom>
          <a:ln>
            <a:solidFill>
              <a:srgbClr val="03520D"/>
            </a:solidFill>
            <a:prstDash val="sysDash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Elbow Connector 97">
            <a:extLst>
              <a:ext uri="{FF2B5EF4-FFF2-40B4-BE49-F238E27FC236}">
                <a16:creationId xmlns:a16="http://schemas.microsoft.com/office/drawing/2014/main" id="{D00800EA-DA9A-6EB6-3AE2-51B9F28F56D3}"/>
              </a:ext>
            </a:extLst>
          </p:cNvPr>
          <p:cNvCxnSpPr>
            <a:cxnSpLocks/>
            <a:stCxn id="14" idx="3"/>
          </p:cNvCxnSpPr>
          <p:nvPr/>
        </p:nvCxnSpPr>
        <p:spPr>
          <a:xfrm flipV="1">
            <a:off x="8699500" y="1238525"/>
            <a:ext cx="300404" cy="77196"/>
          </a:xfrm>
          <a:prstGeom prst="bentConnector3">
            <a:avLst>
              <a:gd name="adj1" fmla="val 50000"/>
            </a:avLst>
          </a:prstGeom>
          <a:ln>
            <a:solidFill>
              <a:schemeClr val="accent6">
                <a:lumMod val="50000"/>
              </a:schemeClr>
            </a:solidFill>
            <a:prstDash val="sysDash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Elbow Connector 123">
            <a:extLst>
              <a:ext uri="{FF2B5EF4-FFF2-40B4-BE49-F238E27FC236}">
                <a16:creationId xmlns:a16="http://schemas.microsoft.com/office/drawing/2014/main" id="{64723286-2259-6A76-E5EE-528B5D43CEC0}"/>
              </a:ext>
            </a:extLst>
          </p:cNvPr>
          <p:cNvCxnSpPr>
            <a:cxnSpLocks/>
          </p:cNvCxnSpPr>
          <p:nvPr/>
        </p:nvCxnSpPr>
        <p:spPr>
          <a:xfrm>
            <a:off x="8698903" y="2082801"/>
            <a:ext cx="324447" cy="171449"/>
          </a:xfrm>
          <a:prstGeom prst="bentConnector3">
            <a:avLst>
              <a:gd name="adj1" fmla="val 50000"/>
            </a:avLst>
          </a:prstGeom>
          <a:ln>
            <a:solidFill>
              <a:srgbClr val="03520D"/>
            </a:solidFill>
            <a:prstDash val="sysDash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Elbow Connector 126">
            <a:extLst>
              <a:ext uri="{FF2B5EF4-FFF2-40B4-BE49-F238E27FC236}">
                <a16:creationId xmlns:a16="http://schemas.microsoft.com/office/drawing/2014/main" id="{39893EC8-2F5C-CD62-EACD-CE3FA43CBA42}"/>
              </a:ext>
            </a:extLst>
          </p:cNvPr>
          <p:cNvCxnSpPr>
            <a:cxnSpLocks/>
            <a:stCxn id="82" idx="3"/>
          </p:cNvCxnSpPr>
          <p:nvPr/>
        </p:nvCxnSpPr>
        <p:spPr>
          <a:xfrm flipV="1">
            <a:off x="8699500" y="2352896"/>
            <a:ext cx="324892" cy="176944"/>
          </a:xfrm>
          <a:prstGeom prst="bentConnector3">
            <a:avLst>
              <a:gd name="adj1" fmla="val 50000"/>
            </a:avLst>
          </a:prstGeom>
          <a:ln>
            <a:solidFill>
              <a:srgbClr val="03520D"/>
            </a:solidFill>
            <a:prstDash val="sysDash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90" name="Group 589">
            <a:extLst>
              <a:ext uri="{FF2B5EF4-FFF2-40B4-BE49-F238E27FC236}">
                <a16:creationId xmlns:a16="http://schemas.microsoft.com/office/drawing/2014/main" id="{634B69C7-BC6E-866F-EB68-7FE48A6764E5}"/>
              </a:ext>
            </a:extLst>
          </p:cNvPr>
          <p:cNvGrpSpPr/>
          <p:nvPr/>
        </p:nvGrpSpPr>
        <p:grpSpPr>
          <a:xfrm>
            <a:off x="8815800" y="905002"/>
            <a:ext cx="864213" cy="565330"/>
            <a:chOff x="8859340" y="905002"/>
            <a:chExt cx="864213" cy="565330"/>
          </a:xfrm>
        </p:grpSpPr>
        <p:pic>
          <p:nvPicPr>
            <p:cNvPr id="106" name="Picture 105" descr="OR Gate Icon - Free PNG &amp; SVG 881194 - Noun Project">
              <a:extLst>
                <a:ext uri="{FF2B5EF4-FFF2-40B4-BE49-F238E27FC236}">
                  <a16:creationId xmlns:a16="http://schemas.microsoft.com/office/drawing/2014/main" id="{197AA47D-3C56-50EC-4F63-20D44C2DF555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>
              <a:duotone>
                <a:schemeClr val="accent3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8859340" y="905002"/>
              <a:ext cx="651788" cy="565330"/>
            </a:xfrm>
            <a:prstGeom prst="rect">
              <a:avLst/>
            </a:prstGeom>
          </p:spPr>
        </p:pic>
        <p:sp>
          <p:nvSpPr>
            <p:cNvPr id="580" name="TextBox 579">
              <a:extLst>
                <a:ext uri="{FF2B5EF4-FFF2-40B4-BE49-F238E27FC236}">
                  <a16:creationId xmlns:a16="http://schemas.microsoft.com/office/drawing/2014/main" id="{66B0724F-60C2-23CE-C852-45053CBCC3E6}"/>
                </a:ext>
              </a:extLst>
            </p:cNvPr>
            <p:cNvSpPr txBox="1"/>
            <p:nvPr/>
          </p:nvSpPr>
          <p:spPr>
            <a:xfrm>
              <a:off x="9018668" y="1087508"/>
              <a:ext cx="704885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>
                  <a:latin typeface="Helvetica" pitchFamily="2" charset="0"/>
                </a:rPr>
                <a:t>OR</a:t>
              </a:r>
            </a:p>
          </p:txBody>
        </p:sp>
      </p:grpSp>
      <p:grpSp>
        <p:nvGrpSpPr>
          <p:cNvPr id="583" name="Group 582">
            <a:extLst>
              <a:ext uri="{FF2B5EF4-FFF2-40B4-BE49-F238E27FC236}">
                <a16:creationId xmlns:a16="http://schemas.microsoft.com/office/drawing/2014/main" id="{C4C9984D-7327-3699-90CD-ECA3A2FC1BD2}"/>
              </a:ext>
            </a:extLst>
          </p:cNvPr>
          <p:cNvGrpSpPr/>
          <p:nvPr/>
        </p:nvGrpSpPr>
        <p:grpSpPr>
          <a:xfrm>
            <a:off x="8850540" y="2033215"/>
            <a:ext cx="624208" cy="541123"/>
            <a:chOff x="8907142" y="2037569"/>
            <a:chExt cx="624208" cy="541123"/>
          </a:xfrm>
        </p:grpSpPr>
        <p:pic>
          <p:nvPicPr>
            <p:cNvPr id="108" name="Picture 107" descr="AND Gate Icon - Free PNG &amp; SVG 881189 - Noun Project">
              <a:extLst>
                <a:ext uri="{FF2B5EF4-FFF2-40B4-BE49-F238E27FC236}">
                  <a16:creationId xmlns:a16="http://schemas.microsoft.com/office/drawing/2014/main" id="{54BAD3A4-BE41-0C3F-9C7D-AB3CFCF565AF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duotone>
                <a:schemeClr val="accent3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8907142" y="2037569"/>
              <a:ext cx="624208" cy="541123"/>
            </a:xfrm>
            <a:prstGeom prst="rect">
              <a:avLst/>
            </a:prstGeom>
          </p:spPr>
        </p:pic>
        <p:sp>
          <p:nvSpPr>
            <p:cNvPr id="582" name="TextBox 581">
              <a:extLst>
                <a:ext uri="{FF2B5EF4-FFF2-40B4-BE49-F238E27FC236}">
                  <a16:creationId xmlns:a16="http://schemas.microsoft.com/office/drawing/2014/main" id="{2FD7644A-1BA6-5A5E-A4EE-2AD95DE9B92C}"/>
                </a:ext>
              </a:extLst>
            </p:cNvPr>
            <p:cNvSpPr txBox="1"/>
            <p:nvPr/>
          </p:nvSpPr>
          <p:spPr>
            <a:xfrm>
              <a:off x="9033327" y="2215336"/>
              <a:ext cx="402696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>
                  <a:latin typeface="Helvetica" pitchFamily="2" charset="0"/>
                </a:rPr>
                <a:t>AND</a:t>
              </a:r>
            </a:p>
          </p:txBody>
        </p:sp>
      </p:grpSp>
      <p:grpSp>
        <p:nvGrpSpPr>
          <p:cNvPr id="584" name="Group 583">
            <a:extLst>
              <a:ext uri="{FF2B5EF4-FFF2-40B4-BE49-F238E27FC236}">
                <a16:creationId xmlns:a16="http://schemas.microsoft.com/office/drawing/2014/main" id="{0B2E4784-0642-E076-0828-10A3FF576906}"/>
              </a:ext>
            </a:extLst>
          </p:cNvPr>
          <p:cNvGrpSpPr/>
          <p:nvPr/>
        </p:nvGrpSpPr>
        <p:grpSpPr>
          <a:xfrm>
            <a:off x="9306645" y="1436235"/>
            <a:ext cx="624208" cy="541123"/>
            <a:chOff x="8902788" y="2037569"/>
            <a:chExt cx="624208" cy="541123"/>
          </a:xfrm>
        </p:grpSpPr>
        <p:pic>
          <p:nvPicPr>
            <p:cNvPr id="585" name="Picture 584" descr="AND Gate Icon - Free PNG &amp; SVG 881189 - Noun Project">
              <a:extLst>
                <a:ext uri="{FF2B5EF4-FFF2-40B4-BE49-F238E27FC236}">
                  <a16:creationId xmlns:a16="http://schemas.microsoft.com/office/drawing/2014/main" id="{EE5EE8A8-F9B9-436F-72DB-A8BB80A1DAEE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duotone>
                <a:schemeClr val="accent3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8902788" y="2037569"/>
              <a:ext cx="624208" cy="541123"/>
            </a:xfrm>
            <a:prstGeom prst="rect">
              <a:avLst/>
            </a:prstGeom>
          </p:spPr>
        </p:pic>
        <p:sp>
          <p:nvSpPr>
            <p:cNvPr id="586" name="TextBox 585">
              <a:extLst>
                <a:ext uri="{FF2B5EF4-FFF2-40B4-BE49-F238E27FC236}">
                  <a16:creationId xmlns:a16="http://schemas.microsoft.com/office/drawing/2014/main" id="{0EF6F1B4-4A16-0F65-0302-74263386A90E}"/>
                </a:ext>
              </a:extLst>
            </p:cNvPr>
            <p:cNvSpPr txBox="1"/>
            <p:nvPr/>
          </p:nvSpPr>
          <p:spPr>
            <a:xfrm>
              <a:off x="9033327" y="2215336"/>
              <a:ext cx="402696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>
                  <a:latin typeface="Helvetica" pitchFamily="2" charset="0"/>
                </a:rPr>
                <a:t>AND</a:t>
              </a:r>
            </a:p>
          </p:txBody>
        </p:sp>
      </p:grpSp>
      <p:cxnSp>
        <p:nvCxnSpPr>
          <p:cNvPr id="588" name="Straight Connector 587">
            <a:extLst>
              <a:ext uri="{FF2B5EF4-FFF2-40B4-BE49-F238E27FC236}">
                <a16:creationId xmlns:a16="http://schemas.microsoft.com/office/drawing/2014/main" id="{24C66130-FD09-B597-4BCE-369285FADFB5}"/>
              </a:ext>
            </a:extLst>
          </p:cNvPr>
          <p:cNvCxnSpPr>
            <a:cxnSpLocks/>
          </p:cNvCxnSpPr>
          <p:nvPr/>
        </p:nvCxnSpPr>
        <p:spPr>
          <a:xfrm flipH="1">
            <a:off x="9391832" y="1174399"/>
            <a:ext cx="0" cy="484632"/>
          </a:xfrm>
          <a:prstGeom prst="line">
            <a:avLst/>
          </a:prstGeom>
          <a:ln>
            <a:solidFill>
              <a:srgbClr val="03520D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1" name="Straight Connector 590">
            <a:extLst>
              <a:ext uri="{FF2B5EF4-FFF2-40B4-BE49-F238E27FC236}">
                <a16:creationId xmlns:a16="http://schemas.microsoft.com/office/drawing/2014/main" id="{E1F71B8A-F34C-7402-397F-6553176686C6}"/>
              </a:ext>
            </a:extLst>
          </p:cNvPr>
          <p:cNvCxnSpPr>
            <a:cxnSpLocks/>
          </p:cNvCxnSpPr>
          <p:nvPr/>
        </p:nvCxnSpPr>
        <p:spPr>
          <a:xfrm flipH="1">
            <a:off x="9389292" y="1747028"/>
            <a:ext cx="0" cy="548640"/>
          </a:xfrm>
          <a:prstGeom prst="line">
            <a:avLst/>
          </a:prstGeom>
          <a:ln>
            <a:solidFill>
              <a:srgbClr val="03520D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Straight Connector 593">
            <a:extLst>
              <a:ext uri="{FF2B5EF4-FFF2-40B4-BE49-F238E27FC236}">
                <a16:creationId xmlns:a16="http://schemas.microsoft.com/office/drawing/2014/main" id="{DE8D9D30-34A9-0DDA-D155-64E703980362}"/>
              </a:ext>
            </a:extLst>
          </p:cNvPr>
          <p:cNvCxnSpPr>
            <a:cxnSpLocks/>
          </p:cNvCxnSpPr>
          <p:nvPr/>
        </p:nvCxnSpPr>
        <p:spPr>
          <a:xfrm>
            <a:off x="9839880" y="1707404"/>
            <a:ext cx="192024" cy="0"/>
          </a:xfrm>
          <a:prstGeom prst="line">
            <a:avLst/>
          </a:prstGeom>
          <a:ln>
            <a:solidFill>
              <a:srgbClr val="03520D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7" name="Straight Connector 596">
            <a:extLst>
              <a:ext uri="{FF2B5EF4-FFF2-40B4-BE49-F238E27FC236}">
                <a16:creationId xmlns:a16="http://schemas.microsoft.com/office/drawing/2014/main" id="{364466EE-362F-B754-9663-A7BC8A6E255F}"/>
              </a:ext>
            </a:extLst>
          </p:cNvPr>
          <p:cNvCxnSpPr>
            <a:cxnSpLocks/>
          </p:cNvCxnSpPr>
          <p:nvPr/>
        </p:nvCxnSpPr>
        <p:spPr>
          <a:xfrm>
            <a:off x="9389292" y="2304122"/>
            <a:ext cx="640080" cy="0"/>
          </a:xfrm>
          <a:prstGeom prst="line">
            <a:avLst/>
          </a:prstGeom>
          <a:ln>
            <a:solidFill>
              <a:srgbClr val="B6993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5" name="Elbow Connector 604">
            <a:extLst>
              <a:ext uri="{FF2B5EF4-FFF2-40B4-BE49-F238E27FC236}">
                <a16:creationId xmlns:a16="http://schemas.microsoft.com/office/drawing/2014/main" id="{AB3BE6E1-2744-5CE7-5189-0B922704CD45}"/>
              </a:ext>
            </a:extLst>
          </p:cNvPr>
          <p:cNvCxnSpPr>
            <a:cxnSpLocks/>
          </p:cNvCxnSpPr>
          <p:nvPr/>
        </p:nvCxnSpPr>
        <p:spPr>
          <a:xfrm flipH="1">
            <a:off x="8998348" y="1616402"/>
            <a:ext cx="2852848" cy="1810335"/>
          </a:xfrm>
          <a:prstGeom prst="bentConnector4">
            <a:avLst>
              <a:gd name="adj1" fmla="val -8013"/>
              <a:gd name="adj2" fmla="val 74771"/>
            </a:avLst>
          </a:prstGeom>
          <a:ln>
            <a:solidFill>
              <a:schemeClr val="accent6">
                <a:lumMod val="50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3" name="Elbow Connector 612">
            <a:extLst>
              <a:ext uri="{FF2B5EF4-FFF2-40B4-BE49-F238E27FC236}">
                <a16:creationId xmlns:a16="http://schemas.microsoft.com/office/drawing/2014/main" id="{78FB81AF-62F3-E17D-DA6B-C42745CC0D36}"/>
              </a:ext>
            </a:extLst>
          </p:cNvPr>
          <p:cNvCxnSpPr>
            <a:cxnSpLocks/>
            <a:stCxn id="219" idx="3"/>
          </p:cNvCxnSpPr>
          <p:nvPr/>
        </p:nvCxnSpPr>
        <p:spPr>
          <a:xfrm flipH="1">
            <a:off x="11358282" y="2295345"/>
            <a:ext cx="483372" cy="1131392"/>
          </a:xfrm>
          <a:prstGeom prst="bentConnector4">
            <a:avLst>
              <a:gd name="adj1" fmla="val -22812"/>
              <a:gd name="adj2" fmla="val 50475"/>
            </a:avLst>
          </a:prstGeom>
          <a:ln>
            <a:solidFill>
              <a:srgbClr val="B6993A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" name="Group 20">
            <a:extLst>
              <a:ext uri="{FF2B5EF4-FFF2-40B4-BE49-F238E27FC236}">
                <a16:creationId xmlns:a16="http://schemas.microsoft.com/office/drawing/2014/main" id="{68156F4E-F143-CB63-2C40-792405E32195}"/>
              </a:ext>
            </a:extLst>
          </p:cNvPr>
          <p:cNvGrpSpPr/>
          <p:nvPr/>
        </p:nvGrpSpPr>
        <p:grpSpPr>
          <a:xfrm>
            <a:off x="1052513" y="1725930"/>
            <a:ext cx="1371600" cy="1663700"/>
            <a:chOff x="914400" y="2374900"/>
            <a:chExt cx="1371600" cy="1663700"/>
          </a:xfrm>
        </p:grpSpPr>
        <p:sp>
          <p:nvSpPr>
            <p:cNvPr id="5" name="Trapezoid 4">
              <a:extLst>
                <a:ext uri="{FF2B5EF4-FFF2-40B4-BE49-F238E27FC236}">
                  <a16:creationId xmlns:a16="http://schemas.microsoft.com/office/drawing/2014/main" id="{E88512CF-F65D-A594-8804-E4CF7DAE210E}"/>
                </a:ext>
              </a:extLst>
            </p:cNvPr>
            <p:cNvSpPr/>
            <p:nvPr/>
          </p:nvSpPr>
          <p:spPr>
            <a:xfrm>
              <a:off x="914400" y="2374900"/>
              <a:ext cx="1371600" cy="1663700"/>
            </a:xfrm>
            <a:custGeom>
              <a:avLst/>
              <a:gdLst/>
              <a:ahLst/>
              <a:cxnLst/>
              <a:rect l="0" t="0" r="r" b="b"/>
              <a:pathLst>
                <a:path w="1371600" h="1663700">
                  <a:moveTo>
                    <a:pt x="0" y="0"/>
                  </a:moveTo>
                  <a:lnTo>
                    <a:pt x="1371600" y="279400"/>
                  </a:lnTo>
                  <a:lnTo>
                    <a:pt x="1371600" y="1384300"/>
                  </a:lnTo>
                  <a:lnTo>
                    <a:pt x="0" y="1663700"/>
                  </a:lnTo>
                  <a:close/>
                </a:path>
              </a:pathLst>
            </a:custGeom>
            <a:solidFill>
              <a:schemeClr val="bg2"/>
            </a:solidFill>
            <a:ln w="19050">
              <a:solidFill>
                <a:srgbClr val="3E6D8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D7D9726-5393-837A-CC69-6739933CDFA6}"/>
                </a:ext>
              </a:extLst>
            </p:cNvPr>
            <p:cNvSpPr txBox="1"/>
            <p:nvPr/>
          </p:nvSpPr>
          <p:spPr>
            <a:xfrm>
              <a:off x="1003300" y="2717800"/>
              <a:ext cx="1206500" cy="97790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BEATs </a:t>
              </a:r>
            </a:p>
            <a:p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Encoder</a:t>
              </a:r>
            </a:p>
            <a:p>
              <a:r>
                <a:rPr lang="en-US" sz="1400" dirty="0">
                  <a:solidFill>
                    <a:srgbClr val="3E6D85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(Pretrained)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859658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247</TotalTime>
  <Words>126</Words>
  <Application>Microsoft Macintosh PowerPoint</Application>
  <PresentationFormat>Custom</PresentationFormat>
  <Paragraphs>50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Aptos</vt:lpstr>
      <vt:lpstr>Aptos Display</vt:lpstr>
      <vt:lpstr>Arial</vt:lpstr>
      <vt:lpstr>Cambria Math</vt:lpstr>
      <vt:lpstr>Consolas</vt:lpstr>
      <vt:lpstr>Helvetica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Nie, Jingping</dc:creator>
  <cp:lastModifiedBy>Zilong Zeng</cp:lastModifiedBy>
  <cp:revision>30</cp:revision>
  <dcterms:created xsi:type="dcterms:W3CDTF">2026-09-14T23:48:42Z</dcterms:created>
  <dcterms:modified xsi:type="dcterms:W3CDTF">2026-09-24T04:31:58Z</dcterms:modified>
</cp:coreProperties>
</file>