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46304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/>
    <p:restoredTop sz="94658"/>
  </p:normalViewPr>
  <p:slideViewPr>
    <p:cSldViewPr snapToGrid="0">
      <p:cViewPr varScale="1">
        <p:scale>
          <a:sx n="116" d="100"/>
          <a:sy n="116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h_i shared trunk"/>
          <p:cNvSpPr/>
          <p:nvPr/>
        </p:nvSpPr>
        <p:spPr>
          <a:xfrm>
            <a:off x="6987807" y="2455100"/>
            <a:ext cx="276593" cy="13"/>
          </a:xfrm>
          <a:custGeom>
            <a:avLst/>
            <a:gdLst/>
            <a:ahLst/>
            <a:cxnLst/>
            <a:rect l="0" t="0" r="r" b="b"/>
            <a:pathLst>
              <a:path w="276593" h="13" fill="none" stroke="1">
                <a:moveTo>
                  <a:pt x="0" y="0"/>
                </a:moveTo>
                <a:lnTo>
                  <a:pt x="276593" y="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</a:ln>
        </p:spPr>
      </p:sp>
      <p:sp>
        <p:nvSpPr>
          <p:cNvPr id="138" name="h_i parallel head bus"/>
          <p:cNvSpPr/>
          <p:nvPr/>
        </p:nvSpPr>
        <p:spPr>
          <a:xfrm>
            <a:off x="7264400" y="2230145"/>
            <a:ext cx="2324100" cy="1160755"/>
          </a:xfrm>
          <a:custGeom>
            <a:avLst/>
            <a:gdLst/>
            <a:ahLst/>
            <a:cxnLst/>
            <a:rect l="0" t="0" r="r" b="b"/>
            <a:pathLst>
              <a:path w="2324100" h="1160755" fill="none" stroke="1">
                <a:moveTo>
                  <a:pt x="0" y="0"/>
                </a:moveTo>
                <a:lnTo>
                  <a:pt x="0" y="1160755"/>
                </a:lnTo>
                <a:lnTo>
                  <a:pt x="2324100" y="1160755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</a:ln>
        </p:spPr>
      </p:sp>
      <p:sp>
        <p:nvSpPr>
          <p:cNvPr id="139" name="h_i to ICBHI native head"/>
          <p:cNvSpPr/>
          <p:nvPr/>
        </p:nvSpPr>
        <p:spPr>
          <a:xfrm>
            <a:off x="7264400" y="2230145"/>
            <a:ext cx="351028" cy="13"/>
          </a:xfrm>
          <a:custGeom>
            <a:avLst/>
            <a:gdLst/>
            <a:ahLst/>
            <a:cxnLst/>
            <a:rect l="0" t="0" r="r" b="b"/>
            <a:pathLst>
              <a:path w="351028" h="13" fill="none" stroke="1">
                <a:moveTo>
                  <a:pt x="0" y="0"/>
                </a:moveTo>
                <a:lnTo>
                  <a:pt x="351028" y="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40" name="h_i to SPRSound native head"/>
          <p:cNvSpPr/>
          <p:nvPr/>
        </p:nvSpPr>
        <p:spPr>
          <a:xfrm>
            <a:off x="7264400" y="2770530"/>
            <a:ext cx="351028" cy="13"/>
          </a:xfrm>
          <a:custGeom>
            <a:avLst/>
            <a:gdLst/>
            <a:ahLst/>
            <a:cxnLst/>
            <a:rect l="0" t="0" r="r" b="b"/>
            <a:pathLst>
              <a:path w="351028" h="13" fill="none" stroke="1">
                <a:moveTo>
                  <a:pt x="0" y="0"/>
                </a:moveTo>
                <a:lnTo>
                  <a:pt x="351028" y="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41" name="h_i to Crackle auxiliary head"/>
          <p:cNvSpPr/>
          <p:nvPr/>
        </p:nvSpPr>
        <p:spPr>
          <a:xfrm>
            <a:off x="8191500" y="3390900"/>
            <a:ext cx="13" cy="88900"/>
          </a:xfrm>
          <a:custGeom>
            <a:avLst/>
            <a:gdLst/>
            <a:ahLst/>
            <a:cxnLst/>
            <a:rect l="0" t="0" r="r" b="b"/>
            <a:pathLst>
              <a:path w="13" h="88900" fill="none" stroke="1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42" name="h_i to Wheeze auxiliary head"/>
          <p:cNvSpPr/>
          <p:nvPr/>
        </p:nvSpPr>
        <p:spPr>
          <a:xfrm>
            <a:off x="9588500" y="3390900"/>
            <a:ext cx="13" cy="88900"/>
          </a:xfrm>
          <a:custGeom>
            <a:avLst/>
            <a:gdLst/>
            <a:ahLst/>
            <a:cxnLst/>
            <a:rect l="0" t="0" r="r" b="b"/>
            <a:pathLst>
              <a:path w="13" h="88900" fill="none" stroke="1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43" name="Shared h_i branch"/>
          <p:cNvSpPr/>
          <p:nvPr/>
        </p:nvSpPr>
        <p:spPr>
          <a:xfrm>
            <a:off x="7245350" y="2436050"/>
            <a:ext cx="38100" cy="3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4" name="Shared h_i branch"/>
          <p:cNvSpPr/>
          <p:nvPr/>
        </p:nvSpPr>
        <p:spPr>
          <a:xfrm>
            <a:off x="7245350" y="2751480"/>
            <a:ext cx="38100" cy="3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5" name="Shared h_i branch"/>
          <p:cNvSpPr/>
          <p:nvPr/>
        </p:nvSpPr>
        <p:spPr>
          <a:xfrm>
            <a:off x="8172450" y="3371850"/>
            <a:ext cx="38100" cy="3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6" name="ICBHI head to native ICBHI output"/>
          <p:cNvSpPr/>
          <p:nvPr/>
        </p:nvSpPr>
        <p:spPr>
          <a:xfrm>
            <a:off x="9520428" y="2230145"/>
            <a:ext cx="1448816" cy="13"/>
          </a:xfrm>
          <a:custGeom>
            <a:avLst/>
            <a:gdLst/>
            <a:ahLst/>
            <a:cxnLst/>
            <a:rect l="0" t="0" r="r" b="b"/>
            <a:pathLst>
              <a:path w="1448816" h="13" fill="none" stroke="1">
                <a:moveTo>
                  <a:pt x="0" y="0"/>
                </a:moveTo>
                <a:lnTo>
                  <a:pt x="1448816" y="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47" name="ICBHI-only external readout bus"/>
          <p:cNvSpPr/>
          <p:nvPr/>
        </p:nvSpPr>
        <p:spPr>
          <a:xfrm>
            <a:off x="10782300" y="2230145"/>
            <a:ext cx="13" cy="1245684"/>
          </a:xfrm>
          <a:custGeom>
            <a:avLst/>
            <a:gdLst/>
            <a:ahLst/>
            <a:cxnLst/>
            <a:rect l="0" t="0" r="r" b="b"/>
            <a:pathLst>
              <a:path w="13" h="1245684" fill="none" stroke="1">
                <a:moveTo>
                  <a:pt x="0" y="0"/>
                </a:moveTo>
                <a:lnTo>
                  <a:pt x="0" y="1245684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</a:ln>
        </p:spPr>
      </p:sp>
      <p:sp>
        <p:nvSpPr>
          <p:cNvPr id="148" name="ICBHI head to KAUH output"/>
          <p:cNvSpPr/>
          <p:nvPr/>
        </p:nvSpPr>
        <p:spPr>
          <a:xfrm>
            <a:off x="10782300" y="3475830"/>
            <a:ext cx="186944" cy="13"/>
          </a:xfrm>
          <a:custGeom>
            <a:avLst/>
            <a:gdLst/>
            <a:ahLst/>
            <a:cxnLst/>
            <a:rect l="0" t="0" r="r" b="b"/>
            <a:pathLst>
              <a:path w="186944" h="13" fill="none" stroke="1">
                <a:moveTo>
                  <a:pt x="0" y="0"/>
                </a:moveTo>
                <a:lnTo>
                  <a:pt x="186944" y="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49" name="ICBHI head to HF output"/>
          <p:cNvSpPr/>
          <p:nvPr/>
        </p:nvSpPr>
        <p:spPr>
          <a:xfrm>
            <a:off x="10782300" y="2845204"/>
            <a:ext cx="186944" cy="13"/>
          </a:xfrm>
          <a:custGeom>
            <a:avLst/>
            <a:gdLst/>
            <a:ahLst/>
            <a:cxnLst/>
            <a:rect l="0" t="0" r="r" b="b"/>
            <a:pathLst>
              <a:path w="186944" h="13" fill="none" stroke="1">
                <a:moveTo>
                  <a:pt x="0" y="0"/>
                </a:moveTo>
                <a:lnTo>
                  <a:pt x="186944" y="0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50" name="ICBHI output branch"/>
          <p:cNvSpPr/>
          <p:nvPr/>
        </p:nvSpPr>
        <p:spPr>
          <a:xfrm>
            <a:off x="10763250" y="2211095"/>
            <a:ext cx="38100" cy="3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1" name="ICBHI output branch"/>
          <p:cNvSpPr/>
          <p:nvPr/>
        </p:nvSpPr>
        <p:spPr>
          <a:xfrm>
            <a:off x="10763250" y="2826154"/>
            <a:ext cx="38100" cy="3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2" name="Separate SPRSound output route"/>
          <p:cNvSpPr/>
          <p:nvPr/>
        </p:nvSpPr>
        <p:spPr>
          <a:xfrm>
            <a:off x="9520428" y="2770530"/>
            <a:ext cx="1448816" cy="1335925"/>
          </a:xfrm>
          <a:custGeom>
            <a:avLst/>
            <a:gdLst/>
            <a:ahLst/>
            <a:cxnLst/>
            <a:rect l="0" t="0" r="r" b="b"/>
            <a:pathLst>
              <a:path w="1448816" h="1335925" fill="none" stroke="1">
                <a:moveTo>
                  <a:pt x="0" y="0"/>
                </a:moveTo>
                <a:lnTo>
                  <a:pt x="1045972" y="0"/>
                </a:lnTo>
                <a:lnTo>
                  <a:pt x="1045972" y="1335925"/>
                </a:lnTo>
                <a:lnTo>
                  <a:pt x="1448816" y="1335925"/>
                </a:lnTo>
              </a:path>
            </a:pathLst>
          </a:custGeom>
          <a:noFill/>
          <a:ln w="2286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53" name="Native task heads to classification loss"/>
          <p:cNvSpPr/>
          <p:nvPr/>
        </p:nvSpPr>
        <p:spPr>
          <a:xfrm>
            <a:off x="9652000" y="3043936"/>
            <a:ext cx="723900" cy="1159764"/>
          </a:xfrm>
          <a:custGeom>
            <a:avLst/>
            <a:gdLst/>
            <a:ahLst/>
            <a:cxnLst/>
            <a:rect l="0" t="0" r="r" b="b"/>
            <a:pathLst>
              <a:path w="723900" h="1159764" fill="none" stroke="1">
                <a:moveTo>
                  <a:pt x="0" y="0"/>
                </a:moveTo>
                <a:lnTo>
                  <a:pt x="723900" y="0"/>
                </a:lnTo>
                <a:lnTo>
                  <a:pt x="723900" y="1159764"/>
                </a:lnTo>
                <a:lnTo>
                  <a:pt x="635000" y="1159764"/>
                </a:lnTo>
              </a:path>
            </a:pathLst>
          </a:custGeom>
          <a:noFill/>
          <a:ln w="19050">
            <a:solidFill>
              <a:schemeClr val="accent6">
                <a:lumMod val="50000"/>
              </a:schemeClr>
            </a:solidFill>
            <a:prstDash val="dash"/>
            <a:round/>
            <a:tailEnd type="triangle" w="sm" len="sm"/>
          </a:ln>
        </p:spPr>
      </p:sp>
      <p:sp>
        <p:nvSpPr>
          <p:cNvPr id="154" name="Crackle auxiliary to training loss only"/>
          <p:cNvSpPr/>
          <p:nvPr/>
        </p:nvSpPr>
        <p:spPr>
          <a:xfrm>
            <a:off x="8191500" y="37973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9050">
            <a:solidFill>
              <a:schemeClr val="accent6">
                <a:lumMod val="50000"/>
              </a:schemeClr>
            </a:solidFill>
            <a:prstDash val="dash"/>
            <a:round/>
            <a:tailEnd type="triangle" w="sm" len="sm"/>
          </a:ln>
        </p:spPr>
      </p:sp>
      <p:sp>
        <p:nvSpPr>
          <p:cNvPr id="155" name="Wheeze auxiliary to training loss only"/>
          <p:cNvSpPr/>
          <p:nvPr/>
        </p:nvSpPr>
        <p:spPr>
          <a:xfrm>
            <a:off x="9588500" y="37973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9050">
            <a:solidFill>
              <a:schemeClr val="accent6">
                <a:lumMod val="50000"/>
              </a:schemeClr>
            </a:solidFill>
            <a:prstDash val="dash"/>
            <a:round/>
            <a:tailEnd type="triangle" w="sm" len="sm"/>
          </a:ln>
        </p:spPr>
      </p:sp>
      <p:sp>
        <p:nvSpPr>
          <p:cNvPr id="135" name="Auxiliary heads boundary"/>
          <p:cNvSpPr/>
          <p:nvPr/>
        </p:nvSpPr>
        <p:spPr>
          <a:xfrm>
            <a:off x="7493000" y="3422650"/>
            <a:ext cx="2794000" cy="42545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7493000" y="1960118"/>
            <a:ext cx="2159000" cy="108381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5232574" y="2181851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3174122" y="1897261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3073485" y="2150353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615428" y="2007616"/>
            <a:ext cx="1905000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615428" y="2548001"/>
            <a:ext cx="1905000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904541" y="2420265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608943" y="2029912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2616285" y="2599113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4502894" y="2453566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366000" y="1568171"/>
            <a:ext cx="2413000" cy="369329"/>
          </a:xfrm>
          <a:prstGeom prst="rect">
            <a:avLst/>
          </a:prstGeom>
          <a:noFill/>
        </p:spPr>
        <p:txBody>
          <a:bodyPr wrap="none" rtlCol="0" anchor="ctr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Native 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702588" y="3781135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56500" y="3479800"/>
            <a:ext cx="1270000" cy="317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53500" y="3479800"/>
            <a:ext cx="1270000" cy="317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0826576" y="1568171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400" dirty="0">
                    <a:solidFill>
                      <a:schemeClr val="tx1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969285" y="3200764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200764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488594" y="2459011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3876363" y="4673600"/>
            <a:ext cx="6595478" cy="5588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ℒ</m:t>
                  </m:r>
                  <m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PCSL</m:t>
                      </m:r>
                    </m:sub>
                  </m:sSub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GPAL</m:t>
                      </m:r>
                    </m:sub>
                  </m:sSub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  <m:sSub>
                    <m:sSubPr>
                      <m:ctrl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</p:cNvCxnSpPr>
          <p:nvPr/>
        </p:nvCxnSpPr>
        <p:spPr>
          <a:xfrm>
            <a:off x="6110188" y="3553451"/>
            <a:ext cx="0" cy="42164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Auxiliary C/W heads heading"/>
          <p:cNvSpPr txBox="1"/>
          <p:nvPr/>
        </p:nvSpPr>
        <p:spPr>
          <a:xfrm>
            <a:off x="7442200" y="3054350"/>
            <a:ext cx="2870200" cy="330200"/>
          </a:xfrm>
          <a:prstGeom prst="rect">
            <a:avLst/>
          </a:prstGeom>
          <a:noFill/>
        </p:spPr>
        <p:txBody>
          <a:bodyPr wrap="none" rtlCol="0" anchor="ctr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Auxiliary C/W heads</a:t>
            </a:r>
          </a:p>
        </p:txBody>
      </p:sp>
      <p:sp xmlns:a14="http://schemas.microsoft.com/office/drawing/2010/main">
        <p:nvSpPr>
          <p:cNvPr id="136" name="Shared representation h_i"/>
          <p:cNvSpPr>
            <a:spLocks noGrp="1"/>
          </p:cNvSpPr>
          <p:nvPr/>
        </p:nvSpPr>
        <p:spPr>
          <a:xfrm>
            <a:off x="6985000" y="2197100"/>
            <a:ext cx="2794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 xmlns:a14="http://schemas.microsoft.com/office/drawing/2010/main">
        <p:nvSpPr>
          <p:cNvPr id="156" name="PAFA regularization losses"/>
          <p:cNvSpPr/>
          <p:nvPr/>
        </p:nvSpPr>
        <p:spPr>
          <a:xfrm>
            <a:off x="5118100" y="3975100"/>
            <a:ext cx="2019300" cy="457200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a14:m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PCSL</ns0:t>
                      </ns0:r>
                    </ns0:sub>
                  </ns0:sSub>
                  <ns0:r>
                    <ns0:rPr>
                      <ns0:nor/>
                    </ns0:rPr>
                    <a:rPr lang="en-US" i="1" smtClean="0" sz="180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, </ns0:t>
                  </ns0:r>
                  <ns0:sSub>
                    <ns0:sSubPr>
                      <ns0:ctrl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GPAL</ns0:t>
                      </ns0:r>
                    </ns0:sub>
                  </ns0:sSub>
                </ns0:oMath>
              </ns0:oMathPara>
            </a14:m>
          </a:p>
          <a:p>
            <a:pPr algn="ctr"/>
            <a:r>
              <a:rPr sz="1200" lang="en-US">
                <a:solidFill>
                  <a:srgbClr val="7030A0"/>
                </a:solidFill>
                <a:latin typeface="Arial"/>
              </a:rPr>
              <a:t>Patient regularization</a:t>
            </a:r>
          </a:p>
        </p:txBody>
      </p:sp>
      <p:sp>
        <p:nvSpPr>
          <p:cNvPr id="157" name="Classification loss L_cls"/>
          <p:cNvSpPr/>
          <p:nvPr/>
        </p:nvSpPr>
        <p:spPr>
          <a:xfrm>
            <a:off x="7493000" y="3975100"/>
            <a:ext cx="2794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cls</ns0:t>
                      </ns0:r>
                    </ns0:sub>
                  </ns0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32631C"/>
                </a:solidFill>
                <a:latin typeface="Arial"/>
              </a:rPr>
              <a:t>Native + C/W</a:t>
            </a:r>
          </a:p>
        </p:txBody>
      </p:sp>
      <p:sp>
        <p:nvSpPr>
          <p:cNvPr id="158" name="Classification loss to total objective"/>
          <p:cNvSpPr/>
          <p:nvPr/>
        </p:nvSpPr>
        <p:spPr>
          <a:xfrm>
            <a:off x="8890000" y="4432300"/>
            <a:ext cx="635000" cy="241300"/>
          </a:xfrm>
          <a:custGeom>
            <a:avLst/>
            <a:gdLst/>
            <a:ahLst/>
            <a:cxnLst/>
            <a:rect l="0" t="0" r="r" b="b"/>
            <a:pathLst>
              <a:path w="635000" h="241300" fill="none" stroke="1">
                <a:moveTo>
                  <a:pt x="0" y="0"/>
                </a:moveTo>
                <a:lnTo>
                  <a:pt x="0" y="114300"/>
                </a:lnTo>
                <a:lnTo>
                  <a:pt x="635000" y="114300"/>
                </a:lnTo>
                <a:lnTo>
                  <a:pt x="635000" y="241300"/>
                </a:lnTo>
              </a:path>
            </a:pathLst>
          </a:custGeom>
          <a:noFill/>
          <a:ln w="19050">
            <a:solidFill>
              <a:schemeClr val="accent6">
                <a:lumMod val="50000"/>
              </a:schemeClr>
            </a:solidFill>
            <a:prstDash val="dash"/>
            <a:round/>
            <a:tailEnd type="triangle" w="sm" len="sm"/>
          </a:ln>
        </p:spPr>
      </p:sp>
      <p:sp>
        <p:nvSpPr>
          <p:cNvPr id="159" name="PAFA regularization to total objective"/>
          <p:cNvSpPr/>
          <p:nvPr/>
        </p:nvSpPr>
        <p:spPr>
          <a:xfrm>
            <a:off x="6110224" y="44323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0"/>
                </a:moveTo>
                <a:lnTo>
                  <a:pt x="0" y="2413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160" name="Optional HF C/W supervision"/>
          <p:cNvSpPr/>
          <p:nvPr/>
        </p:nvSpPr>
        <p:spPr>
          <a:xfrm>
            <a:off x="7340600" y="3848100"/>
            <a:ext cx="977900" cy="825500"/>
          </a:xfrm>
          <a:custGeom>
            <a:avLst/>
            <a:gdLst/>
            <a:ahLst/>
            <a:cxnLst/>
            <a:rect l="0" t="0" r="r" b="b"/>
            <a:pathLst>
              <a:path w="977900" h="825500" fill="none" stroke="1">
                <a:moveTo>
                  <a:pt x="152400" y="0"/>
                </a:moveTo>
                <a:lnTo>
                  <a:pt x="0" y="0"/>
                </a:lnTo>
                <a:lnTo>
                  <a:pt x="0" y="622300"/>
                </a:lnTo>
                <a:lnTo>
                  <a:pt x="977900" y="622300"/>
                </a:lnTo>
                <a:lnTo>
                  <a:pt x="977900" y="8255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161" name="Optional HF label"/>
          <p:cNvSpPr txBox="1"/>
          <p:nvPr/>
        </p:nvSpPr>
        <p:spPr>
          <a:xfrm>
            <a:off x="6908800" y="4464050"/>
            <a:ext cx="1346200" cy="203200"/>
          </a:xfrm>
          <a:prstGeom prst="rect">
            <a:avLst/>
          </a:prstGeom>
          <a:noFill/>
        </p:spPr>
        <p:txBody>
          <a:bodyPr wrap="none" rtlCol="0" anchor="ctr" lIns="0" rIns="0" tIns="0" bIns="0">
            <a:noAutofit/>
          </a:bodyPr>
          <a:lstStyle/>
          <a:p>
            <a:pPr algn="ctr"/>
            <a:r>
              <a:rPr lang="en-US" sz="1200" b="0" i="0">
                <a:solidFill>
                  <a:srgbClr val="B6993A"/>
                </a:solidFill>
                <a:latin typeface="Arial"/>
              </a:rPr>
              <a:t>HF C/W (optional)</a:t>
            </a:r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112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14</cp:revision>
  <dcterms:created xsi:type="dcterms:W3CDTF">2026-09-14T23:48:42Z</dcterms:created>
  <dcterms:modified xsi:type="dcterms:W3CDTF">2026-09-21T05:25:07Z</dcterms:modified>
</cp:coreProperties>
</file>