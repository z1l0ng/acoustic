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4630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/>
    <p:restoredTop sz="94658"/>
  </p:normalViewPr>
  <p:slideViewPr>
    <p:cSldViewPr snapToGrid="0">
      <p:cViewPr varScale="1">
        <p:scale>
          <a:sx n="116" d="100"/>
          <a:sy n="116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ptional HF supervision to loss"/>
          <p:cNvSpPr/>
          <p:nvPr/>
        </p:nvSpPr>
        <p:spPr>
          <a:xfrm>
            <a:off x="10464800" y="3733800"/>
            <a:ext cx="2184400" cy="558800"/>
          </a:xfrm>
          <a:custGeom>
            <a:avLst/>
            <a:gdLst/>
            <a:ahLst/>
            <a:cxnLst/>
            <a:rect l="0" t="0" r="r" b="b"/>
            <a:pathLst>
              <a:path w="2184400" h="558800" fill="none" stroke="1">
                <a:moveTo>
                  <a:pt x="0" y="0"/>
                </a:moveTo>
                <a:lnTo>
                  <a:pt x="0" y="406400"/>
                </a:lnTo>
                <a:lnTo>
                  <a:pt x="2184400" y="406400"/>
                </a:lnTo>
                <a:lnTo>
                  <a:pt x="2184400" y="5588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313" name="Optional HF supervision upper"/>
          <p:cNvSpPr/>
          <p:nvPr/>
        </p:nvSpPr>
        <p:spPr>
          <a:xfrm>
            <a:off x="9855200" y="3149600"/>
            <a:ext cx="609600" cy="431800"/>
          </a:xfrm>
          <a:custGeom>
            <a:avLst/>
            <a:gdLst/>
            <a:ahLst/>
            <a:cxnLst/>
            <a:rect l="0" t="0" r="r" b="b"/>
            <a:pathLst>
              <a:path w="609600" h="431800" fill="none" stroke="1">
                <a:moveTo>
                  <a:pt x="0" y="0"/>
                </a:moveTo>
                <a:lnTo>
                  <a:pt x="609600" y="0"/>
                </a:lnTo>
                <a:lnTo>
                  <a:pt x="609600" y="4318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</a:ln>
        </p:spPr>
      </p:sp>
      <p:sp>
        <p:nvSpPr>
          <p:cNvPr id="312" name="Shared C-W supervision to classification"/>
          <p:cNvSpPr/>
          <p:nvPr/>
        </p:nvSpPr>
        <p:spPr>
          <a:xfrm>
            <a:off x="10160000" y="3733800"/>
            <a:ext cx="50800" cy="711200"/>
          </a:xfrm>
          <a:custGeom>
            <a:avLst/>
            <a:gdLst/>
            <a:ahLst/>
            <a:cxnLst/>
            <a:rect l="0" t="0" r="r" b="b"/>
            <a:pathLst>
              <a:path w="50800" h="711200" fill="none" stroke="1">
                <a:moveTo>
                  <a:pt x="50800" y="0"/>
                </a:moveTo>
                <a:lnTo>
                  <a:pt x="50800" y="711200"/>
                </a:lnTo>
                <a:lnTo>
                  <a:pt x="0" y="711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11" name="Wheeze to shared C-W supervision"/>
          <p:cNvSpPr/>
          <p:nvPr/>
        </p:nvSpPr>
        <p:spPr>
          <a:xfrm>
            <a:off x="9474200" y="29718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10" name="Crackle to shared C-W supervision"/>
          <p:cNvSpPr/>
          <p:nvPr/>
        </p:nvSpPr>
        <p:spPr>
          <a:xfrm>
            <a:off x="8140700" y="2971800"/>
            <a:ext cx="2070100" cy="609600"/>
          </a:xfrm>
          <a:custGeom>
            <a:avLst/>
            <a:gdLst/>
            <a:ahLst/>
            <a:cxnLst/>
            <a:rect l="0" t="0" r="r" b="b"/>
            <a:pathLst>
              <a:path w="2070100" h="609600" fill="none" stroke="1">
                <a:moveTo>
                  <a:pt x="0" y="0"/>
                </a:moveTo>
                <a:lnTo>
                  <a:pt x="0" y="177800"/>
                </a:lnTo>
                <a:lnTo>
                  <a:pt x="2070100" y="177800"/>
                </a:lnTo>
                <a:lnTo>
                  <a:pt x="2070100" y="609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9" name="SPRSound native supervision to classification"/>
          <p:cNvSpPr/>
          <p:nvPr/>
        </p:nvSpPr>
        <p:spPr>
          <a:xfrm>
            <a:off x="87884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08" name="ICBHI native supervision to classification"/>
          <p:cNvSpPr/>
          <p:nvPr/>
        </p:nvSpPr>
        <p:spPr>
          <a:xfrm>
            <a:off x="10160000" y="42164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 stroke="1">
                <a:moveTo>
                  <a:pt x="457200" y="0"/>
                </a:moveTo>
                <a:lnTo>
                  <a:pt x="457200" y="457200"/>
                </a:lnTo>
                <a:lnTo>
                  <a:pt x="0" y="457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307" name="ICBHI native supervision middle"/>
          <p:cNvSpPr/>
          <p:nvPr/>
        </p:nvSpPr>
        <p:spPr>
          <a:xfrm>
            <a:off x="10617200" y="3733800"/>
            <a:ext cx="13" cy="330200"/>
          </a:xfrm>
          <a:custGeom>
            <a:avLst/>
            <a:gdLst/>
            <a:ahLst/>
            <a:cxnLst/>
            <a:rect l="0" t="0" r="r" b="b"/>
            <a:pathLst>
              <a:path w="13" h="330200" fill="none" stroke="1">
                <a:moveTo>
                  <a:pt x="0" y="0"/>
                </a:moveTo>
                <a:lnTo>
                  <a:pt x="0" y="330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6" name="ICBHI native supervision upper"/>
          <p:cNvSpPr/>
          <p:nvPr/>
        </p:nvSpPr>
        <p:spPr>
          <a:xfrm>
            <a:off x="10033000" y="1879600"/>
            <a:ext cx="584200" cy="1701800"/>
          </a:xfrm>
          <a:custGeom>
            <a:avLst/>
            <a:gdLst/>
            <a:ahLst/>
            <a:cxnLst/>
            <a:rect l="0" t="0" r="r" b="b"/>
            <a:pathLst>
              <a:path w="584200" h="1701800" fill="none" stroke="1">
                <a:moveTo>
                  <a:pt x="0" y="0"/>
                </a:moveTo>
                <a:lnTo>
                  <a:pt x="584200" y="0"/>
                </a:lnTo>
                <a:lnTo>
                  <a:pt x="584200" y="17018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305" name="SPRSound native output"/>
          <p:cNvSpPr/>
          <p:nvPr/>
        </p:nvSpPr>
        <p:spPr>
          <a:xfrm>
            <a:off x="10033000" y="3657600"/>
            <a:ext cx="1041400" cy="13"/>
          </a:xfrm>
          <a:custGeom>
            <a:avLst/>
            <a:gdLst/>
            <a:ahLst/>
            <a:cxnLst/>
            <a:rect l="0" t="0" r="r" b="b"/>
            <a:pathLst>
              <a:path w="1041400" h="13" fill="none" stroke="1">
                <a:moveTo>
                  <a:pt x="0" y="0"/>
                </a:moveTo>
                <a:lnTo>
                  <a:pt x="1041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4" name="Shared h to lower SPRSound native head"/>
          <p:cNvSpPr/>
          <p:nvPr/>
        </p:nvSpPr>
        <p:spPr>
          <a:xfrm>
            <a:off x="7188200" y="3657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3" name="Shared h to Wheeze"/>
          <p:cNvSpPr/>
          <p:nvPr/>
        </p:nvSpPr>
        <p:spPr>
          <a:xfrm>
            <a:off x="9474200" y="2438400"/>
            <a:ext cx="13" cy="101600"/>
          </a:xfrm>
          <a:custGeom>
            <a:avLst/>
            <a:gdLst/>
            <a:ahLst/>
            <a:cxnLst/>
            <a:rect l="0" t="0" r="r" b="b"/>
            <a:pathLst>
              <a:path w="13" h="101600" fill="none" stroke="1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2" name="Shared h to Crackle"/>
          <p:cNvSpPr/>
          <p:nvPr/>
        </p:nvSpPr>
        <p:spPr>
          <a:xfrm>
            <a:off x="8140700" y="2438400"/>
            <a:ext cx="13" cy="101600"/>
          </a:xfrm>
          <a:custGeom>
            <a:avLst/>
            <a:gdLst/>
            <a:ahLst/>
            <a:cxnLst/>
            <a:rect l="0" t="0" r="r" b="b"/>
            <a:pathLst>
              <a:path w="13" h="101600" fill="none" stroke="1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301" name="Shared h to middle C-W branch"/>
          <p:cNvSpPr/>
          <p:nvPr/>
        </p:nvSpPr>
        <p:spPr>
          <a:xfrm>
            <a:off x="7188200" y="24384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 stroke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300" name="Shared h native head trunk"/>
          <p:cNvSpPr/>
          <p:nvPr/>
        </p:nvSpPr>
        <p:spPr>
          <a:xfrm>
            <a:off x="7188200" y="1625600"/>
            <a:ext cx="13" cy="2032000"/>
          </a:xfrm>
          <a:custGeom>
            <a:avLst/>
            <a:gdLst/>
            <a:ahLst/>
            <a:cxnLst/>
            <a:rect l="0" t="0" r="r" b="b"/>
            <a:pathLst>
              <a:path w="13" h="2032000" fill="none" stroke="1">
                <a:moveTo>
                  <a:pt x="0" y="0"/>
                </a:moveTo>
                <a:lnTo>
                  <a:pt x="0" y="2032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</p:sp>
      <p:sp>
        <p:nvSpPr>
          <p:cNvPr id="234" name="HF loss to objective"/>
          <p:cNvSpPr/>
          <p:nvPr/>
        </p:nvSpPr>
        <p:spPr>
          <a:xfrm>
            <a:off x="12649200" y="4800600"/>
            <a:ext cx="127000" cy="457200"/>
          </a:xfrm>
          <a:custGeom>
            <a:avLst/>
            <a:gdLst/>
            <a:ahLst/>
            <a:cxnLst/>
            <a:rect l="0" t="0" r="r" b="b"/>
            <a:pathLst>
              <a:path w="127000" h="457200" fill="none" stroke="1">
                <a:moveTo>
                  <a:pt x="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4572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233" name="Classification loss to objective"/>
          <p:cNvSpPr/>
          <p:nvPr/>
        </p:nvSpPr>
        <p:spPr>
          <a:xfrm>
            <a:off x="8788400" y="4800600"/>
            <a:ext cx="1981200" cy="457200"/>
          </a:xfrm>
          <a:custGeom>
            <a:avLst/>
            <a:gdLst/>
            <a:ahLst/>
            <a:cxnLst/>
            <a:rect l="0" t="0" r="r" b="b"/>
            <a:pathLst>
              <a:path w="1981200" h="457200" fill="none" stroke="1">
                <a:moveTo>
                  <a:pt x="0" y="0"/>
                </a:moveTo>
                <a:lnTo>
                  <a:pt x="0" y="127000"/>
                </a:lnTo>
                <a:lnTo>
                  <a:pt x="1981200" y="127000"/>
                </a:lnTo>
                <a:lnTo>
                  <a:pt x="1981200" y="457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32" name="Patient contrastive term branch"/>
          <p:cNvSpPr/>
          <p:nvPr/>
        </p:nvSpPr>
        <p:spPr>
          <a:xfrm>
            <a:off x="6477000" y="50800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31" name="PAFA regularization to objective terms"/>
          <p:cNvSpPr/>
          <p:nvPr/>
        </p:nvSpPr>
        <p:spPr>
          <a:xfrm>
            <a:off x="5753100" y="4800600"/>
            <a:ext cx="3060700" cy="457200"/>
          </a:xfrm>
          <a:custGeom>
            <a:avLst/>
            <a:gdLst/>
            <a:ahLst/>
            <a:cxnLst/>
            <a:rect l="0" t="0" r="r" b="b"/>
            <a:pathLst>
              <a:path w="3060700" h="457200" fill="none" stroke="1">
                <a:moveTo>
                  <a:pt x="0" y="0"/>
                </a:moveTo>
                <a:lnTo>
                  <a:pt x="0" y="279400"/>
                </a:lnTo>
                <a:lnTo>
                  <a:pt x="3060700" y="279400"/>
                </a:lnTo>
                <a:lnTo>
                  <a:pt x="3060700" y="4572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12" name="ICBHI to KAUH"/>
          <p:cNvSpPr/>
          <p:nvPr/>
        </p:nvSpPr>
        <p:spPr>
          <a:xfrm>
            <a:off x="10871200" y="29972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1" name="ICBHI to HF test"/>
          <p:cNvSpPr/>
          <p:nvPr/>
        </p:nvSpPr>
        <p:spPr>
          <a:xfrm>
            <a:off x="10871200" y="23114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0" name="ICBHI external readout bus"/>
          <p:cNvSpPr/>
          <p:nvPr/>
        </p:nvSpPr>
        <p:spPr>
          <a:xfrm>
            <a:off x="10871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 stroke="1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9" name="ICBHI native readout"/>
          <p:cNvSpPr/>
          <p:nvPr/>
        </p:nvSpPr>
        <p:spPr>
          <a:xfrm>
            <a:off x="10033000" y="1625600"/>
            <a:ext cx="1041400" cy="13"/>
          </a:xfrm>
          <a:custGeom>
            <a:avLst/>
            <a:gdLst/>
            <a:ahLst/>
            <a:cxnLst/>
            <a:rect l="0" t="0" r="r" b="b"/>
            <a:pathLst>
              <a:path w="1041400" h="13" fill="none" stroke="1">
                <a:moveTo>
                  <a:pt x="0" y="0"/>
                </a:moveTo>
                <a:lnTo>
                  <a:pt x="1041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 stroke="1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 stroke="1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 stroke="1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 stroke="1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35" name="Auxiliary heads boundary"/>
          <p:cNvSpPr/>
          <p:nvPr/>
        </p:nvSpPr>
        <p:spPr>
          <a:xfrm>
            <a:off x="7416800" y="2463800"/>
            <a:ext cx="2743200" cy="5842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3378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4864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540000"/>
            <a:ext cx="1193800" cy="431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540000"/>
            <a:ext cx="1117600" cy="431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10744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1023600" y="914400"/>
            <a:ext cx="3251200" cy="355600"/>
          </a:xfrm>
          <a:prstGeom prst="rect">
            <a:avLst/>
          </a:prstGeom>
          <a:noFill/>
        </p:spPr>
        <p:txBody>
          <a:bodyPr wrap="square" rtlCol="0" anchor="b" bIns="0">
            <a:spAutoFit/>
          </a:bodyPr>
          <a:lstStyle/>
          <a:p>
            <a:pPr algn="ctr"/>
            <a:r>
              <a:rPr lang="en-US" b="1" dirty="0" sz="160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1074400" y="3378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10744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dirty="0">
                    <a:solidFill>
                      <a:schemeClr val="tx1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1074400" y="2717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200764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082800"/>
            <a:ext cx="2743200" cy="3048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p:sp xmlns:a14="http://schemas.microsoft.com/office/drawing/2010/main">
        <p:nvSpPr>
          <p:cNvPr id="136" name="Shared representation h_i"/>
          <p:cNvSpPr>
            <a:spLocks noGrp="1"/>
          </p:cNvSpPr>
          <p:nvPr/>
        </p:nvSpPr>
        <p:spPr>
          <a:xfrm>
            <a:off x="6845300" y="19050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 xmlns:a14="http://schemas.microsoft.com/office/drawing/2010/main">
        <p:nvSpPr>
          <p:cNvPr id="156" name="PAFA regularization losses"/>
          <p:cNvSpPr/>
          <p:nvPr/>
        </p:nvSpPr>
        <p:spPr>
          <a:xfrm>
            <a:off x="4724400" y="4292600"/>
            <a:ext cx="2057400" cy="5080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a14:m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PCSL</ns0:t>
                      </ns0:r>
                    </ns0:sub>
                  </ns0:sSub>
                  <ns0:r>
                    <ns0:rPr>
                      <ns0:nor/>
                    </ns0:rPr>
                    <a:rPr lang="en-US" i="1" smtClean="0" sz="180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, </ns0:t>
                  </ns0:r>
                  <ns0:sSub>
                    <ns0:sSubPr>
                      <ns0:ctrl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GPAL</ns0:t>
                      </ns0:r>
                    </ns0:sub>
                  </ns0:sSub>
                </ns0:oMath>
              </ns0:oMathPara>
            </a14:m>
          </a:p>
          <a:p>
            <a:pPr algn="ctr"/>
            <a:r>
              <a:rPr sz="1200" lang="en-US">
                <a:solidFill>
                  <a:srgbClr val="7030A0"/>
                </a:solidFill>
                <a:latin typeface="Arial"/>
              </a:rPr>
              <a:t>Patient regularization</a:t>
            </a:r>
          </a:p>
        </p:txBody>
      </p:sp>
      <p:sp>
        <p:nvSpPr>
          <p:cNvPr id="157" name="Classification loss L_cls"/>
          <p:cNvSpPr/>
          <p:nvPr/>
        </p:nvSpPr>
        <p:spPr>
          <a:xfrm>
            <a:off x="7416800" y="4292600"/>
            <a:ext cx="2743200" cy="5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cls</ns0:t>
                      </ns0:r>
                    </ns0:sub>
                  </ns0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32631C"/>
                </a:solidFill>
                <a:latin typeface="Arial"/>
              </a:rPr>
              <a:t>(ICBHI or SPRSound) + C-W</a:t>
            </a:r>
          </a:p>
        </p:txBody>
      </p:sp>
      <p:sp>
        <p:nvSpPr>
          <p:cNvPr id="219" name="Optional HF loss"/>
          <p:cNvSpPr/>
          <p:nvPr/>
        </p:nvSpPr>
        <p:spPr>
          <a:xfrm>
            <a:off x="11074400" y="4292600"/>
            <a:ext cx="3149600" cy="508000"/>
          </a:xfrm>
          <a:prstGeom prst="rect">
            <a:avLst/>
          </a:prstGeom>
          <a:solidFill>
            <a:srgbClr val="FFF5DB"/>
          </a:solidFill>
          <a:ln>
            <a:solidFill>
              <a:srgbClr val="B69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B6993A"/>
                </a:solidFill>
                <a:latin typeface="Arial"/>
              </a:rPr>
              <a:t>HF C-W (optional)</a:t>
            </a:r>
          </a:p>
        </p:txBody>
      </p:sp>
      <p:sp>
        <p:nvSpPr>
          <p:cNvPr id="221" name="C-W optional HF branch"/>
          <p:cNvSpPr/>
          <p:nvPr/>
        </p:nvSpPr>
        <p:spPr>
          <a:xfrm>
            <a:off x="9455150" y="3130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</p:sp>
      <p:sp>
        <p:nvSpPr>
          <p:cNvPr id="222" name="C-W optional HF branch"/>
          <p:cNvSpPr/>
          <p:nvPr/>
        </p:nvSpPr>
        <p:spPr>
          <a:xfrm>
            <a:off x="9836150" y="3130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</p:sp>
      <p:sp xmlns:a14="http://schemas.microsoft.com/office/drawing/2010/main">
        <p:nvSpPr>
          <p:cNvPr id="223" name="Total loss equals"/>
          <p:cNvSpPr/>
          <p:nvPr/>
        </p:nvSpPr>
        <p:spPr>
          <a:xfrm>
            <a:off x="4572000" y="5257800"/>
            <a:ext cx="8255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4" name="Weighted patient contrastive term"/>
          <p:cNvSpPr/>
          <p:nvPr/>
        </p:nvSpPr>
        <p:spPr>
          <a:xfrm>
            <a:off x="53975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5" name="Weighted attention regularization term"/>
          <p:cNvSpPr/>
          <p:nvPr/>
        </p:nvSpPr>
        <p:spPr>
          <a:xfrm>
            <a:off x="77343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6" name="Classification term"/>
          <p:cNvSpPr/>
          <p:nvPr/>
        </p:nvSpPr>
        <p:spPr>
          <a:xfrm>
            <a:off x="10071100" y="5257800"/>
            <a:ext cx="1397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7" name="Weighted optional HF term"/>
          <p:cNvSpPr/>
          <p:nvPr/>
        </p:nvSpPr>
        <p:spPr>
          <a:xfrm>
            <a:off x="11645900" y="5257800"/>
            <a:ext cx="22606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8" name="Objective addition"/>
          <p:cNvSpPr/>
          <p:nvPr/>
        </p:nvSpPr>
        <p:spPr>
          <a:xfrm>
            <a:off x="74676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9" name="Objective addition"/>
          <p:cNvSpPr/>
          <p:nvPr/>
        </p:nvSpPr>
        <p:spPr>
          <a:xfrm>
            <a:off x="9855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30" name="Objective addition"/>
          <p:cNvSpPr/>
          <p:nvPr/>
        </p:nvSpPr>
        <p:spPr>
          <a:xfrm>
            <a:off x="11379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112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14</cp:revision>
  <dcterms:created xsi:type="dcterms:W3CDTF">2026-09-14T23:48:42Z</dcterms:created>
  <dcterms:modified xsi:type="dcterms:W3CDTF">2026-09-21T05:25:07Z</dcterms:modified>
</cp:coreProperties>
</file>