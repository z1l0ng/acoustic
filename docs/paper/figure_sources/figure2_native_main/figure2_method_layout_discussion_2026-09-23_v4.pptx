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78816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7"/>
    <p:restoredTop sz="94643"/>
  </p:normalViewPr>
  <p:slideViewPr>
    <p:cSldViewPr snapToGrid="0">
      <p:cViewPr>
        <p:scale>
          <a:sx n="88" d="100"/>
          <a:sy n="88" d="100"/>
        </p:scale>
        <p:origin x="184" y="1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6.png"/><Relationship Id="rId18" Type="http://schemas.openxmlformats.org/officeDocument/2006/relationships/image" Target="../media/image14.png"/><Relationship Id="rId21" Type="http://schemas.openxmlformats.org/officeDocument/2006/relationships/image" Target="../media/image17.png"/><Relationship Id="rId7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23" Type="http://schemas.openxmlformats.org/officeDocument/2006/relationships/image" Target="../media/image19.png"/><Relationship Id="rId10" Type="http://schemas.openxmlformats.org/officeDocument/2006/relationships/image" Target="../media/image9.png"/><Relationship Id="rId19" Type="http://schemas.openxmlformats.org/officeDocument/2006/relationships/image" Target="../media/image15.png"/><Relationship Id="rId9" Type="http://schemas.openxmlformats.org/officeDocument/2006/relationships/image" Target="../media/image8.png"/><Relationship Id="rId14" Type="http://schemas.openxmlformats.org/officeDocument/2006/relationships/image" Target="../media/image7.png"/><Relationship Id="rId2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HF train C-W supervision to HF loss"/>
          <p:cNvSpPr/>
          <p:nvPr/>
        </p:nvSpPr>
        <p:spPr>
          <a:xfrm>
            <a:off x="9804400" y="3276600"/>
            <a:ext cx="990600" cy="584200"/>
          </a:xfrm>
          <a:custGeom>
            <a:avLst/>
            <a:gdLst/>
            <a:ahLst/>
            <a:cxnLst/>
            <a:rect l="0" t="0" r="r" b="b"/>
            <a:pathLst>
              <a:path w="990600" h="584200" fill="none">
                <a:moveTo>
                  <a:pt x="0" y="0"/>
                </a:moveTo>
                <a:lnTo>
                  <a:pt x="0" y="584200"/>
                </a:lnTo>
                <a:lnTo>
                  <a:pt x="990600" y="5842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PRSound batch native CE to CLS"/>
          <p:cNvSpPr/>
          <p:nvPr/>
        </p:nvSpPr>
        <p:spPr>
          <a:xfrm>
            <a:off x="10033000" y="3009900"/>
            <a:ext cx="3327400" cy="1358900"/>
          </a:xfrm>
          <a:custGeom>
            <a:avLst/>
            <a:gdLst/>
            <a:ahLst/>
            <a:cxnLst/>
            <a:rect l="0" t="0" r="r" b="b"/>
            <a:pathLst>
              <a:path w="3327400" h="1358900" fill="none">
                <a:moveTo>
                  <a:pt x="0" y="1358900"/>
                </a:moveTo>
                <a:lnTo>
                  <a:pt x="3327400" y="1358900"/>
                </a:lnTo>
                <a:lnTo>
                  <a:pt x="3327400" y="0"/>
                </a:lnTo>
                <a:lnTo>
                  <a:pt x="31496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2" name="Wheeze joins C-W supervision"/>
          <p:cNvSpPr/>
          <p:nvPr/>
        </p:nvSpPr>
        <p:spPr>
          <a:xfrm>
            <a:off x="9474200" y="31242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1" name="C-W joint supervision to CLS"/>
          <p:cNvSpPr/>
          <p:nvPr/>
        </p:nvSpPr>
        <p:spPr>
          <a:xfrm>
            <a:off x="8140700" y="2997200"/>
            <a:ext cx="2654300" cy="279400"/>
          </a:xfrm>
          <a:custGeom>
            <a:avLst/>
            <a:gdLst/>
            <a:ahLst/>
            <a:cxnLst/>
            <a:rect l="0" t="0" r="r" b="b"/>
            <a:pathLst>
              <a:path w="2654300" h="279400" fill="none">
                <a:moveTo>
                  <a:pt x="0" y="127000"/>
                </a:moveTo>
                <a:lnTo>
                  <a:pt x="0" y="279400"/>
                </a:lnTo>
                <a:lnTo>
                  <a:pt x="2400300" y="279400"/>
                </a:lnTo>
                <a:lnTo>
                  <a:pt x="2400300" y="0"/>
                </a:lnTo>
                <a:lnTo>
                  <a:pt x="26543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0" name="ICBHI batch native CE to CLS"/>
          <p:cNvSpPr/>
          <p:nvPr/>
        </p:nvSpPr>
        <p:spPr>
          <a:xfrm>
            <a:off x="8788400" y="1905000"/>
            <a:ext cx="3200400" cy="736600"/>
          </a:xfrm>
          <a:custGeom>
            <a:avLst/>
            <a:gdLst/>
            <a:ahLst/>
            <a:cxnLst/>
            <a:rect l="0" t="0" r="r" b="b"/>
            <a:pathLst>
              <a:path w="3200400" h="736600" fill="none">
                <a:moveTo>
                  <a:pt x="0" y="0"/>
                </a:moveTo>
                <a:lnTo>
                  <a:pt x="0" y="203200"/>
                </a:lnTo>
                <a:lnTo>
                  <a:pt x="3200400" y="203200"/>
                </a:lnTo>
                <a:lnTo>
                  <a:pt x="3200400" y="7366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PRSound native inference"/>
          <p:cNvSpPr/>
          <p:nvPr/>
        </p:nvSpPr>
        <p:spPr>
          <a:xfrm>
            <a:off x="10033000" y="4521200"/>
            <a:ext cx="4318000" cy="13"/>
          </a:xfrm>
          <a:custGeom>
            <a:avLst/>
            <a:gdLst/>
            <a:ahLst/>
            <a:cxnLst/>
            <a:rect l="0" t="0" r="r" b="b"/>
            <a:pathLst>
              <a:path w="4318000" h="13" fill="none">
                <a:moveTo>
                  <a:pt x="0" y="0"/>
                </a:move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8" name="ICBHI readout to KAUH"/>
          <p:cNvSpPr/>
          <p:nvPr/>
        </p:nvSpPr>
        <p:spPr>
          <a:xfrm>
            <a:off x="14046200" y="3793684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7" name="ICBHI readout to HF test"/>
          <p:cNvSpPr/>
          <p:nvPr/>
        </p:nvSpPr>
        <p:spPr>
          <a:xfrm>
            <a:off x="14046200" y="23114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6" name="Fixed ICBHI readout bus"/>
          <p:cNvSpPr/>
          <p:nvPr/>
        </p:nvSpPr>
        <p:spPr>
          <a:xfrm>
            <a:off x="14046200" y="1625599"/>
            <a:ext cx="45719" cy="2158999"/>
          </a:xfrm>
          <a:custGeom>
            <a:avLst/>
            <a:gdLst/>
            <a:ahLst/>
            <a:cxnLst/>
            <a:rect l="0" t="0" r="r" b="b"/>
            <a:pathLst>
              <a:path w="13" h="1371600" fill="none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5" name="ICBHI native inference"/>
          <p:cNvSpPr/>
          <p:nvPr/>
        </p:nvSpPr>
        <p:spPr>
          <a:xfrm>
            <a:off x="10033000" y="1625600"/>
            <a:ext cx="4318000" cy="13"/>
          </a:xfrm>
          <a:custGeom>
            <a:avLst/>
            <a:gdLst/>
            <a:ahLst/>
            <a:cxnLst/>
            <a:rect l="0" t="0" r="r" b="b"/>
            <a:pathLst>
              <a:path w="4318000" h="13" fill="none">
                <a:moveTo>
                  <a:pt x="0" y="0"/>
                </a:move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red h to SPRSound"/>
          <p:cNvSpPr/>
          <p:nvPr/>
        </p:nvSpPr>
        <p:spPr>
          <a:xfrm>
            <a:off x="7188200" y="45212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red h to Wheeze"/>
          <p:cNvSpPr/>
          <p:nvPr/>
        </p:nvSpPr>
        <p:spPr>
          <a:xfrm>
            <a:off x="9474200" y="2540000"/>
            <a:ext cx="13" cy="127000"/>
          </a:xfrm>
          <a:custGeom>
            <a:avLst/>
            <a:gdLst/>
            <a:ahLst/>
            <a:cxnLst/>
            <a:rect l="0" t="0" r="r" b="b"/>
            <a:pathLst>
              <a:path w="13" h="127000" fill="none">
                <a:moveTo>
                  <a:pt x="0" y="0"/>
                </a:moveTo>
                <a:lnTo>
                  <a:pt x="0" y="1270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red h to Crackle"/>
          <p:cNvSpPr/>
          <p:nvPr/>
        </p:nvSpPr>
        <p:spPr>
          <a:xfrm>
            <a:off x="8140700" y="2540000"/>
            <a:ext cx="13" cy="127000"/>
          </a:xfrm>
          <a:custGeom>
            <a:avLst/>
            <a:gdLst/>
            <a:ahLst/>
            <a:cxnLst/>
            <a:rect l="0" t="0" r="r" b="b"/>
            <a:pathLst>
              <a:path w="13" h="127000" fill="none">
                <a:moveTo>
                  <a:pt x="0" y="0"/>
                </a:moveTo>
                <a:lnTo>
                  <a:pt x="0" y="1270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red h to both C-W heads"/>
          <p:cNvSpPr/>
          <p:nvPr/>
        </p:nvSpPr>
        <p:spPr>
          <a:xfrm>
            <a:off x="7188200" y="2540000"/>
            <a:ext cx="2286000" cy="13"/>
          </a:xfrm>
          <a:custGeom>
            <a:avLst/>
            <a:gdLst/>
            <a:ahLst/>
            <a:cxnLst/>
            <a:rect l="0" t="0" r="r" b="b"/>
            <a:pathLst>
              <a:path w="2286000" h="13" fill="none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red h trunk"/>
          <p:cNvSpPr/>
          <p:nvPr/>
        </p:nvSpPr>
        <p:spPr>
          <a:xfrm>
            <a:off x="7188200" y="1625600"/>
            <a:ext cx="13" cy="2895600"/>
          </a:xfrm>
          <a:custGeom>
            <a:avLst/>
            <a:gdLst/>
            <a:ahLst/>
            <a:cxnLst/>
            <a:rect l="0" t="0" r="r" b="b"/>
            <a:pathLst>
              <a:path w="13" h="2895600" fill="none">
                <a:moveTo>
                  <a:pt x="0" y="0"/>
                </a:moveTo>
                <a:lnTo>
                  <a:pt x="0" y="2895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1" name="Restored teacher annotation arrow HF supervision (optional)"/>
          <p:cNvSpPr/>
          <p:nvPr/>
        </p:nvSpPr>
        <p:spPr>
          <a:xfrm>
            <a:off x="127762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B6993A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9" name="Restored teacher annotation arrow Native + C-W classification"/>
          <p:cNvSpPr/>
          <p:nvPr/>
        </p:nvSpPr>
        <p:spPr>
          <a:xfrm>
            <a:off x="107696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2631C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7" name="Restored teacher annotation arrow Attention regularization"/>
          <p:cNvSpPr/>
          <p:nvPr/>
        </p:nvSpPr>
        <p:spPr>
          <a:xfrm>
            <a:off x="88138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Restored teacher annotation arrow Patient contrastive"/>
          <p:cNvSpPr/>
          <p:nvPr/>
        </p:nvSpPr>
        <p:spPr>
          <a:xfrm>
            <a:off x="64770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33333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8" name="Attention representation to regularization"/>
          <p:cNvSpPr/>
          <p:nvPr/>
        </p:nvSpPr>
        <p:spPr>
          <a:xfrm>
            <a:off x="5753100" y="3937000"/>
            <a:ext cx="13" cy="355600"/>
          </a:xfrm>
          <a:custGeom>
            <a:avLst/>
            <a:gdLst/>
            <a:ahLst/>
            <a:cxnLst/>
            <a:rect l="0" t="0" r="r" b="b"/>
            <a:pathLst>
              <a:path w="13" h="355600" fill="none">
                <a:moveTo>
                  <a:pt x="0" y="0"/>
                </a:moveTo>
                <a:lnTo>
                  <a:pt x="0" y="35560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red h to ICBHI"/>
          <p:cNvSpPr/>
          <p:nvPr/>
        </p:nvSpPr>
        <p:spPr>
          <a:xfrm>
            <a:off x="7188200" y="1625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red representation trunk"/>
          <p:cNvSpPr/>
          <p:nvPr/>
        </p:nvSpPr>
        <p:spPr>
          <a:xfrm>
            <a:off x="6781800" y="2197100"/>
            <a:ext cx="406400" cy="13"/>
          </a:xfrm>
          <a:custGeom>
            <a:avLst/>
            <a:gdLst/>
            <a:ahLst/>
            <a:cxnLst/>
            <a:rect l="0" t="0" r="r" b="b"/>
            <a:pathLst>
              <a:path w="406400" h="13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2" name="Encoder tokens to attention"/>
          <p:cNvSpPr/>
          <p:nvPr/>
        </p:nvSpPr>
        <p:spPr>
          <a:xfrm>
            <a:off x="4419600" y="36576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1" name="Encoder to mean pooling"/>
          <p:cNvSpPr/>
          <p:nvPr/>
        </p:nvSpPr>
        <p:spPr>
          <a:xfrm>
            <a:off x="2286000" y="2197100"/>
            <a:ext cx="2438400" cy="1771650"/>
          </a:xfrm>
          <a:custGeom>
            <a:avLst/>
            <a:gdLst/>
            <a:ahLst/>
            <a:cxnLst/>
            <a:rect l="0" t="0" r="r" b="b"/>
            <a:pathLst>
              <a:path w="2438400" h="1771650" fill="none">
                <a:moveTo>
                  <a:pt x="0" y="1771650"/>
                </a:moveTo>
                <a:lnTo>
                  <a:pt x="2133600" y="1771650"/>
                </a:lnTo>
                <a:lnTo>
                  <a:pt x="2133600" y="0"/>
                </a:lnTo>
                <a:lnTo>
                  <a:pt x="2438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0" name="Audio to BEATs"/>
          <p:cNvSpPr/>
          <p:nvPr/>
        </p:nvSpPr>
        <p:spPr>
          <a:xfrm>
            <a:off x="1600200" y="2603500"/>
            <a:ext cx="13" cy="673100"/>
          </a:xfrm>
          <a:custGeom>
            <a:avLst/>
            <a:gdLst/>
            <a:ahLst/>
            <a:cxnLst/>
            <a:rect l="0" t="0" r="r" b="b"/>
            <a:pathLst>
              <a:path w="13" h="673100" fill="none">
                <a:moveTo>
                  <a:pt x="0" y="0"/>
                </a:moveTo>
                <a:lnTo>
                  <a:pt x="0" y="6731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724400" y="1917700"/>
            <a:ext cx="2057400" cy="55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D→d)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>
            <a:off x="914400" y="3136900"/>
            <a:ext cx="1371600" cy="1663700"/>
          </a:xfrm>
          <a:custGeom>
            <a:avLst/>
            <a:gdLst/>
            <a:ahLst/>
            <a:cxnLst/>
            <a:rect l="0" t="0" r="r" b="b"/>
            <a:pathLst>
              <a:path w="1371600" h="1663700">
                <a:moveTo>
                  <a:pt x="0" y="0"/>
                </a:moveTo>
                <a:lnTo>
                  <a:pt x="1371600" y="279400"/>
                </a:lnTo>
                <a:lnTo>
                  <a:pt x="1371600" y="1384300"/>
                </a:lnTo>
                <a:lnTo>
                  <a:pt x="0" y="166370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1003300" y="3479800"/>
            <a:ext cx="1206500" cy="977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724400" y="3378200"/>
                <a:ext cx="2057400" cy="558800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 xmlns="" xmlns:m="http://schemas.openxmlformats.org/officeDocument/2006/math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574" y="3006913"/>
                <a:ext cx="1755227" cy="546538"/>
              </a:xfrm>
              <a:prstGeom prst="rect">
                <a:avLst/>
              </a:prstGeom>
              <a:blipFill>
                <a:blip r:embed="rId2"/>
                <a:stretch>
                  <a:fillRect t="-6522" b="-8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7543800" y="1346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ICBHI native head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7543800" y="42418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SPRSound native head</a:t>
            </a: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762000" y="2184400"/>
            <a:ext cx="1676400" cy="419100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431800" y="1701800"/>
            <a:ext cx="226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7416800" y="914400"/>
            <a:ext cx="2743200" cy="3556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Task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584200" y="5486400"/>
            <a:ext cx="2209800" cy="60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7543800" y="2667000"/>
            <a:ext cx="1193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C: Crackle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915400" y="2667000"/>
            <a:ext cx="1117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W: Wheeze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4351000" y="13462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 xmlns="" xmlns:m="http://schemas.openxmlformats.org/officeDocument/2006/math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1939512"/>
                <a:ext cx="3052171" cy="550131"/>
              </a:xfrm>
              <a:prstGeom prst="rect">
                <a:avLst/>
              </a:prstGeom>
              <a:blipFill>
                <a:blip r:embed="rId5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14300200" y="914400"/>
            <a:ext cx="3251200" cy="355600"/>
          </a:xfrm>
          <a:prstGeom prst="rect">
            <a:avLst/>
          </a:prstGeom>
          <a:noFill/>
        </p:spPr>
        <p:txBody>
          <a:bodyPr wrap="square" bIns="0" rtlCol="0" anchor="b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4351000" y="42418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Adventitious( Abnormal)</a:t>
                </a:r>
              </a:p>
            </p:txBody>
          </p:sp>
        </mc:Choice>
        <mc:Fallback xmlns="" xmlns:m="http://schemas.openxmlformats.org/officeDocument/2006/math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3831390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4351000" y="20320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Wheeze(or Rhonchi</a:t>
                </a:r>
                <a:r>
                  <a:rPr lang="en-US" altLang="zh-CN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Stridor</a:t>
                </a:r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Other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2570138"/>
                <a:ext cx="3052171" cy="550131"/>
              </a:xfrm>
              <a:prstGeom prst="rect">
                <a:avLst/>
              </a:prstGeom>
              <a:blipFill>
                <a:blip r:embed="rId7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4351000" y="3554173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3554173"/>
                <a:ext cx="3149600" cy="558800"/>
              </a:xfrm>
              <a:prstGeom prst="rect">
                <a:avLst/>
              </a:prstGeom>
              <a:blipFill>
                <a:blip r:embed="rId8"/>
                <a:stretch>
                  <a:fillRect l="-398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25800" y="36703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 xmlns:m="http://schemas.openxmlformats.org/officeDocument/2006/math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645" y="2238876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3098800" y="40259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="" xmlns:m="http://schemas.openxmlformats.org/officeDocument/2006/math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719" y="2460613"/>
                <a:ext cx="51435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4508500" y="5257800"/>
            <a:ext cx="9715500" cy="609600"/>
          </a:xfrm>
          <a:prstGeom prst="rect">
            <a:avLst/>
          </a:prstGeom>
          <a:solidFill>
            <a:schemeClr val="bg2"/>
          </a:solidFill>
          <a:ln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6600" y="39751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 xmlns:m="http://schemas.openxmlformats.org/officeDocument/2006/math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63" y="3628735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5143500" y="39370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p>
                            <m:sSupPr>
                              <m:ctrlP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:m="http://schemas.openxmlformats.org/officeDocument/2006/math"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700" y="3567073"/>
                <a:ext cx="51435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4" name="Auxiliary C-W heads heading"/>
          <p:cNvSpPr txBox="1"/>
          <p:nvPr/>
        </p:nvSpPr>
        <p:spPr>
          <a:xfrm>
            <a:off x="7416800" y="2159000"/>
            <a:ext cx="2743200" cy="3048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Shared C-W heads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Shared representation h_i"/>
              <p:cNvSpPr>
                <a:spLocks noGrp="1"/>
              </p:cNvSpPr>
              <p:nvPr/>
            </p:nvSpPr>
            <p:spPr>
              <a:xfrm>
                <a:off x="6845300" y="1905000"/>
                <a:ext cx="2794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36" name="Shared representation h_i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300" y="1905000"/>
                <a:ext cx="279400" cy="152400"/>
              </a:xfrm>
              <a:prstGeom prst="rect">
                <a:avLst/>
              </a:prstGeom>
              <a:blipFill>
                <a:blip r:embed="rId14"/>
                <a:stretch>
                  <a:fillRect l="-4348" t="-23077" b="-3846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PAFA regularization losses"/>
              <p:cNvSpPr/>
              <p:nvPr/>
            </p:nvSpPr>
            <p:spPr>
              <a:xfrm>
                <a:off x="4724400" y="4292600"/>
                <a:ext cx="2057400" cy="508000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PCSL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GPAL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ctr"/>
                <a:r>
                  <a:rPr lang="en-US" sz="1200">
                    <a:solidFill>
                      <a:srgbClr val="7030A0"/>
                    </a:solidFill>
                    <a:latin typeface="Arial"/>
                  </a:rPr>
                  <a:t>Patient regularization</a:t>
                </a:r>
              </a:p>
            </p:txBody>
          </p:sp>
        </mc:Choice>
        <mc:Fallback>
          <p:sp>
            <p:nvSpPr>
              <p:cNvPr id="156" name="PAFA regularization losse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292600"/>
                <a:ext cx="2057400" cy="508000"/>
              </a:xfrm>
              <a:prstGeom prst="rect">
                <a:avLst/>
              </a:prstGeom>
              <a:blipFill>
                <a:blip r:embed="rId15"/>
                <a:stretch>
                  <a:fillRect b="-930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Classification loss L_cls"/>
              <p:cNvSpPr/>
              <p:nvPr/>
            </p:nvSpPr>
            <p:spPr>
              <a:xfrm>
                <a:off x="10795000" y="2641600"/>
                <a:ext cx="2387600" cy="5334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ctr"/>
                <a:r>
                  <a:rPr lang="en-US" sz="1100">
                    <a:solidFill>
                      <a:srgbClr val="32631C"/>
                    </a:solidFill>
                    <a:latin typeface="Arial"/>
                  </a:rPr>
                  <a:t>(ICBHI or SPRSound) + C-W</a:t>
                </a:r>
              </a:p>
            </p:txBody>
          </p:sp>
        </mc:Choice>
        <mc:Fallback>
          <p:sp>
            <p:nvSpPr>
              <p:cNvPr id="157" name="Classification loss L_c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2641600"/>
                <a:ext cx="2387600" cy="533400"/>
              </a:xfrm>
              <a:prstGeom prst="rect">
                <a:avLst/>
              </a:prstGeom>
              <a:blipFill>
                <a:blip r:embed="rId16"/>
                <a:stretch>
                  <a:fillRect b="-4444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Optional HF loss"/>
              <p:cNvSpPr/>
              <p:nvPr/>
            </p:nvSpPr>
            <p:spPr>
              <a:xfrm>
                <a:off x="10795000" y="3632200"/>
                <a:ext cx="2387600" cy="457200"/>
              </a:xfrm>
              <a:prstGeom prst="rect">
                <a:avLst/>
              </a:prstGeom>
              <a:solidFill>
                <a:srgbClr val="FFF5DB"/>
              </a:solidFill>
              <a:ln>
                <a:solidFill>
                  <a:srgbClr val="B699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ctr"/>
                <a:r>
                  <a:rPr lang="en-US" sz="1200">
                    <a:solidFill>
                      <a:srgbClr val="B6993A"/>
                    </a:solidFill>
                    <a:latin typeface="Arial"/>
                  </a:rPr>
                  <a:t>Shared C-W supervision</a:t>
                </a:r>
              </a:p>
            </p:txBody>
          </p:sp>
        </mc:Choice>
        <mc:Fallback>
          <p:sp>
            <p:nvSpPr>
              <p:cNvPr id="219" name="Optional HF los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3632200"/>
                <a:ext cx="2387600" cy="457200"/>
              </a:xfrm>
              <a:prstGeom prst="rect">
                <a:avLst/>
              </a:prstGeom>
              <a:blipFill>
                <a:blip r:embed="rId17"/>
                <a:stretch>
                  <a:fillRect b="-15385"/>
                </a:stretch>
              </a:blipFill>
              <a:ln>
                <a:solidFill>
                  <a:srgbClr val="B6993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Total loss equals"/>
              <p:cNvSpPr/>
              <p:nvPr/>
            </p:nvSpPr>
            <p:spPr>
              <a:xfrm>
                <a:off x="4572000" y="5257800"/>
                <a:ext cx="8255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3" name="Total loss equa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57800"/>
                <a:ext cx="825500" cy="6096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Weighted patient contrastive term"/>
              <p:cNvSpPr/>
              <p:nvPr/>
            </p:nvSpPr>
            <p:spPr>
              <a:xfrm>
                <a:off x="5397500" y="5257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PCSL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4" name="Weighted patient contrastive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0" y="5257800"/>
                <a:ext cx="2159000" cy="6096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Weighted attention regularization term"/>
              <p:cNvSpPr/>
              <p:nvPr/>
            </p:nvSpPr>
            <p:spPr>
              <a:xfrm>
                <a:off x="7734300" y="5257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GPAL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5" name="Weighted attention regulariz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300" y="5257800"/>
                <a:ext cx="2159000" cy="6096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Classification term"/>
              <p:cNvSpPr/>
              <p:nvPr/>
            </p:nvSpPr>
            <p:spPr>
              <a:xfrm>
                <a:off x="10071100" y="5257800"/>
                <a:ext cx="1397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6" name="Classific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100" y="5257800"/>
                <a:ext cx="1397000" cy="6096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Weighted optional HF term"/>
              <p:cNvSpPr/>
              <p:nvPr/>
            </p:nvSpPr>
            <p:spPr>
              <a:xfrm>
                <a:off x="11645900" y="5257800"/>
                <a:ext cx="22606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7" name="Weighted optional HF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900" y="5257800"/>
                <a:ext cx="2260600" cy="6096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Objective addition"/>
              <p:cNvSpPr/>
              <p:nvPr/>
            </p:nvSpPr>
            <p:spPr>
              <a:xfrm>
                <a:off x="7467600" y="5257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8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Objective addition"/>
              <p:cNvSpPr/>
              <p:nvPr/>
            </p:nvSpPr>
            <p:spPr>
              <a:xfrm>
                <a:off x="9855200" y="5257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9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Objective addition"/>
              <p:cNvSpPr/>
              <p:nvPr/>
            </p:nvSpPr>
            <p:spPr>
              <a:xfrm>
                <a:off x="11379200" y="5257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30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2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" name="Bottom aligned loss annotation Patient contrastive"/>
          <p:cNvSpPr txBox="1"/>
          <p:nvPr/>
        </p:nvSpPr>
        <p:spPr>
          <a:xfrm>
            <a:off x="55118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Patient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contrastive</a:t>
            </a:r>
          </a:p>
        </p:txBody>
      </p:sp>
      <p:sp>
        <p:nvSpPr>
          <p:cNvPr id="238" name="Bottom aligned loss annotation Attention regularization"/>
          <p:cNvSpPr txBox="1"/>
          <p:nvPr/>
        </p:nvSpPr>
        <p:spPr>
          <a:xfrm>
            <a:off x="78486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Attention</a:t>
            </a:r>
          </a:p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regularization</a:t>
            </a:r>
          </a:p>
        </p:txBody>
      </p:sp>
      <p:sp>
        <p:nvSpPr>
          <p:cNvPr id="240" name="Bottom aligned loss annotation Native + C-W classification"/>
          <p:cNvSpPr txBox="1"/>
          <p:nvPr/>
        </p:nvSpPr>
        <p:spPr>
          <a:xfrm>
            <a:off x="98044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Native + C-W</a:t>
            </a:r>
          </a:p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classification</a:t>
            </a:r>
          </a:p>
        </p:txBody>
      </p:sp>
      <p:sp>
        <p:nvSpPr>
          <p:cNvPr id="242" name="Bottom aligned loss annotation HF supervision (optional)"/>
          <p:cNvSpPr txBox="1"/>
          <p:nvPr/>
        </p:nvSpPr>
        <p:spPr>
          <a:xfrm>
            <a:off x="118110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HF supervision</a:t>
            </a:r>
          </a:p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(optional)</a:t>
            </a:r>
          </a:p>
        </p:txBody>
      </p:sp>
      <p:sp>
        <p:nvSpPr>
          <p:cNvPr id="413" name="C-W supervision junction"/>
          <p:cNvSpPr/>
          <p:nvPr/>
        </p:nvSpPr>
        <p:spPr>
          <a:xfrm>
            <a:off x="9455150" y="3257550"/>
            <a:ext cx="38100" cy="38100"/>
          </a:xfrm>
          <a:prstGeom prst="ellipse">
            <a:avLst/>
          </a:prstGeom>
          <a:solidFill>
            <a:srgbClr val="3263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7" name="Classification training group title"/>
          <p:cNvSpPr txBox="1"/>
          <p:nvPr/>
        </p:nvSpPr>
        <p:spPr>
          <a:xfrm>
            <a:off x="10668000" y="2247900"/>
            <a:ext cx="2641600" cy="2921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400">
                <a:solidFill>
                  <a:srgbClr val="32631C"/>
                </a:solidFill>
                <a:latin typeface="Arial"/>
              </a:rPr>
              <a:t>Training supervision</a:t>
            </a:r>
          </a:p>
        </p:txBody>
      </p:sp>
      <p:sp>
        <p:nvSpPr>
          <p:cNvPr id="418" name="HF training source"/>
          <p:cNvSpPr txBox="1"/>
          <p:nvPr/>
        </p:nvSpPr>
        <p:spPr>
          <a:xfrm>
            <a:off x="9906000" y="3390900"/>
            <a:ext cx="1587500" cy="203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100">
                <a:solidFill>
                  <a:srgbClr val="B6993A"/>
                </a:solidFill>
                <a:latin typeface="Arial"/>
              </a:rPr>
              <a:t>HF train (optional)</a:t>
            </a:r>
          </a:p>
        </p:txBody>
      </p:sp>
      <p:sp>
        <p:nvSpPr>
          <p:cNvPr id="420" name="Optional HF train C-W junction"/>
          <p:cNvSpPr/>
          <p:nvPr/>
        </p:nvSpPr>
        <p:spPr>
          <a:xfrm>
            <a:off x="9785350" y="3257550"/>
            <a:ext cx="38100" cy="38100"/>
          </a:xfrm>
          <a:prstGeom prst="ellipse">
            <a:avLst/>
          </a:prstGeom>
          <a:solidFill>
            <a:srgbClr val="B699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138</Words>
  <Application>Microsoft Macintosh PowerPoint</Application>
  <PresentationFormat>Custom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18</cp:revision>
  <dcterms:created xsi:type="dcterms:W3CDTF">2026-09-14T23:48:42Z</dcterms:created>
  <dcterms:modified xsi:type="dcterms:W3CDTF">2026-09-23T15:44:26Z</dcterms:modified>
</cp:coreProperties>
</file>