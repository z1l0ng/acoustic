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993A"/>
    <a:srgbClr val="AA9438"/>
    <a:srgbClr val="C1A842"/>
    <a:srgbClr val="7030A0"/>
    <a:srgbClr val="3E6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8"/>
  </p:normalViewPr>
  <p:slideViewPr>
    <p:cSldViewPr snapToGrid="0">
      <p:cViewPr>
        <p:scale>
          <a:sx n="73" d="100"/>
          <a:sy n="73" d="100"/>
        </p:scale>
        <p:origin x="888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065F-80AF-C505-DEE1-9C1B5C9D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5E307-6B0B-7C17-B23D-C50978775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74BAE-3147-4AA5-3948-B3BA115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3511-5802-5CD2-1887-601D097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E6538-B562-A041-1DAC-CF43440E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A64B-C7EE-B347-9B8B-63F90CC8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1657-3AF8-211F-5AB4-E8EF5278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47FB-8251-E2A1-2DAD-F2284EC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288A9-80FE-D21A-5EBB-A93EAA22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126C-9DDA-B433-C59A-A2009EC2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9638-EC2D-390E-92C4-909D93E2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06D7-1A3F-7645-1406-D593AF42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4A9A1-6840-36DB-22AB-9ADBF6A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71A0-7789-8C85-2862-09C9A0E3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F76EB-3486-91FB-8414-A26D793B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EA78-16D3-239C-8789-C9541DFF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5AEA-EB5C-17E2-655E-8ED5AB111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BD561-547D-42C9-69B0-800357311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32101-475C-F697-C4AE-90D33C02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D697D-EBC3-CAC1-24F0-4A409CEE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1DE23-35ED-76B7-144C-D7CB5864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0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D4BB-458F-8C81-0545-3B7759DA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4C93-4D75-E814-5B5F-3C89CE89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6D098-082C-21C5-F8C2-28B898AB5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3B4B8-728C-440E-1C07-F1416D5FF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4EC70-D557-49D7-8CBC-54C668500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10ABCB-2FDE-26C7-50C2-16F8DDFA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91BB3-4D21-D594-C31D-40CBFD2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141F4-7CC5-3E56-9552-ECE1A78E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4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07B4-1F1C-04F9-6C77-A13C6364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1F2F-0F75-C47C-F670-0E5CF38E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DCD1D-40E4-AE3A-B1E7-0ECB4F13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20CDC-CC89-6FF4-5039-BDC7598F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1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E87D2-B834-16C5-4C1C-755B11E5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26A26-A70A-9F19-D66D-AF242733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17FEE-7FE9-0805-C458-FE023266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5D18-C1FE-CDDE-0D2E-9F71F95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534F-FCEC-D246-C824-C5BB7266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A9B7-0C78-74EE-1C14-2F9F5E7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C750E-B0C7-6CFC-D1B4-DF4432EC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8C8F4-0884-A911-543C-9E57F53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20B0-6B65-BD5D-7136-1714F577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5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86B1-4A7E-23BD-7F32-D5D171D5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06E6B-7391-1F54-5872-8C2708782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F0628-1AE3-E48B-5CFD-497FD3E96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173A8-A072-116E-60AA-D33B10B0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EE8FB-BC70-F475-8650-63402EAB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4EC12-1F02-A477-F9F3-FE3F016D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899D-CDA1-E095-AE49-55B7BF6C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F8306-5091-41EC-A134-F2E8B8686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EC8BC-2836-A34A-0097-A6F6C216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C960-7576-8611-5EDB-38EC4D75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74E6-A3B4-70F0-87DD-4C138F67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1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8CDAE-5BD6-C3E6-7D49-2A610A79E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A1F40-E605-CA74-79C7-871C0BBD4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03F6-C619-EC8E-D4E5-8E0471BC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A7D02-BCA8-1E3A-964E-6E64B54C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4FD23-C44C-1C9B-F443-1D84273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6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D6B52-5F18-F7DB-CE21-1F0C0AC0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A54E-BA15-04F4-70DB-1A6A1255B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03A2C-C6A9-E1A4-704C-61E6B9BAA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D620-6D58-848D-F8EB-E9334C62E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FC71-82DE-96CF-C182-0D188AF38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CFDE-0DF1-8471-44B2-FE3DB583CA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B8BC3D-7ED4-D5E5-5C3D-56055947A4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93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38DA66CA-D03E-A7DE-DDCF-0726C84C6C9B}"/>
              </a:ext>
            </a:extLst>
          </p:cNvPr>
          <p:cNvSpPr/>
          <p:nvPr/>
        </p:nvSpPr>
        <p:spPr>
          <a:xfrm>
            <a:off x="6433093" y="58352"/>
            <a:ext cx="2360951" cy="1611695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BEC89-978F-F3FA-3E97-975EB444F247}"/>
              </a:ext>
            </a:extLst>
          </p:cNvPr>
          <p:cNvSpPr/>
          <p:nvPr/>
        </p:nvSpPr>
        <p:spPr>
          <a:xfrm>
            <a:off x="4328033" y="280122"/>
            <a:ext cx="1755227" cy="5465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Pooling</a:t>
            </a:r>
          </a:p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(Linear 768→256)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E88512CF-F65D-A594-8804-E4CF7DAE210E}"/>
              </a:ext>
            </a:extLst>
          </p:cNvPr>
          <p:cNvSpPr/>
          <p:nvPr/>
        </p:nvSpPr>
        <p:spPr>
          <a:xfrm rot="5400000">
            <a:off x="2269581" y="-4468"/>
            <a:ext cx="1228135" cy="1429409"/>
          </a:xfrm>
          <a:prstGeom prst="trapezoid">
            <a:avLst>
              <a:gd name="adj" fmla="val 23288"/>
            </a:avLst>
          </a:prstGeom>
          <a:solidFill>
            <a:schemeClr val="bg2"/>
          </a:solidFill>
          <a:ln w="19050"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D9726-5393-837A-CC69-6739933CDFA6}"/>
              </a:ext>
            </a:extLst>
          </p:cNvPr>
          <p:cNvSpPr txBox="1"/>
          <p:nvPr/>
        </p:nvSpPr>
        <p:spPr>
          <a:xfrm>
            <a:off x="2168944" y="248624"/>
            <a:ext cx="1128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BEATs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  <a:p>
            <a:r>
              <a:rPr lang="en-US" sz="1400" dirty="0">
                <a:solidFill>
                  <a:srgbClr val="3E6D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(Pretrained)</a:t>
            </a:r>
          </a:p>
        </p:txBody>
      </p:sp>
      <p:sp xmlns:a14="http://schemas.microsoft.com/office/drawing/2010/main">
        <p:nvSpPr>
          <p:cNvPr id="12" name="Rectangle 11">
            <a:extLst>
              <a:ext uri="{FF2B5EF4-FFF2-40B4-BE49-F238E27FC236}">
                <a16:creationId xmlns:a16="http://schemas.microsoft.com/office/drawing/2014/main" id="{F409BB53-B426-E5F7-E1D1-CC691474571B}"/>
              </a:ext>
            </a:extLst>
          </p:cNvPr>
          <p:cNvSpPr/>
          <p:nvPr/>
        </p:nvSpPr>
        <p:spPr>
          <a:xfrm>
            <a:off x="4328033" y="1105184"/>
            <a:ext cx="1755227" cy="546538"/>
          </a:xfrm>
          <a:prstGeom prst="rect">
            <a:avLst/>
          </a:prstGeom>
          <a:solidFill>
            <a:srgbClr val="7030A0">
              <a:alpha val="14118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 </a:t>
            </a:r>
            <a14:m>
              <m:oMath xmlns:m="http://schemas.openxmlformats.org/officeDocument/2006/math">
                <m:r>
                  <a:rPr lang="en-US" b="1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𝓖</m:t>
                </m:r>
              </m:oMath>
            </a14:m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(PAFA projection)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34F695-08C1-8326-0D4D-8D8606C52AB6}"/>
              </a:ext>
            </a:extLst>
          </p:cNvPr>
          <p:cNvSpPr/>
          <p:nvPr/>
        </p:nvSpPr>
        <p:spPr>
          <a:xfrm>
            <a:off x="6710856" y="105876"/>
            <a:ext cx="1429409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Abnormal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0CF65-1FA8-4758-8934-EDB36A80D00F}"/>
              </a:ext>
            </a:extLst>
          </p:cNvPr>
          <p:cNvSpPr/>
          <p:nvPr/>
        </p:nvSpPr>
        <p:spPr>
          <a:xfrm>
            <a:off x="6710856" y="646301"/>
            <a:ext cx="1429409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Crackle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chematic-audio-wave-2">
            <a:extLst>
              <a:ext uri="{FF2B5EF4-FFF2-40B4-BE49-F238E27FC236}">
                <a16:creationId xmlns:a16="http://schemas.microsoft.com/office/drawing/2014/main" id="{73DAFDB9-56E0-6E8D-1AA2-549245A0B754}"/>
              </a:ext>
            </a:extLst>
          </p:cNvPr>
          <p:cNvSpPr>
            <a:spLocks noGrp="1"/>
          </p:cNvSpPr>
          <p:nvPr/>
        </p:nvSpPr>
        <p:spPr>
          <a:xfrm>
            <a:off x="0" y="518536"/>
            <a:ext cx="1670707" cy="414133"/>
          </a:xfrm>
          <a:custGeom>
            <a:avLst/>
            <a:gdLst/>
            <a:ahLst/>
            <a:cxnLst/>
            <a:rect l="0" t="0" r="0" b="0"/>
            <a:pathLst>
              <a:path w="762000" h="182389">
                <a:moveTo>
                  <a:pt x="0" y="88788"/>
                </a:moveTo>
                <a:lnTo>
                  <a:pt x="4233" y="80732"/>
                </a:lnTo>
                <a:lnTo>
                  <a:pt x="8467" y="78958"/>
                </a:lnTo>
                <a:lnTo>
                  <a:pt x="12700" y="83179"/>
                </a:lnTo>
                <a:lnTo>
                  <a:pt x="16933" y="88353"/>
                </a:lnTo>
                <a:lnTo>
                  <a:pt x="21167" y="90261"/>
                </a:lnTo>
                <a:lnTo>
                  <a:pt x="25400" y="89865"/>
                </a:lnTo>
                <a:lnTo>
                  <a:pt x="29633" y="91473"/>
                </a:lnTo>
                <a:lnTo>
                  <a:pt x="33867" y="97136"/>
                </a:lnTo>
                <a:lnTo>
                  <a:pt x="38100" y="104136"/>
                </a:lnTo>
                <a:lnTo>
                  <a:pt x="42333" y="108118"/>
                </a:lnTo>
                <a:lnTo>
                  <a:pt x="46567" y="107141"/>
                </a:lnTo>
                <a:lnTo>
                  <a:pt x="50800" y="101484"/>
                </a:lnTo>
                <a:lnTo>
                  <a:pt x="55033" y="90973"/>
                </a:lnTo>
                <a:lnTo>
                  <a:pt x="59267" y="75754"/>
                </a:lnTo>
                <a:lnTo>
                  <a:pt x="63500" y="60763"/>
                </a:lnTo>
                <a:lnTo>
                  <a:pt x="67733" y="56251"/>
                </a:lnTo>
                <a:lnTo>
                  <a:pt x="71967" y="69420"/>
                </a:lnTo>
                <a:lnTo>
                  <a:pt x="76200" y="94651"/>
                </a:lnTo>
                <a:lnTo>
                  <a:pt x="80433" y="115473"/>
                </a:lnTo>
                <a:lnTo>
                  <a:pt x="84667" y="119536"/>
                </a:lnTo>
                <a:lnTo>
                  <a:pt x="88900" y="110851"/>
                </a:lnTo>
                <a:lnTo>
                  <a:pt x="93133" y="104280"/>
                </a:lnTo>
                <a:lnTo>
                  <a:pt x="97367" y="107679"/>
                </a:lnTo>
                <a:lnTo>
                  <a:pt x="101600" y="112773"/>
                </a:lnTo>
                <a:lnTo>
                  <a:pt x="105833" y="105615"/>
                </a:lnTo>
                <a:lnTo>
                  <a:pt x="110067" y="83369"/>
                </a:lnTo>
                <a:lnTo>
                  <a:pt x="114300" y="57187"/>
                </a:lnTo>
                <a:lnTo>
                  <a:pt x="118533" y="40006"/>
                </a:lnTo>
                <a:lnTo>
                  <a:pt x="122767" y="36968"/>
                </a:lnTo>
                <a:lnTo>
                  <a:pt x="127000" y="49042"/>
                </a:lnTo>
                <a:lnTo>
                  <a:pt x="131233" y="78733"/>
                </a:lnTo>
                <a:lnTo>
                  <a:pt x="135467" y="123688"/>
                </a:lnTo>
                <a:lnTo>
                  <a:pt x="139700" y="165789"/>
                </a:lnTo>
                <a:lnTo>
                  <a:pt x="143933" y="177412"/>
                </a:lnTo>
                <a:lnTo>
                  <a:pt x="148167" y="147036"/>
                </a:lnTo>
                <a:lnTo>
                  <a:pt x="152400" y="96025"/>
                </a:lnTo>
                <a:lnTo>
                  <a:pt x="156633" y="61403"/>
                </a:lnTo>
                <a:lnTo>
                  <a:pt x="160867" y="59232"/>
                </a:lnTo>
                <a:lnTo>
                  <a:pt x="165100" y="70348"/>
                </a:lnTo>
                <a:lnTo>
                  <a:pt x="169333" y="66079"/>
                </a:lnTo>
                <a:lnTo>
                  <a:pt x="173567" y="43454"/>
                </a:lnTo>
                <a:lnTo>
                  <a:pt x="177800" y="28196"/>
                </a:lnTo>
                <a:lnTo>
                  <a:pt x="182033" y="44236"/>
                </a:lnTo>
                <a:lnTo>
                  <a:pt x="186267" y="88243"/>
                </a:lnTo>
                <a:lnTo>
                  <a:pt x="190500" y="136756"/>
                </a:lnTo>
                <a:lnTo>
                  <a:pt x="194733" y="170308"/>
                </a:lnTo>
                <a:lnTo>
                  <a:pt x="198967" y="182389"/>
                </a:lnTo>
                <a:lnTo>
                  <a:pt x="203200" y="169586"/>
                </a:lnTo>
                <a:lnTo>
                  <a:pt x="207433" y="127671"/>
                </a:lnTo>
                <a:lnTo>
                  <a:pt x="211667" y="65101"/>
                </a:lnTo>
                <a:lnTo>
                  <a:pt x="215900" y="11776"/>
                </a:lnTo>
                <a:lnTo>
                  <a:pt x="220133" y="0"/>
                </a:lnTo>
                <a:lnTo>
                  <a:pt x="224367" y="32532"/>
                </a:lnTo>
                <a:lnTo>
                  <a:pt x="228600" y="76991"/>
                </a:lnTo>
                <a:lnTo>
                  <a:pt x="232833" y="98341"/>
                </a:lnTo>
                <a:lnTo>
                  <a:pt x="237067" y="93999"/>
                </a:lnTo>
                <a:lnTo>
                  <a:pt x="241300" y="91106"/>
                </a:lnTo>
                <a:lnTo>
                  <a:pt x="245533" y="110892"/>
                </a:lnTo>
                <a:lnTo>
                  <a:pt x="249767" y="143425"/>
                </a:lnTo>
                <a:lnTo>
                  <a:pt x="254000" y="160244"/>
                </a:lnTo>
                <a:lnTo>
                  <a:pt x="258233" y="145566"/>
                </a:lnTo>
                <a:lnTo>
                  <a:pt x="262467" y="108852"/>
                </a:lnTo>
                <a:lnTo>
                  <a:pt x="266700" y="70052"/>
                </a:lnTo>
                <a:lnTo>
                  <a:pt x="270933" y="41708"/>
                </a:lnTo>
                <a:lnTo>
                  <a:pt x="275167" y="28080"/>
                </a:lnTo>
                <a:lnTo>
                  <a:pt x="279400" y="33198"/>
                </a:lnTo>
                <a:lnTo>
                  <a:pt x="283633" y="59489"/>
                </a:lnTo>
                <a:lnTo>
                  <a:pt x="287867" y="97904"/>
                </a:lnTo>
                <a:lnTo>
                  <a:pt x="292100" y="127739"/>
                </a:lnTo>
                <a:lnTo>
                  <a:pt x="296333" y="133035"/>
                </a:lnTo>
                <a:lnTo>
                  <a:pt x="300567" y="118157"/>
                </a:lnTo>
                <a:lnTo>
                  <a:pt x="304800" y="102734"/>
                </a:lnTo>
                <a:lnTo>
                  <a:pt x="309033" y="100416"/>
                </a:lnTo>
                <a:lnTo>
                  <a:pt x="313267" y="105696"/>
                </a:lnTo>
                <a:lnTo>
                  <a:pt x="317500" y="103043"/>
                </a:lnTo>
                <a:lnTo>
                  <a:pt x="321733" y="86141"/>
                </a:lnTo>
                <a:lnTo>
                  <a:pt x="325967" y="64873"/>
                </a:lnTo>
                <a:lnTo>
                  <a:pt x="330200" y="54218"/>
                </a:lnTo>
                <a:lnTo>
                  <a:pt x="334433" y="59946"/>
                </a:lnTo>
                <a:lnTo>
                  <a:pt x="338667" y="76434"/>
                </a:lnTo>
                <a:lnTo>
                  <a:pt x="342900" y="95160"/>
                </a:lnTo>
                <a:lnTo>
                  <a:pt x="347133" y="111230"/>
                </a:lnTo>
                <a:lnTo>
                  <a:pt x="351367" y="121806"/>
                </a:lnTo>
                <a:lnTo>
                  <a:pt x="355600" y="122847"/>
                </a:lnTo>
                <a:lnTo>
                  <a:pt x="359833" y="111793"/>
                </a:lnTo>
                <a:lnTo>
                  <a:pt x="364067" y="93299"/>
                </a:lnTo>
                <a:lnTo>
                  <a:pt x="368300" y="78479"/>
                </a:lnTo>
                <a:lnTo>
                  <a:pt x="372533" y="75394"/>
                </a:lnTo>
                <a:lnTo>
                  <a:pt x="376767" y="80757"/>
                </a:lnTo>
                <a:lnTo>
                  <a:pt x="381000" y="83528"/>
                </a:lnTo>
                <a:lnTo>
                  <a:pt x="385233" y="77745"/>
                </a:lnTo>
                <a:lnTo>
                  <a:pt x="389467" y="70173"/>
                </a:lnTo>
                <a:lnTo>
                  <a:pt x="393700" y="73380"/>
                </a:lnTo>
                <a:lnTo>
                  <a:pt x="397933" y="91593"/>
                </a:lnTo>
                <a:lnTo>
                  <a:pt x="402167" y="115271"/>
                </a:lnTo>
                <a:lnTo>
                  <a:pt x="406400" y="130044"/>
                </a:lnTo>
                <a:lnTo>
                  <a:pt x="410633" y="129130"/>
                </a:lnTo>
                <a:lnTo>
                  <a:pt x="414867" y="115789"/>
                </a:lnTo>
                <a:lnTo>
                  <a:pt x="419100" y="96216"/>
                </a:lnTo>
                <a:lnTo>
                  <a:pt x="423333" y="74604"/>
                </a:lnTo>
                <a:lnTo>
                  <a:pt x="427567" y="56072"/>
                </a:lnTo>
                <a:lnTo>
                  <a:pt x="431800" y="49338"/>
                </a:lnTo>
                <a:lnTo>
                  <a:pt x="436033" y="60271"/>
                </a:lnTo>
                <a:lnTo>
                  <a:pt x="440267" y="82404"/>
                </a:lnTo>
                <a:lnTo>
                  <a:pt x="444500" y="99387"/>
                </a:lnTo>
                <a:lnTo>
                  <a:pt x="448733" y="101357"/>
                </a:lnTo>
                <a:lnTo>
                  <a:pt x="452967" y="96939"/>
                </a:lnTo>
                <a:lnTo>
                  <a:pt x="457200" y="103771"/>
                </a:lnTo>
                <a:lnTo>
                  <a:pt x="461433" y="125915"/>
                </a:lnTo>
                <a:lnTo>
                  <a:pt x="465667" y="145032"/>
                </a:lnTo>
                <a:lnTo>
                  <a:pt x="469900" y="137958"/>
                </a:lnTo>
                <a:lnTo>
                  <a:pt x="474133" y="101615"/>
                </a:lnTo>
                <a:lnTo>
                  <a:pt x="478367" y="56900"/>
                </a:lnTo>
                <a:lnTo>
                  <a:pt x="482600" y="28531"/>
                </a:lnTo>
                <a:lnTo>
                  <a:pt x="486833" y="25463"/>
                </a:lnTo>
                <a:lnTo>
                  <a:pt x="491067" y="41812"/>
                </a:lnTo>
                <a:lnTo>
                  <a:pt x="495300" y="69923"/>
                </a:lnTo>
                <a:lnTo>
                  <a:pt x="499533" y="104604"/>
                </a:lnTo>
                <a:lnTo>
                  <a:pt x="503767" y="135976"/>
                </a:lnTo>
                <a:lnTo>
                  <a:pt x="508000" y="148717"/>
                </a:lnTo>
                <a:lnTo>
                  <a:pt x="512233" y="136265"/>
                </a:lnTo>
                <a:lnTo>
                  <a:pt x="516467" y="112438"/>
                </a:lnTo>
                <a:lnTo>
                  <a:pt x="520700" y="99879"/>
                </a:lnTo>
                <a:lnTo>
                  <a:pt x="524933" y="104081"/>
                </a:lnTo>
                <a:lnTo>
                  <a:pt x="529167" y="105117"/>
                </a:lnTo>
                <a:lnTo>
                  <a:pt x="533400" y="81197"/>
                </a:lnTo>
                <a:lnTo>
                  <a:pt x="537633" y="38147"/>
                </a:lnTo>
                <a:lnTo>
                  <a:pt x="541867" y="8590"/>
                </a:lnTo>
                <a:lnTo>
                  <a:pt x="546100" y="19873"/>
                </a:lnTo>
                <a:lnTo>
                  <a:pt x="550333" y="67074"/>
                </a:lnTo>
                <a:lnTo>
                  <a:pt x="554567" y="120162"/>
                </a:lnTo>
                <a:lnTo>
                  <a:pt x="558800" y="153133"/>
                </a:lnTo>
                <a:lnTo>
                  <a:pt x="563033" y="160732"/>
                </a:lnTo>
                <a:lnTo>
                  <a:pt x="567267" y="149968"/>
                </a:lnTo>
                <a:lnTo>
                  <a:pt x="571500" y="126201"/>
                </a:lnTo>
                <a:lnTo>
                  <a:pt x="575733" y="93792"/>
                </a:lnTo>
                <a:lnTo>
                  <a:pt x="579967" y="64230"/>
                </a:lnTo>
                <a:lnTo>
                  <a:pt x="584200" y="52110"/>
                </a:lnTo>
                <a:lnTo>
                  <a:pt x="588433" y="59385"/>
                </a:lnTo>
                <a:lnTo>
                  <a:pt x="592667" y="70295"/>
                </a:lnTo>
                <a:lnTo>
                  <a:pt x="596900" y="68740"/>
                </a:lnTo>
                <a:lnTo>
                  <a:pt x="601133" y="59040"/>
                </a:lnTo>
                <a:lnTo>
                  <a:pt x="605367" y="62749"/>
                </a:lnTo>
                <a:lnTo>
                  <a:pt x="609600" y="92684"/>
                </a:lnTo>
                <a:lnTo>
                  <a:pt x="613833" y="134665"/>
                </a:lnTo>
                <a:lnTo>
                  <a:pt x="618067" y="159246"/>
                </a:lnTo>
                <a:lnTo>
                  <a:pt x="622300" y="150041"/>
                </a:lnTo>
                <a:lnTo>
                  <a:pt x="626533" y="116912"/>
                </a:lnTo>
                <a:lnTo>
                  <a:pt x="630767" y="82464"/>
                </a:lnTo>
                <a:lnTo>
                  <a:pt x="635000" y="61082"/>
                </a:lnTo>
                <a:lnTo>
                  <a:pt x="639233" y="53353"/>
                </a:lnTo>
                <a:lnTo>
                  <a:pt x="643467" y="55391"/>
                </a:lnTo>
                <a:lnTo>
                  <a:pt x="647700" y="65794"/>
                </a:lnTo>
                <a:lnTo>
                  <a:pt x="651933" y="82164"/>
                </a:lnTo>
                <a:lnTo>
                  <a:pt x="656167" y="96997"/>
                </a:lnTo>
                <a:lnTo>
                  <a:pt x="660400" y="102967"/>
                </a:lnTo>
                <a:lnTo>
                  <a:pt x="664633" y="101670"/>
                </a:lnTo>
                <a:lnTo>
                  <a:pt x="668867" y="102425"/>
                </a:lnTo>
                <a:lnTo>
                  <a:pt x="673100" y="110362"/>
                </a:lnTo>
                <a:lnTo>
                  <a:pt x="677333" y="118451"/>
                </a:lnTo>
                <a:lnTo>
                  <a:pt x="681567" y="114462"/>
                </a:lnTo>
                <a:lnTo>
                  <a:pt x="685800" y="95390"/>
                </a:lnTo>
                <a:lnTo>
                  <a:pt x="690033" y="72298"/>
                </a:lnTo>
                <a:lnTo>
                  <a:pt x="694267" y="60052"/>
                </a:lnTo>
                <a:lnTo>
                  <a:pt x="698500" y="63959"/>
                </a:lnTo>
                <a:lnTo>
                  <a:pt x="702733" y="77431"/>
                </a:lnTo>
                <a:lnTo>
                  <a:pt x="706967" y="90771"/>
                </a:lnTo>
                <a:lnTo>
                  <a:pt x="711200" y="99445"/>
                </a:lnTo>
                <a:lnTo>
                  <a:pt x="715433" y="103991"/>
                </a:lnTo>
                <a:lnTo>
                  <a:pt x="719667" y="105319"/>
                </a:lnTo>
                <a:lnTo>
                  <a:pt x="723900" y="103106"/>
                </a:lnTo>
                <a:lnTo>
                  <a:pt x="728133" y="98238"/>
                </a:lnTo>
                <a:lnTo>
                  <a:pt x="732367" y="93840"/>
                </a:lnTo>
                <a:lnTo>
                  <a:pt x="736600" y="92160"/>
                </a:lnTo>
                <a:lnTo>
                  <a:pt x="740833" y="91522"/>
                </a:lnTo>
                <a:lnTo>
                  <a:pt x="745067" y="88266"/>
                </a:lnTo>
                <a:lnTo>
                  <a:pt x="749300" y="81940"/>
                </a:lnTo>
                <a:lnTo>
                  <a:pt x="753533" y="77148"/>
                </a:lnTo>
                <a:lnTo>
                  <a:pt x="757767" y="79174"/>
                </a:lnTo>
                <a:lnTo>
                  <a:pt x="762000" y="88152"/>
                </a:lnTo>
              </a:path>
            </a:pathLst>
          </a:custGeom>
          <a:noFill/>
          <a:ln w="9525">
            <a:solidFill>
              <a:srgbClr val="3E6D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34B95-D4B8-01BA-C527-256839BD99BB}"/>
              </a:ext>
            </a:extLst>
          </p:cNvPr>
          <p:cNvSpPr txBox="1"/>
          <p:nvPr/>
        </p:nvSpPr>
        <p:spPr>
          <a:xfrm>
            <a:off x="-295598" y="128183"/>
            <a:ext cx="226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Respiratory Audio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3628CDD-9697-1FF4-2341-6249F9A0B937}"/>
              </a:ext>
            </a:extLst>
          </p:cNvPr>
          <p:cNvCxnSpPr>
            <a:cxnSpLocks/>
          </p:cNvCxnSpPr>
          <p:nvPr/>
        </p:nvCxnSpPr>
        <p:spPr>
          <a:xfrm>
            <a:off x="1711744" y="697384"/>
            <a:ext cx="4572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D859DB-9C5D-0AE6-39CB-0DC2299AD2AA}"/>
              </a:ext>
            </a:extLst>
          </p:cNvPr>
          <p:cNvCxnSpPr>
            <a:cxnSpLocks/>
          </p:cNvCxnSpPr>
          <p:nvPr/>
        </p:nvCxnSpPr>
        <p:spPr>
          <a:xfrm>
            <a:off x="3598353" y="551837"/>
            <a:ext cx="7315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114FA59-563A-043A-122C-900056924235}"/>
              </a:ext>
            </a:extLst>
          </p:cNvPr>
          <p:cNvSpPr txBox="1"/>
          <p:nvPr/>
        </p:nvSpPr>
        <p:spPr>
          <a:xfrm>
            <a:off x="6294608" y="-331549"/>
            <a:ext cx="226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Linear Heads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783F65-A714-083E-F75E-A5A137A02379}"/>
              </a:ext>
            </a:extLst>
          </p:cNvPr>
          <p:cNvSpPr txBox="1"/>
          <p:nvPr/>
        </p:nvSpPr>
        <p:spPr>
          <a:xfrm>
            <a:off x="-201953" y="1879406"/>
            <a:ext cx="1860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*: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Training + Inference</a:t>
            </a:r>
          </a:p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#: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Inference Only</a:t>
            </a:r>
          </a:p>
        </p:txBody>
      </p:sp>
      <p:sp xmlns:a14="http://schemas.microsoft.com/office/drawing/2010/main">
        <p:nvSpPr>
          <p:cNvPr id="25" name="TextBox 24">
            <a:extLst>
              <a:ext uri="{FF2B5EF4-FFF2-40B4-BE49-F238E27FC236}">
                <a16:creationId xmlns:a16="http://schemas.microsoft.com/office/drawing/2014/main" id="{99AF68F7-942D-5662-35E9-EFEE5E12822B}"/>
              </a:ext>
            </a:extLst>
          </p:cNvPr>
          <p:cNvSpPr txBox="1"/>
          <p:nvPr/>
        </p:nvSpPr>
        <p:spPr>
          <a:xfrm>
            <a:off x="-201953" y="1001138"/>
            <a:ext cx="23517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14:m>
              <m:oMath xmlns:m="http://schemas.openxmlformats.org/officeDocument/2006/math">
                <m:sSup>
                  <m:sSupPr>
                    <m:ctrl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ICBHI</m:t>
                    </m:r>
                  </m:e>
                  <m:sup>
                    <m:r>
                      <a:rPr lang="en-US" b="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</m:sup>
                </m:sSup>
              </m:oMath>
            </a14:m>
            <a:r>
              <a:rPr lang="en-US" dirty="0"/>
              <a:t>, </a:t>
            </a:r>
            <a14:m>
              <m:oMath xmlns:m="http://schemas.openxmlformats.org/officeDocument/2006/math">
                <m:sSup>
                  <m:sSupPr>
                    <m:ctrl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SPRSound</m:t>
                    </m:r>
                  </m:e>
                  <m:sup>
                    <m:r>
                      <a:rPr lang="en-US" b="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</m:sup>
                </m:sSup>
                <m:r>
                  <a:rPr lang="en-US" b="1" i="1">
                    <a:latin typeface="Cambria Math" panose="02040503050406030204" pitchFamily="18" charset="0"/>
                    <a:cs typeface="Arial" panose="020B0604020202020204" pitchFamily="34" charset="0"/>
                  </a:rPr>
                  <m:t> </m:t>
                </m:r>
              </m:oMath>
            </a14:m>
            <a:endParaRPr lang="en-US" dirty="0"/>
          </a:p>
          <a:p>
            <a14:m>
              <m:oMath xmlns:m="http://schemas.openxmlformats.org/officeDocument/2006/math">
                <m:sSup>
                  <m:sSupPr>
                    <m:ctrl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HF</m:t>
                    </m:r>
                  </m:e>
                  <m:sup>
                    <m:r>
                      <a:rPr lang="en-US" b="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</m:sup>
                </m:sSup>
              </m:oMath>
            </a14:m>
            <a:r>
              <a:rPr lang="en-US" dirty="0"/>
              <a:t> (optional), </a:t>
            </a:r>
            <a14:m>
              <m:oMath xmlns:m="http://schemas.openxmlformats.org/officeDocument/2006/math">
                <m:sSup>
                  <m:sSupPr>
                    <m:ctrl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KAUH</m:t>
                    </m:r>
                  </m:e>
                  <m:sup>
                    <m:r>
                      <a:rPr lang="en-US" b="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#</m:t>
                    </m:r>
                  </m:sup>
                </m:sSup>
                <m:r>
                  <a:rPr lang="en-US" b="0" i="1">
                    <a:latin typeface="Cambria Math" panose="02040503050406030204" pitchFamily="18" charset="0"/>
                    <a:cs typeface="Arial" panose="020B0604020202020204" pitchFamily="34" charset="0"/>
                  </a:rPr>
                  <m:t> </m:t>
                </m:r>
              </m:oMath>
            </a14:m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554C06-8AD1-9F3E-F2A5-EF79EDFA84CE}"/>
              </a:ext>
            </a:extLst>
          </p:cNvPr>
          <p:cNvSpPr/>
          <p:nvPr/>
        </p:nvSpPr>
        <p:spPr>
          <a:xfrm>
            <a:off x="6710855" y="1183069"/>
            <a:ext cx="1429409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Wheeze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xmlns:a14="http://schemas.microsoft.com/office/drawing/2010/main">
        <p:nvSpPr>
          <p:cNvPr id="29" name="Rectangle 28">
            <a:extLst>
              <a:ext uri="{FF2B5EF4-FFF2-40B4-BE49-F238E27FC236}">
                <a16:creationId xmlns:a16="http://schemas.microsoft.com/office/drawing/2014/main" id="{A3B33EB4-1B8D-E213-9AB1-D0A54E790C74}"/>
              </a:ext>
            </a:extLst>
          </p:cNvPr>
          <p:cNvSpPr/>
          <p:nvPr/>
        </p:nvSpPr>
        <p:spPr>
          <a:xfrm>
            <a:off x="8556512" y="434779"/>
            <a:ext cx="1091985" cy="7837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</m:ctrlPr>
                    </m:sSubPr>
                    <m:e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𝒑</m:t>
                      </m:r>
                    </m:e>
                    <m:sub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𝒊</m:t>
                      </m:r>
                    </m:sub>
                  </m:sSub>
                </m:oMath>
              </m:oMathPara>
            </a14:m>
            <a:endParaRPr lang="en-US" sz="1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(Shared Attributes)</a:t>
            </a:r>
          </a:p>
        </p:txBody>
      </p:sp>
      <p:sp xmlns:a14="http://schemas.microsoft.com/office/drawing/2010/main">
        <p:nvSpPr>
          <p:cNvPr id="30" name="Rectangle 29">
            <a:extLst>
              <a:ext uri="{FF2B5EF4-FFF2-40B4-BE49-F238E27FC236}">
                <a16:creationId xmlns:a16="http://schemas.microsoft.com/office/drawing/2014/main" id="{F5222A8E-5216-64FF-83D9-E52A1610B798}"/>
              </a:ext>
            </a:extLst>
          </p:cNvPr>
          <p:cNvSpPr/>
          <p:nvPr/>
        </p:nvSpPr>
        <p:spPr>
          <a:xfrm>
            <a:off x="10064744" y="37783"/>
            <a:ext cx="3052171" cy="5501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14:m>
              <m:oMath xmlns:m="http://schemas.openxmlformats.org/officeDocument/2006/math">
                <m:sSup>
                  <m:sSupPr>
                    <m:ctrlPr>
                      <a:rPr lang="en-US" sz="14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sz="14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ICBHI</m:t>
                    </m:r>
                  </m:e>
                  <m: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*</m:t>
                    </m:r>
                  </m:sup>
                </m:sSup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 </a:t>
            </a:r>
            <a14:m>
              <m:oMath xmlns:m="http://schemas.openxmlformats.org/officeDocument/2006/math">
                <m:r>
                  <a:rPr lang="en-US" sz="140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Crackle </a:t>
            </a:r>
            <a14:m>
              <m:oMath xmlns:m="http://schemas.openxmlformats.org/officeDocument/2006/math">
                <m:r>
                  <a:rPr lang="en-US" sz="140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Wheeze </a:t>
            </a:r>
            <a14:m>
              <m:oMath xmlns:m="http://schemas.openxmlformats.org/officeDocument/2006/math">
                <m:r>
                  <a:rPr lang="en-US" sz="140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Both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F0888A-3FC5-088E-2D94-4C82E57ED049}"/>
              </a:ext>
            </a:extLst>
          </p:cNvPr>
          <p:cNvSpPr txBox="1"/>
          <p:nvPr/>
        </p:nvSpPr>
        <p:spPr>
          <a:xfrm>
            <a:off x="9922035" y="-333558"/>
            <a:ext cx="299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Task-Specific Outputs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/>
              <p:nvPr/>
            </p:nvSpPr>
            <p:spPr>
              <a:xfrm>
                <a:off x="10064744" y="668409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SPRSound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Adventitious</a:t>
                </a:r>
              </a:p>
            </p:txBody>
          </p:sp>
        </mc:Choice>
        <mc:Fallback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44" y="668409"/>
                <a:ext cx="3052171" cy="550131"/>
              </a:xfrm>
              <a:prstGeom prst="rect">
                <a:avLst/>
              </a:prstGeom>
              <a:blipFill>
                <a:blip r:embed="rId6"/>
                <a:stretch>
                  <a:fillRect l="-413" b="-6667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 xmlns:a14="http://schemas.microsoft.com/office/drawing/2010/main">
        <p:nvSpPr>
          <p:cNvPr id="33" name="Rectangle 32">
            <a:extLst>
              <a:ext uri="{FF2B5EF4-FFF2-40B4-BE49-F238E27FC236}">
                <a16:creationId xmlns:a16="http://schemas.microsoft.com/office/drawing/2014/main" id="{013A3B43-3589-DB43-9169-6CF6C6DF521F}"/>
              </a:ext>
            </a:extLst>
          </p:cNvPr>
          <p:cNvSpPr/>
          <p:nvPr/>
        </p:nvSpPr>
        <p:spPr>
          <a:xfrm>
            <a:off x="10064744" y="1299035"/>
            <a:ext cx="3052171" cy="5501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14:m>
              <m:oMath xmlns:m="http://schemas.openxmlformats.org/officeDocument/2006/math">
                <m:sSup>
                  <m:sSupPr>
                    <m:ctrlPr>
                      <a:rPr lang="en-US" sz="1400" b="1" i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sz="1400" b="1" i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HF source-test</m:t>
                    </m:r>
                  </m:e>
                  <m:sup>
                    <m:r>
                      <a:rPr lang="en-US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#</m:t>
                    </m:r>
                  </m:sup>
                </m:sSup>
                <m:r>
                  <a:rPr lang="en-US" sz="1400" b="1" i="1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Arial" panose="020B0604020202020204" pitchFamily="34" charset="0"/>
                  </a:rPr>
                  <m:t> 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Crackle </a:t>
            </a:r>
            <a14:m>
              <m:oMath xmlns:m="http://schemas.openxmlformats.org/officeDocument/2006/math">
                <m:r>
                  <a:rPr lang="en-US" sz="140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Wheeze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/>
              <p:nvPr/>
            </p:nvSpPr>
            <p:spPr>
              <a:xfrm>
                <a:off x="10064744" y="1929661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KAUH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Abnormal</a:t>
                </a:r>
              </a:p>
            </p:txBody>
          </p:sp>
        </mc:Choice>
        <mc:Fallback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44" y="1929661"/>
                <a:ext cx="3052171" cy="550131"/>
              </a:xfrm>
              <a:prstGeom prst="rect">
                <a:avLst/>
              </a:prstGeom>
              <a:blipFill>
                <a:blip r:embed="rId8"/>
                <a:stretch>
                  <a:fillRect l="-413" b="-6522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F26FDA4-7B15-DDF2-3265-B85762BCC004}"/>
              </a:ext>
            </a:extLst>
          </p:cNvPr>
          <p:cNvCxnSpPr>
            <a:cxnSpLocks/>
          </p:cNvCxnSpPr>
          <p:nvPr/>
        </p:nvCxnSpPr>
        <p:spPr>
          <a:xfrm>
            <a:off x="6070775" y="413347"/>
            <a:ext cx="6400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DF45E505-D19E-594C-E8DC-0AFE42FF7477}"/>
              </a:ext>
            </a:extLst>
          </p:cNvPr>
          <p:cNvCxnSpPr>
            <a:cxnSpLocks/>
          </p:cNvCxnSpPr>
          <p:nvPr/>
        </p:nvCxnSpPr>
        <p:spPr>
          <a:xfrm>
            <a:off x="6077432" y="413347"/>
            <a:ext cx="633423" cy="466317"/>
          </a:xfrm>
          <a:prstGeom prst="bentConnector3">
            <a:avLst>
              <a:gd name="adj1" fmla="val 703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D0538643-CF93-C593-6E65-7DCAC0EDEE1D}"/>
              </a:ext>
            </a:extLst>
          </p:cNvPr>
          <p:cNvCxnSpPr>
            <a:cxnSpLocks/>
          </p:cNvCxnSpPr>
          <p:nvPr/>
        </p:nvCxnSpPr>
        <p:spPr>
          <a:xfrm>
            <a:off x="6077432" y="413347"/>
            <a:ext cx="633423" cy="1006742"/>
          </a:xfrm>
          <a:prstGeom prst="bentConnector3">
            <a:avLst>
              <a:gd name="adj1" fmla="val 7030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830104" y="337147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104" y="337147"/>
                <a:ext cx="254000" cy="152400"/>
              </a:xfrm>
              <a:prstGeom prst="rect">
                <a:avLst/>
              </a:prstGeom>
              <a:blipFill>
                <a:blip r:embed="rId9"/>
                <a:stretch>
                  <a:fillRect l="-4762" t="-7692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 xmlns:a14="http://schemas.microsoft.com/office/drawing/2010/main">
        <p:nvSpPr>
          <p:cNvPr id="48" name="TextBox 47">
            <a:extLst>
              <a:ext uri="{FF2B5EF4-FFF2-40B4-BE49-F238E27FC236}">
                <a16:creationId xmlns:a16="http://schemas.microsoft.com/office/drawing/2014/main" id="{6A8806B1-5ED6-0BA5-698D-FFA85ED77602}"/>
              </a:ext>
            </a:extLst>
          </p:cNvPr>
          <p:cNvSpPr txBox="1"/>
          <p:nvPr/>
        </p:nvSpPr>
        <p:spPr>
          <a:xfrm>
            <a:off x="3576178" y="558884"/>
            <a:ext cx="514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14:m>
              <m:oMathPara xmlns:m="http://schemas.openxmlformats.org/officeDocument/2006/math">
                <m:oMath>
                  <m:box>
                    <m:boxPr>
                      <m:noBreak m:val="1"/>
                    </m:boxPr>
                    <m:e>
                      <m:sSub>
                        <m:e>
                          <m:r>
                            <m:rPr>
                              <m:sty m:val="p"/>
                            </m:r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</m:e>
                  </m:box>
                </m:oMath>
              </m:oMathPara>
            </a14:m>
            <a:endParaRPr lang="en-US" sz="1200" dirty="0"/>
          </a:p>
        </p:txBody>
      </p: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597C8DC1-F966-E335-257E-62507BB0CE88}"/>
              </a:ext>
            </a:extLst>
          </p:cNvPr>
          <p:cNvCxnSpPr>
            <a:cxnSpLocks/>
          </p:cNvCxnSpPr>
          <p:nvPr/>
        </p:nvCxnSpPr>
        <p:spPr>
          <a:xfrm>
            <a:off x="8145459" y="328405"/>
            <a:ext cx="419647" cy="52214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B0F2440E-AF09-456C-1B9D-C2DBD576E36D}"/>
              </a:ext>
            </a:extLst>
          </p:cNvPr>
          <p:cNvCxnSpPr>
            <a:cxnSpLocks/>
          </p:cNvCxnSpPr>
          <p:nvPr/>
        </p:nvCxnSpPr>
        <p:spPr>
          <a:xfrm flipV="1">
            <a:off x="8133454" y="850545"/>
            <a:ext cx="431652" cy="568961"/>
          </a:xfrm>
          <a:prstGeom prst="bentConnector3">
            <a:avLst>
              <a:gd name="adj1" fmla="val 5194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CDB5AC0-3BCB-CBF5-96C5-443EC2185B0A}"/>
              </a:ext>
            </a:extLst>
          </p:cNvPr>
          <p:cNvCxnSpPr>
            <a:cxnSpLocks/>
          </p:cNvCxnSpPr>
          <p:nvPr/>
        </p:nvCxnSpPr>
        <p:spPr>
          <a:xfrm>
            <a:off x="8140264" y="849001"/>
            <a:ext cx="424842" cy="15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BFC6C2C4-052C-239D-EFC2-F719FD140111}"/>
              </a:ext>
            </a:extLst>
          </p:cNvPr>
          <p:cNvCxnSpPr>
            <a:cxnSpLocks/>
          </p:cNvCxnSpPr>
          <p:nvPr/>
        </p:nvCxnSpPr>
        <p:spPr>
          <a:xfrm flipV="1">
            <a:off x="9655308" y="328405"/>
            <a:ext cx="416247" cy="51804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C338C94F-5647-899D-E227-F7738C1523D0}"/>
              </a:ext>
            </a:extLst>
          </p:cNvPr>
          <p:cNvCxnSpPr>
            <a:cxnSpLocks/>
          </p:cNvCxnSpPr>
          <p:nvPr/>
        </p:nvCxnSpPr>
        <p:spPr>
          <a:xfrm>
            <a:off x="9655308" y="846449"/>
            <a:ext cx="416247" cy="73899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5E9DBD74-3481-54D1-4A2A-EE4152330AE5}"/>
              </a:ext>
            </a:extLst>
          </p:cNvPr>
          <p:cNvCxnSpPr>
            <a:cxnSpLocks/>
          </p:cNvCxnSpPr>
          <p:nvPr/>
        </p:nvCxnSpPr>
        <p:spPr>
          <a:xfrm>
            <a:off x="9655308" y="846449"/>
            <a:ext cx="416247" cy="9702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AE34DC7E-A4E2-1AE1-4E7E-CED62EF107D7}"/>
              </a:ext>
            </a:extLst>
          </p:cNvPr>
          <p:cNvCxnSpPr>
            <a:cxnSpLocks/>
          </p:cNvCxnSpPr>
          <p:nvPr/>
        </p:nvCxnSpPr>
        <p:spPr>
          <a:xfrm>
            <a:off x="9655308" y="846449"/>
            <a:ext cx="416247" cy="137068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9D5C7C15-C9B6-E712-A58A-AB9017AA12A7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584053" y="557282"/>
            <a:ext cx="743980" cy="821171"/>
          </a:xfrm>
          <a:prstGeom prst="bentConnector3">
            <a:avLst>
              <a:gd name="adj1" fmla="val 7029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xmlns:a14="http://schemas.microsoft.com/office/drawing/2010/main">
        <p:nvSpPr>
          <p:cNvPr id="97" name="Rectangle 96">
            <a:extLst>
              <a:ext uri="{FF2B5EF4-FFF2-40B4-BE49-F238E27FC236}">
                <a16:creationId xmlns:a16="http://schemas.microsoft.com/office/drawing/2014/main" id="{074BE785-9BB6-F04B-A13E-EF7A29504FC6}"/>
              </a:ext>
            </a:extLst>
          </p:cNvPr>
          <p:cNvSpPr/>
          <p:nvPr/>
        </p:nvSpPr>
        <p:spPr>
          <a:xfrm>
            <a:off x="2971822" y="1954690"/>
            <a:ext cx="6595478" cy="307263"/>
          </a:xfrm>
          <a:prstGeom prst="rect">
            <a:avLst/>
          </a:prstGeom>
          <a:solidFill>
            <a:schemeClr val="bg2"/>
          </a:solidFill>
          <a:ln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14:m>
              <m:oMath xmlns:m="http://schemas.openxmlformats.org/officeDocument/2006/math">
                <m:r>
                  <a:rPr lang="en-US" b="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m:t>        </m:t>
                </m:r>
                <m:r>
                  <a:rPr lang="en-US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m:t>ℒ</m:t>
                </m:r>
                <m:r>
                  <a:rPr lang="en-US" b="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m:t>   =  </m:t>
                </m:r>
                <m:sSub>
                  <m:sSubPr>
                    <m:ctrlP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m:ctrlPr>
                  </m:sSubPr>
                  <m:e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e>
                  <m:sub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</m:sub>
                </m:sSub>
                <m:sSub>
                  <m:sSubPr>
                    <m:ctrlP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m:ctrlPr>
                  </m:sSubPr>
                  <m:e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e>
                  <m:sub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PCSL</m:t>
                    </m:r>
                  </m:sub>
                </m:sSub>
              </m:oMath>
            </a14:m>
            <a:r>
              <a:rPr lang="en-US" dirty="0">
                <a:solidFill>
                  <a:schemeClr val="tx1"/>
                </a:solidFill>
              </a:rPr>
              <a:t>     +     </a:t>
            </a:r>
            <a14:m>
              <m:oMath xmlns:m="http://schemas.openxmlformats.org/officeDocument/2006/math">
                <m:sSub>
                  <m:sSubPr>
                    <m:ctrlP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m:ctrlPr>
                  </m:sSubPr>
                  <m:e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e>
                  <m:sub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g</m:t>
                    </m:r>
                  </m:sub>
                </m:sSub>
                <m:sSub>
                  <m:sSubPr>
                    <m:ctrlP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m:ctrlPr>
                  </m:sSubPr>
                  <m:e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e>
                  <m:sub>
                    <m:r>
                      <m:rPr>
                        <m:sty m:val="p"/>
                      </m:rP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GPAL</m:t>
                    </m:r>
                  </m:sub>
                </m:sSub>
                <m:r>
                  <a:rPr lang="en-US" b="0" i="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m:t> </m:t>
                </m:r>
              </m:oMath>
            </a14:m>
            <a:r>
              <a:rPr lang="en-US" dirty="0">
                <a:solidFill>
                  <a:schemeClr val="tx1"/>
                </a:solidFill>
                <a:ea typeface="Cambria Math" panose="02040503050406030204" pitchFamily="18" charset="0"/>
              </a:rPr>
              <a:t>   +    </a:t>
            </a:r>
            <a:r>
              <a:rPr lang="en-US" b="0" dirty="0">
                <a:solidFill>
                  <a:schemeClr val="tx1"/>
                </a:solidFill>
                <a:ea typeface="Cambria Math" panose="02040503050406030204" pitchFamily="18" charset="0"/>
              </a:rPr>
              <a:t> </a:t>
            </a:r>
            <a14:m>
              <m:oMath xmlns:m="http://schemas.openxmlformats.org/officeDocument/2006/math">
                <m:sSub>
                  <m:sSubPr>
                    <m:ctrlPr>
                      <a:rPr lang="en-US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m:ctrlPr>
                  </m:sSubPr>
                  <m:e>
                    <m:r>
                      <a:rPr lang="en-US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e>
                  <m:sub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CLS</m:t>
                    </m:r>
                  </m:sub>
                </m:sSub>
                <m:r>
                  <a:rPr lang="en-US" b="0" i="0" smtClean="0">
                    <a:solidFill>
                      <a:schemeClr val="accent6">
                        <a:lumMod val="5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m:t>  </m:t>
                </m:r>
              </m:oMath>
            </a14:m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  </a:t>
            </a:r>
            <a:r>
              <a:rPr lang="en-US" dirty="0">
                <a:solidFill>
                  <a:schemeClr val="tx1"/>
                </a:solidFill>
              </a:rPr>
              <a:t>+     </a:t>
            </a:r>
            <a14:m>
              <m:oMath xmlns:m="http://schemas.openxmlformats.org/officeDocument/2006/math">
                <m:sSub>
                  <m:sSubPr>
                    <m:ctrlPr>
                      <a:rPr lang="en-US" b="0" i="1" smtClean="0">
                        <a:solidFill>
                          <a:srgbClr val="B6993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m:ctrlPr>
                  </m:sSubPr>
                  <m:e>
                    <m:r>
                      <a:rPr lang="en-US" b="0" i="1" smtClean="0">
                        <a:solidFill>
                          <a:srgbClr val="B6993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e>
                  <m:sub>
                    <m:r>
                      <m:rPr>
                        <m:sty m:val="p"/>
                      </m:rPr>
                      <a:rPr lang="en-US" b="0" i="1" smtClean="0">
                        <a:solidFill>
                          <a:srgbClr val="B6993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HF</m:t>
                    </m:r>
                  </m:sub>
                </m:sSub>
                <m:sSub>
                  <m:sSubPr>
                    <m:ctrlPr>
                      <a:rPr lang="en-US" b="0" i="1" smtClean="0">
                        <a:solidFill>
                          <a:srgbClr val="B6993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m:ctrlPr>
                  </m:sSubPr>
                  <m:e>
                    <m:r>
                      <a:rPr lang="en-US" b="0" i="1" smtClean="0">
                        <a:solidFill>
                          <a:srgbClr val="B6993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e>
                  <m:sub>
                    <m:r>
                      <m:rPr>
                        <m:sty m:val="p"/>
                      </m:rPr>
                      <a:rPr lang="en-US" b="0" i="1" smtClean="0">
                        <a:solidFill>
                          <a:srgbClr val="B6993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HF</m:t>
                    </m:r>
                  </m:sub>
                </m:sSub>
                <m:r>
                  <a:rPr lang="en-US" b="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m:t> </m:t>
                </m:r>
              </m:oMath>
            </a14:m>
            <a:r>
              <a:rPr lang="en-US" b="0" dirty="0">
                <a:solidFill>
                  <a:schemeClr val="tx1"/>
                </a:solidFill>
                <a:ea typeface="Cambria Math" panose="02040503050406030204" pitchFamily="18" charset="0"/>
              </a:rPr>
              <a:t>                  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D5D0926-C52A-AFA7-FFCD-C3C1D8843D21}"/>
              </a:ext>
            </a:extLst>
          </p:cNvPr>
          <p:cNvSpPr txBox="1"/>
          <p:nvPr/>
        </p:nvSpPr>
        <p:spPr>
          <a:xfrm>
            <a:off x="2843662" y="2408502"/>
            <a:ext cx="18744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 Cohesion–Separation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ADA528A-A79B-BD0F-0327-3116AF2E21F9}"/>
              </a:ext>
            </a:extLst>
          </p:cNvPr>
          <p:cNvSpPr txBox="1"/>
          <p:nvPr/>
        </p:nvSpPr>
        <p:spPr>
          <a:xfrm>
            <a:off x="4780652" y="2408502"/>
            <a:ext cx="16020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Patient Alignment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9A34679-5FA5-6D44-92C3-BB801B68FE33}"/>
              </a:ext>
            </a:extLst>
          </p:cNvPr>
          <p:cNvSpPr txBox="1"/>
          <p:nvPr/>
        </p:nvSpPr>
        <p:spPr>
          <a:xfrm>
            <a:off x="6536277" y="2408502"/>
            <a:ext cx="1124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7BB03F5-26EF-748C-13CB-347E0E1CC4A6}"/>
              </a:ext>
            </a:extLst>
          </p:cNvPr>
          <p:cNvSpPr txBox="1"/>
          <p:nvPr/>
        </p:nvSpPr>
        <p:spPr>
          <a:xfrm>
            <a:off x="8007775" y="2223836"/>
            <a:ext cx="1929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B699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HF Lung Loss</a:t>
            </a:r>
          </a:p>
          <a:p>
            <a:pPr algn="ctr"/>
            <a:r>
              <a:rPr lang="en-US" sz="1200" dirty="0">
                <a:solidFill>
                  <a:srgbClr val="B699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(Optional C/W)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B9A9994E-0D3D-C9DB-8FCF-4A3F927BF33E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205647" y="1651722"/>
            <a:ext cx="0" cy="33624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295922" y="1727006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𝑍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922" y="1727006"/>
                <a:ext cx="254000" cy="152400"/>
              </a:xfrm>
              <a:prstGeom prst="rect">
                <a:avLst/>
              </a:prstGeom>
              <a:blipFill>
                <a:blip r:embed="rId12"/>
                <a:stretch>
                  <a:fillRect l="-5000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 xmlns:a14="http://schemas.microsoft.com/office/drawing/2010/main">
        <p:nvSpPr>
          <p:cNvPr id="119" name="TextBox 118">
            <a:extLst>
              <a:ext uri="{FF2B5EF4-FFF2-40B4-BE49-F238E27FC236}">
                <a16:creationId xmlns:a16="http://schemas.microsoft.com/office/drawing/2014/main" id="{59886ED4-1488-130B-B9D3-9B8C68A17B2E}"/>
              </a:ext>
            </a:extLst>
          </p:cNvPr>
          <p:cNvSpPr txBox="1"/>
          <p:nvPr/>
        </p:nvSpPr>
        <p:spPr>
          <a:xfrm>
            <a:off x="4646159" y="1665344"/>
            <a:ext cx="514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14:m>
              <m:oMathPara xmlns:m="http://schemas.openxmlformats.org/officeDocument/2006/math">
                <m:oMath>
                  <m:box>
                    <m:boxPr>
                      <m:noBreak m:val="1"/>
                    </m:boxPr>
                    <m:e>
                      <m:r>
                        <a:rPr lang="en-U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768</m:t>
                      </m:r>
                    </m:e>
                  </m:box>
                </m:oMath>
              </m:oMathPara>
            </a14:m>
            <a:endParaRPr lang="en-US" sz="1200" dirty="0"/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5FCEE3CB-389B-089E-4C80-884895E94C0B}"/>
              </a:ext>
            </a:extLst>
          </p:cNvPr>
          <p:cNvCxnSpPr>
            <a:cxnSpLocks/>
          </p:cNvCxnSpPr>
          <p:nvPr/>
        </p:nvCxnSpPr>
        <p:spPr>
          <a:xfrm flipV="1">
            <a:off x="3964113" y="2292592"/>
            <a:ext cx="499959" cy="130455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D87266F8-7748-12E8-4915-A367773A73C7}"/>
              </a:ext>
            </a:extLst>
          </p:cNvPr>
          <p:cNvCxnSpPr>
            <a:cxnSpLocks/>
          </p:cNvCxnSpPr>
          <p:nvPr/>
        </p:nvCxnSpPr>
        <p:spPr>
          <a:xfrm flipV="1">
            <a:off x="5654769" y="2274300"/>
            <a:ext cx="296949" cy="205492"/>
          </a:xfrm>
          <a:prstGeom prst="straightConnector1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044F4628-155A-9D13-3153-DB10E122B6FA}"/>
              </a:ext>
            </a:extLst>
          </p:cNvPr>
          <p:cNvCxnSpPr>
            <a:cxnSpLocks/>
          </p:cNvCxnSpPr>
          <p:nvPr/>
        </p:nvCxnSpPr>
        <p:spPr>
          <a:xfrm flipH="1" flipV="1">
            <a:off x="7121569" y="2299733"/>
            <a:ext cx="135268" cy="160467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5F09288D-9801-CA6A-1E57-D0A312F4A105}"/>
              </a:ext>
            </a:extLst>
          </p:cNvPr>
          <p:cNvCxnSpPr>
            <a:cxnSpLocks/>
          </p:cNvCxnSpPr>
          <p:nvPr/>
        </p:nvCxnSpPr>
        <p:spPr>
          <a:xfrm flipH="1" flipV="1">
            <a:off x="8158691" y="2292592"/>
            <a:ext cx="190589" cy="147176"/>
          </a:xfrm>
          <a:prstGeom prst="straightConnector1">
            <a:avLst/>
          </a:prstGeom>
          <a:ln w="19050">
            <a:solidFill>
              <a:srgbClr val="B6993A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EB6B375C-DDCC-1C61-6189-3C250173AC71}"/>
              </a:ext>
            </a:extLst>
          </p:cNvPr>
          <p:cNvCxnSpPr>
            <a:cxnSpLocks/>
          </p:cNvCxnSpPr>
          <p:nvPr/>
        </p:nvCxnSpPr>
        <p:spPr>
          <a:xfrm>
            <a:off x="9225712" y="1210331"/>
            <a:ext cx="0" cy="719330"/>
          </a:xfrm>
          <a:prstGeom prst="straightConnector1">
            <a:avLst/>
          </a:prstGeom>
          <a:ln w="28575">
            <a:solidFill>
              <a:srgbClr val="B6993A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9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106</Words>
  <Application>Microsoft Macintosh PowerPoint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Nie, Jingping</dc:creator>
  <cp:lastModifiedBy>Nie, Jingping</cp:lastModifiedBy>
  <cp:revision>8</cp:revision>
  <dcterms:created xsi:type="dcterms:W3CDTF">2026-09-14T23:48:42Z</dcterms:created>
  <dcterms:modified xsi:type="dcterms:W3CDTF">2026-09-15T01:19:34Z</dcterms:modified>
</cp:coreProperties>
</file>