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8"/>
  </p:normalViewPr>
  <p:slideViewPr>
    <p:cSldViewPr snapToGrid="0">
      <p:cViewPr>
        <p:scale>
          <a:sx n="73" d="100"/>
          <a:sy n="73" d="100"/>
        </p:scale>
        <p:origin x="888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CFDE-0DF1-8471-44B2-FE3DB583C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8BC3D-7ED4-D5E5-5C3D-56055947A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9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38DA66CA-D03E-A7DE-DDCF-0726C84C6C9B}"/>
              </a:ext>
            </a:extLst>
          </p:cNvPr>
          <p:cNvSpPr/>
          <p:nvPr/>
        </p:nvSpPr>
        <p:spPr>
          <a:xfrm>
            <a:off x="6433093" y="58352"/>
            <a:ext cx="2360951" cy="161169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328033" y="280122"/>
            <a:ext cx="1755227" cy="5465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768→256)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 rot="5400000">
            <a:off x="2269581" y="-4468"/>
            <a:ext cx="1228135" cy="1429409"/>
          </a:xfrm>
          <a:prstGeom prst="trapezoid">
            <a:avLst>
              <a:gd name="adj" fmla="val 23288"/>
            </a:avLst>
          </a:pr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2168944" y="248624"/>
            <a:ext cx="1128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p:sp xmlns:a14="http://schemas.microsoft.com/office/drawing/2010/main">
        <p:nvSpPr>
          <p:cNvPr id="12" name="Rectangle 11">
            <a:extLst>
              <a:ext uri="{FF2B5EF4-FFF2-40B4-BE49-F238E27FC236}">
                <a16:creationId xmlns:a16="http://schemas.microsoft.com/office/drawing/2014/main" id="{F409BB53-B426-E5F7-E1D1-CC691474571B}"/>
              </a:ext>
            </a:extLst>
          </p:cNvPr>
          <p:cNvSpPr/>
          <p:nvPr/>
        </p:nvSpPr>
        <p:spPr>
          <a:xfrm>
            <a:off x="4328033" y="1105184"/>
            <a:ext cx="1755227" cy="546538"/>
          </a:xfrm>
          <a:prstGeom prst="rect">
            <a:avLst/>
          </a:prstGeom>
          <a:solidFill>
            <a:srgbClr val="7030A0">
              <a:alpha val="14118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</a:t>
            </a:r>
            <a14:m>
              <m:oMath xmlns:m="http://schemas.openxmlformats.org/officeDocument/2006/math">
                <m:r>
                  <a:rPr lang="en-US" b="1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𝓖</m:t>
                </m:r>
              </m:oMath>
            </a14:m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(PAFA projection)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6710856" y="105876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Abnormal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6710856" y="646301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Crackle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0" y="518536"/>
            <a:ext cx="1670707" cy="414133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-295598" y="128183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628CDD-9697-1FF4-2341-6249F9A0B937}"/>
              </a:ext>
            </a:extLst>
          </p:cNvPr>
          <p:cNvCxnSpPr>
            <a:cxnSpLocks/>
          </p:cNvCxnSpPr>
          <p:nvPr/>
        </p:nvCxnSpPr>
        <p:spPr>
          <a:xfrm>
            <a:off x="1711744" y="697384"/>
            <a:ext cx="457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D859DB-9C5D-0AE6-39CB-0DC2299AD2AA}"/>
              </a:ext>
            </a:extLst>
          </p:cNvPr>
          <p:cNvCxnSpPr>
            <a:cxnSpLocks/>
          </p:cNvCxnSpPr>
          <p:nvPr/>
        </p:nvCxnSpPr>
        <p:spPr>
          <a:xfrm>
            <a:off x="3598353" y="551837"/>
            <a:ext cx="7315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6294608" y="-331549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Linear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-201953" y="1879406"/>
            <a:ext cx="1860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 xmlns:a14="http://schemas.microsoft.com/office/drawing/2010/main">
        <p:nvSpPr>
          <p:cNvPr id="25" name="TextBox 24">
            <a:extLst>
              <a:ext uri="{FF2B5EF4-FFF2-40B4-BE49-F238E27FC236}">
                <a16:creationId xmlns:a16="http://schemas.microsoft.com/office/drawing/2014/main" id="{99AF68F7-942D-5662-35E9-EFEE5E12822B}"/>
              </a:ext>
            </a:extLst>
          </p:cNvPr>
          <p:cNvSpPr txBox="1"/>
          <p:nvPr/>
        </p:nvSpPr>
        <p:spPr>
          <a:xfrm>
            <a:off x="-201953" y="1001138"/>
            <a:ext cx="2351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ICBHI</m:t>
                    </m:r>
                  </m:e>
                  <m:sup>
                    <m:r>
                      <a:rPr lang="en-US" b="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dirty="0"/>
              <a:t>, </a:t>
            </a:r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SPRSound</m:t>
                    </m:r>
                  </m:e>
                  <m:sup>
                    <m:r>
                      <a:rPr lang="en-US" b="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  <m:r>
                  <a:rPr lang="en-US" b="1" i="1">
                    <a:latin typeface="Cambria Math" panose="02040503050406030204" pitchFamily="18" charset="0"/>
                    <a:cs typeface="Arial" panose="020B0604020202020204" pitchFamily="34" charset="0"/>
                  </a:rPr>
                  <m:t> </m:t>
                </m:r>
              </m:oMath>
            </a14:m>
            <a:endParaRPr lang="en-US" dirty="0"/>
          </a:p>
          <a:p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HF</m:t>
                    </m:r>
                  </m:e>
                  <m:sup>
                    <m:r>
                      <a:rPr lang="en-US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dirty="0"/>
              <a:t> (optional), </a:t>
            </a:r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KAUH</m:t>
                    </m:r>
                  </m:e>
                  <m:sup>
                    <m:r>
                      <a:rPr lang="en-US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#</m:t>
                    </m:r>
                  </m:sup>
                </m:sSup>
                <m:r>
                  <a:rPr lang="en-US" b="0" i="1">
                    <a:latin typeface="Cambria Math" panose="02040503050406030204" pitchFamily="18" charset="0"/>
                    <a:cs typeface="Arial" panose="020B0604020202020204" pitchFamily="34" charset="0"/>
                  </a:rPr>
                  <m:t> </m:t>
                </m:r>
              </m:oMath>
            </a14:m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6710855" y="1183069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Wheeze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xmlns:a14="http://schemas.microsoft.com/office/drawing/2010/main"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556512" y="434779"/>
            <a:ext cx="1091985" cy="7837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</m:ctrlPr>
                    </m:sSubPr>
                    <m:e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𝒑</m:t>
                      </m:r>
                    </m:e>
                    <m:sub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𝒊</m:t>
                      </m:r>
                    </m:sub>
                  </m:sSub>
                </m:oMath>
              </m:oMathPara>
            </a14:m>
            <a:endParaRPr lang="en-US" sz="1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(Shared Attributes)</a:t>
            </a:r>
          </a:p>
        </p:txBody>
      </p:sp>
      <p:sp xmlns:a14="http://schemas.microsoft.com/office/drawing/2010/main">
        <p:nvSpPr>
          <p:cNvPr id="30" name="Rectangle 29">
            <a:extLst>
              <a:ext uri="{FF2B5EF4-FFF2-40B4-BE49-F238E27FC236}">
                <a16:creationId xmlns:a16="http://schemas.microsoft.com/office/drawing/2014/main" id="{F5222A8E-5216-64FF-83D9-E52A1610B798}"/>
              </a:ext>
            </a:extLst>
          </p:cNvPr>
          <p:cNvSpPr/>
          <p:nvPr/>
        </p:nvSpPr>
        <p:spPr>
          <a:xfrm>
            <a:off x="10064744" y="37783"/>
            <a:ext cx="3052171" cy="5501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ICBHI</m:t>
                    </m:r>
                  </m:e>
                  <m: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Crackle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Wheeze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Both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9922035" y="-333558"/>
            <a:ext cx="299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</a:t>
                </a:r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 xmlns:a14="http://schemas.microsoft.com/office/drawing/2010/main">
        <p:nvSpPr>
          <p:cNvPr id="33" name="Rectangle 32">
            <a:extLst>
              <a:ext uri="{FF2B5EF4-FFF2-40B4-BE49-F238E27FC236}">
                <a16:creationId xmlns:a16="http://schemas.microsoft.com/office/drawing/2014/main" id="{013A3B43-3589-DB43-9169-6CF6C6DF521F}"/>
              </a:ext>
            </a:extLst>
          </p:cNvPr>
          <p:cNvSpPr/>
          <p:nvPr/>
        </p:nvSpPr>
        <p:spPr>
          <a:xfrm>
            <a:off x="10064744" y="1299035"/>
            <a:ext cx="3052171" cy="5501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HF source-test</m:t>
                    </m:r>
                  </m:e>
                  <m:sup>
                    <m:r>
                      <a:rPr lang="en-US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#</m:t>
                    </m:r>
                  </m:sup>
                </m:sSup>
                <m:r>
                  <a:rPr lang="en-US" sz="1400" b="1" i="1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m:t> 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 (W-head score)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blipFill>
                <a:blip r:embed="rId8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26FDA4-7B15-DDF2-3265-B85762BCC004}"/>
              </a:ext>
            </a:extLst>
          </p:cNvPr>
          <p:cNvCxnSpPr>
            <a:cxnSpLocks/>
          </p:cNvCxnSpPr>
          <p:nvPr/>
        </p:nvCxnSpPr>
        <p:spPr>
          <a:xfrm>
            <a:off x="6070775" y="413347"/>
            <a:ext cx="640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DF45E505-D19E-594C-E8DC-0AFE42FF7477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466317"/>
          </a:xfrm>
          <a:prstGeom prst="bentConnector3">
            <a:avLst>
              <a:gd name="adj1" fmla="val 703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0538643-CF93-C593-6E65-7DCAC0EDEE1D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1006742"/>
          </a:xfrm>
          <a:prstGeom prst="bentConnector3">
            <a:avLst>
              <a:gd name="adj1" fmla="val 703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 xmlns:a14="http://schemas.microsoft.com/office/drawing/2010/main">
        <p:nvSpPr>
          <p:cNvPr id="48" name="TextBox 47">
            <a:extLst>
              <a:ext uri="{FF2B5EF4-FFF2-40B4-BE49-F238E27FC236}">
                <a16:creationId xmlns:a16="http://schemas.microsoft.com/office/drawing/2014/main" id="{6A8806B1-5ED6-0BA5-698D-FFA85ED77602}"/>
              </a:ext>
            </a:extLst>
          </p:cNvPr>
          <p:cNvSpPr txBox="1"/>
          <p:nvPr/>
        </p:nvSpPr>
        <p:spPr>
          <a:xfrm>
            <a:off x="3576178" y="558884"/>
            <a:ext cx="514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14:m>
              <m:oMathPara xmlns:m="http://schemas.openxmlformats.org/officeDocument/2006/math">
                <m:oMath>
                  <m:box>
                    <m:boxPr>
                      <m:noBreak m:val="1"/>
                    </m:boxPr>
                    <m:e>
                      <m:sSub>
                        <m:e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</m:e>
                  </m:box>
                </m:oMath>
              </m:oMathPara>
            </a14:m>
            <a:endParaRPr lang="en-US" sz="1200" dirty="0"/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597C8DC1-F966-E335-257E-62507BB0CE88}"/>
              </a:ext>
            </a:extLst>
          </p:cNvPr>
          <p:cNvCxnSpPr>
            <a:cxnSpLocks/>
          </p:cNvCxnSpPr>
          <p:nvPr/>
        </p:nvCxnSpPr>
        <p:spPr>
          <a:xfrm>
            <a:off x="8145459" y="328405"/>
            <a:ext cx="419647" cy="52214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B0F2440E-AF09-456C-1B9D-C2DBD576E36D}"/>
              </a:ext>
            </a:extLst>
          </p:cNvPr>
          <p:cNvCxnSpPr>
            <a:cxnSpLocks/>
          </p:cNvCxnSpPr>
          <p:nvPr/>
        </p:nvCxnSpPr>
        <p:spPr>
          <a:xfrm flipV="1">
            <a:off x="8133454" y="850545"/>
            <a:ext cx="431652" cy="568961"/>
          </a:xfrm>
          <a:prstGeom prst="bentConnector3">
            <a:avLst>
              <a:gd name="adj1" fmla="val 5194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CDB5AC0-3BCB-CBF5-96C5-443EC2185B0A}"/>
              </a:ext>
            </a:extLst>
          </p:cNvPr>
          <p:cNvCxnSpPr>
            <a:cxnSpLocks/>
          </p:cNvCxnSpPr>
          <p:nvPr/>
        </p:nvCxnSpPr>
        <p:spPr>
          <a:xfrm>
            <a:off x="8140264" y="849001"/>
            <a:ext cx="424842" cy="15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BFC6C2C4-052C-239D-EFC2-F719FD140111}"/>
              </a:ext>
            </a:extLst>
          </p:cNvPr>
          <p:cNvCxnSpPr>
            <a:cxnSpLocks/>
          </p:cNvCxnSpPr>
          <p:nvPr/>
        </p:nvCxnSpPr>
        <p:spPr>
          <a:xfrm flipV="1">
            <a:off x="9655308" y="328405"/>
            <a:ext cx="416247" cy="51804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C338C94F-5647-899D-E227-F7738C1523D0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73899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5E9DBD74-3481-54D1-4A2A-EE4152330AE5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970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E34DC7E-A4E2-1AE1-4E7E-CED62EF107D7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13706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9D5C7C15-C9B6-E712-A58A-AB9017AA12A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584053" y="557282"/>
            <a:ext cx="743980" cy="821171"/>
          </a:xfrm>
          <a:prstGeom prst="bentConnector3">
            <a:avLst>
              <a:gd name="adj1" fmla="val 7029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14="http://schemas.microsoft.com/office/drawing/2010/main"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2971822" y="1954690"/>
            <a:ext cx="6595478" cy="812800"/>
          </a:xfrm>
          <a:prstGeom prst="rect">
            <a:avLst/>
          </a:prstGeom>
          <a:solidFill>
            <a:schemeClr val="bg2"/>
          </a:solidFill>
          <a:ln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ns0:oMath xmlns:ns0="http://schemas.openxmlformats.org/officeDocument/2006/math">
                <ns0:r>
                  <a:rPr lang="en-US" b="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ns0:t>        </ns0:t>
                </ns0:r>
                <ns0:r>
                  <a:rPr lang="en-US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ns0:t>ℒ</ns0:t>
                </ns0:r>
                <ns0:r>
                  <a:rPr lang="en-US" b="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ns0:t>   =  </ns0:t>
                </ns0:r>
                <ns0:limLow>
                  <ns0:limLowPr>
                    <ns0:ctrlP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ns0:ctrlPr>
                  </ns0:limLowPr>
                  <ns0:e>
                    <ns0:groupChr>
                      <ns0:groupChrPr>
                        <ns0:chr ns0:val="⏟"/>
                        <ns0:pos ns0:val="bot"/>
                        <ns0:vertJc ns0:val="top"/>
                        <ns0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ns0:ctrlPr>
                      </ns0:groupChrPr>
                      <ns0:e>
                        <ns0:sSub>
                          <ns0:sSubPr>
                            <ns0:ctrlPr>
                              <a:rPr lang="en-U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ℒ</ns0:t>
                            </ns0:r>
                          </ns0:e>
                          <ns0:sub>
                            <ns0:r>
                              <ns0:rPr>
                                <ns0:sty ns0:val="p"/>
                              </ns0:rPr>
                              <a:rPr lang="en-U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cls</ns0:t>
                            </ns0:r>
                          </ns0:sub>
                        </ns0:sSub>
                        <ns0:r>
                          <ns0:rPr>
                            <ns0:nor/>
                          </ns0:r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 + </ns0:t>
                        </ns0:r>
                        <ns0:sSub>
                          <ns0:sSubPr>
                            <ns0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𝜆</ns0:t>
                            </ns0:r>
                          </ns0:e>
                          <ns0:sub>
                            <ns0:r>
                              <ns0:rPr>
                                <ns0:sty ns0:val="p"/>
                              </ns0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p</ns0:t>
                            </ns0:r>
                          </ns0:sub>
                        </ns0:sSub>
                        <ns0:sSub>
                          <ns0:sSubPr>
                            <ns0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ℒ</ns0:t>
                            </ns0:r>
                          </ns0:e>
                          <ns0:sub>
                            <ns0:r>
                              <ns0:rPr>
                                <ns0:sty ns0:val="p"/>
                              </ns0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PCSL</ns0:t>
                            </ns0:r>
                          </ns0:sub>
                        </ns0:sSub>
                        <ns0:r>
                          <ns0:rPr>
                            <ns0:nor/>
                          </ns0:r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 + </ns0:t>
                        </ns0:r>
                        <ns0:sSub>
                          <ns0:sSubPr>
                            <ns0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𝜆</ns0:t>
                            </ns0:r>
                          </ns0:e>
                          <ns0:sub>
                            <ns0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ns0:t>g</ns0:t>
                            </ns0:r>
                          </ns0:sub>
                        </ns0:sSub>
                        <ns0:sSub>
                          <ns0:sSubPr>
                            <ns0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ℒ</ns0:t>
                            </ns0:r>
                          </ns0:e>
                          <ns0:sub>
                            <ns0:r>
                              <ns0:rPr>
                                <ns0:sty ns0:val="p"/>
                              </ns0:r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GPAL</ns0:t>
                            </ns0:r>
                          </ns0:sub>
                        </ns0:sSub>
                      </ns0:e>
                    </ns0:groupChr>
                  </ns0:e>
                  <ns0:lim>
                    <ns0:phant>
                      <ns0:phantPr>
                        <ns0:show ns0:val="0"/>
                        <ns0:zeroWid ns0:val="1"/>
                        <ns0:transp ns0:val="1"/>
                      </ns0:phantPr>
                      <ns0:e>
                        <ns0:r>
                          <ns0:rPr>
                            <ns0:nor/>
                          </ns0:rPr>
                          <a:rPr lang="en-US" i="1" smtClean="0" sz="2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M</ns0:t>
                        </ns0:r>
                      </ns0:e>
                    </ns0:phant>
                    <ns0:sSub>
                      <ns0:sSubPr>
                        <ns0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ns0:ctrlPr>
                      </ns0:sSubPr>
                      <ns0:e>
                        <ns0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ℒ</ns0:t>
                        </ns0:r>
                      </ns0:e>
                      <ns0:sub>
                        <ns0:r>
                          <ns0:rPr>
                            <ns0:sty ns0:val="p"/>
                          </ns0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core</ns0:t>
                        </ns0:r>
                      </ns0:sub>
                    </ns0:sSub>
                  </ns0:lim>
                </ns0:limLow>
                <ns0:r>
                  <ns0:rPr>
                    <ns0:nor/>
                  </ns0:rPr>
                  <a:rPr lang="en-US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ns0:t>  +   </ns0:t>
                </ns0:r>
                <ns0:sSub>
                  <ns0:sSubPr>
                    <ns0:ctrl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ns0:ctrlPr>
                  </ns0:sSubPr>
                  <ns0:e>
                    <ns0: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0:t>𝜆</ns0:t>
                    </ns0:r>
                  </ns0:e>
                  <ns0:sub>
                    <ns0:r>
                      <ns0:rPr>
                        <ns0:sty ns0:val="p"/>
                      </ns0:r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0:t>HF</ns0:t>
                    </ns0:r>
                  </ns0:sub>
                </ns0:sSub>
                <ns0:sSub>
                  <ns0:sSubPr>
                    <ns0:ctrl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ns0:ctrlPr>
                  </ns0:sSubPr>
                  <ns0:e>
                    <ns0: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0:t>ℒ</ns0:t>
                    </ns0:r>
                  </ns0:e>
                  <ns0:sub>
                    <ns0:r>
                      <ns0:rPr>
                        <ns0:sty ns0:val="p"/>
                      </ns0:r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0:t>HF</ns0:t>
                    </ns0:r>
                  </ns0:sub>
                </ns0:sSub>
              </ns0:oMath>
            </a14:m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D5D0926-C52A-AFA7-FFCD-C3C1D8843D21}"/>
              </a:ext>
            </a:extLst>
          </p:cNvPr>
          <p:cNvSpPr txBox="1"/>
          <p:nvPr/>
        </p:nvSpPr>
        <p:spPr>
          <a:xfrm>
            <a:off x="4508500" y="2984500"/>
            <a:ext cx="1874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Cohesion–Separation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ADA528A-A79B-BD0F-0327-3116AF2E21F9}"/>
              </a:ext>
            </a:extLst>
          </p:cNvPr>
          <p:cNvSpPr txBox="1"/>
          <p:nvPr/>
        </p:nvSpPr>
        <p:spPr>
          <a:xfrm>
            <a:off x="6184900" y="2984500"/>
            <a:ext cx="1602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Patient Alignment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9A34679-5FA5-6D44-92C3-BB801B68FE33}"/>
              </a:ext>
            </a:extLst>
          </p:cNvPr>
          <p:cNvSpPr txBox="1"/>
          <p:nvPr/>
        </p:nvSpPr>
        <p:spPr>
          <a:xfrm>
            <a:off x="3505200" y="2984500"/>
            <a:ext cx="1124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7BB03F5-26EF-748C-13CB-347E0E1CC4A6}"/>
              </a:ext>
            </a:extLst>
          </p:cNvPr>
          <p:cNvSpPr txBox="1"/>
          <p:nvPr/>
        </p:nvSpPr>
        <p:spPr>
          <a:xfrm>
            <a:off x="8039100" y="2984500"/>
            <a:ext cx="1929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HF Lung Loss</a:t>
            </a:r>
          </a:p>
          <a:p>
            <a:pPr algn="ctr"/>
            <a:r>
              <a:rPr lang="en-US" sz="1200" dirty="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(Optional C/W)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9A9994E-0D3D-C9DB-8FCF-4A3F927BF33E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05647" y="1651722"/>
            <a:ext cx="0" cy="33624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 xmlns:a14="http://schemas.microsoft.com/office/drawing/2010/main">
        <p:nvSpPr>
          <p:cNvPr id="119" name="TextBox 118">
            <a:extLst>
              <a:ext uri="{FF2B5EF4-FFF2-40B4-BE49-F238E27FC236}">
                <a16:creationId xmlns:a16="http://schemas.microsoft.com/office/drawing/2014/main" id="{59886ED4-1488-130B-B9D3-9B8C68A17B2E}"/>
              </a:ext>
            </a:extLst>
          </p:cNvPr>
          <p:cNvSpPr txBox="1"/>
          <p:nvPr/>
        </p:nvSpPr>
        <p:spPr>
          <a:xfrm>
            <a:off x="4646159" y="1665344"/>
            <a:ext cx="514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14:m>
              <m:oMathPara xmlns:m="http://schemas.openxmlformats.org/officeDocument/2006/math">
                <m:oMath>
                  <m:box>
                    <m:boxPr>
                      <m:noBreak m:val="1"/>
                    </m:boxPr>
                    <m:e>
                      <m: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768</m:t>
                      </m:r>
                    </m:e>
                  </m:box>
                </m:oMath>
              </m:oMathPara>
            </a14:m>
            <a:endParaRPr lang="en-US" sz="12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FCEE3CB-389B-089E-4C80-884895E94C0B}"/>
              </a:ext>
            </a:extLst>
          </p:cNvPr>
          <p:cNvCxnSpPr>
            <a:cxnSpLocks/>
          </p:cNvCxnSpPr>
          <p:nvPr/>
        </p:nvCxnSpPr>
        <p:spPr>
          <a:xfrm flipV="1">
            <a:off x="4897541" y="2794000"/>
            <a:ext cx="499959" cy="130455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87266F8-7748-12E8-4915-A367773A73C7}"/>
              </a:ext>
            </a:extLst>
          </p:cNvPr>
          <p:cNvCxnSpPr>
            <a:cxnSpLocks/>
          </p:cNvCxnSpPr>
          <p:nvPr/>
        </p:nvCxnSpPr>
        <p:spPr>
          <a:xfrm flipV="1">
            <a:off x="6688051" y="2794000"/>
            <a:ext cx="296949" cy="205492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44F4628-155A-9D13-3153-DB10E122B6FA}"/>
              </a:ext>
            </a:extLst>
          </p:cNvPr>
          <p:cNvCxnSpPr>
            <a:cxnSpLocks/>
          </p:cNvCxnSpPr>
          <p:nvPr/>
        </p:nvCxnSpPr>
        <p:spPr>
          <a:xfrm flipH="1" flipV="1">
            <a:off x="4318000" y="2794000"/>
            <a:ext cx="135268" cy="160467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F09288D-9801-CA6A-1E57-D0A312F4A105}"/>
              </a:ext>
            </a:extLst>
          </p:cNvPr>
          <p:cNvCxnSpPr>
            <a:cxnSpLocks/>
          </p:cNvCxnSpPr>
          <p:nvPr/>
        </p:nvCxnSpPr>
        <p:spPr>
          <a:xfrm flipH="1" flipV="1">
            <a:off x="9067800" y="2794000"/>
            <a:ext cx="190589" cy="147176"/>
          </a:xfrm>
          <a:prstGeom prst="straightConnector1">
            <a:avLst/>
          </a:prstGeom>
          <a:ln w="19050">
            <a:solidFill>
              <a:srgbClr val="B6993A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B6B375C-DDCC-1C61-6189-3C250173AC71}"/>
              </a:ext>
            </a:extLst>
          </p:cNvPr>
          <p:cNvCxnSpPr>
            <a:cxnSpLocks/>
          </p:cNvCxnSpPr>
          <p:nvPr/>
        </p:nvCxnSpPr>
        <p:spPr>
          <a:xfrm>
            <a:off x="9225712" y="1210331"/>
            <a:ext cx="0" cy="719330"/>
          </a:xfrm>
          <a:prstGeom prst="straightConnector1">
            <a:avLst/>
          </a:prstGeom>
          <a:ln w="28575">
            <a:solidFill>
              <a:srgbClr val="B6993A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106</Words>
  <Application>Microsoft Macintosh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Nie, Jingping</cp:lastModifiedBy>
  <cp:revision>8</cp:revision>
  <dcterms:created xsi:type="dcterms:W3CDTF">2026-09-14T23:48:42Z</dcterms:created>
  <dcterms:modified xsi:type="dcterms:W3CDTF">2026-09-15T01:19:34Z</dcterms:modified>
</cp:coreProperties>
</file>