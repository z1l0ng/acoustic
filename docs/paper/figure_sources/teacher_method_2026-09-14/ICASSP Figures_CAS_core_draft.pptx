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8"/>
  </p:normalViewPr>
  <p:slideViewPr>
    <p:cSldViewPr snapToGrid="0">
      <p:cViewPr>
        <p:scale>
          <a:sx n="73" d="100"/>
          <a:sy n="73" d="100"/>
        </p:scale>
        <p:origin x="888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p:sp xmlns:a14="http://schemas.microsoft.com/office/drawing/2010/main">
        <p:nvSpPr>
          <p:cNvPr id="12" name="Rectangle 11">
            <a:extLst>
              <a:ext uri="{FF2B5EF4-FFF2-40B4-BE49-F238E27FC236}">
                <a16:creationId xmlns:a16="http://schemas.microsoft.com/office/drawing/2014/main" id="{F409BB53-B426-E5F7-E1D1-CC691474571B}"/>
              </a:ext>
            </a:extLst>
          </p:cNvPr>
          <p:cNvSpPr/>
          <p:nvPr/>
        </p:nvSpPr>
        <p:spPr>
          <a:xfrm>
            <a:off x="4328033" y="1105184"/>
            <a:ext cx="1755227" cy="546538"/>
          </a:xfrm>
          <a:prstGeom prst="rect">
            <a:avLst/>
          </a:prstGeom>
          <a:solidFill>
            <a:srgbClr val="7030A0">
              <a:alpha val="14118"/>
            </a:srgb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Attention </a:t>
            </a:r>
            <a14:m>
              <m:oMath xmlns:m="http://schemas.openxmlformats.org/officeDocument/2006/math">
                <m:r>
                  <a:rPr lang="en-US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𝓖</m:t>
                </m:r>
              </m:oMath>
            </a14:m>
            <a:endParaRPr lang="en-US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(PAFA projection)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 xmlns:a14="http://schemas.microsoft.com/office/drawing/2010/main">
        <p:nvSpPr>
          <p:cNvPr id="25" name="TextBox 24">
            <a:extLst>
              <a:ext uri="{FF2B5EF4-FFF2-40B4-BE49-F238E27FC236}">
                <a16:creationId xmlns:a16="http://schemas.microsoft.com/office/drawing/2014/main" id="{99AF68F7-942D-5662-35E9-EFEE5E12822B}"/>
              </a:ext>
            </a:extLst>
          </p:cNvPr>
          <p:cNvSpPr txBox="1"/>
          <p:nvPr/>
        </p:nvSpPr>
        <p:spPr>
          <a:xfrm>
            <a:off x="-201953" y="1001138"/>
            <a:ext cx="2351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SPRSound</m:t>
                    </m:r>
                  </m:e>
                  <m: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  <m:r>
                  <a:rPr lang="en-US" b="1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  <a:p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dirty="0"/>
              <a:t> (optional), </a:t>
            </a:r>
            <a14:m>
              <m:oMath xmlns:m="http://schemas.openxmlformats.org/officeDocument/2006/math">
                <m:sSup>
                  <m:sSupPr>
                    <m:ctrl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m:t>KAUH</m:t>
                    </m:r>
                  </m:e>
                  <m:sup>
                    <m:r>
                      <a:rPr lang="en-US" b="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b="0" i="1"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xmlns:a14="http://schemas.microsoft.com/office/drawing/2010/main"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556512" y="434779"/>
            <a:ext cx="1091985" cy="783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14:m>
              <m:oMathPara xmlns:m="http://schemas.openxmlformats.org/officeDocument/2006/math">
                <m:oMath>
                  <m:sSub>
                    <m:sSubPr>
                      <m:ctrlP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</m:ctrlPr>
                    </m:sSubPr>
                    <m:e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𝒑</m:t>
                      </m:r>
                    </m:e>
                    <m:sub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𝒊</m:t>
                      </m:r>
                    </m:sub>
                  </m:sSub>
                </m:oMath>
              </m:oMathPara>
            </a14:m>
            <a:endParaRPr lang="en-US" sz="14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(Shared Attributes)</a:t>
            </a:r>
          </a:p>
        </p:txBody>
      </p:sp>
      <p:sp xmlns:a14="http://schemas.microsoft.com/office/drawing/2010/main">
        <p:nvSpPr>
          <p:cNvPr id="30" name="Rectangle 29">
            <a:extLst>
              <a:ext uri="{FF2B5EF4-FFF2-40B4-BE49-F238E27FC236}">
                <a16:creationId xmlns:a16="http://schemas.microsoft.com/office/drawing/2014/main" id="{F5222A8E-5216-64FF-83D9-E52A1610B798}"/>
              </a:ext>
            </a:extLst>
          </p:cNvPr>
          <p:cNvSpPr/>
          <p:nvPr/>
        </p:nvSpPr>
        <p:spPr>
          <a:xfrm>
            <a:off x="10064744" y="37783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ICBHI</m:t>
                    </m:r>
                  </m:e>
                  <m: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∗</m:t>
                    </m:r>
                  </m:sup>
                </m:sSup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Crackle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Wheeze </a:t>
            </a:r>
            <a14:m>
              <m:oMath xmlns:m="http://schemas.openxmlformats.org/officeDocument/2006/math">
                <m:r>
                  <a:rPr lang="en-US" sz="140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cs typeface="Arial" panose="020B0604020202020204" pitchFamily="34" charset="0"/>
                  </a:rPr>
                  <m:t>∙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Both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33" name="Rectangle 32">
            <a:extLst>
              <a:ext uri="{FF2B5EF4-FFF2-40B4-BE49-F238E27FC236}">
                <a16:creationId xmlns:a16="http://schemas.microsoft.com/office/drawing/2014/main" id="{013A3B43-3589-DB43-9169-6CF6C6DF521F}"/>
              </a:ext>
            </a:extLst>
          </p:cNvPr>
          <p:cNvSpPr/>
          <p:nvPr/>
        </p:nvSpPr>
        <p:spPr>
          <a:xfrm>
            <a:off x="10064744" y="1299035"/>
            <a:ext cx="3052171" cy="55013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m:oMath xmlns:m="http://schemas.openxmlformats.org/officeDocument/2006/math">
                <m:sSup>
                  <m:sSupPr>
                    <m:ctrl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</m:ctrlPr>
                  </m:sSupPr>
                  <m:e>
                    <m:r>
                      <m:rPr>
                        <m:nor/>
                      </m:rPr>
                      <a:rPr lang="en-US" sz="1400" b="1" i="0" dirty="0" smtClean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HF source-test</m:t>
                    </m:r>
                  </m:e>
                  <m:sup>
                    <m:r>
                      <a:rPr lang="en-US" sz="1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#</m:t>
                    </m:r>
                  </m:sup>
                </m:sSup>
                <m:r>
                  <a:rPr lang="en-US" sz="1400" b="1" i="1" smtClean="0">
                    <a:solidFill>
                      <a:schemeClr val="tx1"/>
                    </a:solidFill>
                    <a:latin typeface="Cambria Math" panose="02040503050406030204" pitchFamily="18" charset="0"/>
                    <a:cs typeface="Arial" panose="020B0604020202020204" pitchFamily="34" charset="0"/>
                  </a:rPr>
                  <m:t> </m:t>
                </m:r>
              </m:oMath>
            </a14:m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 (W-head score)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48" name="TextBox 47">
            <a:extLst>
              <a:ext uri="{FF2B5EF4-FFF2-40B4-BE49-F238E27FC236}">
                <a16:creationId xmlns:a16="http://schemas.microsoft.com/office/drawing/2014/main" id="{6A8806B1-5ED6-0BA5-698D-FFA85ED77602}"/>
              </a:ext>
            </a:extLst>
          </p:cNvPr>
          <p:cNvSpPr txBox="1"/>
          <p:nvPr/>
        </p:nvSpPr>
        <p:spPr>
          <a:xfrm>
            <a:off x="3576178" y="55888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sSub>
                        <m:e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14="http://schemas.microsoft.com/office/drawing/2010/main"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2971822" y="1954690"/>
            <a:ext cx="6595478" cy="736600"/>
          </a:xfrm>
          <a:prstGeom prst="rect">
            <a:avLst/>
          </a:prstGeom>
          <a:solidFill>
            <a:schemeClr val="bg2"/>
          </a:solidFill>
          <a:ln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14:m>
              <ns0:oMath xmlns:ns0="http://schemas.openxmlformats.org/officeDocument/2006/math">
                <ns0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        </ns0:t>
                </ns0:r>
                <ns0: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ℒ</ns0:t>
                </ns0:r>
                <ns0:r>
                  <a:rPr lang="en-US" b="0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   =  </ns0:t>
                </ns0:r>
                <ns0:limLow>
                  <ns0:limLowPr>
                    <ns0:ctrlP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limLowPr>
                  <ns0:e>
                    <ns0:groupChr>
                      <ns0:groupChrPr>
                        <ns0:chr ns0:val="⏟"/>
                        <ns0:pos ns0:val="bot"/>
                        <ns0:vertJc ns0:val="top"/>
                        <ns0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0:ctrlPr>
                      </ns0:groupChrPr>
                      <ns0:e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cls</ns0:t>
                            </ns0:r>
                          </ns0:sub>
                        </ns0:sSub>
                        <ns0:r>
                          <ns0:rPr>
                            <ns0:nor/>
                          </ns0:r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 + </ns0:t>
                        </ns0:r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𝜆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p</ns0:t>
                            </ns0:r>
                          </ns0:sub>
                        </ns0:sSub>
                        <ns0:sSub>
                          <ns0:sSubPr>
                            <ns0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PCSL</ns0:t>
                            </ns0:r>
                          </ns0:sub>
                        </ns0:sSub>
                        <ns0:r>
                          <ns0:rPr>
                            <ns0:nor/>
                          </ns0:r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 + </ns0:t>
                        </ns0:r>
                        <ns0:sSub>
                          <ns0:sSubPr>
                            <ns0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𝜆</ns0:t>
                            </ns0:r>
                          </ns0:e>
                          <ns0:sub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ns0:t>g</ns0:t>
                            </ns0:r>
                          </ns0:sub>
                        </ns0:sSub>
                        <ns0:sSub>
                          <ns0:sSubPr>
                            <ns0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ns0:ctrlPr>
                          </ns0:sSubPr>
                          <ns0:e>
                            <ns0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ℒ</ns0:t>
                            </ns0:r>
                          </ns0:e>
                          <ns0:sub>
                            <ns0:r>
                              <ns0:rPr>
                                <ns0:sty ns0:val="p"/>
                              </ns0:r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ns0:t>GPAL</ns0:t>
                            </ns0:r>
                          </ns0:sub>
                        </ns0:sSub>
                      </ns0:e>
                    </ns0:groupChr>
                  </ns0:e>
                  <ns0:lim>
                    <ns0:sSub>
                      <ns0:sSubPr>
                        <ns0:ctrlPr>
                          <a:rPr lang="en-US" b="0" i="1" smtClean="0" baseline="-250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ns0:ctrlPr>
                      </ns0:sSubPr>
                      <ns0:e>
                        <ns0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ℒ</ns0:t>
                        </ns0:r>
                      </ns0:e>
                      <ns0:sub>
                        <ns0:r>
                          <ns0:rPr>
                            <ns0:sty ns0:val="p"/>
                          </ns0:r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ns0:t>core</ns0:t>
                        </ns0:r>
                      </ns0:sub>
                    </ns0:sSub>
                  </ns0:lim>
                </ns0:limLow>
                <ns0:r>
                  <ns0:rPr>
                    <ns0:nor/>
                  </ns0:rPr>
                  <a:rPr lang="en-US" i="1" smtClean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ns0:t>  +   </ns0:t>
                </ns0:r>
                <ns0:sSub>
                  <ns0:sSubPr>
                    <ns0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sSubPr>
                  <ns0:e>
                    <ns0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𝜆</ns0:t>
                    </ns0:r>
                  </ns0:e>
                  <ns0:sub>
                    <ns0:r>
                      <ns0:rPr>
                        <ns0:sty ns0:val="p"/>
                      </ns0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HF</ns0:t>
                    </ns0:r>
                  </ns0:sub>
                </ns0:sSub>
                <ns0:sSub>
                  <ns0:sSubPr>
                    <ns0:ctrl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</ns0:ctrlPr>
                  </ns0:sSubPr>
                  <ns0:e>
                    <ns0: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ℒ</ns0:t>
                    </ns0:r>
                  </ns0:e>
                  <ns0:sub>
                    <ns0:r>
                      <ns0:rPr>
                        <ns0:sty ns0:val="p"/>
                      </ns0:rPr>
                      <a:rPr lang="en-US" b="0" i="1" smtClean="0">
                        <a:solidFill>
                          <a:srgbClr val="B6993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ns0:t>HF</ns0:t>
                    </ns0:r>
                  </ns0:sub>
                </ns0:sSub>
              </ns0:oMath>
            </a14:m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4508500" y="2984500"/>
            <a:ext cx="18744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6184900" y="2984500"/>
            <a:ext cx="1602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3505200" y="2984500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8039100" y="2984500"/>
            <a:ext cx="1929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Lung Loss</a:t>
            </a:r>
          </a:p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 xmlns:a14="http://schemas.microsoft.com/office/drawing/2010/main">
        <p:nvSpPr>
          <p:cNvPr id="119" name="TextBox 118">
            <a:extLst>
              <a:ext uri="{FF2B5EF4-FFF2-40B4-BE49-F238E27FC236}">
                <a16:creationId xmlns:a16="http://schemas.microsoft.com/office/drawing/2014/main" id="{59886ED4-1488-130B-B9D3-9B8C68A17B2E}"/>
              </a:ext>
            </a:extLst>
          </p:cNvPr>
          <p:cNvSpPr txBox="1"/>
          <p:nvPr/>
        </p:nvSpPr>
        <p:spPr>
          <a:xfrm>
            <a:off x="4646159" y="1665344"/>
            <a:ext cx="514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14:m>
              <m:oMathPara xmlns:m="http://schemas.openxmlformats.org/officeDocument/2006/math">
                <m:oMath>
                  <m:box>
                    <m:boxPr>
                      <m:noBreak m:val="1"/>
                    </m:boxPr>
                    <m:e>
                      <m:r>
                        <a:rPr lang="en-US" sz="12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768</m:t>
                      </m:r>
                    </m:e>
                  </m:box>
                </m:oMath>
              </m:oMathPara>
            </a14:m>
            <a:endParaRPr lang="en-US" sz="1200" dirty="0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</p:cNvCxnSpPr>
          <p:nvPr/>
        </p:nvCxnSpPr>
        <p:spPr>
          <a:xfrm flipV="1">
            <a:off x="4707041" y="2717800"/>
            <a:ext cx="499959" cy="130455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</p:cNvCxnSpPr>
          <p:nvPr/>
        </p:nvCxnSpPr>
        <p:spPr>
          <a:xfrm flipV="1">
            <a:off x="6688051" y="2717800"/>
            <a:ext cx="296949" cy="205492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</p:cNvCxnSpPr>
          <p:nvPr/>
        </p:nvCxnSpPr>
        <p:spPr>
          <a:xfrm flipH="1" flipV="1">
            <a:off x="4318000" y="2717800"/>
            <a:ext cx="135268" cy="160467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</p:cNvCxnSpPr>
          <p:nvPr/>
        </p:nvCxnSpPr>
        <p:spPr>
          <a:xfrm flipH="1" flipV="1">
            <a:off x="9067800" y="2717800"/>
            <a:ext cx="190589" cy="147176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106</Words>
  <Application>Microsoft Macintosh PowerPoint</Application>
  <PresentationFormat>Widescreen</PresentationFormat>
  <Paragraphs>37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Nie, Jingping</cp:lastModifiedBy>
  <cp:revision>8</cp:revision>
  <dcterms:created xsi:type="dcterms:W3CDTF">2026-09-14T23:48:42Z</dcterms:created>
  <dcterms:modified xsi:type="dcterms:W3CDTF">2026-09-15T01:19:34Z</dcterms:modified>
</cp:coreProperties>
</file>