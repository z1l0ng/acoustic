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 xmlns:a14="http://schemas.microsoft.com/office/drawing/2010/main"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328033" y="1105184"/>
            <a:ext cx="1755227" cy="546538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 xmlns:a14="http://schemas.microsoft.com/office/drawing/2010/main">
        <p:nvSpPr>
          <p:cNvPr id="25" name="TextBox 24">
            <a:extLst>
              <a:ext uri="{FF2B5EF4-FFF2-40B4-BE49-F238E27FC236}">
                <a16:creationId xmlns:a16="http://schemas.microsoft.com/office/drawing/2014/main" id="{99AF68F7-942D-5662-35E9-EFEE5E12822B}"/>
              </a:ext>
            </a:extLst>
          </p:cNvPr>
          <p:cNvSpPr txBox="1"/>
          <p:nvPr/>
        </p:nvSpPr>
        <p:spPr>
          <a:xfrm>
            <a:off x="-201953" y="1001138"/>
            <a:ext cx="235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  <m:r>
                  <a:rPr lang="en-US" b="1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 (optional),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b="0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556512" y="434779"/>
            <a:ext cx="1091985" cy="78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</m:sub>
                  </m:sSub>
                </m:oMath>
              </m:oMathPara>
            </a14:m>
            <a:endParaRPr lang="en-US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(Shared Attributes)</a:t>
            </a:r>
          </a:p>
        </p:txBody>
      </p:sp>
      <p:sp xmlns:a14="http://schemas.microsoft.com/office/drawing/2010/main"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0064744" y="37783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0064744" y="1299035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 source-test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sz="1400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 (W-head score)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576178" y="55888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sSub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2971822" y="1954690"/>
            <a:ext cx="6595478" cy="8128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ns0:oMath xmlns:ns0="http://schemas.openxmlformats.org/officeDocument/2006/math"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     </ns0:t>
                </ns0:r>
                <ns0: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ℒ</ns0:t>
                </ns0:r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=  </ns0:t>
                </ns0:r>
                <ns0:limLow>
                  <ns0:limLowPr>
                    <ns0:ctrlP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limLowPr>
                  <ns0:e>
                    <ns0:groupChr>
                      <ns0:groupChrPr>
                        <ns0:chr ns0:val="⏟"/>
                        <ns0:pos ns0:val="bot"/>
                        <ns0:vertJc ns0:val="top"/>
                        <ns0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groupChrPr>
                      <ns0:e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cls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PCSL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ns0:t>g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GPAL</ns0:t>
                            </ns0:r>
                          </ns0:sub>
                        </ns0:sSub>
                      </ns0:e>
                    </ns0:groupChr>
                  </ns0:e>
                  <ns0:lim>
                    <ns0:phant>
                      <ns0:phantPr>
                        <ns0:show ns0:val="0"/>
                        <ns0:zeroWid ns0:val="1"/>
                        <ns0:transp ns0:val="1"/>
                      </ns0:phantPr>
                      <ns0:e>
                        <ns0:r>
                          <ns0:rPr>
                            <ns0:nor/>
                          </ns0:rPr>
                          <a:rPr lang="en-US" i="1" smtClean="0" sz="2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M</ns0:t>
                        </ns0:r>
                      </ns0:e>
                    </ns0:phant>
                    <ns0:sSub>
                      <ns0:sSubPr>
                        <ns0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sSubPr>
                      <ns0:e>
                        <ns0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ℒ</ns0:t>
                        </ns0:r>
                      </ns0:e>
                      <ns0:sub>
                        <ns0:r>
                          <ns0:rPr>
                            <ns0:sty ns0:val="p"/>
                          </ns0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core</ns0:t>
                        </ns0:r>
                      </ns0:sub>
                    </ns0:sSub>
                  </ns0:lim>
                </ns0:limLow>
                <ns0:r>
                  <ns0:rPr>
                    <ns0:nor/>
                  </ns0:rP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  +   </ns0:t>
                </ns0:r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𝜆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ℒ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</ns0:oMath>
            </a14:m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508500" y="2984500"/>
            <a:ext cx="187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184900" y="2984500"/>
            <a:ext cx="16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505200" y="3161284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8039100" y="2984500"/>
            <a:ext cx="192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</a:t>
            </a:r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4646159" y="166534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768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</p:cNvCxnSpPr>
          <p:nvPr/>
        </p:nvCxnSpPr>
        <p:spPr>
          <a:xfrm flipV="1">
            <a:off x="4897541" y="2794000"/>
            <a:ext cx="499959" cy="1304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</p:cNvCxnSpPr>
          <p:nvPr/>
        </p:nvCxnSpPr>
        <p:spPr>
          <a:xfrm flipV="1">
            <a:off x="6688051" y="2794000"/>
            <a:ext cx="296949" cy="205492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</p:cNvCxnSpPr>
          <p:nvPr/>
        </p:nvCxnSpPr>
        <p:spPr>
          <a:xfrm flipH="1" flipV="1">
            <a:off x="4318000" y="2794000"/>
            <a:ext cx="135268" cy="16046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</p:cNvCxnSpPr>
          <p:nvPr/>
        </p:nvCxnSpPr>
        <p:spPr>
          <a:xfrm flipH="1" flipV="1">
            <a:off x="9067800" y="2794000"/>
            <a:ext cx="190589" cy="147176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