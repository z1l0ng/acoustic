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sldSz cx="14022113" cy="438932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8"/>
  </p:normalViewPr>
  <p:slideViewPr>
    <p:cSldViewPr snapToGrid="0">
      <p:cViewPr>
        <p:scale>
          <a:sx n="73" d="100"/>
          <a:sy n="73" d="100"/>
        </p:scale>
        <p:origin x="888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CFDE-0DF1-8471-44B2-FE3DB583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8BC3D-7ED4-D5E5-5C3D-56055947A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Preview viewport origin"/>
          <p:cNvGrpSpPr/>
          <p:nvPr/>
        </p:nvGrpSpPr>
        <p:grpSpPr>
          <a:xfrm>
            <a:off x="0" y="0"/>
            <a:ext cx="14022113" cy="4389323"/>
            <a:chOff x="-600398" y="-638358"/>
            <a:chExt cx="14022113" cy="4389323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8DA66CA-D03E-A7DE-DDCF-0726C84C6C9B}"/>
                </a:ext>
              </a:extLst>
            </p:cNvPr>
            <p:cNvSpPr/>
            <p:nvPr/>
          </p:nvSpPr>
          <p:spPr>
            <a:xfrm>
              <a:off x="6433093" y="58352"/>
              <a:ext cx="2360951" cy="1611695"/>
            </a:xfrm>
            <a:prstGeom prst="rect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1BEC89-978F-F3FA-3E97-975EB444F247}"/>
                </a:ext>
              </a:extLst>
            </p:cNvPr>
            <p:cNvSpPr/>
            <p:nvPr/>
          </p:nvSpPr>
          <p:spPr>
            <a:xfrm>
              <a:off x="4328033" y="280122"/>
              <a:ext cx="1755227" cy="546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Mean Pooling</a:t>
              </a:r>
            </a:p>
            <a:p>
              <a:pPr algn="ctr"/>
              <a:r>
                <a:rPr lang="en-US" sz="14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(Linear 768→256)</a:t>
              </a:r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E88512CF-F65D-A594-8804-E4CF7DAE210E}"/>
                </a:ext>
              </a:extLst>
            </p:cNvPr>
            <p:cNvSpPr/>
            <p:nvPr/>
          </p:nvSpPr>
          <p:spPr>
            <a:xfrm rot="5400000">
              <a:off x="2269581" y="-4468"/>
              <a:ext cx="1228135" cy="1429409"/>
            </a:xfrm>
            <a:prstGeom prst="trapezoid">
              <a:avLst>
                <a:gd name="adj" fmla="val 23288"/>
              </a:avLst>
            </a:prstGeom>
            <a:solidFill>
              <a:schemeClr val="bg2"/>
            </a:solidFill>
            <a:ln w="19050">
              <a:solidFill>
                <a:srgbClr val="3E6D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7D9726-5393-837A-CC69-6739933CDFA6}"/>
                </a:ext>
              </a:extLst>
            </p:cNvPr>
            <p:cNvSpPr txBox="1"/>
            <p:nvPr/>
          </p:nvSpPr>
          <p:spPr>
            <a:xfrm>
              <a:off x="2168944" y="248624"/>
              <a:ext cx="1128835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BEATs 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Encoder</a:t>
              </a:r>
            </a:p>
            <a:p>
              <a:r>
                <a:rPr lang="en-US" sz="1400" dirty="0">
                  <a:solidFill>
                    <a:srgbClr val="3E6D8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(Pretrained)</a:t>
              </a:r>
            </a:p>
          </p:txBody>
        </p:sp>
        <p:sp xmlns:a14="http://schemas.microsoft.com/office/drawing/2010/main">
          <p:nvSpPr>
            <p:cNvPr id="12" name="Rectangle 11">
              <a:extLst>
                <a:ext uri="{FF2B5EF4-FFF2-40B4-BE49-F238E27FC236}">
                  <a16:creationId xmlns:a16="http://schemas.microsoft.com/office/drawing/2014/main" id="{F409BB53-B426-E5F7-E1D1-CC691474571B}"/>
                </a:ext>
              </a:extLst>
            </p:cNvPr>
            <p:cNvSpPr/>
            <p:nvPr/>
          </p:nvSpPr>
          <p:spPr>
            <a:xfrm>
              <a:off x="4328033" y="1105184"/>
              <a:ext cx="1755227" cy="546538"/>
            </a:xfrm>
            <a:prstGeom prst="rect">
              <a:avLst/>
            </a:prstGeom>
            <a:solidFill>
              <a:srgbClr val="7030A0">
                <a:alpha val="14118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</a:t>
              </a:r>
              <a14:m>
                <m:oMath xmlns:m="http://schemas.openxmlformats.org/officeDocument/2006/math">
                  <m:r>
                    <a:rPr lang="en-US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m:t>𝓖</m:t>
                  </m:r>
                </m:oMath>
              </a14:m>
              <a:endPara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(PAFA projection)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34F695-08C1-8326-0D4D-8D8606C52AB6}"/>
                </a:ext>
              </a:extLst>
            </p:cNvPr>
            <p:cNvSpPr/>
            <p:nvPr/>
          </p:nvSpPr>
          <p:spPr>
            <a:xfrm>
              <a:off x="6710856" y="105876"/>
              <a:ext cx="1429409" cy="4450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Abnormal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D70CF65-1FA8-4758-8934-EDB36A80D00F}"/>
                </a:ext>
              </a:extLst>
            </p:cNvPr>
            <p:cNvSpPr/>
            <p:nvPr/>
          </p:nvSpPr>
          <p:spPr>
            <a:xfrm>
              <a:off x="6710856" y="646301"/>
              <a:ext cx="1429409" cy="4450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Crackle</a:t>
              </a:r>
              <a:endPara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schematic-audio-wave-2">
              <a:extLst>
                <a:ext uri="{FF2B5EF4-FFF2-40B4-BE49-F238E27FC236}">
                  <a16:creationId xmlns:a16="http://schemas.microsoft.com/office/drawing/2014/main" id="{73DAFDB9-56E0-6E8D-1AA2-549245A0B754}"/>
                </a:ext>
              </a:extLst>
            </p:cNvPr>
            <p:cNvSpPr>
              <a:spLocks noGrp="1"/>
            </p:cNvSpPr>
            <p:nvPr/>
          </p:nvSpPr>
          <p:spPr>
            <a:xfrm>
              <a:off x="0" y="518536"/>
              <a:ext cx="1670707" cy="414133"/>
            </a:xfrm>
            <a:custGeom>
              <a:avLst/>
              <a:gdLst/>
              <a:ahLst/>
              <a:cxnLst/>
              <a:rect l="0" t="0" r="0" b="0"/>
              <a:pathLst>
                <a:path w="762000" h="182389">
                  <a:moveTo>
                    <a:pt x="0" y="88788"/>
                  </a:moveTo>
                  <a:lnTo>
                    <a:pt x="4233" y="80732"/>
                  </a:lnTo>
                  <a:lnTo>
                    <a:pt x="8467" y="78958"/>
                  </a:lnTo>
                  <a:lnTo>
                    <a:pt x="12700" y="83179"/>
                  </a:lnTo>
                  <a:lnTo>
                    <a:pt x="16933" y="88353"/>
                  </a:lnTo>
                  <a:lnTo>
                    <a:pt x="21167" y="90261"/>
                  </a:lnTo>
                  <a:lnTo>
                    <a:pt x="25400" y="89865"/>
                  </a:lnTo>
                  <a:lnTo>
                    <a:pt x="29633" y="91473"/>
                  </a:lnTo>
                  <a:lnTo>
                    <a:pt x="33867" y="97136"/>
                  </a:lnTo>
                  <a:lnTo>
                    <a:pt x="38100" y="104136"/>
                  </a:lnTo>
                  <a:lnTo>
                    <a:pt x="42333" y="108118"/>
                  </a:lnTo>
                  <a:lnTo>
                    <a:pt x="46567" y="107141"/>
                  </a:lnTo>
                  <a:lnTo>
                    <a:pt x="50800" y="101484"/>
                  </a:lnTo>
                  <a:lnTo>
                    <a:pt x="55033" y="90973"/>
                  </a:lnTo>
                  <a:lnTo>
                    <a:pt x="59267" y="75754"/>
                  </a:lnTo>
                  <a:lnTo>
                    <a:pt x="63500" y="60763"/>
                  </a:lnTo>
                  <a:lnTo>
                    <a:pt x="67733" y="56251"/>
                  </a:lnTo>
                  <a:lnTo>
                    <a:pt x="71967" y="69420"/>
                  </a:lnTo>
                  <a:lnTo>
                    <a:pt x="76200" y="94651"/>
                  </a:lnTo>
                  <a:lnTo>
                    <a:pt x="80433" y="115473"/>
                  </a:lnTo>
                  <a:lnTo>
                    <a:pt x="84667" y="119536"/>
                  </a:lnTo>
                  <a:lnTo>
                    <a:pt x="88900" y="110851"/>
                  </a:lnTo>
                  <a:lnTo>
                    <a:pt x="93133" y="104280"/>
                  </a:lnTo>
                  <a:lnTo>
                    <a:pt x="97367" y="107679"/>
                  </a:lnTo>
                  <a:lnTo>
                    <a:pt x="101600" y="112773"/>
                  </a:lnTo>
                  <a:lnTo>
                    <a:pt x="105833" y="105615"/>
                  </a:lnTo>
                  <a:lnTo>
                    <a:pt x="110067" y="83369"/>
                  </a:lnTo>
                  <a:lnTo>
                    <a:pt x="114300" y="57187"/>
                  </a:lnTo>
                  <a:lnTo>
                    <a:pt x="118533" y="40006"/>
                  </a:lnTo>
                  <a:lnTo>
                    <a:pt x="122767" y="36968"/>
                  </a:lnTo>
                  <a:lnTo>
                    <a:pt x="127000" y="49042"/>
                  </a:lnTo>
                  <a:lnTo>
                    <a:pt x="131233" y="78733"/>
                  </a:lnTo>
                  <a:lnTo>
                    <a:pt x="135467" y="123688"/>
                  </a:lnTo>
                  <a:lnTo>
                    <a:pt x="139700" y="165789"/>
                  </a:lnTo>
                  <a:lnTo>
                    <a:pt x="143933" y="177412"/>
                  </a:lnTo>
                  <a:lnTo>
                    <a:pt x="148167" y="147036"/>
                  </a:lnTo>
                  <a:lnTo>
                    <a:pt x="152400" y="96025"/>
                  </a:lnTo>
                  <a:lnTo>
                    <a:pt x="156633" y="61403"/>
                  </a:lnTo>
                  <a:lnTo>
                    <a:pt x="160867" y="59232"/>
                  </a:lnTo>
                  <a:lnTo>
                    <a:pt x="165100" y="70348"/>
                  </a:lnTo>
                  <a:lnTo>
                    <a:pt x="169333" y="66079"/>
                  </a:lnTo>
                  <a:lnTo>
                    <a:pt x="173567" y="43454"/>
                  </a:lnTo>
                  <a:lnTo>
                    <a:pt x="177800" y="28196"/>
                  </a:lnTo>
                  <a:lnTo>
                    <a:pt x="182033" y="44236"/>
                  </a:lnTo>
                  <a:lnTo>
                    <a:pt x="186267" y="88243"/>
                  </a:lnTo>
                  <a:lnTo>
                    <a:pt x="190500" y="136756"/>
                  </a:lnTo>
                  <a:lnTo>
                    <a:pt x="194733" y="170308"/>
                  </a:lnTo>
                  <a:lnTo>
                    <a:pt x="198967" y="182389"/>
                  </a:lnTo>
                  <a:lnTo>
                    <a:pt x="203200" y="169586"/>
                  </a:lnTo>
                  <a:lnTo>
                    <a:pt x="207433" y="127671"/>
                  </a:lnTo>
                  <a:lnTo>
                    <a:pt x="211667" y="65101"/>
                  </a:lnTo>
                  <a:lnTo>
                    <a:pt x="215900" y="11776"/>
                  </a:lnTo>
                  <a:lnTo>
                    <a:pt x="220133" y="0"/>
                  </a:lnTo>
                  <a:lnTo>
                    <a:pt x="224367" y="32532"/>
                  </a:lnTo>
                  <a:lnTo>
                    <a:pt x="228600" y="76991"/>
                  </a:lnTo>
                  <a:lnTo>
                    <a:pt x="232833" y="98341"/>
                  </a:lnTo>
                  <a:lnTo>
                    <a:pt x="237067" y="93999"/>
                  </a:lnTo>
                  <a:lnTo>
                    <a:pt x="241300" y="91106"/>
                  </a:lnTo>
                  <a:lnTo>
                    <a:pt x="245533" y="110892"/>
                  </a:lnTo>
                  <a:lnTo>
                    <a:pt x="249767" y="143425"/>
                  </a:lnTo>
                  <a:lnTo>
                    <a:pt x="254000" y="160244"/>
                  </a:lnTo>
                  <a:lnTo>
                    <a:pt x="258233" y="145566"/>
                  </a:lnTo>
                  <a:lnTo>
                    <a:pt x="262467" y="108852"/>
                  </a:lnTo>
                  <a:lnTo>
                    <a:pt x="266700" y="70052"/>
                  </a:lnTo>
                  <a:lnTo>
                    <a:pt x="270933" y="41708"/>
                  </a:lnTo>
                  <a:lnTo>
                    <a:pt x="275167" y="28080"/>
                  </a:lnTo>
                  <a:lnTo>
                    <a:pt x="279400" y="33198"/>
                  </a:lnTo>
                  <a:lnTo>
                    <a:pt x="283633" y="59489"/>
                  </a:lnTo>
                  <a:lnTo>
                    <a:pt x="287867" y="97904"/>
                  </a:lnTo>
                  <a:lnTo>
                    <a:pt x="292100" y="127739"/>
                  </a:lnTo>
                  <a:lnTo>
                    <a:pt x="296333" y="133035"/>
                  </a:lnTo>
                  <a:lnTo>
                    <a:pt x="300567" y="118157"/>
                  </a:lnTo>
                  <a:lnTo>
                    <a:pt x="304800" y="102734"/>
                  </a:lnTo>
                  <a:lnTo>
                    <a:pt x="309033" y="100416"/>
                  </a:lnTo>
                  <a:lnTo>
                    <a:pt x="313267" y="105696"/>
                  </a:lnTo>
                  <a:lnTo>
                    <a:pt x="317500" y="103043"/>
                  </a:lnTo>
                  <a:lnTo>
                    <a:pt x="321733" y="86141"/>
                  </a:lnTo>
                  <a:lnTo>
                    <a:pt x="325967" y="64873"/>
                  </a:lnTo>
                  <a:lnTo>
                    <a:pt x="330200" y="54218"/>
                  </a:lnTo>
                  <a:lnTo>
                    <a:pt x="334433" y="59946"/>
                  </a:lnTo>
                  <a:lnTo>
                    <a:pt x="338667" y="76434"/>
                  </a:lnTo>
                  <a:lnTo>
                    <a:pt x="342900" y="95160"/>
                  </a:lnTo>
                  <a:lnTo>
                    <a:pt x="347133" y="111230"/>
                  </a:lnTo>
                  <a:lnTo>
                    <a:pt x="351367" y="121806"/>
                  </a:lnTo>
                  <a:lnTo>
                    <a:pt x="355600" y="122847"/>
                  </a:lnTo>
                  <a:lnTo>
                    <a:pt x="359833" y="111793"/>
                  </a:lnTo>
                  <a:lnTo>
                    <a:pt x="364067" y="93299"/>
                  </a:lnTo>
                  <a:lnTo>
                    <a:pt x="368300" y="78479"/>
                  </a:lnTo>
                  <a:lnTo>
                    <a:pt x="372533" y="75394"/>
                  </a:lnTo>
                  <a:lnTo>
                    <a:pt x="376767" y="80757"/>
                  </a:lnTo>
                  <a:lnTo>
                    <a:pt x="381000" y="83528"/>
                  </a:lnTo>
                  <a:lnTo>
                    <a:pt x="385233" y="77745"/>
                  </a:lnTo>
                  <a:lnTo>
                    <a:pt x="389467" y="70173"/>
                  </a:lnTo>
                  <a:lnTo>
                    <a:pt x="393700" y="73380"/>
                  </a:lnTo>
                  <a:lnTo>
                    <a:pt x="397933" y="91593"/>
                  </a:lnTo>
                  <a:lnTo>
                    <a:pt x="402167" y="115271"/>
                  </a:lnTo>
                  <a:lnTo>
                    <a:pt x="406400" y="130044"/>
                  </a:lnTo>
                  <a:lnTo>
                    <a:pt x="410633" y="129130"/>
                  </a:lnTo>
                  <a:lnTo>
                    <a:pt x="414867" y="115789"/>
                  </a:lnTo>
                  <a:lnTo>
                    <a:pt x="419100" y="96216"/>
                  </a:lnTo>
                  <a:lnTo>
                    <a:pt x="423333" y="74604"/>
                  </a:lnTo>
                  <a:lnTo>
                    <a:pt x="427567" y="56072"/>
                  </a:lnTo>
                  <a:lnTo>
                    <a:pt x="431800" y="49338"/>
                  </a:lnTo>
                  <a:lnTo>
                    <a:pt x="436033" y="60271"/>
                  </a:lnTo>
                  <a:lnTo>
                    <a:pt x="440267" y="82404"/>
                  </a:lnTo>
                  <a:lnTo>
                    <a:pt x="444500" y="99387"/>
                  </a:lnTo>
                  <a:lnTo>
                    <a:pt x="448733" y="101357"/>
                  </a:lnTo>
                  <a:lnTo>
                    <a:pt x="452967" y="96939"/>
                  </a:lnTo>
                  <a:lnTo>
                    <a:pt x="457200" y="103771"/>
                  </a:lnTo>
                  <a:lnTo>
                    <a:pt x="461433" y="125915"/>
                  </a:lnTo>
                  <a:lnTo>
                    <a:pt x="465667" y="145032"/>
                  </a:lnTo>
                  <a:lnTo>
                    <a:pt x="469900" y="137958"/>
                  </a:lnTo>
                  <a:lnTo>
                    <a:pt x="474133" y="101615"/>
                  </a:lnTo>
                  <a:lnTo>
                    <a:pt x="478367" y="56900"/>
                  </a:lnTo>
                  <a:lnTo>
                    <a:pt x="482600" y="28531"/>
                  </a:lnTo>
                  <a:lnTo>
                    <a:pt x="486833" y="25463"/>
                  </a:lnTo>
                  <a:lnTo>
                    <a:pt x="491067" y="41812"/>
                  </a:lnTo>
                  <a:lnTo>
                    <a:pt x="495300" y="69923"/>
                  </a:lnTo>
                  <a:lnTo>
                    <a:pt x="499533" y="104604"/>
                  </a:lnTo>
                  <a:lnTo>
                    <a:pt x="503767" y="135976"/>
                  </a:lnTo>
                  <a:lnTo>
                    <a:pt x="508000" y="148717"/>
                  </a:lnTo>
                  <a:lnTo>
                    <a:pt x="512233" y="136265"/>
                  </a:lnTo>
                  <a:lnTo>
                    <a:pt x="516467" y="112438"/>
                  </a:lnTo>
                  <a:lnTo>
                    <a:pt x="520700" y="99879"/>
                  </a:lnTo>
                  <a:lnTo>
                    <a:pt x="524933" y="104081"/>
                  </a:lnTo>
                  <a:lnTo>
                    <a:pt x="529167" y="105117"/>
                  </a:lnTo>
                  <a:lnTo>
                    <a:pt x="533400" y="81197"/>
                  </a:lnTo>
                  <a:lnTo>
                    <a:pt x="537633" y="38147"/>
                  </a:lnTo>
                  <a:lnTo>
                    <a:pt x="541867" y="8590"/>
                  </a:lnTo>
                  <a:lnTo>
                    <a:pt x="546100" y="19873"/>
                  </a:lnTo>
                  <a:lnTo>
                    <a:pt x="550333" y="67074"/>
                  </a:lnTo>
                  <a:lnTo>
                    <a:pt x="554567" y="120162"/>
                  </a:lnTo>
                  <a:lnTo>
                    <a:pt x="558800" y="153133"/>
                  </a:lnTo>
                  <a:lnTo>
                    <a:pt x="563033" y="160732"/>
                  </a:lnTo>
                  <a:lnTo>
                    <a:pt x="567267" y="149968"/>
                  </a:lnTo>
                  <a:lnTo>
                    <a:pt x="571500" y="126201"/>
                  </a:lnTo>
                  <a:lnTo>
                    <a:pt x="575733" y="93792"/>
                  </a:lnTo>
                  <a:lnTo>
                    <a:pt x="579967" y="64230"/>
                  </a:lnTo>
                  <a:lnTo>
                    <a:pt x="584200" y="52110"/>
                  </a:lnTo>
                  <a:lnTo>
                    <a:pt x="588433" y="59385"/>
                  </a:lnTo>
                  <a:lnTo>
                    <a:pt x="592667" y="70295"/>
                  </a:lnTo>
                  <a:lnTo>
                    <a:pt x="596900" y="68740"/>
                  </a:lnTo>
                  <a:lnTo>
                    <a:pt x="601133" y="59040"/>
                  </a:lnTo>
                  <a:lnTo>
                    <a:pt x="605367" y="62749"/>
                  </a:lnTo>
                  <a:lnTo>
                    <a:pt x="609600" y="92684"/>
                  </a:lnTo>
                  <a:lnTo>
                    <a:pt x="613833" y="134665"/>
                  </a:lnTo>
                  <a:lnTo>
                    <a:pt x="618067" y="159246"/>
                  </a:lnTo>
                  <a:lnTo>
                    <a:pt x="622300" y="150041"/>
                  </a:lnTo>
                  <a:lnTo>
                    <a:pt x="626533" y="116912"/>
                  </a:lnTo>
                  <a:lnTo>
                    <a:pt x="630767" y="82464"/>
                  </a:lnTo>
                  <a:lnTo>
                    <a:pt x="635000" y="61082"/>
                  </a:lnTo>
                  <a:lnTo>
                    <a:pt x="639233" y="53353"/>
                  </a:lnTo>
                  <a:lnTo>
                    <a:pt x="643467" y="55391"/>
                  </a:lnTo>
                  <a:lnTo>
                    <a:pt x="647700" y="65794"/>
                  </a:lnTo>
                  <a:lnTo>
                    <a:pt x="651933" y="82164"/>
                  </a:lnTo>
                  <a:lnTo>
                    <a:pt x="656167" y="96997"/>
                  </a:lnTo>
                  <a:lnTo>
                    <a:pt x="660400" y="102967"/>
                  </a:lnTo>
                  <a:lnTo>
                    <a:pt x="664633" y="101670"/>
                  </a:lnTo>
                  <a:lnTo>
                    <a:pt x="668867" y="102425"/>
                  </a:lnTo>
                  <a:lnTo>
                    <a:pt x="673100" y="110362"/>
                  </a:lnTo>
                  <a:lnTo>
                    <a:pt x="677333" y="118451"/>
                  </a:lnTo>
                  <a:lnTo>
                    <a:pt x="681567" y="114462"/>
                  </a:lnTo>
                  <a:lnTo>
                    <a:pt x="685800" y="95390"/>
                  </a:lnTo>
                  <a:lnTo>
                    <a:pt x="690033" y="72298"/>
                  </a:lnTo>
                  <a:lnTo>
                    <a:pt x="694267" y="60052"/>
                  </a:lnTo>
                  <a:lnTo>
                    <a:pt x="698500" y="63959"/>
                  </a:lnTo>
                  <a:lnTo>
                    <a:pt x="702733" y="77431"/>
                  </a:lnTo>
                  <a:lnTo>
                    <a:pt x="706967" y="90771"/>
                  </a:lnTo>
                  <a:lnTo>
                    <a:pt x="711200" y="99445"/>
                  </a:lnTo>
                  <a:lnTo>
                    <a:pt x="715433" y="103991"/>
                  </a:lnTo>
                  <a:lnTo>
                    <a:pt x="719667" y="105319"/>
                  </a:lnTo>
                  <a:lnTo>
                    <a:pt x="723900" y="103106"/>
                  </a:lnTo>
                  <a:lnTo>
                    <a:pt x="728133" y="98238"/>
                  </a:lnTo>
                  <a:lnTo>
                    <a:pt x="732367" y="93840"/>
                  </a:lnTo>
                  <a:lnTo>
                    <a:pt x="736600" y="92160"/>
                  </a:lnTo>
                  <a:lnTo>
                    <a:pt x="740833" y="91522"/>
                  </a:lnTo>
                  <a:lnTo>
                    <a:pt x="745067" y="88266"/>
                  </a:lnTo>
                  <a:lnTo>
                    <a:pt x="749300" y="81940"/>
                  </a:lnTo>
                  <a:lnTo>
                    <a:pt x="753533" y="77148"/>
                  </a:lnTo>
                  <a:lnTo>
                    <a:pt x="757767" y="79174"/>
                  </a:lnTo>
                  <a:lnTo>
                    <a:pt x="762000" y="88152"/>
                  </a:lnTo>
                </a:path>
              </a:pathLst>
            </a:custGeom>
            <a:noFill/>
            <a:ln w="9525">
              <a:solidFill>
                <a:srgbClr val="3E6D8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E34B95-D4B8-01BA-C527-256839BD99BB}"/>
                </a:ext>
              </a:extLst>
            </p:cNvPr>
            <p:cNvSpPr txBox="1"/>
            <p:nvPr/>
          </p:nvSpPr>
          <p:spPr>
            <a:xfrm>
              <a:off x="-295598" y="128183"/>
              <a:ext cx="2261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Respiratory Audio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3628CDD-9697-1FF4-2341-6249F9A0B937}"/>
                </a:ext>
              </a:extLst>
            </p:cNvPr>
            <p:cNvCxnSpPr>
              <a:cxnSpLocks/>
            </p:cNvCxnSpPr>
            <p:nvPr/>
          </p:nvCxnSpPr>
          <p:spPr>
            <a:xfrm>
              <a:off x="1711744" y="697384"/>
              <a:ext cx="457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AD859DB-9C5D-0AE6-39CB-0DC2299AD2AA}"/>
                </a:ext>
              </a:extLst>
            </p:cNvPr>
            <p:cNvCxnSpPr>
              <a:cxnSpLocks/>
            </p:cNvCxnSpPr>
            <p:nvPr/>
          </p:nvCxnSpPr>
          <p:spPr>
            <a:xfrm>
              <a:off x="3598353" y="551837"/>
              <a:ext cx="7315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14FA59-563A-043A-122C-900056924235}"/>
                </a:ext>
              </a:extLst>
            </p:cNvPr>
            <p:cNvSpPr txBox="1"/>
            <p:nvPr/>
          </p:nvSpPr>
          <p:spPr>
            <a:xfrm>
              <a:off x="6294608" y="-331549"/>
              <a:ext cx="2261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Linear Heads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A783F65-A714-083E-F75E-A5A137A02379}"/>
                </a:ext>
              </a:extLst>
            </p:cNvPr>
            <p:cNvSpPr txBox="1"/>
            <p:nvPr/>
          </p:nvSpPr>
          <p:spPr>
            <a:xfrm>
              <a:off x="-201953" y="1879406"/>
              <a:ext cx="18608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bg2">
                      <a:lumMod val="50000"/>
                    </a:schemeClr>
                  </a:solidFill>
                </a:rPr>
                <a:t>∗: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n-US" sz="1400" dirty="0">
                  <a:solidFill>
                    <a:schemeClr val="bg2">
                      <a:lumMod val="50000"/>
                    </a:schemeClr>
                  </a:solidFill>
                </a:rPr>
                <a:t>Training + Inference</a:t>
              </a:r>
            </a:p>
            <a:p>
              <a:r>
                <a:rPr lang="en-US" altLang="zh-CN" sz="1400" b="1" dirty="0">
                  <a:solidFill>
                    <a:schemeClr val="bg2">
                      <a:lumMod val="50000"/>
                    </a:schemeClr>
                  </a:solidFill>
                </a:rPr>
                <a:t>#: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n-US" sz="1400" dirty="0">
                  <a:solidFill>
                    <a:schemeClr val="bg2">
                      <a:lumMod val="50000"/>
                    </a:schemeClr>
                  </a:solidFill>
                </a:rPr>
                <a:t>Inference Only</a:t>
              </a:r>
            </a:p>
          </p:txBody>
        </p:sp>
        <p:sp xmlns:a14="http://schemas.microsoft.com/office/drawing/2010/main">
          <p:nvSpPr>
            <p:cNvPr id="25" name="TextBox 24">
              <a:extLst>
                <a:ext uri="{FF2B5EF4-FFF2-40B4-BE49-F238E27FC236}">
                  <a16:creationId xmlns:a16="http://schemas.microsoft.com/office/drawing/2014/main" id="{99AF68F7-942D-5662-35E9-EFEE5E12822B}"/>
                </a:ext>
              </a:extLst>
            </p:cNvPr>
            <p:cNvSpPr txBox="1"/>
            <p:nvPr/>
          </p:nvSpPr>
          <p:spPr>
            <a:xfrm>
              <a:off x="-201953" y="1001138"/>
              <a:ext cx="23517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14:m>
                <m:oMath xmlns:m="http://schemas.openxmlformats.org/officeDocument/2006/math">
                  <m:sSup>
                    <m:sSupPr>
                      <m:ctrlP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m:ctrlPr>
                    </m:sSupPr>
                    <m:e>
                      <m:r>
                        <m:rPr>
                          <m:nor/>
                        </m:rP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ICBHI</m:t>
                      </m:r>
                    </m:e>
                    <m:sup>
                      <m:r>
                        <a:rPr lang="en-US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</m:sup>
                  </m:sSup>
                </m:oMath>
              </a14:m>
              <a:r>
                <a:rPr lang="en-US" dirty="0"/>
                <a:t>,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m:ctrlPr>
                    </m:sSupPr>
                    <m:e>
                      <m:r>
                        <m:rPr>
                          <m:nor/>
                        </m:rP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SPRSound</m:t>
                      </m:r>
                    </m:e>
                    <m:sup>
                      <m:r>
                        <a:rPr lang="en-US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</m:sup>
                  </m:sSup>
                  <m:r>
                    <a:rPr lang="en-US" b="1" i="1">
                      <a:latin typeface="Cambria Math" panose="02040503050406030204" pitchFamily="18" charset="0"/>
                      <a:cs typeface="Arial" panose="020B0604020202020204" pitchFamily="34" charset="0"/>
                    </a:rPr>
                    <m:t> </m:t>
                  </m:r>
                </m:oMath>
              </a14:m>
              <a:endParaRPr lang="en-US" dirty="0"/>
            </a:p>
            <a:p>
              <a14:m>
                <m:oMath xmlns:m="http://schemas.openxmlformats.org/officeDocument/2006/math">
                  <m:sSup>
                    <m:sSupPr>
                      <m:ctrlP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m:ctrlPr>
                    </m:sSupPr>
                    <m:e>
                      <m:r>
                        <m:rPr>
                          <m:nor/>
                        </m:rP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HF</m:t>
                      </m:r>
                    </m:e>
                    <m:sup>
                      <m:r>
                        <a:rPr lang="en-US" b="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</m:sup>
                  </m:sSup>
                </m:oMath>
              </a14:m>
              <a:r>
                <a:rPr lang="en-US" dirty="0"/>
                <a:t> (optional),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m:ctrlPr>
                    </m:sSupPr>
                    <m:e>
                      <m:r>
                        <m:rPr>
                          <m:nor/>
                        </m:rP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KAUH</m:t>
                      </m:r>
                    </m:e>
                    <m:sup>
                      <m:r>
                        <a:rPr lang="en-US" b="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#</m:t>
                      </m:r>
                    </m:sup>
                  </m:sSup>
                  <m:r>
                    <a:rPr lang="en-US" b="0" i="1">
                      <a:latin typeface="Cambria Math" panose="02040503050406030204" pitchFamily="18" charset="0"/>
                      <a:cs typeface="Arial" panose="020B0604020202020204" pitchFamily="34" charset="0"/>
                    </a:rPr>
                    <m:t> </m:t>
                  </m:r>
                </m:oMath>
              </a14:m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4554C06-8AD1-9F3E-F2A5-EF79EDFA84CE}"/>
                </a:ext>
              </a:extLst>
            </p:cNvPr>
            <p:cNvSpPr/>
            <p:nvPr/>
          </p:nvSpPr>
          <p:spPr>
            <a:xfrm>
              <a:off x="6710855" y="1183069"/>
              <a:ext cx="1429409" cy="4450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Wheeze</a:t>
              </a:r>
              <a:endPara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14="http://schemas.microsoft.com/office/drawing/2010/main">
          <p:nvSpPr>
            <p:cNvPr id="29" name="Rectangle 28">
              <a:extLst>
                <a:ext uri="{FF2B5EF4-FFF2-40B4-BE49-F238E27FC236}">
                  <a16:creationId xmlns:a16="http://schemas.microsoft.com/office/drawing/2014/main" id="{A3B33EB4-1B8D-E213-9AB1-D0A54E790C74}"/>
                </a:ext>
              </a:extLst>
            </p:cNvPr>
            <p:cNvSpPr/>
            <p:nvPr/>
          </p:nvSpPr>
          <p:spPr>
            <a:xfrm>
              <a:off x="8556512" y="434779"/>
              <a:ext cx="1091985" cy="783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14:m>
                <m:oMathPara xmlns:m="http://schemas.openxmlformats.org/officeDocument/2006/math">
                  <m:oMath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</m:oMath>
                </m:oMathPara>
              </a14:m>
              <a:endParaRPr lang="en-US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(Shared Attributes)</a:t>
              </a:r>
            </a:p>
          </p:txBody>
        </p:sp>
        <p:sp xmlns:a14="http://schemas.microsoft.com/office/drawing/2010/main">
          <p:nvSpPr>
            <p:cNvPr id="30" name="Rectangle 29">
              <a:extLst>
                <a:ext uri="{FF2B5EF4-FFF2-40B4-BE49-F238E27FC236}">
                  <a16:creationId xmlns:a16="http://schemas.microsoft.com/office/drawing/2014/main" id="{F5222A8E-5216-64FF-83D9-E52A1610B798}"/>
                </a:ext>
              </a:extLst>
            </p:cNvPr>
            <p:cNvSpPr/>
            <p:nvPr/>
          </p:nvSpPr>
          <p:spPr>
            <a:xfrm>
              <a:off x="10064744" y="37783"/>
              <a:ext cx="3052171" cy="5501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14:m>
                <m:oMath xmlns:m="http://schemas.openxmlformats.org/officeDocument/2006/math">
                  <m:sSup>
                    <m:sSupPr>
                      <m:ctrlPr>
                        <a:rPr lang="en-US" sz="14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m:ctrlPr>
                    </m:sSupPr>
                    <m:e>
                      <m:r>
                        <m:rPr>
                          <m:nor/>
                        </m:rPr>
                        <a:rPr lang="en-US" sz="14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ICBHI</m:t>
                      </m:r>
                    </m:e>
                    <m:sup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</m:sup>
                  </m:sSup>
                </m:oMath>
              </a14:m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Normal </a:t>
              </a:r>
              <a14:m>
                <m:oMath xmlns:m="http://schemas.openxmlformats.org/officeDocument/2006/math">
                  <m:r>
                    <a:rPr lang="en-US" sz="140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m:t>∙</m:t>
                  </m:r>
                </m:oMath>
              </a14:m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Crackle </a:t>
              </a:r>
              <a14:m>
                <m:oMath xmlns:m="http://schemas.openxmlformats.org/officeDocument/2006/math">
                  <m:r>
                    <a:rPr lang="en-US" sz="140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m:t>∙</m:t>
                  </m:r>
                </m:oMath>
              </a14:m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Wheeze </a:t>
              </a:r>
              <a14:m>
                <m:oMath xmlns:m="http://schemas.openxmlformats.org/officeDocument/2006/math">
                  <m:r>
                    <a:rPr lang="en-US" sz="140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m:t>∙</m:t>
                  </m:r>
                </m:oMath>
              </a14:m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Both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F0888A-3FC5-088E-2D94-4C82E57ED049}"/>
                </a:ext>
              </a:extLst>
            </p:cNvPr>
            <p:cNvSpPr txBox="1"/>
            <p:nvPr/>
          </p:nvSpPr>
          <p:spPr>
            <a:xfrm>
              <a:off x="9922035" y="-333558"/>
              <a:ext cx="2997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Task-Specific Outputs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2C738B9-6736-51F6-F5FE-9B7EF824FC25}"/>
                    </a:ext>
                  </a:extLst>
                </p:cNvPr>
                <p:cNvSpPr/>
                <p:nvPr/>
              </p:nvSpPr>
              <p:spPr>
                <a:xfrm>
                  <a:off x="10064744" y="668409"/>
                  <a:ext cx="3052171" cy="55013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b="1" i="0" dirty="0" smtClean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1400" b="1" i="0" dirty="0" smtClean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SPRSound</m:t>
                          </m:r>
                        </m:e>
                        <m:sup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a14:m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 </a:t>
                  </a:r>
                </a:p>
                <a:p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Normal 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</m:oMath>
                  </a14:m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Adventitious</a:t>
                  </a:r>
                </a:p>
              </p:txBody>
            </p:sp>
          </mc:Choice>
          <mc:Fallback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2C738B9-6736-51F6-F5FE-9B7EF824FC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4744" y="668409"/>
                  <a:ext cx="3052171" cy="550131"/>
                </a:xfrm>
                <a:prstGeom prst="rect">
                  <a:avLst/>
                </a:prstGeom>
                <a:blipFill>
                  <a:blip r:embed="rId6"/>
                  <a:stretch>
                    <a:fillRect l="-413" b="-6667"/>
                  </a:stretch>
                </a:blipFill>
                <a:ln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 xmlns:a14="http://schemas.microsoft.com/office/drawing/2010/main">
          <p:nvSpPr>
            <p:cNvPr id="33" name="Rectangle 32">
              <a:extLst>
                <a:ext uri="{FF2B5EF4-FFF2-40B4-BE49-F238E27FC236}">
                  <a16:creationId xmlns:a16="http://schemas.microsoft.com/office/drawing/2014/main" id="{013A3B43-3589-DB43-9169-6CF6C6DF521F}"/>
                </a:ext>
              </a:extLst>
            </p:cNvPr>
            <p:cNvSpPr/>
            <p:nvPr/>
          </p:nvSpPr>
          <p:spPr>
            <a:xfrm>
              <a:off x="10064744" y="1299035"/>
              <a:ext cx="3052171" cy="5501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14:m>
                <m:oMath xmlns:m="http://schemas.openxmlformats.org/officeDocument/2006/math">
                  <m:sSup>
                    <m:sSupPr>
                      <m:ctrlPr>
                        <a:rPr lang="en-US" sz="1400" b="1" i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m:ctrlPr>
                    </m:sSupPr>
                    <m:e>
                      <m:r>
                        <m:rPr>
                          <m:nor/>
                        </m:rPr>
                        <a:rPr lang="en-US" sz="1400" b="1" i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HF source-test</m:t>
                      </m:r>
                    </m:e>
                    <m:sup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#</m:t>
                      </m:r>
                    </m:sup>
                  </m:sSup>
                  <m:r>
                    <a:rPr lang="en-US" sz="14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Arial" panose="020B0604020202020204" pitchFamily="34" charset="0"/>
                    </a:rPr>
                    <m:t> </m:t>
                  </m:r>
                </m:oMath>
              </a14:m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CAS (W-head score)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DAF08D42-B00A-1453-47E2-1B0D5CC59295}"/>
                    </a:ext>
                  </a:extLst>
                </p:cNvPr>
                <p:cNvSpPr/>
                <p:nvPr/>
              </p:nvSpPr>
              <p:spPr>
                <a:xfrm>
                  <a:off x="10064744" y="1929661"/>
                  <a:ext cx="3052171" cy="55013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b="1" i="0" dirty="0" smtClean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1400" b="1" i="0" dirty="0" smtClean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KAUH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#</m:t>
                          </m:r>
                        </m:sup>
                      </m:sSup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a14:m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 </a:t>
                  </a:r>
                </a:p>
                <a:p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Normal 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</m:oMath>
                  </a14:m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Abnormal</a:t>
                  </a:r>
                </a:p>
              </p:txBody>
            </p:sp>
          </mc:Choice>
          <mc:Fallback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DAF08D42-B00A-1453-47E2-1B0D5CC592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4744" y="1929661"/>
                  <a:ext cx="3052171" cy="550131"/>
                </a:xfrm>
                <a:prstGeom prst="rect">
                  <a:avLst/>
                </a:prstGeom>
                <a:blipFill>
                  <a:blip r:embed="rId8"/>
                  <a:stretch>
                    <a:fillRect l="-413" b="-6522"/>
                  </a:stretch>
                </a:blipFill>
                <a:ln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F26FDA4-7B15-DDF2-3265-B85762BCC004}"/>
                </a:ext>
              </a:extLst>
            </p:cNvPr>
            <p:cNvCxnSpPr>
              <a:cxnSpLocks/>
            </p:cNvCxnSpPr>
            <p:nvPr/>
          </p:nvCxnSpPr>
          <p:spPr>
            <a:xfrm>
              <a:off x="6070775" y="413347"/>
              <a:ext cx="6400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DF45E505-D19E-594C-E8DC-0AFE42FF7477}"/>
                </a:ext>
              </a:extLst>
            </p:cNvPr>
            <p:cNvCxnSpPr>
              <a:cxnSpLocks/>
            </p:cNvCxnSpPr>
            <p:nvPr/>
          </p:nvCxnSpPr>
          <p:spPr>
            <a:xfrm>
              <a:off x="6077432" y="413347"/>
              <a:ext cx="633423" cy="466317"/>
            </a:xfrm>
            <a:prstGeom prst="bentConnector3">
              <a:avLst>
                <a:gd name="adj1" fmla="val 703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D0538643-CF93-C593-6E65-7DCAC0EDEE1D}"/>
                </a:ext>
              </a:extLst>
            </p:cNvPr>
            <p:cNvCxnSpPr>
              <a:cxnSpLocks/>
            </p:cNvCxnSpPr>
            <p:nvPr/>
          </p:nvCxnSpPr>
          <p:spPr>
            <a:xfrm>
              <a:off x="6077432" y="413347"/>
              <a:ext cx="633423" cy="1006742"/>
            </a:xfrm>
            <a:prstGeom prst="bentConnector3">
              <a:avLst>
                <a:gd name="adj1" fmla="val 70301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okens">
                  <a:extLst>
                    <a:ext uri="{FF2B5EF4-FFF2-40B4-BE49-F238E27FC236}">
                      <a16:creationId xmlns:a16="http://schemas.microsoft.com/office/drawing/2014/main" id="{6301923F-367F-1136-E521-3DF8B5748FE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830104" y="337147"/>
                  <a:ext cx="254000" cy="152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buNone/>
                    <a:defRPr sz="900" b="0" i="0">
                      <a:solidFill>
                        <a:srgbClr val="242424"/>
                      </a:solidFill>
                      <a:latin typeface="Arial"/>
                      <a:ea typeface="Arial"/>
                      <a:cs typeface="Arial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242424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242424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242424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sz="900" b="0" i="1" baseline="-20000" dirty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endParaRPr>
                </a:p>
              </p:txBody>
            </p:sp>
          </mc:Choice>
          <mc:Fallback>
            <p:sp>
              <p:nvSpPr>
                <p:cNvPr id="47" name="tokens">
                  <a:extLst>
                    <a:ext uri="{FF2B5EF4-FFF2-40B4-BE49-F238E27FC236}">
                      <a16:creationId xmlns:a16="http://schemas.microsoft.com/office/drawing/2014/main" id="{6301923F-367F-1136-E521-3DF8B5748FEE}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104" y="337147"/>
                  <a:ext cx="254000" cy="152400"/>
                </a:xfrm>
                <a:prstGeom prst="rect">
                  <a:avLst/>
                </a:prstGeom>
                <a:blipFill>
                  <a:blip r:embed="rId9"/>
                  <a:stretch>
                    <a:fillRect l="-4762" t="-7692" b="-46154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 xmlns:a14="http://schemas.microsoft.com/office/drawing/2010/main">
          <p:nvSpPr>
            <p:cNvPr id="48" name="TextBox 47">
              <a:extLst>
                <a:ext uri="{FF2B5EF4-FFF2-40B4-BE49-F238E27FC236}">
                  <a16:creationId xmlns:a16="http://schemas.microsoft.com/office/drawing/2014/main" id="{6A8806B1-5ED6-0BA5-698D-FFA85ED77602}"/>
                </a:ext>
              </a:extLst>
            </p:cNvPr>
            <p:cNvSpPr txBox="1"/>
            <p:nvPr/>
          </p:nvSpPr>
          <p:spPr>
            <a:xfrm>
              <a:off x="3576178" y="558884"/>
              <a:ext cx="5143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14:m>
                <m:oMathPara xmlns:m="http://schemas.openxmlformats.org/officeDocument/2006/math">
                  <m:oMath>
                    <m:box>
                      <m:boxPr>
                        <m:noBreak m:val="1"/>
                      </m:box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US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e>
                    </m:box>
                  </m:oMath>
                </m:oMathPara>
              </a14:m>
              <a:endParaRPr lang="en-US" sz="1200" dirty="0"/>
            </a:p>
          </p:txBody>
        </p:sp>
        <p:cxnSp>
          <p:nvCxnSpPr>
            <p:cNvPr id="56" name="Elbow Connector 55">
              <a:extLst>
                <a:ext uri="{FF2B5EF4-FFF2-40B4-BE49-F238E27FC236}">
                  <a16:creationId xmlns:a16="http://schemas.microsoft.com/office/drawing/2014/main" id="{597C8DC1-F966-E335-257E-62507BB0CE88}"/>
                </a:ext>
              </a:extLst>
            </p:cNvPr>
            <p:cNvCxnSpPr>
              <a:cxnSpLocks/>
            </p:cNvCxnSpPr>
            <p:nvPr/>
          </p:nvCxnSpPr>
          <p:spPr>
            <a:xfrm>
              <a:off x="8145459" y="328405"/>
              <a:ext cx="419647" cy="52214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B0F2440E-AF09-456C-1B9D-C2DBD576E3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3454" y="850545"/>
              <a:ext cx="431652" cy="568961"/>
            </a:xfrm>
            <a:prstGeom prst="bentConnector3">
              <a:avLst>
                <a:gd name="adj1" fmla="val 51943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CDB5AC0-3BCB-CBF5-96C5-443EC2185B0A}"/>
                </a:ext>
              </a:extLst>
            </p:cNvPr>
            <p:cNvCxnSpPr>
              <a:cxnSpLocks/>
            </p:cNvCxnSpPr>
            <p:nvPr/>
          </p:nvCxnSpPr>
          <p:spPr>
            <a:xfrm>
              <a:off x="8140264" y="849001"/>
              <a:ext cx="424842" cy="15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>
              <a:extLst>
                <a:ext uri="{FF2B5EF4-FFF2-40B4-BE49-F238E27FC236}">
                  <a16:creationId xmlns:a16="http://schemas.microsoft.com/office/drawing/2014/main" id="{BFC6C2C4-052C-239D-EFC2-F719FD1401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5308" y="328405"/>
              <a:ext cx="416247" cy="518044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C338C94F-5647-899D-E227-F7738C1523D0}"/>
                </a:ext>
              </a:extLst>
            </p:cNvPr>
            <p:cNvCxnSpPr>
              <a:cxnSpLocks/>
            </p:cNvCxnSpPr>
            <p:nvPr/>
          </p:nvCxnSpPr>
          <p:spPr>
            <a:xfrm>
              <a:off x="9655308" y="846449"/>
              <a:ext cx="416247" cy="73899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>
              <a:extLst>
                <a:ext uri="{FF2B5EF4-FFF2-40B4-BE49-F238E27FC236}">
                  <a16:creationId xmlns:a16="http://schemas.microsoft.com/office/drawing/2014/main" id="{5E9DBD74-3481-54D1-4A2A-EE4152330AE5}"/>
                </a:ext>
              </a:extLst>
            </p:cNvPr>
            <p:cNvCxnSpPr>
              <a:cxnSpLocks/>
            </p:cNvCxnSpPr>
            <p:nvPr/>
          </p:nvCxnSpPr>
          <p:spPr>
            <a:xfrm>
              <a:off x="9655308" y="846449"/>
              <a:ext cx="416247" cy="97025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lbow Connector 81">
              <a:extLst>
                <a:ext uri="{FF2B5EF4-FFF2-40B4-BE49-F238E27FC236}">
                  <a16:creationId xmlns:a16="http://schemas.microsoft.com/office/drawing/2014/main" id="{AE34DC7E-A4E2-1AE1-4E7E-CED62EF107D7}"/>
                </a:ext>
              </a:extLst>
            </p:cNvPr>
            <p:cNvCxnSpPr>
              <a:cxnSpLocks/>
            </p:cNvCxnSpPr>
            <p:nvPr/>
          </p:nvCxnSpPr>
          <p:spPr>
            <a:xfrm>
              <a:off x="9655308" y="846449"/>
              <a:ext cx="416247" cy="137068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9D5C7C15-C9B6-E712-A58A-AB9017AA12A7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3584053" y="557282"/>
              <a:ext cx="743980" cy="821171"/>
            </a:xfrm>
            <a:prstGeom prst="bentConnector3">
              <a:avLst>
                <a:gd name="adj1" fmla="val 70297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 xmlns:a14="http://schemas.microsoft.com/office/drawing/2010/main">
          <p:nvSpPr>
            <p:cNvPr id="97" name="Rectangle 96">
              <a:extLst>
                <a:ext uri="{FF2B5EF4-FFF2-40B4-BE49-F238E27FC236}">
                  <a16:creationId xmlns:a16="http://schemas.microsoft.com/office/drawing/2014/main" id="{074BE785-9BB6-F04B-A13E-EF7A29504FC6}"/>
                </a:ext>
              </a:extLst>
            </p:cNvPr>
            <p:cNvSpPr/>
            <p:nvPr/>
          </p:nvSpPr>
          <p:spPr>
            <a:xfrm>
              <a:off x="2971822" y="1954690"/>
              <a:ext cx="6595478" cy="73660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3E6D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14:m>
                <ns0:oMath xmlns:ns0="http://schemas.openxmlformats.org/officeDocument/2006/math">
                  <ns0:r>
                    <a:rPr lang="en-US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ns0:t>        </ns0:t>
                  </ns0:r>
                  <ns0: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ns0:t>ℒ</ns0:t>
                  </ns0:r>
                  <ns0:r>
                    <a:rPr lang="en-US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ns0:t>   =  </ns0:t>
                  </ns0:r>
                  <ns0:limLow>
                    <ns0:limLowPr>
                      <ns0:ctrl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limLowPr>
                    <ns0:e>
                      <ns0:groupChr>
                        <ns0:groupChrPr>
                          <ns0:chr ns0:val="⏟"/>
                          <ns0:pos ns0:val="bot"/>
                          <ns0:vertJc ns0:val="top"/>
                          <ns0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ns0:ctrlPr>
                        </ns0:groupChrPr>
                        <ns0:e>
                          <ns0:sSub>
                            <ns0:sSubPr>
                              <ns0:ctrlPr>
                                <a:rPr lang="en-US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ns0:ctrlPr>
                            </ns0:sSubPr>
                            <ns0:e>
                              <ns0:r>
                                <a:rPr lang="en-US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ns0:t>ℒ</ns0:t>
                              </ns0:r>
                            </ns0:e>
                            <ns0:sub>
                              <ns0:r>
                                <ns0:rPr>
                                  <ns0:sty ns0:val="p"/>
                                </ns0:rPr>
                                <a:rPr lang="en-US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ns0:t>cls</ns0:t>
                              </ns0:r>
                            </ns0:sub>
                          </ns0:sSub>
                          <ns0:r>
                            <ns0:rPr>
                              <ns0:nor/>
                            </ns0:r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ns0:t> + </ns0:t>
                          </ns0:r>
                          <ns0:sSub>
                            <ns0:sSubPr>
                              <ns0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ns0:ctrlPr>
                            </ns0:sSubPr>
                            <ns0:e>
                              <ns0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ns0:t>𝜆</ns0:t>
                              </ns0:r>
                            </ns0:e>
                            <ns0:sub>
                              <ns0:r>
                                <ns0:rPr>
                                  <ns0:sty ns0:val="p"/>
                                </ns0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ns0:t>p</ns0:t>
                              </ns0:r>
                            </ns0:sub>
                          </ns0:sSub>
                          <ns0:sSub>
                            <ns0:sSubPr>
                              <ns0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ns0:ctrlPr>
                            </ns0:sSubPr>
                            <ns0:e>
                              <ns0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ns0:t>ℒ</ns0:t>
                              </ns0:r>
                            </ns0:e>
                            <ns0:sub>
                              <ns0:r>
                                <ns0:rPr>
                                  <ns0:sty ns0:val="p"/>
                                </ns0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ns0:t>PCSL</ns0:t>
                              </ns0:r>
                            </ns0:sub>
                          </ns0:sSub>
                          <ns0:r>
                            <ns0:rPr>
                              <ns0:nor/>
                            </ns0:r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ns0:t> + </ns0:t>
                          </ns0:r>
                          <ns0:sSub>
                            <ns0:sSubPr>
                              <ns0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ns0:ctrlPr>
                            </ns0:sSubPr>
                            <ns0:e>
                              <ns0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ns0:t>𝜆</ns0:t>
                              </ns0:r>
                            </ns0:e>
                            <ns0:sub>
                              <ns0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ns0:t>g</ns0:t>
                              </ns0:r>
                            </ns0:sub>
                          </ns0:sSub>
                          <ns0:sSub>
                            <ns0:sSubPr>
                              <ns0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ns0:ctrlPr>
                            </ns0:sSubPr>
                            <ns0:e>
                              <ns0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ns0:t>ℒ</ns0:t>
                              </ns0:r>
                            </ns0:e>
                            <ns0:sub>
                              <ns0:r>
                                <ns0:rPr>
                                  <ns0:sty ns0:val="p"/>
                                </ns0:r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ns0:t>GPAL</ns0:t>
                              </ns0:r>
                            </ns0:sub>
                          </ns0:sSub>
                        </ns0:e>
                      </ns0:groupChr>
                    </ns0:e>
                    <ns0:lim>
                      <ns0:sSub>
                        <ns0:sSubPr>
                          <ns0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ns0:ctrlPr>
                        </ns0:sSubPr>
                        <ns0:e>
                          <ns0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ns0:t>ℒ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ns0:t>core</ns0:t>
                          </ns0:r>
                        </ns0:sub>
                      </ns0:sSub>
                    </ns0:lim>
                  </ns0:limLow>
                  <ns0:r>
                    <ns0:rPr>
                      <ns0:nor/>
                    </ns0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ns0:t>  +   </ns0:t>
                  </ns0:r>
                  <ns0:sSub>
                    <ns0:sSubPr>
                      <ns0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𝜆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HF</ns0:t>
                      </ns0:r>
                    </ns0:sub>
                  </ns0:sSub>
                  <ns0:sSub>
                    <ns0:sSubPr>
                      <ns0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HF</ns0:t>
                      </ns0:r>
                    </ns0:sub>
                  </ns0:sSub>
                </ns0:oMath>
              </a14:m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D5D0926-C52A-AFA7-FFCD-C3C1D8843D21}"/>
                </a:ext>
              </a:extLst>
            </p:cNvPr>
            <p:cNvSpPr txBox="1"/>
            <p:nvPr/>
          </p:nvSpPr>
          <p:spPr>
            <a:xfrm>
              <a:off x="4508500" y="2984500"/>
              <a:ext cx="18744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Patient Cohesion–Separation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ADA528A-A79B-BD0F-0327-3116AF2E21F9}"/>
                </a:ext>
              </a:extLst>
            </p:cNvPr>
            <p:cNvSpPr txBox="1"/>
            <p:nvPr/>
          </p:nvSpPr>
          <p:spPr>
            <a:xfrm>
              <a:off x="6184900" y="2984500"/>
              <a:ext cx="16020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Global Patient Alignment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9A34679-5FA5-6D44-92C3-BB801B68FE33}"/>
                </a:ext>
              </a:extLst>
            </p:cNvPr>
            <p:cNvSpPr txBox="1"/>
            <p:nvPr/>
          </p:nvSpPr>
          <p:spPr>
            <a:xfrm>
              <a:off x="3505200" y="2984500"/>
              <a:ext cx="11249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Classification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7BB03F5-26EF-748C-13CB-347E0E1CC4A6}"/>
                </a:ext>
              </a:extLst>
            </p:cNvPr>
            <p:cNvSpPr txBox="1"/>
            <p:nvPr/>
          </p:nvSpPr>
          <p:spPr>
            <a:xfrm>
              <a:off x="8039100" y="2984500"/>
              <a:ext cx="1929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B699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HF Lung Loss</a:t>
              </a:r>
            </a:p>
            <a:p>
              <a:pPr algn="ctr"/>
              <a:r>
                <a:rPr lang="en-US" sz="1200" dirty="0">
                  <a:solidFill>
                    <a:srgbClr val="B699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(Optional C/W)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B9A9994E-0D3D-C9DB-8FCF-4A3F927BF33E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5205647" y="1651722"/>
              <a:ext cx="0" cy="33624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tokens">
                  <a:extLst>
                    <a:ext uri="{FF2B5EF4-FFF2-40B4-BE49-F238E27FC236}">
                      <a16:creationId xmlns:a16="http://schemas.microsoft.com/office/drawing/2014/main" id="{D35DEA37-5F1F-16DF-6170-E9221563D96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295922" y="1727006"/>
                  <a:ext cx="254000" cy="152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>
                    <a:buNone/>
                    <a:defRPr sz="900" b="0" i="0">
                      <a:solidFill>
                        <a:srgbClr val="242424"/>
                      </a:solidFill>
                      <a:latin typeface="Arial"/>
                      <a:ea typeface="Arial"/>
                      <a:cs typeface="Arial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242424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242424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242424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sz="900" b="0" i="1" baseline="-20000" dirty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endParaRPr>
                </a:p>
              </p:txBody>
            </p:sp>
          </mc:Choice>
          <mc:Fallback>
            <p:sp>
              <p:nvSpPr>
                <p:cNvPr id="118" name="tokens">
                  <a:extLst>
                    <a:ext uri="{FF2B5EF4-FFF2-40B4-BE49-F238E27FC236}">
                      <a16:creationId xmlns:a16="http://schemas.microsoft.com/office/drawing/2014/main" id="{D35DEA37-5F1F-16DF-6170-E9221563D967}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5922" y="1727006"/>
                  <a:ext cx="254000" cy="152400"/>
                </a:xfrm>
                <a:prstGeom prst="rect">
                  <a:avLst/>
                </a:prstGeom>
                <a:blipFill>
                  <a:blip r:embed="rId12"/>
                  <a:stretch>
                    <a:fillRect l="-5000" b="-46154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 xmlns:a14="http://schemas.microsoft.com/office/drawing/2010/main">
          <p:nvSpPr>
            <p:cNvPr id="119" name="TextBox 118">
              <a:extLst>
                <a:ext uri="{FF2B5EF4-FFF2-40B4-BE49-F238E27FC236}">
                  <a16:creationId xmlns:a16="http://schemas.microsoft.com/office/drawing/2014/main" id="{59886ED4-1488-130B-B9D3-9B8C68A17B2E}"/>
                </a:ext>
              </a:extLst>
            </p:cNvPr>
            <p:cNvSpPr txBox="1"/>
            <p:nvPr/>
          </p:nvSpPr>
          <p:spPr>
            <a:xfrm>
              <a:off x="4646159" y="1665344"/>
              <a:ext cx="5143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14:m>
                <m:oMathPara xmlns:m="http://schemas.openxmlformats.org/officeDocument/2006/math">
                  <m:oMath>
                    <m:box>
                      <m:boxPr>
                        <m:noBreak m:val="1"/>
                      </m:box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768</m:t>
                        </m:r>
                      </m:e>
                    </m:box>
                  </m:oMath>
                </m:oMathPara>
              </a14:m>
              <a:endParaRPr lang="en-US" sz="1200" dirty="0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5FCEE3CB-389B-089E-4C80-884895E94C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7041" y="2717800"/>
              <a:ext cx="499959" cy="13045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D87266F8-7748-12E8-4915-A367773A73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051" y="2717800"/>
              <a:ext cx="296949" cy="205492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044F4628-155A-9D13-3153-DB10E122B6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18000" y="2717800"/>
              <a:ext cx="135268" cy="160467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5F09288D-9801-CA6A-1E57-D0A312F4A1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800" y="2717800"/>
              <a:ext cx="190589" cy="147176"/>
            </a:xfrm>
            <a:prstGeom prst="straightConnector1">
              <a:avLst/>
            </a:prstGeom>
            <a:ln w="19050">
              <a:solidFill>
                <a:srgbClr val="B6993A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B6B375C-DDCC-1C61-6189-3C250173AC71}"/>
                </a:ext>
              </a:extLst>
            </p:cNvPr>
            <p:cNvCxnSpPr>
              <a:cxnSpLocks/>
            </p:cNvCxnSpPr>
            <p:nvPr/>
          </p:nvCxnSpPr>
          <p:spPr>
            <a:xfrm>
              <a:off x="9225712" y="1210331"/>
              <a:ext cx="0" cy="719330"/>
            </a:xfrm>
            <a:prstGeom prst="straightConnector1">
              <a:avLst/>
            </a:prstGeom>
            <a:ln w="28575">
              <a:solidFill>
                <a:srgbClr val="B6993A"/>
              </a:solidFill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106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Nie, Jingping</cp:lastModifiedBy>
  <cp:revision>8</cp:revision>
  <dcterms:created xsi:type="dcterms:W3CDTF">2026-09-14T23:48:42Z</dcterms:created>
  <dcterms:modified xsi:type="dcterms:W3CDTF">2026-09-15T01:19:34Z</dcterms:modified>
</cp:coreProperties>
</file>