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cb83ef37204c61" /><Relationship Type="http://schemas.openxmlformats.org/officeDocument/2006/relationships/extended-properties" Target="/docProps/app.xml" Id="Rd579137265eb4d97" /><Relationship Type="http://schemas.openxmlformats.org/officeDocument/2006/relationships/officeDocument" Target="/ppt/presentation.xml" Id="R026ff092e93948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0b0c26fa9a4de6"/>
  </p:sldMasterIdLst>
  <p:notesMasterIdLst>
    <p:notesMasterId xmlns:r="http://schemas.openxmlformats.org/officeDocument/2006/relationships" r:id="R793e3e4efb654eff"/>
  </p:notesMasterIdLst>
  <p:sldIdLst>
    <p:sldId xmlns:r="http://schemas.openxmlformats.org/officeDocument/2006/relationships" id="256" r:id="Rc355ae2783d64924"/>
  </p:sldIdLst>
  <p:sldSz cx="6408000" cy="2052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f9b19c832e423f" /><Relationship Type="http://schemas.openxmlformats.org/officeDocument/2006/relationships/slideMaster" Target="/ppt/slideMasters/slideMaster1.xml" Id="R8a0b0c26fa9a4de6" /><Relationship Type="http://schemas.openxmlformats.org/officeDocument/2006/relationships/notesMaster" Target="/ppt/notesMasters/notesMaster1.xml" Id="R793e3e4efb654eff" /><Relationship Type="http://schemas.openxmlformats.org/officeDocument/2006/relationships/presProps" Target="/ppt/presProps.xml" Id="Red7eb6a6bc344e62" /><Relationship Type="http://schemas.openxmlformats.org/officeDocument/2006/relationships/tableStyles" Target="/ppt/tableStyles.xml" Id="Reb7b1448ba204e00" /><Relationship Type="http://schemas.openxmlformats.org/officeDocument/2006/relationships/slide" Target="/ppt/slides/slide1.xml" Id="Rc355ae2783d649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3ce6fa83144b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d9439c72194ad5" /><Relationship Type="http://schemas.openxmlformats.org/officeDocument/2006/relationships/notesMaster" Target="/ppt/notesMasters/notesMaster1.xml" Id="R1ecaa011d42e47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/Users/zilongzeng/Research/Acoustic/docs/paper/Overleaf_Sync_final/Section/2data.tex, Section/3method.tex, Section/4evaluation.tex and main.tex, read 2026-09-13.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Visual organization: acoustic_end_to_end_pipeline_v2.8.png; sync-0813.pptx slide 10; pipeline_sketch_v0 slide 1; pipeline_audit_rough_v1 slide 4. These are visual references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predicts Normal/Abnormal with two-logit softmax. C/W are independent marginal sigmoid predictions. R/S denotes SPRSound Rhonchi/Stridor. Their C/W labels are unknown and masked.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ICBHI: A=Normal produces Normal; otherwise C/W thresholds produce Crackle, Wheeze or Both. If neither threshold is reached, larger probability-minus-threshold margin chooses Crackle/Wheeze, with ties to Crackle.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C/W thresholds use core validation. Fixed selected models need not be validation-selected checkpoints. HF source-train contributes only in a separate auxiliary condition; it has no A loss and includes annotation-derived negative C/W targets.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HF fixed evaluation covers annotated intervals and recording-level attribute presence. KAUH averages probabilities across B/D/E versions within each patient before decoding.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PAFA retains its separate attention projection from encoder tokens; its regularizers and detailed hyperparameters remain in Section 3. Native + attributes is a separate benchmark control and is not part of the depicted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45eaf8f5174a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949a161af8488c" /><Relationship Type="http://schemas.openxmlformats.org/officeDocument/2006/relationships/slideLayout" Target="/ppt/slideLayouts/slideLayout1.xml" Id="Rb400e99f9cfe4f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00e99f9cfe4f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29d18297a43bc" /><Relationship Type="http://schemas.openxmlformats.org/officeDocument/2006/relationships/notesSlide" Target="/ppt/notesSlides/notesSlide1.xml" Id="Rd029140ad28042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learning-panel">
            <a:extLst xmlns:a="http://schemas.openxmlformats.org/drawingml/2006/main">
              <a:ext uri="{FF2B5EF4-FFF2-40B4-BE49-F238E27FC236}">
                <a16:creationId xmlns:a16="http://schemas.microsoft.com/office/drawing/2014/main" id="{DBEEAF29-2D48-4B08-AAAC-5813CBF0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" y="25400"/>
            <a:ext cx="41402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10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(a) Shared attribute learning</a:t>
            </a:r>
          </a:p>
        </p:txBody>
      </p:sp>
      <p:sp>
        <p:nvSpPr>
          <p:cNvPr id="2" name="readout-panel">
            <a:extLst xmlns:a="http://schemas.openxmlformats.org/drawingml/2006/main">
              <a:ext uri="{FF2B5EF4-FFF2-40B4-BE49-F238E27FC236}">
                <a16:creationId xmlns:a16="http://schemas.microsoft.com/office/drawing/2014/main" id="{CC1BED0D-E26F-439D-A249-17278FCD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400"/>
            <a:ext cx="18669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10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(b) Native task readouts</a:t>
            </a:r>
          </a:p>
        </p:txBody>
      </p:sp>
      <p:sp>
        <p:nvSpPr>
          <p:cNvPr id="3" name="parallel-head-region">
            <a:extLst xmlns:a="http://schemas.openxmlformats.org/drawingml/2006/main">
              <a:ext uri="{FF2B5EF4-FFF2-40B4-BE49-F238E27FC236}">
                <a16:creationId xmlns:a16="http://schemas.microsoft.com/office/drawing/2014/main" id="{FD19C70B-B677-46B2-9B65-030B8DA0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300" y="228600"/>
            <a:ext cx="1206500" cy="1422400"/>
          </a:xfrm>
          <a:prstGeom xmlns:a="http://schemas.openxmlformats.org/drawingml/2006/main" prst="roundRect">
            <a:avLst>
              <a:gd name="adj" fmla="val 2105"/>
            </a:avLst>
          </a:prstGeom>
          <a:solidFill xmlns:a="http://schemas.openxmlformats.org/drawingml/2006/main">
            <a:srgbClr val="F5FAF7"/>
          </a:solidFill>
          <a:ln xmlns:a="http://schemas.openxmlformats.org/drawingml/2006/main" w="8255">
            <a:solidFill>
              <a:srgbClr val="D4E5DC"/>
            </a:solidFill>
          </a:ln>
        </p:spPr>
      </p:sp>
      <p:sp>
        <p:nvSpPr>
          <p:cNvPr id="4" name="icbhi-readout-region">
            <a:extLst xmlns:a="http://schemas.openxmlformats.org/drawingml/2006/main">
              <a:ext uri="{FF2B5EF4-FFF2-40B4-BE49-F238E27FC236}">
                <a16:creationId xmlns:a16="http://schemas.microsoft.com/office/drawing/2014/main" id="{C05942BC-F92D-4F59-95EA-8CE1F37A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58800"/>
            <a:ext cx="1854200" cy="109220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CF6E9"/>
          </a:solidFill>
          <a:ln xmlns:a="http://schemas.openxmlformats.org/drawingml/2006/main" w="8255">
            <a:solidFill>
              <a:srgbClr val="9D8558"/>
            </a:solidFill>
          </a:ln>
        </p:spPr>
      </p:sp>
      <p:sp>
        <p:nvSpPr>
          <p:cNvPr id="5" name="core-audio">
            <a:extLst xmlns:a="http://schemas.openxmlformats.org/drawingml/2006/main">
              <a:ext uri="{FF2B5EF4-FFF2-40B4-BE49-F238E27FC236}">
                <a16:creationId xmlns:a16="http://schemas.microsoft.com/office/drawing/2014/main" id="{50FF0C7C-B7FA-4AAC-B5ED-C6166D36F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" y="266700"/>
            <a:ext cx="1155700" cy="5334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255">
            <a:solidFill>
              <a:srgbClr val="567B9C"/>
            </a:solidFill>
          </a:ln>
        </p:spPr>
      </p:sp>
      <p:sp>
        <p:nvSpPr>
          <p:cNvPr id="6" name="icbhi-audio-label">
            <a:extLst xmlns:a="http://schemas.openxmlformats.org/drawingml/2006/main">
              <a:ext uri="{FF2B5EF4-FFF2-40B4-BE49-F238E27FC236}">
                <a16:creationId xmlns:a16="http://schemas.microsoft.com/office/drawing/2014/main" id="{06B9EB2F-40B9-476D-A511-63035A32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" y="304800"/>
            <a:ext cx="101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ICBHI cycles</a:t>
            </a:r>
          </a:p>
        </p:txBody>
      </p:sp>
      <p:sp>
        <p:nvSpPr>
          <p:cNvPr id="7" name="spr-audio-label">
            <a:extLst xmlns:a="http://schemas.openxmlformats.org/drawingml/2006/main">
              <a:ext uri="{FF2B5EF4-FFF2-40B4-BE49-F238E27FC236}">
                <a16:creationId xmlns:a16="http://schemas.microsoft.com/office/drawing/2014/main" id="{C26A9E3E-778A-4076-BC2D-E18E9301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" y="469900"/>
            <a:ext cx="101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SPRSound events</a:t>
            </a:r>
          </a:p>
        </p:txBody>
      </p:sp>
      <p:sp>
        <p:nvSpPr>
          <p:cNvPr id="8" name="core-audio-role">
            <a:extLst xmlns:a="http://schemas.openxmlformats.org/drawingml/2006/main">
              <a:ext uri="{FF2B5EF4-FFF2-40B4-BE49-F238E27FC236}">
                <a16:creationId xmlns:a16="http://schemas.microsoft.com/office/drawing/2014/main" id="{B6E74249-A9B0-4528-AD9D-DF72CBCD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" y="635000"/>
            <a:ext cx="10160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Core training audio</a:t>
            </a:r>
          </a:p>
        </p:txBody>
      </p:sp>
      <p:sp>
        <p:nvSpPr>
          <p:cNvPr id="9" name="core-annotations">
            <a:extLst xmlns:a="http://schemas.openxmlformats.org/drawingml/2006/main">
              <a:ext uri="{FF2B5EF4-FFF2-40B4-BE49-F238E27FC236}">
                <a16:creationId xmlns:a16="http://schemas.microsoft.com/office/drawing/2014/main" id="{1FB6BBCD-FD90-4922-AC09-CE1EEBE8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" y="1016000"/>
            <a:ext cx="1155700" cy="63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3EFF8"/>
          </a:solidFill>
          <a:ln xmlns:a="http://schemas.openxmlformats.org/drawingml/2006/main" w="8255">
            <a:solidFill>
              <a:srgbClr val="81609C"/>
            </a:solidFill>
          </a:ln>
        </p:spPr>
      </p:sp>
      <p:sp>
        <p:nvSpPr>
          <p:cNvPr id="10" name="annotation-label">
            <a:extLst xmlns:a="http://schemas.openxmlformats.org/drawingml/2006/main">
              <a:ext uri="{FF2B5EF4-FFF2-40B4-BE49-F238E27FC236}">
                <a16:creationId xmlns:a16="http://schemas.microsoft.com/office/drawing/2014/main" id="{53C748A6-F05C-4DBB-8A5A-90C9C5F4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" y="1066800"/>
            <a:ext cx="101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Available labels</a:t>
            </a:r>
          </a:p>
        </p:txBody>
      </p:sp>
      <p:sp>
        <p:nvSpPr>
          <p:cNvPr id="11" name="rhonchi-stridor-example">
            <a:extLst xmlns:a="http://schemas.openxmlformats.org/drawingml/2006/main">
              <a:ext uri="{FF2B5EF4-FFF2-40B4-BE49-F238E27FC236}">
                <a16:creationId xmlns:a16="http://schemas.microsoft.com/office/drawing/2014/main" id="{3E12FB3E-9331-4273-8A3E-2DFA81EA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" y="1270000"/>
            <a:ext cx="101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SPR R/S: A only</a:t>
            </a:r>
          </a:p>
        </p:txBody>
      </p:sp>
      <p:sp>
        <p:nvSpPr>
          <p:cNvPr id="12" name="unavailable-attributes">
            <a:extLst xmlns:a="http://schemas.openxmlformats.org/drawingml/2006/main">
              <a:ext uri="{FF2B5EF4-FFF2-40B4-BE49-F238E27FC236}">
                <a16:creationId xmlns:a16="http://schemas.microsoft.com/office/drawing/2014/main" id="{1B723DDC-5191-4685-90E5-8338B753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00" y="1460500"/>
            <a:ext cx="1016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C/W unknown</a:t>
            </a:r>
          </a:p>
        </p:txBody>
      </p:sp>
      <p:sp>
        <p:nvSpPr>
          <p:cNvPr id="13" name="shared-acoustic-representation">
            <a:extLst xmlns:a="http://schemas.openxmlformats.org/drawingml/2006/main">
              <a:ext uri="{FF2B5EF4-FFF2-40B4-BE49-F238E27FC236}">
                <a16:creationId xmlns:a16="http://schemas.microsoft.com/office/drawing/2014/main" id="{F8399B56-B8F2-4F24-8865-A591A8D9C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66700"/>
            <a:ext cx="1409700" cy="889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8255">
            <a:solidFill>
              <a:srgbClr val="42826A"/>
            </a:solidFill>
          </a:ln>
        </p:spPr>
      </p:sp>
      <p:sp>
        <p:nvSpPr>
          <p:cNvPr id="14" name="beats-label">
            <a:extLst xmlns:a="http://schemas.openxmlformats.org/drawingml/2006/main">
              <a:ext uri="{FF2B5EF4-FFF2-40B4-BE49-F238E27FC236}">
                <a16:creationId xmlns:a16="http://schemas.microsoft.com/office/drawing/2014/main" id="{C0D618A3-7B1D-4C95-943C-605BF13F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300" y="317500"/>
            <a:ext cx="128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BEATs</a:t>
            </a:r>
          </a:p>
        </p:txBody>
      </p:sp>
      <p:sp>
        <p:nvSpPr>
          <p:cNvPr id="15" name="pooling-label">
            <a:extLst xmlns:a="http://schemas.openxmlformats.org/drawingml/2006/main">
              <a:ext uri="{FF2B5EF4-FFF2-40B4-BE49-F238E27FC236}">
                <a16:creationId xmlns:a16="http://schemas.microsoft.com/office/drawing/2014/main" id="{44AEC656-29F5-4293-B1CD-7B69B852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300" y="571500"/>
            <a:ext cx="1282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Token mean</a:t>
            </a:r>
          </a:p>
        </p:txBody>
      </p:sp>
      <p:sp>
        <p:nvSpPr>
          <p:cNvPr id="16" name="projection-label">
            <a:extLst xmlns:a="http://schemas.openxmlformats.org/drawingml/2006/main">
              <a:ext uri="{FF2B5EF4-FFF2-40B4-BE49-F238E27FC236}">
                <a16:creationId xmlns:a16="http://schemas.microsoft.com/office/drawing/2014/main" id="{B3BD458B-0119-4760-9CFD-3FBC4DE0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300" y="787400"/>
            <a:ext cx="1282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Linear 768 → 256</a:t>
            </a:r>
          </a:p>
        </p:txBody>
      </p:sp>
      <p:sp>
        <p:nvSpPr>
          <p:cNvPr id="17" name="representation-label">
            <a:extLst xmlns:a="http://schemas.openxmlformats.org/drawingml/2006/main">
              <a:ext uri="{FF2B5EF4-FFF2-40B4-BE49-F238E27FC236}">
                <a16:creationId xmlns:a16="http://schemas.microsoft.com/office/drawing/2014/main" id="{BEE262F7-C301-4CA2-B449-2C8C6B08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990600"/>
            <a:ext cx="13335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Shared representation h</a:t>
            </a:r>
          </a:p>
        </p:txBody>
      </p:sp>
      <p:sp>
        <p:nvSpPr>
          <p:cNvPr id="18" name="available-targets-and-masks">
            <a:extLst xmlns:a="http://schemas.openxmlformats.org/drawingml/2006/main">
              <a:ext uri="{FF2B5EF4-FFF2-40B4-BE49-F238E27FC236}">
                <a16:creationId xmlns:a16="http://schemas.microsoft.com/office/drawing/2014/main" id="{38685785-37B7-48BE-8FE0-6FECD8A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320800"/>
            <a:ext cx="1409700" cy="330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3EFF8"/>
          </a:solidFill>
          <a:ln xmlns:a="http://schemas.openxmlformats.org/drawingml/2006/main" w="8255">
            <a:solidFill>
              <a:srgbClr val="81609C"/>
            </a:solidFill>
          </a:ln>
        </p:spPr>
      </p:sp>
      <p:sp>
        <p:nvSpPr>
          <p:cNvPr id="19" name="target-label">
            <a:extLst xmlns:a="http://schemas.openxmlformats.org/drawingml/2006/main">
              <a:ext uri="{FF2B5EF4-FFF2-40B4-BE49-F238E27FC236}">
                <a16:creationId xmlns:a16="http://schemas.microsoft.com/office/drawing/2014/main" id="{E7C22BB4-B23D-4BB8-8D54-77935A5C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320800"/>
            <a:ext cx="12573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Targets + masks</a:t>
            </a:r>
          </a:p>
        </p:txBody>
      </p:sp>
      <p:sp>
        <p:nvSpPr>
          <p:cNvPr id="20" name="target-nodes">
            <a:extLst xmlns:a="http://schemas.openxmlformats.org/drawingml/2006/main">
              <a:ext uri="{FF2B5EF4-FFF2-40B4-BE49-F238E27FC236}">
                <a16:creationId xmlns:a16="http://schemas.microsoft.com/office/drawing/2014/main" id="{675B5F77-88D2-4F6A-93CF-26D4349F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85900"/>
            <a:ext cx="1257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Available A/C/W</a:t>
            </a:r>
          </a:p>
        </p:txBody>
      </p:sp>
      <p:sp>
        <p:nvSpPr>
          <p:cNvPr id="21" name="parallel-A-predictor">
            <a:extLst xmlns:a="http://schemas.openxmlformats.org/drawingml/2006/main">
              <a:ext uri="{FF2B5EF4-FFF2-40B4-BE49-F238E27FC236}">
                <a16:creationId xmlns:a16="http://schemas.microsoft.com/office/drawing/2014/main" id="{BFCDA677-28EF-4594-B0C2-E19DC798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0" y="260350"/>
            <a:ext cx="1130300" cy="2794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42826A"/>
            </a:solidFill>
          </a:ln>
        </p:spPr>
      </p:sp>
      <p:sp>
        <p:nvSpPr>
          <p:cNvPr id="22" name="A-name">
            <a:extLst xmlns:a="http://schemas.openxmlformats.org/drawingml/2006/main">
              <a:ext uri="{FF2B5EF4-FFF2-40B4-BE49-F238E27FC236}">
                <a16:creationId xmlns:a16="http://schemas.microsoft.com/office/drawing/2014/main" id="{586DF0AF-93F9-4F95-8F7E-310F974B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260350"/>
            <a:ext cx="9906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A: abnormality</a:t>
            </a:r>
          </a:p>
        </p:txBody>
      </p:sp>
      <p:sp>
        <p:nvSpPr>
          <p:cNvPr id="23" name="A-activation">
            <a:extLst xmlns:a="http://schemas.openxmlformats.org/drawingml/2006/main">
              <a:ext uri="{FF2B5EF4-FFF2-40B4-BE49-F238E27FC236}">
                <a16:creationId xmlns:a16="http://schemas.microsoft.com/office/drawing/2014/main" id="{EAE3336A-0554-4435-A6C6-C37BC1F5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400050"/>
            <a:ext cx="9906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2-logit softmax</a:t>
            </a:r>
          </a:p>
        </p:txBody>
      </p:sp>
      <p:sp>
        <p:nvSpPr>
          <p:cNvPr id="24" name="parallel-C-predictor">
            <a:extLst xmlns:a="http://schemas.openxmlformats.org/drawingml/2006/main">
              <a:ext uri="{FF2B5EF4-FFF2-40B4-BE49-F238E27FC236}">
                <a16:creationId xmlns:a16="http://schemas.microsoft.com/office/drawing/2014/main" id="{84DCB157-6E00-428C-8FC2-71C23422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0" y="755650"/>
            <a:ext cx="1130300" cy="2921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42826A"/>
            </a:solidFill>
          </a:ln>
        </p:spPr>
      </p:sp>
      <p:sp>
        <p:nvSpPr>
          <p:cNvPr id="25" name="C-name">
            <a:extLst xmlns:a="http://schemas.openxmlformats.org/drawingml/2006/main">
              <a:ext uri="{FF2B5EF4-FFF2-40B4-BE49-F238E27FC236}">
                <a16:creationId xmlns:a16="http://schemas.microsoft.com/office/drawing/2014/main" id="{875FBD46-E6C3-481E-908F-0800BD1E9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762000"/>
            <a:ext cx="9906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C: Crackle</a:t>
            </a:r>
          </a:p>
        </p:txBody>
      </p:sp>
      <p:sp>
        <p:nvSpPr>
          <p:cNvPr id="26" name="C-activation">
            <a:extLst xmlns:a="http://schemas.openxmlformats.org/drawingml/2006/main">
              <a:ext uri="{FF2B5EF4-FFF2-40B4-BE49-F238E27FC236}">
                <a16:creationId xmlns:a16="http://schemas.microsoft.com/office/drawing/2014/main" id="{7D56FA91-2AE3-4942-A016-8368E52A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901700"/>
            <a:ext cx="9906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1-logit sigmoid</a:t>
            </a:r>
          </a:p>
        </p:txBody>
      </p:sp>
      <p:sp>
        <p:nvSpPr>
          <p:cNvPr id="27" name="parallel-W-predictor">
            <a:extLst xmlns:a="http://schemas.openxmlformats.org/drawingml/2006/main">
              <a:ext uri="{FF2B5EF4-FFF2-40B4-BE49-F238E27FC236}">
                <a16:creationId xmlns:a16="http://schemas.microsoft.com/office/drawing/2014/main" id="{4DDE6E18-02A6-4E4E-BF78-16344E06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0" y="1117600"/>
            <a:ext cx="1130300" cy="2921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42826A"/>
            </a:solidFill>
          </a:ln>
        </p:spPr>
      </p:sp>
      <p:sp>
        <p:nvSpPr>
          <p:cNvPr id="28" name="W-name">
            <a:extLst xmlns:a="http://schemas.openxmlformats.org/drawingml/2006/main">
              <a:ext uri="{FF2B5EF4-FFF2-40B4-BE49-F238E27FC236}">
                <a16:creationId xmlns:a16="http://schemas.microsoft.com/office/drawing/2014/main" id="{09699202-00C4-4906-820A-8B431827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1123950"/>
            <a:ext cx="9906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W: Wheeze</a:t>
            </a:r>
          </a:p>
        </p:txBody>
      </p:sp>
      <p:sp>
        <p:nvSpPr>
          <p:cNvPr id="29" name="W-activation">
            <a:extLst xmlns:a="http://schemas.openxmlformats.org/drawingml/2006/main">
              <a:ext uri="{FF2B5EF4-FFF2-40B4-BE49-F238E27FC236}">
                <a16:creationId xmlns:a16="http://schemas.microsoft.com/office/drawing/2014/main" id="{9B244E0E-B7ED-406A-873B-9D12FE3D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1263650"/>
            <a:ext cx="9906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1-logit sigmoid</a:t>
            </a:r>
          </a:p>
        </p:txBody>
      </p:sp>
      <p:sp>
        <p:nvSpPr>
          <p:cNvPr id="30" name="masked-classification-loss">
            <a:extLst xmlns:a="http://schemas.openxmlformats.org/drawingml/2006/main">
              <a:ext uri="{FF2B5EF4-FFF2-40B4-BE49-F238E27FC236}">
                <a16:creationId xmlns:a16="http://schemas.microsoft.com/office/drawing/2014/main" id="{7EECE2E5-5049-44EA-8F00-CCE1C234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0" y="1473200"/>
            <a:ext cx="1130300" cy="177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3EFF8"/>
          </a:solidFill>
          <a:ln xmlns:a="http://schemas.openxmlformats.org/drawingml/2006/main" w="8255">
            <a:solidFill>
              <a:srgbClr val="81609C"/>
            </a:solidFill>
          </a:ln>
        </p:spPr>
      </p:sp>
      <p:sp>
        <p:nvSpPr>
          <p:cNvPr id="31" name="loss-label">
            <a:extLst xmlns:a="http://schemas.openxmlformats.org/drawingml/2006/main">
              <a:ext uri="{FF2B5EF4-FFF2-40B4-BE49-F238E27FC236}">
                <a16:creationId xmlns:a16="http://schemas.microsoft.com/office/drawing/2014/main" id="{635D486D-1C6C-45FD-B21D-8F87C1EF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485900"/>
            <a:ext cx="1028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Masked CE / BCE</a:t>
            </a:r>
          </a:p>
        </p:txBody>
      </p:sp>
      <p:sp>
        <p:nvSpPr>
          <p:cNvPr id="32" name="sprsound-native-binary">
            <a:extLst xmlns:a="http://schemas.openxmlformats.org/drawingml/2006/main">
              <a:ext uri="{FF2B5EF4-FFF2-40B4-BE49-F238E27FC236}">
                <a16:creationId xmlns:a16="http://schemas.microsoft.com/office/drawing/2014/main" id="{C4985158-BEBB-44C7-8A32-C524DCA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0350"/>
            <a:ext cx="1854200" cy="2794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A"/>
          </a:solidFill>
          <a:ln xmlns:a="http://schemas.openxmlformats.org/drawingml/2006/main" w="8255">
            <a:solidFill>
              <a:srgbClr val="567B9C"/>
            </a:solidFill>
          </a:ln>
        </p:spPr>
      </p:sp>
      <p:sp>
        <p:nvSpPr>
          <p:cNvPr id="33" name="spr-native-label">
            <a:extLst xmlns:a="http://schemas.openxmlformats.org/drawingml/2006/main">
              <a:ext uri="{FF2B5EF4-FFF2-40B4-BE49-F238E27FC236}">
                <a16:creationId xmlns:a16="http://schemas.microsoft.com/office/drawing/2014/main" id="{E89774A2-DE77-4A2C-BF00-03D987AE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350"/>
            <a:ext cx="16891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SPRSound: A argmax</a:t>
            </a:r>
          </a:p>
        </p:txBody>
      </p:sp>
      <p:sp>
        <p:nvSpPr>
          <p:cNvPr id="34" name="spr-native-classes">
            <a:extLst xmlns:a="http://schemas.openxmlformats.org/drawingml/2006/main">
              <a:ext uri="{FF2B5EF4-FFF2-40B4-BE49-F238E27FC236}">
                <a16:creationId xmlns:a16="http://schemas.microsoft.com/office/drawing/2014/main" id="{E5FBB163-A4E0-45CC-B636-96F43630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"/>
            <a:ext cx="16891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Normal / Adventitious</a:t>
            </a:r>
          </a:p>
        </p:txBody>
      </p:sp>
      <p:sp>
        <p:nvSpPr>
          <p:cNvPr id="35" name="icbhi-native-label">
            <a:extLst xmlns:a="http://schemas.openxmlformats.org/drawingml/2006/main">
              <a:ext uri="{FF2B5EF4-FFF2-40B4-BE49-F238E27FC236}">
                <a16:creationId xmlns:a16="http://schemas.microsoft.com/office/drawing/2014/main" id="{A29017B1-B1EC-4C04-BE67-B19E3FFD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65150"/>
            <a:ext cx="16891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ICBHI</a:t>
            </a:r>
          </a:p>
        </p:txBody>
      </p:sp>
      <p:sp>
        <p:nvSpPr>
          <p:cNvPr id="36" name="icbhi-A-decision">
            <a:extLst xmlns:a="http://schemas.openxmlformats.org/drawingml/2006/main">
              <a:ext uri="{FF2B5EF4-FFF2-40B4-BE49-F238E27FC236}">
                <a16:creationId xmlns:a16="http://schemas.microsoft.com/office/drawing/2014/main" id="{2BB0CCBB-6DAC-40CD-A675-709D049A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711200"/>
            <a:ext cx="508000" cy="177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9D8558"/>
            </a:solidFill>
          </a:ln>
        </p:spPr>
      </p:sp>
      <p:sp>
        <p:nvSpPr>
          <p:cNvPr id="37" name="icbhi-A-gate-label">
            <a:extLst xmlns:a="http://schemas.openxmlformats.org/drawingml/2006/main">
              <a:ext uri="{FF2B5EF4-FFF2-40B4-BE49-F238E27FC236}">
                <a16:creationId xmlns:a16="http://schemas.microsoft.com/office/drawing/2014/main" id="{17FB7C83-FC84-4436-83BA-CB52FE1B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71755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A gate</a:t>
            </a:r>
          </a:p>
        </p:txBody>
      </p:sp>
      <p:sp>
        <p:nvSpPr>
          <p:cNvPr id="38" name="icbhi-normal">
            <a:extLst xmlns:a="http://schemas.openxmlformats.org/drawingml/2006/main">
              <a:ext uri="{FF2B5EF4-FFF2-40B4-BE49-F238E27FC236}">
                <a16:creationId xmlns:a16="http://schemas.microsoft.com/office/drawing/2014/main" id="{CCE68B04-0317-4210-B553-E23E3307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4200" y="723900"/>
            <a:ext cx="63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5080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Normal</a:t>
            </a:r>
          </a:p>
        </p:txBody>
      </p:sp>
      <p:sp>
        <p:nvSpPr>
          <p:cNvPr id="39" name="icbhi-abnormal-branch">
            <a:extLst xmlns:a="http://schemas.openxmlformats.org/drawingml/2006/main">
              <a:ext uri="{FF2B5EF4-FFF2-40B4-BE49-F238E27FC236}">
                <a16:creationId xmlns:a16="http://schemas.microsoft.com/office/drawing/2014/main" id="{04E3B6D2-A8D0-4E46-9149-91F3C1C5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300" y="971550"/>
            <a:ext cx="736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Abnormal</a:t>
            </a:r>
          </a:p>
        </p:txBody>
      </p:sp>
      <p:sp>
        <p:nvSpPr>
          <p:cNvPr id="40" name="icbhi-CW-decision">
            <a:extLst xmlns:a="http://schemas.openxmlformats.org/drawingml/2006/main">
              <a:ext uri="{FF2B5EF4-FFF2-40B4-BE49-F238E27FC236}">
                <a16:creationId xmlns:a16="http://schemas.microsoft.com/office/drawing/2014/main" id="{9EA68CCA-38DD-4DDA-8617-AAD6043E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1155700"/>
            <a:ext cx="508000" cy="2159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9D8558"/>
            </a:solidFill>
          </a:ln>
        </p:spPr>
      </p:sp>
      <p:sp>
        <p:nvSpPr>
          <p:cNvPr id="41" name="icbhi-CW-label">
            <a:extLst xmlns:a="http://schemas.openxmlformats.org/drawingml/2006/main">
              <a:ext uri="{FF2B5EF4-FFF2-40B4-BE49-F238E27FC236}">
                <a16:creationId xmlns:a16="http://schemas.microsoft.com/office/drawing/2014/main" id="{51F1F678-931E-4656-B0D3-678C1FBF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400" y="1181100"/>
            <a:ext cx="482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C/W rule</a:t>
            </a:r>
          </a:p>
        </p:txBody>
      </p:sp>
      <p:sp>
        <p:nvSpPr>
          <p:cNvPr id="42" name="icbhi-abnormal-outcomes">
            <a:extLst xmlns:a="http://schemas.openxmlformats.org/drawingml/2006/main">
              <a:ext uri="{FF2B5EF4-FFF2-40B4-BE49-F238E27FC236}">
                <a16:creationId xmlns:a16="http://schemas.microsoft.com/office/drawing/2014/main" id="{CEB76E21-91BC-4C2D-91F9-7B62617B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098550"/>
            <a:ext cx="1079500" cy="33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5080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Crackle / Wheeze</a:t>
            </a:r>
          </a:p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Both</a:t>
            </a:r>
          </a:p>
        </p:txBody>
      </p:sp>
      <p:sp>
        <p:nvSpPr>
          <p:cNvPr id="43" name="icbhi-neither-positive-rule">
            <a:extLst xmlns:a="http://schemas.openxmlformats.org/drawingml/2006/main">
              <a:ext uri="{FF2B5EF4-FFF2-40B4-BE49-F238E27FC236}">
                <a16:creationId xmlns:a16="http://schemas.microsoft.com/office/drawing/2014/main" id="{E6F37B86-201F-4D38-BFCD-FFB0D088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700" y="1473200"/>
            <a:ext cx="168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Neither positive: margin rule</a:t>
            </a:r>
          </a:p>
        </p:txBody>
      </p:sp>
      <p:cxnSp>
        <p:nvCxnSpPr>
          <p:cNvPr id="119" name=""/>
          <p:cNvCxnSpPr>
            <a:stCxn xmlns:a="http://schemas.openxmlformats.org/drawingml/2006/main" id="5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1206500" y="533400"/>
            <a:ext cx="241300" cy="1778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13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 flipV="1">
            <a:off x="2857500" y="400050"/>
            <a:ext cx="215900" cy="3111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1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2857500" y="711200"/>
            <a:ext cx="215900" cy="1905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13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2857500" y="711200"/>
            <a:ext cx="215900" cy="5524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9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1206500" y="1333500"/>
            <a:ext cx="241300" cy="1524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81609C"/>
            </a:solidFill>
            <a:prstDash val="dash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1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857500" y="1485900"/>
            <a:ext cx="215900" cy="762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81609C"/>
            </a:solidFill>
            <a:prstDash val="dash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2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4203700" y="400050"/>
            <a:ext cx="2921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6" name=""/>
          <p:cNvCxnSpPr>
            <a:stCxn xmlns:a="http://schemas.openxmlformats.org/drawingml/2006/main" id="21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4203700" y="400050"/>
            <a:ext cx="381000" cy="4000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7" name=""/>
          <p:cNvCxnSpPr>
            <a:stCxn xmlns:a="http://schemas.openxmlformats.org/drawingml/2006/main" id="24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4203700" y="901700"/>
            <a:ext cx="381000" cy="361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8" name=""/>
          <p:cNvCxnSpPr>
            <a:stCxn xmlns:a="http://schemas.openxmlformats.org/drawingml/2006/main" id="27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4203700" y="12636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29" name=""/>
          <p:cNvCxnSpPr>
            <a:stCxn xmlns:a="http://schemas.openxmlformats.org/drawingml/2006/main" id="36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5092700" y="8001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30" name=""/>
          <p:cNvCxnSpPr>
            <a:stCxn xmlns:a="http://schemas.openxmlformats.org/drawingml/2006/main" id="36" idx="2"/>
            <a:endCxn xmlns:a="http://schemas.openxmlformats.org/drawingml/2006/main" id="40" idx="0"/>
          </p:cNvCxnSpPr>
          <p:nvPr/>
        </p:nvCxnSpPr>
        <p:spPr>
          <a:xfrm xmlns:a="http://schemas.openxmlformats.org/drawingml/2006/main">
            <a:off x="4838700" y="8890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31" name=""/>
          <p:cNvCxnSpPr>
            <a:stCxn xmlns:a="http://schemas.openxmlformats.org/drawingml/2006/main" id="40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5092700" y="1263650"/>
            <a:ext cx="1651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sp>
        <p:nvSpPr>
          <p:cNvPr id="57" name="hf-condition-role">
            <a:extLst xmlns:a="http://schemas.openxmlformats.org/drawingml/2006/main">
              <a:ext uri="{FF2B5EF4-FFF2-40B4-BE49-F238E27FC236}">
                <a16:creationId xmlns:a16="http://schemas.microsoft.com/office/drawing/2014/main" id="{329FE9B0-0BB0-489C-B8A8-26B36689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" y="1676400"/>
            <a:ext cx="9906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HF auxiliary</a:t>
            </a:r>
          </a:p>
        </p:txBody>
      </p:sp>
      <p:sp>
        <p:nvSpPr>
          <p:cNvPr id="58" name="hf-source-train">
            <a:extLst xmlns:a="http://schemas.openxmlformats.org/drawingml/2006/main">
              <a:ext uri="{FF2B5EF4-FFF2-40B4-BE49-F238E27FC236}">
                <a16:creationId xmlns:a16="http://schemas.microsoft.com/office/drawing/2014/main" id="{216C97FF-FEC5-4481-AD95-55335508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1676400"/>
            <a:ext cx="1397000" cy="1651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CF6E9"/>
          </a:solidFill>
          <a:ln xmlns:a="http://schemas.openxmlformats.org/drawingml/2006/main" w="8255">
            <a:solidFill>
              <a:srgbClr val="9D8558"/>
            </a:solidFill>
          </a:ln>
        </p:spPr>
      </p:sp>
      <p:sp>
        <p:nvSpPr>
          <p:cNvPr id="59" name="hf-source-train-label">
            <a:extLst xmlns:a="http://schemas.openxmlformats.org/drawingml/2006/main">
              <a:ext uri="{FF2B5EF4-FFF2-40B4-BE49-F238E27FC236}">
                <a16:creationId xmlns:a16="http://schemas.microsoft.com/office/drawing/2014/main" id="{82C82835-D93B-4459-A083-F6C28B2A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600" y="1676400"/>
            <a:ext cx="13208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HF source-train</a:t>
            </a:r>
          </a:p>
        </p:txBody>
      </p:sp>
      <p:sp>
        <p:nvSpPr>
          <p:cNvPr id="60" name="hf-same-model">
            <a:extLst xmlns:a="http://schemas.openxmlformats.org/drawingml/2006/main">
              <a:ext uri="{FF2B5EF4-FFF2-40B4-BE49-F238E27FC236}">
                <a16:creationId xmlns:a16="http://schemas.microsoft.com/office/drawing/2014/main" id="{71DCA945-E867-40BE-B17E-E7B2A4B0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300" y="1676400"/>
            <a:ext cx="939800" cy="1651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8255">
            <a:solidFill>
              <a:srgbClr val="42826A"/>
            </a:solidFill>
          </a:ln>
        </p:spPr>
      </p:sp>
      <p:sp>
        <p:nvSpPr>
          <p:cNvPr id="61" name="hf-model-label">
            <a:extLst xmlns:a="http://schemas.openxmlformats.org/drawingml/2006/main">
              <a:ext uri="{FF2B5EF4-FFF2-40B4-BE49-F238E27FC236}">
                <a16:creationId xmlns:a16="http://schemas.microsoft.com/office/drawing/2014/main" id="{F093DDEB-C9B5-48FD-9FE5-081D2158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700" y="1676400"/>
            <a:ext cx="8890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Same model</a:t>
            </a:r>
          </a:p>
        </p:txBody>
      </p:sp>
      <p:sp>
        <p:nvSpPr>
          <p:cNvPr id="62" name="additional-hf-loss">
            <a:extLst xmlns:a="http://schemas.openxmlformats.org/drawingml/2006/main">
              <a:ext uri="{FF2B5EF4-FFF2-40B4-BE49-F238E27FC236}">
                <a16:creationId xmlns:a16="http://schemas.microsoft.com/office/drawing/2014/main" id="{15CFDC46-A719-410A-AE8A-7C7E9D60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676400"/>
            <a:ext cx="2578100" cy="1651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3EFF8"/>
          </a:solidFill>
          <a:ln xmlns:a="http://schemas.openxmlformats.org/drawingml/2006/main" w="8255">
            <a:solidFill>
              <a:srgbClr val="81609C"/>
            </a:solidFill>
          </a:ln>
        </p:spPr>
      </p:sp>
      <p:sp>
        <p:nvSpPr>
          <p:cNvPr id="63" name="additional-hf-loss-label">
            <a:extLst xmlns:a="http://schemas.openxmlformats.org/drawingml/2006/main">
              <a:ext uri="{FF2B5EF4-FFF2-40B4-BE49-F238E27FC236}">
                <a16:creationId xmlns:a16="http://schemas.microsoft.com/office/drawing/2014/main" id="{574971D8-0DE8-4039-BC8C-AB2A8222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700" y="1676400"/>
            <a:ext cx="24765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+ C/W auxiliary loss</a:t>
            </a:r>
          </a:p>
        </p:txBody>
      </p:sp>
      <p:cxnSp>
        <p:nvCxnSpPr>
          <p:cNvPr id="139" name=""/>
          <p:cNvCxnSpPr>
            <a:stCxn xmlns:a="http://schemas.openxmlformats.org/drawingml/2006/main" id="58" idx="3"/>
            <a:endCxn xmlns:a="http://schemas.openxmlformats.org/drawingml/2006/main" id="60" idx="1"/>
          </p:cNvCxnSpPr>
          <p:nvPr/>
        </p:nvCxnSpPr>
        <p:spPr>
          <a:xfrm xmlns:a="http://schemas.openxmlformats.org/drawingml/2006/main">
            <a:off x="2476500" y="1758950"/>
            <a:ext cx="1778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40" name=""/>
          <p:cNvCxnSpPr>
            <a:stCxn xmlns:a="http://schemas.openxmlformats.org/drawingml/2006/main" id="60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3594100" y="1758950"/>
            <a:ext cx="1778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sp>
        <p:nvSpPr>
          <p:cNvPr id="66" name="fixed-evaluation-role">
            <a:extLst xmlns:a="http://schemas.openxmlformats.org/drawingml/2006/main">
              <a:ext uri="{FF2B5EF4-FFF2-40B4-BE49-F238E27FC236}">
                <a16:creationId xmlns:a16="http://schemas.microsoft.com/office/drawing/2014/main" id="{376C3406-BF78-4481-B680-685D63DB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" y="1866900"/>
            <a:ext cx="9906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Fixed evaluation</a:t>
            </a:r>
          </a:p>
        </p:txBody>
      </p:sp>
      <p:sp>
        <p:nvSpPr>
          <p:cNvPr id="67" name="external-evaluation-audio">
            <a:extLst xmlns:a="http://schemas.openxmlformats.org/drawingml/2006/main">
              <a:ext uri="{FF2B5EF4-FFF2-40B4-BE49-F238E27FC236}">
                <a16:creationId xmlns:a16="http://schemas.microsoft.com/office/drawing/2014/main" id="{230CE943-A396-4574-8440-EB9F091A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1866900"/>
            <a:ext cx="1397000" cy="1651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8255">
            <a:solidFill>
              <a:srgbClr val="7D8A96"/>
            </a:solidFill>
          </a:ln>
        </p:spPr>
      </p:sp>
      <p:sp>
        <p:nvSpPr>
          <p:cNvPr id="68" name="external-audio-label">
            <a:extLst xmlns:a="http://schemas.openxmlformats.org/drawingml/2006/main">
              <a:ext uri="{FF2B5EF4-FFF2-40B4-BE49-F238E27FC236}">
                <a16:creationId xmlns:a16="http://schemas.microsoft.com/office/drawing/2014/main" id="{CE2F5709-BE85-436B-B292-D77B8331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600" y="1866900"/>
            <a:ext cx="13208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HF source-test / KAUH</a:t>
            </a:r>
          </a:p>
        </p:txBody>
      </p:sp>
      <p:sp>
        <p:nvSpPr>
          <p:cNvPr id="69" name="evaluation-same-model">
            <a:extLst xmlns:a="http://schemas.openxmlformats.org/drawingml/2006/main">
              <a:ext uri="{FF2B5EF4-FFF2-40B4-BE49-F238E27FC236}">
                <a16:creationId xmlns:a16="http://schemas.microsoft.com/office/drawing/2014/main" id="{F2C55A15-57BA-46F5-9253-30360AD2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300" y="1866900"/>
            <a:ext cx="939800" cy="1651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8255">
            <a:solidFill>
              <a:srgbClr val="42826A"/>
            </a:solidFill>
          </a:ln>
        </p:spPr>
      </p:sp>
      <p:sp>
        <p:nvSpPr>
          <p:cNvPr id="70" name="eval-model-label">
            <a:extLst xmlns:a="http://schemas.openxmlformats.org/drawingml/2006/main">
              <a:ext uri="{FF2B5EF4-FFF2-40B4-BE49-F238E27FC236}">
                <a16:creationId xmlns:a16="http://schemas.microsoft.com/office/drawing/2014/main" id="{91A911C8-A1BB-43C0-A278-79586CF5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700" y="1866900"/>
            <a:ext cx="8890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Same model</a:t>
            </a:r>
          </a:p>
        </p:txBody>
      </p:sp>
      <p:sp>
        <p:nvSpPr>
          <p:cNvPr id="71" name="external-fixed-readouts">
            <a:extLst xmlns:a="http://schemas.openxmlformats.org/drawingml/2006/main">
              <a:ext uri="{FF2B5EF4-FFF2-40B4-BE49-F238E27FC236}">
                <a16:creationId xmlns:a16="http://schemas.microsoft.com/office/drawing/2014/main" id="{B3FA470F-6802-42BC-9029-84C77B3D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866900"/>
            <a:ext cx="2578100" cy="1651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2F4F6"/>
          </a:solidFill>
          <a:ln xmlns:a="http://schemas.openxmlformats.org/drawingml/2006/main" w="8255">
            <a:solidFill>
              <a:srgbClr val="7D8A96"/>
            </a:solidFill>
          </a:ln>
        </p:spPr>
      </p:sp>
      <p:sp>
        <p:nvSpPr>
          <p:cNvPr id="72" name="hf-external-readout-label">
            <a:extLst xmlns:a="http://schemas.openxmlformats.org/drawingml/2006/main">
              <a:ext uri="{FF2B5EF4-FFF2-40B4-BE49-F238E27FC236}">
                <a16:creationId xmlns:a16="http://schemas.microsoft.com/office/drawing/2014/main" id="{5951D0D2-B658-464B-B76F-DB087FEA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700" y="1866900"/>
            <a:ext cx="4572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HF: C/W</a:t>
            </a:r>
          </a:p>
        </p:txBody>
      </p:sp>
      <p:sp>
        <p:nvSpPr>
          <p:cNvPr id="73" name="kauh-external-readout-label">
            <a:extLst xmlns:a="http://schemas.openxmlformats.org/drawingml/2006/main">
              <a:ext uri="{FF2B5EF4-FFF2-40B4-BE49-F238E27FC236}">
                <a16:creationId xmlns:a16="http://schemas.microsoft.com/office/drawing/2014/main" id="{225A3439-068E-4F8B-829D-0D7D8D6C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100" y="1866900"/>
            <a:ext cx="19431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20364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20364C"/>
                </a:solidFill>
                <a:latin typeface="Arial"/>
                <a:ea typeface="Arial"/>
                <a:cs typeface="Arial"/>
              </a:rPr>
              <a:t>KAUH: B/D/E prob. mean → decoding</a:t>
            </a:r>
          </a:p>
        </p:txBody>
      </p:sp>
      <p:cxnSp>
        <p:nvCxnSpPr>
          <p:cNvPr id="149" name=""/>
          <p:cNvCxnSpPr>
            <a:stCxn xmlns:a="http://schemas.openxmlformats.org/drawingml/2006/main" id="67" idx="3"/>
            <a:endCxn xmlns:a="http://schemas.openxmlformats.org/drawingml/2006/main" id="69" idx="1"/>
          </p:cNvCxnSpPr>
          <p:nvPr/>
        </p:nvCxnSpPr>
        <p:spPr>
          <a:xfrm xmlns:a="http://schemas.openxmlformats.org/drawingml/2006/main">
            <a:off x="2476500" y="1949450"/>
            <a:ext cx="1778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  <p:cxnSp>
        <p:nvCxnSpPr>
          <p:cNvPr id="150" name=""/>
          <p:cNvCxnSpPr>
            <a:stCxn xmlns:a="http://schemas.openxmlformats.org/drawingml/2006/main" id="69" idx="3"/>
            <a:endCxn xmlns:a="http://schemas.openxmlformats.org/drawingml/2006/main" id="71" idx="1"/>
          </p:cNvCxnSpPr>
          <p:nvPr/>
        </p:nvCxnSpPr>
        <p:spPr>
          <a:xfrm xmlns:a="http://schemas.openxmlformats.org/drawingml/2006/main">
            <a:off x="3594100" y="1949450"/>
            <a:ext cx="177800" cy="0"/>
          </a:xfrm>
          <a:prstGeom xmlns:a="http://schemas.openxmlformats.org/drawingml/2006/main" prst="straightConnector1">
            <a:avLst/>
          </a:prstGeom>
          <a:ln xmlns:a="http://schemas.openxmlformats.org/drawingml/2006/main" w="10160">
            <a:solidFill>
              <a:srgbClr val="34536B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2563677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2026-09-13T19:32:28.4030000Z</dcterms:created>
  <dcterms:modified xsi:type="dcterms:W3CDTF">2026-09-13T19:32:28.4030000Z</dcterms:modified>
</coreProperties>
</file>