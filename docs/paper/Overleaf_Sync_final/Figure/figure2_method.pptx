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3539d0a1934775" /><Relationship Type="http://schemas.openxmlformats.org/officeDocument/2006/relationships/extended-properties" Target="/docProps/app.xml" Id="R084b280fbdc8401b" /><Relationship Type="http://schemas.openxmlformats.org/officeDocument/2006/relationships/officeDocument" Target="/ppt/presentation.xml" Id="R56a00732de5d4b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0173184952408a"/>
  </p:sldMasterIdLst>
  <p:notesMasterIdLst>
    <p:notesMasterId xmlns:r="http://schemas.openxmlformats.org/officeDocument/2006/relationships" r:id="R6d60dfac74b04da3"/>
  </p:notesMasterIdLst>
  <p:sldIdLst>
    <p:sldId xmlns:r="http://schemas.openxmlformats.org/officeDocument/2006/relationships" id="256" r:id="Rfbe12bd751c64e25"/>
  </p:sldIdLst>
  <p:sldSz cx="6408000" cy="2387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3351d2f4014ba6" /><Relationship Type="http://schemas.openxmlformats.org/officeDocument/2006/relationships/slideMaster" Target="/ppt/slideMasters/slideMaster1.xml" Id="Rdc0173184952408a" /><Relationship Type="http://schemas.openxmlformats.org/officeDocument/2006/relationships/notesMaster" Target="/ppt/notesMasters/notesMaster1.xml" Id="R6d60dfac74b04da3" /><Relationship Type="http://schemas.openxmlformats.org/officeDocument/2006/relationships/presProps" Target="/ppt/presProps.xml" Id="Rcefdc167c42642bb" /><Relationship Type="http://schemas.openxmlformats.org/officeDocument/2006/relationships/tableStyles" Target="/ppt/tableStyles.xml" Id="Reb89f52670604c46" /><Relationship Type="http://schemas.openxmlformats.org/officeDocument/2006/relationships/slide" Target="/ppt/slides/slide1.xml" Id="Rfbe12bd751c64e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736234f36041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d8e88e5b854bc0" /><Relationship Type="http://schemas.openxmlformats.org/officeDocument/2006/relationships/notesMaster" Target="/ppt/notesMasters/notesMaster1.xml" Id="R0255446ef64f44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User-requested Figure 2 revision: one illustrated input with the names ICBHI, SPRSound, HF and KAUH beneath it; dataset-and-task readouts only; omit patient-group metadata; put optional HF in the one main objective. The shared probability vector p_i=(p_ia,p_ic,p_iw) feeds task-specific readouts and supervised losses. The dashed gray return represents training feedback to the trainable model, not forwarding the scalar loss into hard-label decoding. The amber branch selects C/W for optional HF supervision. The total-loss summands are reordered to keep the PAFA and supervised paths uncrossed; their weights and meaning are unchanged. Core training uses ICBHI/SPRSound; HF source-train supplies optional C/W BCE; KAUH is evaluation-only. Those roles, mask eligibility, PAFA grouping and decoding rules remain in the caption/Section 3. Waveform is a schematic editable input illustration, not data. Sources: current Section/3method.tex in /Users/zilongzeng/Research/Acoustic/docs/paper/Overleaf_Sync_final/ and source_horizontal_v1.pptx. Canvas 178 mm wide and 66.32 mm high, below the user-confirmed approximately 76-mm image-height limit. All visible content uses native editable PowerPoint shapes and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1faf1a5744c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36dcbff46a4c8e" /><Relationship Type="http://schemas.openxmlformats.org/officeDocument/2006/relationships/slideLayout" Target="/ppt/slideLayouts/slideLayout1.xml" Id="Rd1fa9749d9a74b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fa9749d9a74b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7234ff2274308" /><Relationship Type="http://schemas.openxmlformats.org/officeDocument/2006/relationships/notesSlide" Target="/ppt/notesSlides/notesSlide1.xml" Id="Rd20f7fd7e7394a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hared-acoustic-representation">
            <a:extLst xmlns:a="http://schemas.openxmlformats.org/drawingml/2006/main">
              <a:ext uri="{FF2B5EF4-FFF2-40B4-BE49-F238E27FC236}">
                <a16:creationId xmlns:a16="http://schemas.microsoft.com/office/drawing/2014/main" id="{F8399B56-B8F2-4F24-8865-A591A8D9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600"/>
            <a:ext cx="596900" cy="7620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8890">
            <a:solidFill>
              <a:srgbClr val="464A4C"/>
            </a:solidFill>
            <a:prstDash val="solid"/>
          </a:ln>
        </p:spPr>
      </p:sp>
      <p:sp>
        <p:nvSpPr>
          <p:cNvPr id="21" name="parallel-A-predictor">
            <a:extLst xmlns:a="http://schemas.openxmlformats.org/drawingml/2006/main">
              <a:ext uri="{FF2B5EF4-FFF2-40B4-BE49-F238E27FC236}">
                <a16:creationId xmlns:a16="http://schemas.microsoft.com/office/drawing/2014/main" id="{BFCDA677-28EF-4594-B0C2-E19DC798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"/>
            <a:ext cx="317500" cy="279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EC"/>
          </a:solidFill>
          <a:ln xmlns:a="http://schemas.openxmlformats.org/drawingml/2006/main" w="8890">
            <a:solidFill>
              <a:srgbClr val="44795B"/>
            </a:solidFill>
            <a:prstDash val="solid"/>
          </a:ln>
        </p:spPr>
      </p:sp>
      <p:sp>
        <p:nvSpPr>
          <p:cNvPr id="24" name="parallel-C-predictor">
            <a:extLst xmlns:a="http://schemas.openxmlformats.org/drawingml/2006/main">
              <a:ext uri="{FF2B5EF4-FFF2-40B4-BE49-F238E27FC236}">
                <a16:creationId xmlns:a16="http://schemas.microsoft.com/office/drawing/2014/main" id="{84DCB157-6E00-428C-8FC2-71C23422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09600"/>
            <a:ext cx="317500" cy="279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EC"/>
          </a:solidFill>
          <a:ln xmlns:a="http://schemas.openxmlformats.org/drawingml/2006/main" w="8890">
            <a:solidFill>
              <a:srgbClr val="44795B"/>
            </a:solidFill>
            <a:prstDash val="solid"/>
          </a:ln>
        </p:spPr>
      </p:sp>
      <p:sp>
        <p:nvSpPr>
          <p:cNvPr id="27" name="parallel-W-predictor">
            <a:extLst xmlns:a="http://schemas.openxmlformats.org/drawingml/2006/main">
              <a:ext uri="{FF2B5EF4-FFF2-40B4-BE49-F238E27FC236}">
                <a16:creationId xmlns:a16="http://schemas.microsoft.com/office/drawing/2014/main" id="{4DDE6E18-02A6-4E4E-BF78-16344E06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990600"/>
            <a:ext cx="317500" cy="279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EC"/>
          </a:solidFill>
          <a:ln xmlns:a="http://schemas.openxmlformats.org/drawingml/2006/main" w="8890">
            <a:solidFill>
              <a:srgbClr val="44795B"/>
            </a:solidFill>
            <a:prstDash val="solid"/>
          </a:ln>
        </p:spPr>
      </p:sp>
      <p:sp>
        <p:nvSpPr>
          <p:cNvPr id="81" name="classification-projection">
            <a:extLst xmlns:a="http://schemas.openxmlformats.org/drawingml/2006/main">
              <a:ext uri="{FF2B5EF4-FFF2-40B4-BE49-F238E27FC236}">
                <a16:creationId xmlns:a16="http://schemas.microsoft.com/office/drawing/2014/main" id="{74D3DD9B-D075-4264-972D-8009AE46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8000"/>
            <a:ext cx="723900" cy="4826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8EADD"/>
          </a:solidFill>
          <a:ln xmlns:a="http://schemas.openxmlformats.org/drawingml/2006/main" w="8890">
            <a:solidFill>
              <a:srgbClr val="9C7453"/>
            </a:solidFill>
            <a:prstDash val="solid"/>
          </a:ln>
        </p:spPr>
      </p:sp>
      <p:sp>
        <p:nvSpPr>
          <p:cNvPr id="121" name="pafa-projection">
            <a:extLst xmlns:a="http://schemas.openxmlformats.org/drawingml/2006/main">
              <a:ext uri="{FF2B5EF4-FFF2-40B4-BE49-F238E27FC236}">
                <a16:creationId xmlns:a16="http://schemas.microsoft.com/office/drawing/2014/main" id="{312ABA7B-B2CD-4BBA-B15C-4200825A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333500"/>
            <a:ext cx="812800" cy="3429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EADD"/>
          </a:solidFill>
          <a:ln xmlns:a="http://schemas.openxmlformats.org/drawingml/2006/main" w="8890">
            <a:solidFill>
              <a:srgbClr val="9C7453"/>
            </a:solidFill>
            <a:prstDash val="solid"/>
          </a:ln>
        </p:spPr>
      </p:sp>
      <p:sp>
        <p:nvSpPr>
          <p:cNvPr id="250" name="illustrated-input">
            <a:extLst xmlns:a="http://schemas.openxmlformats.org/drawingml/2006/main">
              <a:ext uri="{FF2B5EF4-FFF2-40B4-BE49-F238E27FC236}">
                <a16:creationId xmlns:a16="http://schemas.microsoft.com/office/drawing/2014/main" id="{3BE17683-C2C9-4D93-977B-23042046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" y="342900"/>
            <a:ext cx="8890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8890">
            <a:solidFill>
              <a:srgbClr val="7C9CAA"/>
            </a:solidFill>
            <a:prstDash val="solid"/>
          </a:ln>
        </p:spPr>
      </p:sp>
      <p:sp>
        <p:nvSpPr>
          <p:cNvPr id="252" name="path-1">
            <a:extLst xmlns:a="http://schemas.openxmlformats.org/drawingml/2006/main">
              <a:ext uri="{FF2B5EF4-FFF2-40B4-BE49-F238E27FC236}">
                <a16:creationId xmlns:a16="http://schemas.microsoft.com/office/drawing/2014/main" id="{80932C7B-3D80-46AD-B8CA-A3768597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23900"/>
            <a:ext cx="762000" cy="127"/>
          </a:xfrm>
          <a:custGeom xmlns:a="http://schemas.openxmlformats.org/drawingml/2006/main">
            <a:pathLst>
              <a:path w="762000" h="127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080">
            <a:solidFill>
              <a:srgbClr val="BACBD3"/>
            </a:solidFill>
            <a:prstDash val="solid"/>
          </a:ln>
        </p:spPr>
      </p:sp>
      <p:sp>
        <p:nvSpPr>
          <p:cNvPr id="253" name="schematic-audio-wave-2">
            <a:extLst xmlns:a="http://schemas.openxmlformats.org/drawingml/2006/main">
              <a:ext uri="{FF2B5EF4-FFF2-40B4-BE49-F238E27FC236}">
                <a16:creationId xmlns:a16="http://schemas.microsoft.com/office/drawing/2014/main" id="{4F7B1746-9A13-4CB7-8FC5-B1EBF692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632276"/>
            <a:ext cx="762000" cy="182389"/>
          </a:xfrm>
          <a:custGeom xmlns:a="http://schemas.openxmlformats.org/drawingml/2006/main"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E6D86"/>
            </a:solidFill>
            <a:prstDash val="solid"/>
          </a:ln>
        </p:spPr>
      </p:sp>
      <p:sp>
        <p:nvSpPr>
          <p:cNvPr id="255" name="path-3">
            <a:extLst xmlns:a="http://schemas.openxmlformats.org/drawingml/2006/main">
              <a:ext uri="{FF2B5EF4-FFF2-40B4-BE49-F238E27FC236}">
                <a16:creationId xmlns:a16="http://schemas.microsoft.com/office/drawing/2014/main" id="{E79388B3-80B8-47EC-B350-F9748B7C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673100"/>
            <a:ext cx="203200" cy="127"/>
          </a:xfrm>
          <a:custGeom xmlns:a="http://schemas.openxmlformats.org/drawingml/2006/main">
            <a:pathLst>
              <a:path w="203200" h="127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3E6D86"/>
            </a:solidFill>
            <a:prstDash val="solid"/>
          </a:ln>
        </p:spPr>
      </p:sp>
      <p:sp>
        <p:nvSpPr>
          <p:cNvPr id="256" name="arrow-3">
            <a:extLst xmlns:a="http://schemas.openxmlformats.org/drawingml/2006/main">
              <a:ext uri="{FF2B5EF4-FFF2-40B4-BE49-F238E27FC236}">
                <a16:creationId xmlns:a16="http://schemas.microsoft.com/office/drawing/2014/main" id="{E612E2B9-8723-401B-B90B-A813A769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550" y="655320"/>
            <a:ext cx="44450" cy="35560"/>
          </a:xfrm>
          <a:custGeom xmlns:a="http://schemas.openxmlformats.org/drawingml/2006/main">
            <a:pathLst>
              <a:path w="44450" h="35560">
                <a:moveTo>
                  <a:pt x="44450" y="17780"/>
                </a:moveTo>
                <a:lnTo>
                  <a:pt x="0" y="0"/>
                </a:lnTo>
                <a:lnTo>
                  <a:pt x="0" y="35560"/>
                </a:lnTo>
                <a:close/>
              </a:path>
            </a:pathLst>
          </a:custGeom>
          <a:solidFill xmlns:a="http://schemas.openxmlformats.org/drawingml/2006/main">
            <a:srgbClr val="3E6D86"/>
          </a:solidFill>
          <a:ln xmlns:a="http://schemas.openxmlformats.org/drawingml/2006/main" w="0">
            <a:noFill/>
          </a:ln>
        </p:spPr>
      </p:sp>
      <p:sp>
        <p:nvSpPr>
          <p:cNvPr id="257" name="path-4">
            <a:extLst xmlns:a="http://schemas.openxmlformats.org/drawingml/2006/main">
              <a:ext uri="{FF2B5EF4-FFF2-40B4-BE49-F238E27FC236}">
                <a16:creationId xmlns:a16="http://schemas.microsoft.com/office/drawing/2014/main" id="{C10F0792-3A71-44B7-B540-9576283B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749300"/>
            <a:ext cx="127000" cy="127"/>
          </a:xfrm>
          <a:custGeom xmlns:a="http://schemas.openxmlformats.org/drawingml/2006/main">
            <a:pathLst>
              <a:path w="127000" h="127">
                <a:moveTo>
                  <a:pt x="0" y="0"/>
                </a:moveTo>
                <a:lnTo>
                  <a:pt x="12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64A4C"/>
            </a:solidFill>
            <a:prstDash val="solid"/>
          </a:ln>
        </p:spPr>
      </p:sp>
      <p:sp>
        <p:nvSpPr>
          <p:cNvPr id="258" name="path-5">
            <a:extLst xmlns:a="http://schemas.openxmlformats.org/drawingml/2006/main">
              <a:ext uri="{FF2B5EF4-FFF2-40B4-BE49-F238E27FC236}">
                <a16:creationId xmlns:a16="http://schemas.microsoft.com/office/drawing/2014/main" id="{4001E394-E312-4623-970E-342EB334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749300"/>
            <a:ext cx="152400" cy="127"/>
          </a:xfrm>
          <a:custGeom xmlns:a="http://schemas.openxmlformats.org/drawingml/2006/main">
            <a:pathLst>
              <a:path w="152400" h="127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64A4C"/>
            </a:solidFill>
            <a:prstDash val="solid"/>
          </a:ln>
        </p:spPr>
      </p:sp>
      <p:sp>
        <p:nvSpPr>
          <p:cNvPr id="259" name="arrow-5">
            <a:extLst xmlns:a="http://schemas.openxmlformats.org/drawingml/2006/main">
              <a:ext uri="{FF2B5EF4-FFF2-40B4-BE49-F238E27FC236}">
                <a16:creationId xmlns:a16="http://schemas.microsoft.com/office/drawing/2014/main" id="{CB515B63-309D-43E6-ABFE-9AD04546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850" y="731520"/>
            <a:ext cx="44450" cy="35560"/>
          </a:xfrm>
          <a:custGeom xmlns:a="http://schemas.openxmlformats.org/drawingml/2006/main">
            <a:pathLst>
              <a:path w="44450" h="35560">
                <a:moveTo>
                  <a:pt x="44450" y="17780"/>
                </a:moveTo>
                <a:lnTo>
                  <a:pt x="0" y="0"/>
                </a:lnTo>
                <a:lnTo>
                  <a:pt x="0" y="35560"/>
                </a:lnTo>
                <a:close/>
              </a:path>
            </a:pathLst>
          </a:custGeom>
          <a:solidFill xmlns:a="http://schemas.openxmlformats.org/drawingml/2006/main">
            <a:srgbClr val="464A4C"/>
          </a:solidFill>
          <a:ln xmlns:a="http://schemas.openxmlformats.org/drawingml/2006/main" w="0">
            <a:noFill/>
          </a:ln>
        </p:spPr>
      </p:sp>
      <p:sp>
        <p:nvSpPr>
          <p:cNvPr id="260" name="path-6">
            <a:extLst xmlns:a="http://schemas.openxmlformats.org/drawingml/2006/main">
              <a:ext uri="{FF2B5EF4-FFF2-40B4-BE49-F238E27FC236}">
                <a16:creationId xmlns:a16="http://schemas.microsoft.com/office/drawing/2014/main" id="{66608FBB-746F-4AEF-BB2D-AF482E96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8300"/>
            <a:ext cx="88900" cy="381000"/>
          </a:xfrm>
          <a:custGeom xmlns:a="http://schemas.openxmlformats.org/drawingml/2006/main">
            <a:pathLst>
              <a:path w="88900" h="381000">
                <a:moveTo>
                  <a:pt x="0" y="381000"/>
                </a:moveTo>
                <a:lnTo>
                  <a:pt x="88900" y="381000"/>
                </a:lnTo>
                <a:lnTo>
                  <a:pt x="8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64A4C"/>
            </a:solidFill>
            <a:prstDash val="solid"/>
          </a:ln>
        </p:spPr>
      </p:sp>
      <p:sp>
        <p:nvSpPr>
          <p:cNvPr id="261" name="path-7">
            <a:extLst xmlns:a="http://schemas.openxmlformats.org/drawingml/2006/main">
              <a:ext uri="{FF2B5EF4-FFF2-40B4-BE49-F238E27FC236}">
                <a16:creationId xmlns:a16="http://schemas.microsoft.com/office/drawing/2014/main" id="{A9822CB1-A912-462C-857D-3EA60305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100" y="749300"/>
            <a:ext cx="127" cy="381000"/>
          </a:xfrm>
          <a:custGeom xmlns:a="http://schemas.openxmlformats.org/drawingml/2006/main">
            <a:pathLst>
              <a:path w="127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64A4C"/>
            </a:solidFill>
            <a:prstDash val="solid"/>
          </a:ln>
        </p:spPr>
      </p:sp>
      <p:sp>
        <p:nvSpPr>
          <p:cNvPr id="262" name="path-8">
            <a:extLst xmlns:a="http://schemas.openxmlformats.org/drawingml/2006/main">
              <a:ext uri="{FF2B5EF4-FFF2-40B4-BE49-F238E27FC236}">
                <a16:creationId xmlns:a16="http://schemas.microsoft.com/office/drawing/2014/main" id="{70C16F04-63D6-44DB-815B-FA54D1BC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100" y="368300"/>
            <a:ext cx="101600" cy="127"/>
          </a:xfrm>
          <a:custGeom xmlns:a="http://schemas.openxmlformats.org/drawingml/2006/main">
            <a:pathLst>
              <a:path w="101600" h="127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64A4C"/>
            </a:solidFill>
            <a:prstDash val="solid"/>
          </a:ln>
        </p:spPr>
      </p:sp>
      <p:sp>
        <p:nvSpPr>
          <p:cNvPr id="263" name="arrow-8">
            <a:extLst xmlns:a="http://schemas.openxmlformats.org/drawingml/2006/main">
              <a:ext uri="{FF2B5EF4-FFF2-40B4-BE49-F238E27FC236}">
                <a16:creationId xmlns:a16="http://schemas.microsoft.com/office/drawing/2014/main" id="{6920025F-6FD9-437E-96A5-B0403DC8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350520"/>
            <a:ext cx="44450" cy="35560"/>
          </a:xfrm>
          <a:custGeom xmlns:a="http://schemas.openxmlformats.org/drawingml/2006/main">
            <a:pathLst>
              <a:path w="44450" h="35560">
                <a:moveTo>
                  <a:pt x="44450" y="17780"/>
                </a:moveTo>
                <a:lnTo>
                  <a:pt x="0" y="0"/>
                </a:lnTo>
                <a:lnTo>
                  <a:pt x="0" y="35560"/>
                </a:lnTo>
                <a:close/>
              </a:path>
            </a:pathLst>
          </a:custGeom>
          <a:solidFill xmlns:a="http://schemas.openxmlformats.org/drawingml/2006/main">
            <a:srgbClr val="464A4C"/>
          </a:solidFill>
          <a:ln xmlns:a="http://schemas.openxmlformats.org/drawingml/2006/main" w="0">
            <a:noFill/>
          </a:ln>
        </p:spPr>
      </p:sp>
      <p:sp>
        <p:nvSpPr>
          <p:cNvPr id="264" name="path-9">
            <a:extLst xmlns:a="http://schemas.openxmlformats.org/drawingml/2006/main">
              <a:ext uri="{FF2B5EF4-FFF2-40B4-BE49-F238E27FC236}">
                <a16:creationId xmlns:a16="http://schemas.microsoft.com/office/drawing/2014/main" id="{5E781380-28BE-4666-A4E7-7B9DA432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100" y="749300"/>
            <a:ext cx="101600" cy="127"/>
          </a:xfrm>
          <a:custGeom xmlns:a="http://schemas.openxmlformats.org/drawingml/2006/main">
            <a:pathLst>
              <a:path w="101600" h="127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64A4C"/>
            </a:solidFill>
            <a:prstDash val="solid"/>
          </a:ln>
        </p:spPr>
      </p:sp>
      <p:sp>
        <p:nvSpPr>
          <p:cNvPr id="265" name="arrow-9">
            <a:extLst xmlns:a="http://schemas.openxmlformats.org/drawingml/2006/main">
              <a:ext uri="{FF2B5EF4-FFF2-40B4-BE49-F238E27FC236}">
                <a16:creationId xmlns:a16="http://schemas.microsoft.com/office/drawing/2014/main" id="{8E1DF5F8-BCE2-49E0-A10F-ECCCBF1A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731520"/>
            <a:ext cx="44450" cy="35560"/>
          </a:xfrm>
          <a:custGeom xmlns:a="http://schemas.openxmlformats.org/drawingml/2006/main">
            <a:pathLst>
              <a:path w="44450" h="35560">
                <a:moveTo>
                  <a:pt x="44450" y="17780"/>
                </a:moveTo>
                <a:lnTo>
                  <a:pt x="0" y="0"/>
                </a:lnTo>
                <a:lnTo>
                  <a:pt x="0" y="35560"/>
                </a:lnTo>
                <a:close/>
              </a:path>
            </a:pathLst>
          </a:custGeom>
          <a:solidFill xmlns:a="http://schemas.openxmlformats.org/drawingml/2006/main">
            <a:srgbClr val="464A4C"/>
          </a:solidFill>
          <a:ln xmlns:a="http://schemas.openxmlformats.org/drawingml/2006/main" w="0">
            <a:noFill/>
          </a:ln>
        </p:spPr>
      </p:sp>
      <p:sp>
        <p:nvSpPr>
          <p:cNvPr id="266" name="path-10">
            <a:extLst xmlns:a="http://schemas.openxmlformats.org/drawingml/2006/main">
              <a:ext uri="{FF2B5EF4-FFF2-40B4-BE49-F238E27FC236}">
                <a16:creationId xmlns:a16="http://schemas.microsoft.com/office/drawing/2014/main" id="{F34E83DD-A7E9-4693-81EA-D4CB3CD1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100" y="1130300"/>
            <a:ext cx="101600" cy="127"/>
          </a:xfrm>
          <a:custGeom xmlns:a="http://schemas.openxmlformats.org/drawingml/2006/main">
            <a:pathLst>
              <a:path w="101600" h="127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64A4C"/>
            </a:solidFill>
            <a:prstDash val="solid"/>
          </a:ln>
        </p:spPr>
      </p:sp>
      <p:sp>
        <p:nvSpPr>
          <p:cNvPr id="267" name="arrow-10">
            <a:extLst xmlns:a="http://schemas.openxmlformats.org/drawingml/2006/main">
              <a:ext uri="{FF2B5EF4-FFF2-40B4-BE49-F238E27FC236}">
                <a16:creationId xmlns:a16="http://schemas.microsoft.com/office/drawing/2014/main" id="{6C7FD67D-6ADD-40E1-B0BD-1FF993F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1112520"/>
            <a:ext cx="44450" cy="35560"/>
          </a:xfrm>
          <a:custGeom xmlns:a="http://schemas.openxmlformats.org/drawingml/2006/main">
            <a:pathLst>
              <a:path w="44450" h="35560">
                <a:moveTo>
                  <a:pt x="44450" y="17780"/>
                </a:moveTo>
                <a:lnTo>
                  <a:pt x="0" y="0"/>
                </a:lnTo>
                <a:lnTo>
                  <a:pt x="0" y="35560"/>
                </a:lnTo>
                <a:close/>
              </a:path>
            </a:pathLst>
          </a:custGeom>
          <a:solidFill xmlns:a="http://schemas.openxmlformats.org/drawingml/2006/main">
            <a:srgbClr val="464A4C"/>
          </a:solidFill>
          <a:ln xmlns:a="http://schemas.openxmlformats.org/drawingml/2006/main" w="0">
            <a:noFill/>
          </a:ln>
        </p:spPr>
      </p:sp>
      <p:sp>
        <p:nvSpPr>
          <p:cNvPr id="268" name="attribute-probabilities">
            <a:extLst xmlns:a="http://schemas.openxmlformats.org/drawingml/2006/main">
              <a:ext uri="{FF2B5EF4-FFF2-40B4-BE49-F238E27FC236}">
                <a16:creationId xmlns:a16="http://schemas.microsoft.com/office/drawing/2014/main" id="{F5489206-C0C0-46F2-B4C5-94CD6FA8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800" y="520700"/>
            <a:ext cx="368300" cy="4572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2EC"/>
          </a:solidFill>
          <a:ln xmlns:a="http://schemas.openxmlformats.org/drawingml/2006/main" w="8890">
            <a:solidFill>
              <a:srgbClr val="44795B"/>
            </a:solidFill>
            <a:prstDash val="solid"/>
          </a:ln>
        </p:spPr>
      </p:sp>
      <p:sp>
        <p:nvSpPr>
          <p:cNvPr id="271" name="path-11">
            <a:extLst xmlns:a="http://schemas.openxmlformats.org/drawingml/2006/main">
              <a:ext uri="{FF2B5EF4-FFF2-40B4-BE49-F238E27FC236}">
                <a16:creationId xmlns:a16="http://schemas.microsoft.com/office/drawing/2014/main" id="{830766FC-1A95-474F-81BE-40DD1169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368300"/>
            <a:ext cx="228600" cy="266700"/>
          </a:xfrm>
          <a:custGeom xmlns:a="http://schemas.openxmlformats.org/drawingml/2006/main">
            <a:pathLst>
              <a:path w="228600" h="266700">
                <a:moveTo>
                  <a:pt x="0" y="0"/>
                </a:moveTo>
                <a:lnTo>
                  <a:pt x="114300" y="0"/>
                </a:lnTo>
                <a:lnTo>
                  <a:pt x="114300" y="266700"/>
                </a:lnTo>
                <a:lnTo>
                  <a:pt x="22860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4795B"/>
            </a:solidFill>
            <a:prstDash val="solid"/>
          </a:ln>
        </p:spPr>
      </p:sp>
      <p:sp>
        <p:nvSpPr>
          <p:cNvPr id="272" name="arrow-11">
            <a:extLst xmlns:a="http://schemas.openxmlformats.org/drawingml/2006/main">
              <a:ext uri="{FF2B5EF4-FFF2-40B4-BE49-F238E27FC236}">
                <a16:creationId xmlns:a16="http://schemas.microsoft.com/office/drawing/2014/main" id="{1AACD28C-1F22-4461-AAB8-9B4CE319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350" y="617220"/>
            <a:ext cx="44450" cy="35560"/>
          </a:xfrm>
          <a:custGeom xmlns:a="http://schemas.openxmlformats.org/drawingml/2006/main">
            <a:pathLst>
              <a:path w="44450" h="35560">
                <a:moveTo>
                  <a:pt x="44450" y="17780"/>
                </a:moveTo>
                <a:lnTo>
                  <a:pt x="0" y="0"/>
                </a:lnTo>
                <a:lnTo>
                  <a:pt x="0" y="35560"/>
                </a:lnTo>
                <a:close/>
              </a:path>
            </a:pathLst>
          </a:custGeom>
          <a:solidFill xmlns:a="http://schemas.openxmlformats.org/drawingml/2006/main">
            <a:srgbClr val="44795B"/>
          </a:solidFill>
          <a:ln xmlns:a="http://schemas.openxmlformats.org/drawingml/2006/main" w="0">
            <a:noFill/>
          </a:ln>
        </p:spPr>
      </p:sp>
      <p:sp>
        <p:nvSpPr>
          <p:cNvPr id="273" name="path-12">
            <a:extLst xmlns:a="http://schemas.openxmlformats.org/drawingml/2006/main">
              <a:ext uri="{FF2B5EF4-FFF2-40B4-BE49-F238E27FC236}">
                <a16:creationId xmlns:a16="http://schemas.microsoft.com/office/drawing/2014/main" id="{EEA59495-5D03-48AF-8E5B-E660FC5F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749300"/>
            <a:ext cx="228600" cy="127"/>
          </a:xfrm>
          <a:custGeom xmlns:a="http://schemas.openxmlformats.org/drawingml/2006/main">
            <a:pathLst>
              <a:path w="228600" h="127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4795B"/>
            </a:solidFill>
            <a:prstDash val="solid"/>
          </a:ln>
        </p:spPr>
      </p:sp>
      <p:sp>
        <p:nvSpPr>
          <p:cNvPr id="274" name="arrow-12">
            <a:extLst xmlns:a="http://schemas.openxmlformats.org/drawingml/2006/main">
              <a:ext uri="{FF2B5EF4-FFF2-40B4-BE49-F238E27FC236}">
                <a16:creationId xmlns:a16="http://schemas.microsoft.com/office/drawing/2014/main" id="{C54DCD5D-BD12-4606-87E7-2594BDE0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350" y="731520"/>
            <a:ext cx="44450" cy="35560"/>
          </a:xfrm>
          <a:custGeom xmlns:a="http://schemas.openxmlformats.org/drawingml/2006/main">
            <a:pathLst>
              <a:path w="44450" h="35560">
                <a:moveTo>
                  <a:pt x="44450" y="17780"/>
                </a:moveTo>
                <a:lnTo>
                  <a:pt x="0" y="0"/>
                </a:lnTo>
                <a:lnTo>
                  <a:pt x="0" y="35560"/>
                </a:lnTo>
                <a:close/>
              </a:path>
            </a:pathLst>
          </a:custGeom>
          <a:solidFill xmlns:a="http://schemas.openxmlformats.org/drawingml/2006/main">
            <a:srgbClr val="44795B"/>
          </a:solidFill>
          <a:ln xmlns:a="http://schemas.openxmlformats.org/drawingml/2006/main" w="0">
            <a:noFill/>
          </a:ln>
        </p:spPr>
      </p:sp>
      <p:sp>
        <p:nvSpPr>
          <p:cNvPr id="275" name="path-13">
            <a:extLst xmlns:a="http://schemas.openxmlformats.org/drawingml/2006/main">
              <a:ext uri="{FF2B5EF4-FFF2-40B4-BE49-F238E27FC236}">
                <a16:creationId xmlns:a16="http://schemas.microsoft.com/office/drawing/2014/main" id="{674EA35A-F73B-4EAB-BD0B-36025936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863600"/>
            <a:ext cx="228600" cy="266700"/>
          </a:xfrm>
          <a:custGeom xmlns:a="http://schemas.openxmlformats.org/drawingml/2006/main">
            <a:pathLst>
              <a:path w="228600" h="266700">
                <a:moveTo>
                  <a:pt x="0" y="266700"/>
                </a:moveTo>
                <a:lnTo>
                  <a:pt x="114300" y="266700"/>
                </a:lnTo>
                <a:lnTo>
                  <a:pt x="114300" y="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4795B"/>
            </a:solidFill>
            <a:prstDash val="solid"/>
          </a:ln>
        </p:spPr>
      </p:sp>
      <p:sp>
        <p:nvSpPr>
          <p:cNvPr id="276" name="arrow-13">
            <a:extLst xmlns:a="http://schemas.openxmlformats.org/drawingml/2006/main">
              <a:ext uri="{FF2B5EF4-FFF2-40B4-BE49-F238E27FC236}">
                <a16:creationId xmlns:a16="http://schemas.microsoft.com/office/drawing/2014/main" id="{D715B417-FCE6-4881-8075-DB41DC3B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350" y="845820"/>
            <a:ext cx="44450" cy="35560"/>
          </a:xfrm>
          <a:custGeom xmlns:a="http://schemas.openxmlformats.org/drawingml/2006/main">
            <a:pathLst>
              <a:path w="44450" h="35560">
                <a:moveTo>
                  <a:pt x="44450" y="17780"/>
                </a:moveTo>
                <a:lnTo>
                  <a:pt x="0" y="0"/>
                </a:lnTo>
                <a:lnTo>
                  <a:pt x="0" y="35560"/>
                </a:lnTo>
                <a:close/>
              </a:path>
            </a:pathLst>
          </a:custGeom>
          <a:solidFill xmlns:a="http://schemas.openxmlformats.org/drawingml/2006/main">
            <a:srgbClr val="44795B"/>
          </a:solidFill>
          <a:ln xmlns:a="http://schemas.openxmlformats.org/drawingml/2006/main" w="0">
            <a:noFill/>
          </a:ln>
        </p:spPr>
      </p:sp>
      <p:sp>
        <p:nvSpPr>
          <p:cNvPr id="277" name="path-14">
            <a:extLst xmlns:a="http://schemas.openxmlformats.org/drawingml/2006/main">
              <a:ext uri="{FF2B5EF4-FFF2-40B4-BE49-F238E27FC236}">
                <a16:creationId xmlns:a16="http://schemas.microsoft.com/office/drawing/2014/main" id="{A11D52CA-0E63-46B8-8BD1-DE1AC11F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49300"/>
            <a:ext cx="177800" cy="127"/>
          </a:xfrm>
          <a:custGeom xmlns:a="http://schemas.openxmlformats.org/drawingml/2006/main">
            <a:pathLst>
              <a:path w="177800" h="127">
                <a:moveTo>
                  <a:pt x="0" y="0"/>
                </a:moveTo>
                <a:lnTo>
                  <a:pt x="177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4795B"/>
            </a:solidFill>
            <a:prstDash val="solid"/>
          </a:ln>
        </p:spPr>
      </p:sp>
      <p:sp>
        <p:nvSpPr>
          <p:cNvPr id="278" name="path-15">
            <a:extLst xmlns:a="http://schemas.openxmlformats.org/drawingml/2006/main">
              <a:ext uri="{FF2B5EF4-FFF2-40B4-BE49-F238E27FC236}">
                <a16:creationId xmlns:a16="http://schemas.microsoft.com/office/drawing/2014/main" id="{1FE32F0E-A4D6-42ED-BB18-345931CC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900" y="304800"/>
            <a:ext cx="127" cy="914400"/>
          </a:xfrm>
          <a:custGeom xmlns:a="http://schemas.openxmlformats.org/drawingml/2006/main">
            <a:pathLst>
              <a:path w="127" h="914400">
                <a:moveTo>
                  <a:pt x="0" y="0"/>
                </a:moveTo>
                <a:lnTo>
                  <a:pt x="0" y="91440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4795B"/>
            </a:solidFill>
            <a:prstDash val="solid"/>
          </a:ln>
        </p:spPr>
      </p:sp>
      <p:sp>
        <p:nvSpPr>
          <p:cNvPr id="279" name="path-16">
            <a:extLst xmlns:a="http://schemas.openxmlformats.org/drawingml/2006/main">
              <a:ext uri="{FF2B5EF4-FFF2-40B4-BE49-F238E27FC236}">
                <a16:creationId xmlns:a16="http://schemas.microsoft.com/office/drawing/2014/main" id="{AC3B65CB-2B41-4A6D-9346-2901783F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900" y="304800"/>
            <a:ext cx="88900" cy="127"/>
          </a:xfrm>
          <a:custGeom xmlns:a="http://schemas.openxmlformats.org/drawingml/2006/main">
            <a:pathLst>
              <a:path w="88900" h="127">
                <a:moveTo>
                  <a:pt x="0" y="0"/>
                </a:moveTo>
                <a:lnTo>
                  <a:pt x="8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4795B"/>
            </a:solidFill>
            <a:prstDash val="solid"/>
          </a:ln>
        </p:spPr>
      </p:sp>
      <p:sp>
        <p:nvSpPr>
          <p:cNvPr id="280" name="arrow-16">
            <a:extLst xmlns:a="http://schemas.openxmlformats.org/drawingml/2006/main">
              <a:ext uri="{FF2B5EF4-FFF2-40B4-BE49-F238E27FC236}">
                <a16:creationId xmlns:a16="http://schemas.microsoft.com/office/drawing/2014/main" id="{DBF91D7B-9194-4A81-9A17-7C867479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0" y="287020"/>
            <a:ext cx="44450" cy="35560"/>
          </a:xfrm>
          <a:custGeom xmlns:a="http://schemas.openxmlformats.org/drawingml/2006/main">
            <a:pathLst>
              <a:path w="44450" h="35560">
                <a:moveTo>
                  <a:pt x="44450" y="17780"/>
                </a:moveTo>
                <a:lnTo>
                  <a:pt x="0" y="0"/>
                </a:lnTo>
                <a:lnTo>
                  <a:pt x="0" y="35560"/>
                </a:lnTo>
                <a:close/>
              </a:path>
            </a:pathLst>
          </a:custGeom>
          <a:solidFill xmlns:a="http://schemas.openxmlformats.org/drawingml/2006/main">
            <a:srgbClr val="44795B"/>
          </a:solidFill>
          <a:ln xmlns:a="http://schemas.openxmlformats.org/drawingml/2006/main" w="0">
            <a:noFill/>
          </a:ln>
        </p:spPr>
      </p:sp>
      <p:sp>
        <p:nvSpPr>
          <p:cNvPr id="281" name="path-17">
            <a:extLst xmlns:a="http://schemas.openxmlformats.org/drawingml/2006/main">
              <a:ext uri="{FF2B5EF4-FFF2-40B4-BE49-F238E27FC236}">
                <a16:creationId xmlns:a16="http://schemas.microsoft.com/office/drawing/2014/main" id="{193CDBCD-B71C-4235-A371-0204CA91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900" y="609600"/>
            <a:ext cx="88900" cy="127"/>
          </a:xfrm>
          <a:custGeom xmlns:a="http://schemas.openxmlformats.org/drawingml/2006/main">
            <a:pathLst>
              <a:path w="88900" h="127">
                <a:moveTo>
                  <a:pt x="0" y="0"/>
                </a:moveTo>
                <a:lnTo>
                  <a:pt x="8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4795B"/>
            </a:solidFill>
            <a:prstDash val="solid"/>
          </a:ln>
        </p:spPr>
      </p:sp>
      <p:sp>
        <p:nvSpPr>
          <p:cNvPr id="282" name="arrow-17">
            <a:extLst xmlns:a="http://schemas.openxmlformats.org/drawingml/2006/main">
              <a:ext uri="{FF2B5EF4-FFF2-40B4-BE49-F238E27FC236}">
                <a16:creationId xmlns:a16="http://schemas.microsoft.com/office/drawing/2014/main" id="{355A2756-9012-4AF9-B5DA-A07C46C4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0" y="591820"/>
            <a:ext cx="44450" cy="35560"/>
          </a:xfrm>
          <a:custGeom xmlns:a="http://schemas.openxmlformats.org/drawingml/2006/main">
            <a:pathLst>
              <a:path w="44450" h="35560">
                <a:moveTo>
                  <a:pt x="44450" y="17780"/>
                </a:moveTo>
                <a:lnTo>
                  <a:pt x="0" y="0"/>
                </a:lnTo>
                <a:lnTo>
                  <a:pt x="0" y="35560"/>
                </a:lnTo>
                <a:close/>
              </a:path>
            </a:pathLst>
          </a:custGeom>
          <a:solidFill xmlns:a="http://schemas.openxmlformats.org/drawingml/2006/main">
            <a:srgbClr val="44795B"/>
          </a:solidFill>
          <a:ln xmlns:a="http://schemas.openxmlformats.org/drawingml/2006/main" w="0">
            <a:noFill/>
          </a:ln>
        </p:spPr>
      </p:sp>
      <p:sp>
        <p:nvSpPr>
          <p:cNvPr id="283" name="path-18">
            <a:extLst xmlns:a="http://schemas.openxmlformats.org/drawingml/2006/main">
              <a:ext uri="{FF2B5EF4-FFF2-40B4-BE49-F238E27FC236}">
                <a16:creationId xmlns:a16="http://schemas.microsoft.com/office/drawing/2014/main" id="{652B2105-B4D4-4690-9960-01CE9669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900" y="914400"/>
            <a:ext cx="88900" cy="127"/>
          </a:xfrm>
          <a:custGeom xmlns:a="http://schemas.openxmlformats.org/drawingml/2006/main">
            <a:pathLst>
              <a:path w="88900" h="127">
                <a:moveTo>
                  <a:pt x="0" y="0"/>
                </a:moveTo>
                <a:lnTo>
                  <a:pt x="8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4795B"/>
            </a:solidFill>
            <a:prstDash val="solid"/>
          </a:ln>
        </p:spPr>
      </p:sp>
      <p:sp>
        <p:nvSpPr>
          <p:cNvPr id="284" name="arrow-18">
            <a:extLst xmlns:a="http://schemas.openxmlformats.org/drawingml/2006/main">
              <a:ext uri="{FF2B5EF4-FFF2-40B4-BE49-F238E27FC236}">
                <a16:creationId xmlns:a16="http://schemas.microsoft.com/office/drawing/2014/main" id="{84E5EF1F-9E78-4F90-8442-917029DB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0" y="896620"/>
            <a:ext cx="44450" cy="35560"/>
          </a:xfrm>
          <a:custGeom xmlns:a="http://schemas.openxmlformats.org/drawingml/2006/main">
            <a:pathLst>
              <a:path w="44450" h="35560">
                <a:moveTo>
                  <a:pt x="44450" y="17780"/>
                </a:moveTo>
                <a:lnTo>
                  <a:pt x="0" y="0"/>
                </a:lnTo>
                <a:lnTo>
                  <a:pt x="0" y="35560"/>
                </a:lnTo>
                <a:close/>
              </a:path>
            </a:pathLst>
          </a:custGeom>
          <a:solidFill xmlns:a="http://schemas.openxmlformats.org/drawingml/2006/main">
            <a:srgbClr val="44795B"/>
          </a:solidFill>
          <a:ln xmlns:a="http://schemas.openxmlformats.org/drawingml/2006/main" w="0">
            <a:noFill/>
          </a:ln>
        </p:spPr>
      </p:sp>
      <p:sp>
        <p:nvSpPr>
          <p:cNvPr id="285" name="path-19">
            <a:extLst xmlns:a="http://schemas.openxmlformats.org/drawingml/2006/main">
              <a:ext uri="{FF2B5EF4-FFF2-40B4-BE49-F238E27FC236}">
                <a16:creationId xmlns:a16="http://schemas.microsoft.com/office/drawing/2014/main" id="{7FC4FE56-CEB7-4E2A-9D5C-D258FB8B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900" y="1219200"/>
            <a:ext cx="88900" cy="127"/>
          </a:xfrm>
          <a:custGeom xmlns:a="http://schemas.openxmlformats.org/drawingml/2006/main">
            <a:pathLst>
              <a:path w="88900" h="127">
                <a:moveTo>
                  <a:pt x="0" y="0"/>
                </a:moveTo>
                <a:lnTo>
                  <a:pt x="8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4795B"/>
            </a:solidFill>
            <a:prstDash val="solid"/>
          </a:ln>
        </p:spPr>
      </p:sp>
      <p:sp>
        <p:nvSpPr>
          <p:cNvPr id="286" name="arrow-19">
            <a:extLst xmlns:a="http://schemas.openxmlformats.org/drawingml/2006/main">
              <a:ext uri="{FF2B5EF4-FFF2-40B4-BE49-F238E27FC236}">
                <a16:creationId xmlns:a16="http://schemas.microsoft.com/office/drawing/2014/main" id="{6967125E-4C49-4A01-A015-1826FD22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0" y="1201420"/>
            <a:ext cx="44450" cy="35560"/>
          </a:xfrm>
          <a:custGeom xmlns:a="http://schemas.openxmlformats.org/drawingml/2006/main">
            <a:pathLst>
              <a:path w="44450" h="35560">
                <a:moveTo>
                  <a:pt x="44450" y="17780"/>
                </a:moveTo>
                <a:lnTo>
                  <a:pt x="0" y="0"/>
                </a:lnTo>
                <a:lnTo>
                  <a:pt x="0" y="35560"/>
                </a:lnTo>
                <a:close/>
              </a:path>
            </a:pathLst>
          </a:custGeom>
          <a:solidFill xmlns:a="http://schemas.openxmlformats.org/drawingml/2006/main">
            <a:srgbClr val="44795B"/>
          </a:solidFill>
          <a:ln xmlns:a="http://schemas.openxmlformats.org/drawingml/2006/main" w="0">
            <a:noFill/>
          </a:ln>
        </p:spPr>
      </p:sp>
      <p:sp>
        <p:nvSpPr>
          <p:cNvPr id="291" name="path-20">
            <a:extLst xmlns:a="http://schemas.openxmlformats.org/drawingml/2006/main">
              <a:ext uri="{FF2B5EF4-FFF2-40B4-BE49-F238E27FC236}">
                <a16:creationId xmlns:a16="http://schemas.microsoft.com/office/drawing/2014/main" id="{65F25230-922C-4263-A612-EA0DAB2A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749300"/>
            <a:ext cx="152400" cy="749300"/>
          </a:xfrm>
          <a:custGeom xmlns:a="http://schemas.openxmlformats.org/drawingml/2006/main">
            <a:pathLst>
              <a:path w="152400" h="749300">
                <a:moveTo>
                  <a:pt x="0" y="0"/>
                </a:moveTo>
                <a:lnTo>
                  <a:pt x="0" y="749300"/>
                </a:lnTo>
                <a:lnTo>
                  <a:pt x="152400" y="74930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9C7453"/>
            </a:solidFill>
            <a:prstDash val="solid"/>
          </a:ln>
        </p:spPr>
      </p:sp>
      <p:sp>
        <p:nvSpPr>
          <p:cNvPr id="292" name="arrow-20">
            <a:extLst xmlns:a="http://schemas.openxmlformats.org/drawingml/2006/main">
              <a:ext uri="{FF2B5EF4-FFF2-40B4-BE49-F238E27FC236}">
                <a16:creationId xmlns:a16="http://schemas.microsoft.com/office/drawing/2014/main" id="{74903B73-E261-49F8-8FDA-85DAE63D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850" y="1480820"/>
            <a:ext cx="44450" cy="35560"/>
          </a:xfrm>
          <a:custGeom xmlns:a="http://schemas.openxmlformats.org/drawingml/2006/main">
            <a:pathLst>
              <a:path w="44450" h="35560">
                <a:moveTo>
                  <a:pt x="44450" y="17780"/>
                </a:moveTo>
                <a:lnTo>
                  <a:pt x="0" y="0"/>
                </a:lnTo>
                <a:lnTo>
                  <a:pt x="0" y="35560"/>
                </a:lnTo>
                <a:close/>
              </a:path>
            </a:pathLst>
          </a:custGeom>
          <a:solidFill xmlns:a="http://schemas.openxmlformats.org/drawingml/2006/main">
            <a:srgbClr val="9C7453"/>
          </a:solidFill>
          <a:ln xmlns:a="http://schemas.openxmlformats.org/drawingml/2006/main" w="0">
            <a:noFill/>
          </a:ln>
        </p:spPr>
      </p:sp>
      <p:sp>
        <p:nvSpPr>
          <p:cNvPr id="293" name="joint-objective">
            <a:extLst xmlns:a="http://schemas.openxmlformats.org/drawingml/2006/main">
              <a:ext uri="{FF2B5EF4-FFF2-40B4-BE49-F238E27FC236}">
                <a16:creationId xmlns:a16="http://schemas.microsoft.com/office/drawing/2014/main" id="{8DFCDC5A-D398-4C4D-A3B0-63EDC06C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78000"/>
            <a:ext cx="3835400" cy="3683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8890">
            <a:solidFill>
              <a:srgbClr val="8C8E87"/>
            </a:solidFill>
            <a:prstDash val="solid"/>
          </a:ln>
        </p:spPr>
      </p:sp>
      <p:sp>
        <p:nvSpPr>
          <p:cNvPr id="302" name="path-21">
            <a:extLst xmlns:a="http://schemas.openxmlformats.org/drawingml/2006/main">
              <a:ext uri="{FF2B5EF4-FFF2-40B4-BE49-F238E27FC236}">
                <a16:creationId xmlns:a16="http://schemas.microsoft.com/office/drawing/2014/main" id="{F8C67B8D-10BE-49AD-BF21-A270ACBA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1676400"/>
            <a:ext cx="127" cy="101600"/>
          </a:xfrm>
          <a:custGeom xmlns:a="http://schemas.openxmlformats.org/drawingml/2006/main">
            <a:pathLst>
              <a:path w="127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9C7453"/>
            </a:solidFill>
            <a:prstDash val="solid"/>
          </a:ln>
        </p:spPr>
      </p:sp>
      <p:sp>
        <p:nvSpPr>
          <p:cNvPr id="303" name="arrow-21">
            <a:extLst xmlns:a="http://schemas.openxmlformats.org/drawingml/2006/main">
              <a:ext uri="{FF2B5EF4-FFF2-40B4-BE49-F238E27FC236}">
                <a16:creationId xmlns:a16="http://schemas.microsoft.com/office/drawing/2014/main" id="{4FC2882D-232F-492E-A4C9-84311C34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920" y="1733550"/>
            <a:ext cx="35560" cy="44450"/>
          </a:xfrm>
          <a:custGeom xmlns:a="http://schemas.openxmlformats.org/drawingml/2006/main">
            <a:pathLst>
              <a:path w="35560" h="44450">
                <a:moveTo>
                  <a:pt x="17780" y="44450"/>
                </a:moveTo>
                <a:lnTo>
                  <a:pt x="3556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C7453"/>
          </a:solidFill>
          <a:ln xmlns:a="http://schemas.openxmlformats.org/drawingml/2006/main" w="0">
            <a:noFill/>
          </a:ln>
        </p:spPr>
      </p:sp>
      <p:sp>
        <p:nvSpPr>
          <p:cNvPr id="304" name="path-22">
            <a:extLst xmlns:a="http://schemas.openxmlformats.org/drawingml/2006/main">
              <a:ext uri="{FF2B5EF4-FFF2-40B4-BE49-F238E27FC236}">
                <a16:creationId xmlns:a16="http://schemas.microsoft.com/office/drawing/2014/main" id="{9BD4940C-EF55-420F-A6BD-A48CFF81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950" y="977900"/>
            <a:ext cx="133350" cy="622300"/>
          </a:xfrm>
          <a:custGeom xmlns:a="http://schemas.openxmlformats.org/drawingml/2006/main">
            <a:pathLst>
              <a:path w="133350" h="622300">
                <a:moveTo>
                  <a:pt x="0" y="0"/>
                </a:moveTo>
                <a:lnTo>
                  <a:pt x="0" y="622300"/>
                </a:lnTo>
                <a:lnTo>
                  <a:pt x="133350" y="62230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4795B"/>
            </a:solidFill>
            <a:prstDash val="solid"/>
          </a:ln>
        </p:spPr>
      </p:sp>
      <p:sp>
        <p:nvSpPr>
          <p:cNvPr id="305" name="path-23">
            <a:extLst xmlns:a="http://schemas.openxmlformats.org/drawingml/2006/main">
              <a:ext uri="{FF2B5EF4-FFF2-40B4-BE49-F238E27FC236}">
                <a16:creationId xmlns:a16="http://schemas.microsoft.com/office/drawing/2014/main" id="{3F628C6C-3778-42EF-B302-6C1ABE96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300" y="1600200"/>
            <a:ext cx="127" cy="177800"/>
          </a:xfrm>
          <a:custGeom xmlns:a="http://schemas.openxmlformats.org/drawingml/2006/main">
            <a:pathLst>
              <a:path w="127" h="177800">
                <a:moveTo>
                  <a:pt x="0" y="0"/>
                </a:moveTo>
                <a:lnTo>
                  <a:pt x="0" y="17780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44795B"/>
            </a:solidFill>
            <a:prstDash val="solid"/>
          </a:ln>
        </p:spPr>
      </p:sp>
      <p:sp>
        <p:nvSpPr>
          <p:cNvPr id="306" name="arrow-23">
            <a:extLst xmlns:a="http://schemas.openxmlformats.org/drawingml/2006/main">
              <a:ext uri="{FF2B5EF4-FFF2-40B4-BE49-F238E27FC236}">
                <a16:creationId xmlns:a16="http://schemas.microsoft.com/office/drawing/2014/main" id="{5CB86473-947E-45F0-8B8A-44F01CDE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1733550"/>
            <a:ext cx="35560" cy="44450"/>
          </a:xfrm>
          <a:custGeom xmlns:a="http://schemas.openxmlformats.org/drawingml/2006/main">
            <a:pathLst>
              <a:path w="35560" h="44450">
                <a:moveTo>
                  <a:pt x="17780" y="44450"/>
                </a:moveTo>
                <a:lnTo>
                  <a:pt x="3556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795B"/>
          </a:solidFill>
          <a:ln xmlns:a="http://schemas.openxmlformats.org/drawingml/2006/main" w="0">
            <a:noFill/>
          </a:ln>
        </p:spPr>
      </p:sp>
      <p:sp>
        <p:nvSpPr>
          <p:cNvPr id="307" name="path-24">
            <a:extLst xmlns:a="http://schemas.openxmlformats.org/drawingml/2006/main">
              <a:ext uri="{FF2B5EF4-FFF2-40B4-BE49-F238E27FC236}">
                <a16:creationId xmlns:a16="http://schemas.microsoft.com/office/drawing/2014/main" id="{046ACE60-6A39-4631-A6DF-FA1B960B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300" y="1600200"/>
            <a:ext cx="774700" cy="177800"/>
          </a:xfrm>
          <a:custGeom xmlns:a="http://schemas.openxmlformats.org/drawingml/2006/main">
            <a:pathLst>
              <a:path w="774700" h="177800">
                <a:moveTo>
                  <a:pt x="0" y="0"/>
                </a:moveTo>
                <a:lnTo>
                  <a:pt x="774700" y="0"/>
                </a:lnTo>
                <a:lnTo>
                  <a:pt x="774700" y="17780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927035"/>
            </a:solidFill>
            <a:prstDash val="dash"/>
          </a:ln>
        </p:spPr>
      </p:sp>
      <p:sp>
        <p:nvSpPr>
          <p:cNvPr id="308" name="arrow-24">
            <a:extLst xmlns:a="http://schemas.openxmlformats.org/drawingml/2006/main">
              <a:ext uri="{FF2B5EF4-FFF2-40B4-BE49-F238E27FC236}">
                <a16:creationId xmlns:a16="http://schemas.microsoft.com/office/drawing/2014/main" id="{513E15E3-4A91-498D-A2B2-FCEA50C1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220" y="1733550"/>
            <a:ext cx="35560" cy="44450"/>
          </a:xfrm>
          <a:custGeom xmlns:a="http://schemas.openxmlformats.org/drawingml/2006/main">
            <a:pathLst>
              <a:path w="35560" h="44450">
                <a:moveTo>
                  <a:pt x="17780" y="44450"/>
                </a:moveTo>
                <a:lnTo>
                  <a:pt x="3556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27035"/>
          </a:solidFill>
          <a:ln xmlns:a="http://schemas.openxmlformats.org/drawingml/2006/main" w="0">
            <a:noFill/>
          </a:ln>
        </p:spPr>
      </p:sp>
      <p:sp>
        <p:nvSpPr>
          <p:cNvPr id="310" name="path-25">
            <a:extLst xmlns:a="http://schemas.openxmlformats.org/drawingml/2006/main">
              <a:ext uri="{FF2B5EF4-FFF2-40B4-BE49-F238E27FC236}">
                <a16:creationId xmlns:a16="http://schemas.microsoft.com/office/drawing/2014/main" id="{8C168FD0-C12F-490A-B65F-53CF40AD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71700"/>
            <a:ext cx="558800" cy="38100"/>
          </a:xfrm>
          <a:custGeom xmlns:a="http://schemas.openxmlformats.org/drawingml/2006/main">
            <a:pathLst>
              <a:path w="558800" h="38100">
                <a:moveTo>
                  <a:pt x="0" y="0"/>
                </a:moveTo>
                <a:lnTo>
                  <a:pt x="0" y="38100"/>
                </a:lnTo>
                <a:lnTo>
                  <a:pt x="558800" y="38100"/>
                </a:lnTo>
                <a:lnTo>
                  <a:pt x="55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27035"/>
            </a:solidFill>
            <a:prstDash val="solid"/>
          </a:ln>
        </p:spPr>
      </p:sp>
      <p:sp>
        <p:nvSpPr>
          <p:cNvPr id="312" name="path-26">
            <a:extLst xmlns:a="http://schemas.openxmlformats.org/drawingml/2006/main">
              <a:ext uri="{FF2B5EF4-FFF2-40B4-BE49-F238E27FC236}">
                <a16:creationId xmlns:a16="http://schemas.microsoft.com/office/drawing/2014/main" id="{C4CB4167-A65E-431F-8E4D-9BA9BD27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17600"/>
            <a:ext cx="374650" cy="838200"/>
          </a:xfrm>
          <a:custGeom xmlns:a="http://schemas.openxmlformats.org/drawingml/2006/main">
            <a:pathLst>
              <a:path w="374650" h="838200">
                <a:moveTo>
                  <a:pt x="152400" y="838200"/>
                </a:moveTo>
                <a:lnTo>
                  <a:pt x="0" y="838200"/>
                </a:lnTo>
                <a:lnTo>
                  <a:pt x="0" y="114300"/>
                </a:lnTo>
                <a:lnTo>
                  <a:pt x="374650" y="114300"/>
                </a:lnTo>
                <a:lnTo>
                  <a:pt x="374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777D82"/>
            </a:solidFill>
            <a:prstDash val="dash"/>
          </a:ln>
        </p:spPr>
      </p:sp>
      <p:sp>
        <p:nvSpPr>
          <p:cNvPr id="313" name="arrow-26">
            <a:extLst xmlns:a="http://schemas.openxmlformats.org/drawingml/2006/main">
              <a:ext uri="{FF2B5EF4-FFF2-40B4-BE49-F238E27FC236}">
                <a16:creationId xmlns:a16="http://schemas.microsoft.com/office/drawing/2014/main" id="{F548B789-F32E-4DFF-93CA-2FA3D00D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670" y="1117600"/>
            <a:ext cx="35560" cy="44450"/>
          </a:xfrm>
          <a:custGeom xmlns:a="http://schemas.openxmlformats.org/drawingml/2006/main">
            <a:pathLst>
              <a:path w="35560" h="44450">
                <a:moveTo>
                  <a:pt x="17780" y="0"/>
                </a:moveTo>
                <a:lnTo>
                  <a:pt x="0" y="44450"/>
                </a:lnTo>
                <a:lnTo>
                  <a:pt x="35560" y="44450"/>
                </a:lnTo>
                <a:close/>
              </a:path>
            </a:pathLst>
          </a:custGeom>
          <a:solidFill xmlns:a="http://schemas.openxmlformats.org/drawingml/2006/main">
            <a:srgbClr val="777D82"/>
          </a:solidFill>
          <a:ln xmlns:a="http://schemas.openxmlformats.org/drawingml/2006/main" w="0">
            <a:noFill/>
          </a:ln>
        </p:spPr>
      </p:sp>
      <p:sp>
        <p:nvSpPr>
          <p:cNvPr id="14" name="beats-label">
            <a:extLst xmlns:a="http://schemas.openxmlformats.org/drawingml/2006/main">
              <a:ext uri="{FF2B5EF4-FFF2-40B4-BE49-F238E27FC236}">
                <a16:creationId xmlns:a16="http://schemas.microsoft.com/office/drawing/2014/main" id="{C0D618A3-7B1D-4C95-943C-605BF13F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520700"/>
            <a:ext cx="54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BEATs</a:t>
            </a:r>
          </a:p>
        </p:txBody>
      </p:sp>
      <p:sp>
        <p:nvSpPr>
          <p:cNvPr id="15" name="pooling-label">
            <a:extLst xmlns:a="http://schemas.openxmlformats.org/drawingml/2006/main">
              <a:ext uri="{FF2B5EF4-FFF2-40B4-BE49-F238E27FC236}">
                <a16:creationId xmlns:a16="http://schemas.microsoft.com/office/drawing/2014/main" id="{44AEC656-29F5-4293-B1CD-7B69B852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700" y="558800"/>
            <a:ext cx="67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Mean pooling</a:t>
            </a:r>
          </a:p>
        </p:txBody>
      </p:sp>
      <p:sp>
        <p:nvSpPr>
          <p:cNvPr id="16" name="projection-label">
            <a:extLst xmlns:a="http://schemas.openxmlformats.org/drawingml/2006/main">
              <a:ext uri="{FF2B5EF4-FFF2-40B4-BE49-F238E27FC236}">
                <a16:creationId xmlns:a16="http://schemas.microsoft.com/office/drawing/2014/main" id="{B3BD458B-0119-4760-9CFD-3FBC4DE0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700" y="762000"/>
            <a:ext cx="67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5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Linear</a:t>
            </a:r>
          </a:p>
        </p:txBody>
      </p:sp>
      <p:sp>
        <p:nvSpPr>
          <p:cNvPr id="22" name="A-name">
            <a:extLst xmlns:a="http://schemas.openxmlformats.org/drawingml/2006/main">
              <a:ext uri="{FF2B5EF4-FFF2-40B4-BE49-F238E27FC236}">
                <a16:creationId xmlns:a16="http://schemas.microsoft.com/office/drawing/2014/main" id="{586DF0AF-93F9-4F95-8F7E-310F974B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00" y="266700"/>
            <a:ext cx="29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5" name="C-name">
            <a:extLst xmlns:a="http://schemas.openxmlformats.org/drawingml/2006/main">
              <a:ext uri="{FF2B5EF4-FFF2-40B4-BE49-F238E27FC236}">
                <a16:creationId xmlns:a16="http://schemas.microsoft.com/office/drawing/2014/main" id="{875FBD46-E6C3-481E-908F-0800BD1E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00" y="647700"/>
            <a:ext cx="29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W-name">
            <a:extLst xmlns:a="http://schemas.openxmlformats.org/drawingml/2006/main">
              <a:ext uri="{FF2B5EF4-FFF2-40B4-BE49-F238E27FC236}">
                <a16:creationId xmlns:a16="http://schemas.microsoft.com/office/drawing/2014/main" id="{09699202-00C4-4906-820A-8B431827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00" y="1028700"/>
            <a:ext cx="29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78" name="tokens">
            <a:extLst xmlns:a="http://schemas.openxmlformats.org/drawingml/2006/main">
              <a:ext uri="{FF2B5EF4-FFF2-40B4-BE49-F238E27FC236}">
                <a16:creationId xmlns:a16="http://schemas.microsoft.com/office/drawing/2014/main" id="{38F14908-1EC8-4736-96D6-AAEAB3C1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300" y="546100"/>
            <a:ext cx="25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242424"/>
                </a:solidFill>
                <a:latin typeface="Arial"/>
                <a:ea typeface="Arial"/>
                <a:cs typeface="Arial"/>
              </a:rPr>
              <a:t>H</a:t>
            </a:r>
            <a:r>
              <a:rPr sz="1086" b="0" i="1" baseline="-20000">
                <a:solidFill>
                  <a:srgbClr val="24242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22" name="pafa-g">
            <a:extLst xmlns:a="http://schemas.openxmlformats.org/drawingml/2006/main">
              <a:ext uri="{FF2B5EF4-FFF2-40B4-BE49-F238E27FC236}">
                <a16:creationId xmlns:a16="http://schemas.microsoft.com/office/drawing/2014/main" id="{476818E2-7E48-4CE9-962D-F9A82CCD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700" y="13462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5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Attention g</a:t>
            </a:r>
          </a:p>
        </p:txBody>
      </p:sp>
      <p:sp>
        <p:nvSpPr>
          <p:cNvPr id="123" name="pafa-z">
            <a:extLst xmlns:a="http://schemas.openxmlformats.org/drawingml/2006/main">
              <a:ext uri="{FF2B5EF4-FFF2-40B4-BE49-F238E27FC236}">
                <a16:creationId xmlns:a16="http://schemas.microsoft.com/office/drawing/2014/main" id="{0D6586B0-E9AE-4A78-A14B-FBE5D48A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51000"/>
            <a:ext cx="228600" cy="13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242424"/>
                </a:solidFill>
                <a:latin typeface="Arial"/>
                <a:ea typeface="Arial"/>
                <a:cs typeface="Arial"/>
              </a:rPr>
              <a:t>z</a:t>
            </a:r>
            <a:r>
              <a:rPr sz="1086" b="0" i="1" baseline="-20000">
                <a:solidFill>
                  <a:srgbClr val="24242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24" name="pafa-adopted">
            <a:extLst xmlns:a="http://schemas.openxmlformats.org/drawingml/2006/main">
              <a:ext uri="{FF2B5EF4-FFF2-40B4-BE49-F238E27FC236}">
                <a16:creationId xmlns:a16="http://schemas.microsoft.com/office/drawing/2014/main" id="{79BB5F2B-7C20-4862-9493-38D31472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700" y="1524000"/>
            <a:ext cx="762000" cy="13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9C745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C7453"/>
                </a:solidFill>
                <a:latin typeface="Arial"/>
                <a:ea typeface="Arial"/>
                <a:cs typeface="Arial"/>
              </a:rPr>
              <a:t>PAFA</a:t>
            </a:r>
          </a:p>
        </p:txBody>
      </p:sp>
      <p:sp>
        <p:nvSpPr>
          <p:cNvPr id="183" name="encoder-name">
            <a:extLst xmlns:a="http://schemas.openxmlformats.org/drawingml/2006/main">
              <a:ext uri="{FF2B5EF4-FFF2-40B4-BE49-F238E27FC236}">
                <a16:creationId xmlns:a16="http://schemas.microsoft.com/office/drawing/2014/main" id="{04819276-0BBB-4372-BE86-8CF44B24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749300"/>
            <a:ext cx="5461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5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87" name="linear-heads-title">
            <a:extLst xmlns:a="http://schemas.openxmlformats.org/drawingml/2006/main">
              <a:ext uri="{FF2B5EF4-FFF2-40B4-BE49-F238E27FC236}">
                <a16:creationId xmlns:a16="http://schemas.microsoft.com/office/drawing/2014/main" id="{DA587A12-FCDA-4428-8CA5-3DE2918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100"/>
            <a:ext cx="81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50" b="1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50" b="1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Linear heads</a:t>
            </a:r>
          </a:p>
        </p:txBody>
      </p:sp>
      <p:sp>
        <p:nvSpPr>
          <p:cNvPr id="251" name="input-title">
            <a:extLst xmlns:a="http://schemas.openxmlformats.org/drawingml/2006/main">
              <a:ext uri="{FF2B5EF4-FFF2-40B4-BE49-F238E27FC236}">
                <a16:creationId xmlns:a16="http://schemas.microsoft.com/office/drawing/2014/main" id="{CDCE4137-2ABC-4847-A3A8-C8A438C6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" y="381000"/>
            <a:ext cx="81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8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8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Respiratory audio</a:t>
            </a:r>
          </a:p>
        </p:txBody>
      </p:sp>
      <p:sp>
        <p:nvSpPr>
          <p:cNvPr id="254" name="dataset-names">
            <a:extLst xmlns:a="http://schemas.openxmlformats.org/drawingml/2006/main">
              <a:ext uri="{FF2B5EF4-FFF2-40B4-BE49-F238E27FC236}">
                <a16:creationId xmlns:a16="http://schemas.microsoft.com/office/drawing/2014/main" id="{F0F5A3F8-ED93-4A6A-923B-65FBF9CA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" y="1054100"/>
            <a:ext cx="9398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2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ICBHI, SPRSound</a:t>
            </a:r>
          </a:p>
          <a:p xmlns:a="http://schemas.openxmlformats.org/drawingml/2006/main">
            <a:pPr algn="ctr">
              <a:defRPr sz="92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2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HF, KAUH</a:t>
            </a:r>
          </a:p>
        </p:txBody>
      </p:sp>
      <p:sp>
        <p:nvSpPr>
          <p:cNvPr id="269" name="probabilities">
            <a:extLst xmlns:a="http://schemas.openxmlformats.org/drawingml/2006/main">
              <a:ext uri="{FF2B5EF4-FFF2-40B4-BE49-F238E27FC236}">
                <a16:creationId xmlns:a16="http://schemas.microsoft.com/office/drawing/2014/main" id="{5072228C-C70E-44FE-BB69-FBEA59AC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0" y="647700"/>
            <a:ext cx="3429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1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00" b="1" i="1">
                <a:solidFill>
                  <a:srgbClr val="242424"/>
                </a:solidFill>
                <a:latin typeface="Arial"/>
                <a:ea typeface="Arial"/>
                <a:cs typeface="Arial"/>
              </a:rPr>
              <a:t>p</a:t>
            </a:r>
            <a:r>
              <a:rPr sz="1328" b="1" i="1" baseline="-20000">
                <a:solidFill>
                  <a:srgbClr val="24242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270" name="probabilities-title">
            <a:extLst xmlns:a="http://schemas.openxmlformats.org/drawingml/2006/main">
              <a:ext uri="{FF2B5EF4-FFF2-40B4-BE49-F238E27FC236}">
                <a16:creationId xmlns:a16="http://schemas.microsoft.com/office/drawing/2014/main" id="{8DC13E3F-7E1C-4378-93F8-3AAED1B8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5100"/>
            <a:ext cx="46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A/C/W</a:t>
            </a:r>
          </a:p>
          <a:p xmlns:a="http://schemas.openxmlformats.org/drawingml/2006/main">
            <a:pPr algn="ctr">
              <a:defRPr sz="90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scores</a:t>
            </a:r>
          </a:p>
        </p:txBody>
      </p:sp>
      <p:sp>
        <p:nvSpPr>
          <p:cNvPr id="287" name="task-icbhi">
            <a:extLst xmlns:a="http://schemas.openxmlformats.org/drawingml/2006/main">
              <a:ext uri="{FF2B5EF4-FFF2-40B4-BE49-F238E27FC236}">
                <a16:creationId xmlns:a16="http://schemas.microsoft.com/office/drawing/2014/main" id="{FA7C3063-E6A4-4F23-B7E5-0B545767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228600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50" b="1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ICBHI:</a:t>
            </a:r>
            <a:r>
              <a:rPr sz="95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 xml:space="preserve"> Normal/Crackle/Wheeze/Both</a:t>
            </a:r>
          </a:p>
        </p:txBody>
      </p:sp>
      <p:sp>
        <p:nvSpPr>
          <p:cNvPr id="288" name="task-spr">
            <a:extLst xmlns:a="http://schemas.openxmlformats.org/drawingml/2006/main">
              <a:ext uri="{FF2B5EF4-FFF2-40B4-BE49-F238E27FC236}">
                <a16:creationId xmlns:a16="http://schemas.microsoft.com/office/drawing/2014/main" id="{31261D25-A105-481E-8C58-3828FDF6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533400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50" b="1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SPRSound:</a:t>
            </a:r>
            <a:r>
              <a:rPr sz="95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 xml:space="preserve"> Normal/Adventitious</a:t>
            </a:r>
          </a:p>
        </p:txBody>
      </p:sp>
      <p:sp>
        <p:nvSpPr>
          <p:cNvPr id="289" name="task-hf">
            <a:extLst xmlns:a="http://schemas.openxmlformats.org/drawingml/2006/main">
              <a:ext uri="{FF2B5EF4-FFF2-40B4-BE49-F238E27FC236}">
                <a16:creationId xmlns:a16="http://schemas.microsoft.com/office/drawing/2014/main" id="{CD268936-DC75-4E6D-8642-AEAAB586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838200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50" b="1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HF:</a:t>
            </a:r>
            <a:r>
              <a:rPr sz="95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 xml:space="preserve"> Crackle/Wheeze detection</a:t>
            </a:r>
          </a:p>
        </p:txBody>
      </p:sp>
      <p:sp>
        <p:nvSpPr>
          <p:cNvPr id="290" name="task-kauh">
            <a:extLst xmlns:a="http://schemas.openxmlformats.org/drawingml/2006/main">
              <a:ext uri="{FF2B5EF4-FFF2-40B4-BE49-F238E27FC236}">
                <a16:creationId xmlns:a16="http://schemas.microsoft.com/office/drawing/2014/main" id="{C284C7BE-690A-41C9-A704-3D2E69C7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1143000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30" b="1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KAUH:</a:t>
            </a:r>
            <a:r>
              <a:rPr sz="93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 xml:space="preserve"> Binary/four-class classification</a:t>
            </a:r>
          </a:p>
        </p:txBody>
      </p:sp>
      <p:sp>
        <p:nvSpPr>
          <p:cNvPr id="294" name="objective-L">
            <a:extLst xmlns:a="http://schemas.openxmlformats.org/drawingml/2006/main">
              <a:ext uri="{FF2B5EF4-FFF2-40B4-BE49-F238E27FC236}">
                <a16:creationId xmlns:a16="http://schemas.microsoft.com/office/drawing/2014/main" id="{F68ED0BD-A231-443A-9B2A-DADC5F15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00" y="1866900"/>
            <a:ext cx="3429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 i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50" b="0" i="1">
                <a:solidFill>
                  <a:srgbClr val="242424"/>
                </a:solidFill>
                <a:latin typeface="Arial"/>
                <a:ea typeface="Arial"/>
                <a:cs typeface="Arial"/>
              </a:rPr>
              <a:t>L =</a:t>
            </a:r>
          </a:p>
        </p:txBody>
      </p:sp>
      <p:sp>
        <p:nvSpPr>
          <p:cNvPr id="295" name="objective-pcsl">
            <a:extLst xmlns:a="http://schemas.openxmlformats.org/drawingml/2006/main">
              <a:ext uri="{FF2B5EF4-FFF2-40B4-BE49-F238E27FC236}">
                <a16:creationId xmlns:a16="http://schemas.microsoft.com/office/drawing/2014/main" id="{355D200F-2018-4D0A-BA66-A60C1CCB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66900"/>
            <a:ext cx="6731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50" b="0" i="1">
                <a:solidFill>
                  <a:srgbClr val="242424"/>
                </a:solidFill>
                <a:latin typeface="Arial"/>
                <a:ea typeface="Arial"/>
                <a:cs typeface="Arial"/>
              </a:rPr>
              <a:t>λ</a:t>
            </a:r>
            <a:r>
              <a:rPr sz="1509" b="0" i="0" baseline="-20000">
                <a:solidFill>
                  <a:srgbClr val="242424"/>
                </a:solidFill>
                <a:latin typeface="Arial"/>
                <a:ea typeface="Arial"/>
                <a:cs typeface="Arial"/>
              </a:rPr>
              <a:t>p</a:t>
            </a:r>
            <a:r>
              <a:rPr sz="125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 xml:space="preserve"> </a:t>
            </a:r>
            <a:r>
              <a:rPr sz="1250" b="0" i="1">
                <a:solidFill>
                  <a:srgbClr val="242424"/>
                </a:solidFill>
                <a:latin typeface="Arial"/>
                <a:ea typeface="Arial"/>
                <a:cs typeface="Arial"/>
              </a:rPr>
              <a:t>L</a:t>
            </a:r>
            <a:r>
              <a:rPr sz="1509" b="0" i="0" baseline="-20000">
                <a:solidFill>
                  <a:srgbClr val="242424"/>
                </a:solidFill>
                <a:latin typeface="Arial"/>
                <a:ea typeface="Arial"/>
                <a:cs typeface="Arial"/>
              </a:rPr>
              <a:t>PCSL</a:t>
            </a:r>
          </a:p>
        </p:txBody>
      </p:sp>
      <p:sp>
        <p:nvSpPr>
          <p:cNvPr id="296" name="objective-plus-1">
            <a:extLst xmlns:a="http://schemas.openxmlformats.org/drawingml/2006/main">
              <a:ext uri="{FF2B5EF4-FFF2-40B4-BE49-F238E27FC236}">
                <a16:creationId xmlns:a16="http://schemas.microsoft.com/office/drawing/2014/main" id="{489C94E0-1D96-4954-9DCB-4793B341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1866900"/>
            <a:ext cx="152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5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97" name="objective-gpal">
            <a:extLst xmlns:a="http://schemas.openxmlformats.org/drawingml/2006/main">
              <a:ext uri="{FF2B5EF4-FFF2-40B4-BE49-F238E27FC236}">
                <a16:creationId xmlns:a16="http://schemas.microsoft.com/office/drawing/2014/main" id="{B6AA5FD3-3D5F-4D2A-BEEA-F6681EE4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66900"/>
            <a:ext cx="68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50" b="0" i="1">
                <a:solidFill>
                  <a:srgbClr val="242424"/>
                </a:solidFill>
                <a:latin typeface="Arial"/>
                <a:ea typeface="Arial"/>
                <a:cs typeface="Arial"/>
              </a:rPr>
              <a:t>λ</a:t>
            </a:r>
            <a:r>
              <a:rPr sz="1509" b="0" i="0" baseline="-20000">
                <a:solidFill>
                  <a:srgbClr val="242424"/>
                </a:solidFill>
                <a:latin typeface="Arial"/>
                <a:ea typeface="Arial"/>
                <a:cs typeface="Arial"/>
              </a:rPr>
              <a:t>g</a:t>
            </a:r>
            <a:r>
              <a:rPr sz="125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 xml:space="preserve"> </a:t>
            </a:r>
            <a:r>
              <a:rPr sz="1250" b="0" i="1">
                <a:solidFill>
                  <a:srgbClr val="242424"/>
                </a:solidFill>
                <a:latin typeface="Arial"/>
                <a:ea typeface="Arial"/>
                <a:cs typeface="Arial"/>
              </a:rPr>
              <a:t>L</a:t>
            </a:r>
            <a:r>
              <a:rPr sz="1509" b="0" i="0" baseline="-20000">
                <a:solidFill>
                  <a:srgbClr val="242424"/>
                </a:solidFill>
                <a:latin typeface="Arial"/>
                <a:ea typeface="Arial"/>
                <a:cs typeface="Arial"/>
              </a:rPr>
              <a:t>GPAL</a:t>
            </a:r>
          </a:p>
        </p:txBody>
      </p:sp>
      <p:sp>
        <p:nvSpPr>
          <p:cNvPr id="298" name="objective-plus-2">
            <a:extLst xmlns:a="http://schemas.openxmlformats.org/drawingml/2006/main">
              <a:ext uri="{FF2B5EF4-FFF2-40B4-BE49-F238E27FC236}">
                <a16:creationId xmlns:a16="http://schemas.microsoft.com/office/drawing/2014/main" id="{634EF622-E26F-4B13-90C2-8708A64A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66900"/>
            <a:ext cx="152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5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99" name="objective-cls">
            <a:extLst xmlns:a="http://schemas.openxmlformats.org/drawingml/2006/main">
              <a:ext uri="{FF2B5EF4-FFF2-40B4-BE49-F238E27FC236}">
                <a16:creationId xmlns:a16="http://schemas.microsoft.com/office/drawing/2014/main" id="{93693EE6-09B6-4BCD-A272-4651D686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900" y="1866900"/>
            <a:ext cx="3683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50" b="0" i="1">
                <a:solidFill>
                  <a:srgbClr val="242424"/>
                </a:solidFill>
                <a:latin typeface="Arial"/>
                <a:ea typeface="Arial"/>
                <a:cs typeface="Arial"/>
              </a:rPr>
              <a:t>L</a:t>
            </a:r>
            <a:r>
              <a:rPr sz="1509" b="0" i="0" baseline="-20000">
                <a:solidFill>
                  <a:srgbClr val="242424"/>
                </a:solidFill>
                <a:latin typeface="Arial"/>
                <a:ea typeface="Arial"/>
                <a:cs typeface="Arial"/>
              </a:rPr>
              <a:t>cls</a:t>
            </a:r>
          </a:p>
        </p:txBody>
      </p:sp>
      <p:sp>
        <p:nvSpPr>
          <p:cNvPr id="300" name="objective-plus-3">
            <a:extLst xmlns:a="http://schemas.openxmlformats.org/drawingml/2006/main">
              <a:ext uri="{FF2B5EF4-FFF2-40B4-BE49-F238E27FC236}">
                <a16:creationId xmlns:a16="http://schemas.microsoft.com/office/drawing/2014/main" id="{232E2C06-3880-413D-9A0F-49DE1459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866900"/>
            <a:ext cx="152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5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242424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01" name="objective-hf">
            <a:extLst xmlns:a="http://schemas.openxmlformats.org/drawingml/2006/main">
              <a:ext uri="{FF2B5EF4-FFF2-40B4-BE49-F238E27FC236}">
                <a16:creationId xmlns:a16="http://schemas.microsoft.com/office/drawing/2014/main" id="{C3DE8D1C-1273-447E-A935-FBCE52AE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66900"/>
            <a:ext cx="6477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 i="0">
                <a:solidFill>
                  <a:srgbClr val="927035"/>
                </a:solidFill>
                <a:latin typeface="Arial"/>
                <a:ea typeface="Arial"/>
                <a:cs typeface="Arial"/>
              </a:defRPr>
            </a:pPr>
            <a:r>
              <a:rPr sz="1250" b="0" i="1">
                <a:solidFill>
                  <a:srgbClr val="927035"/>
                </a:solidFill>
                <a:latin typeface="Arial"/>
                <a:ea typeface="Arial"/>
                <a:cs typeface="Arial"/>
              </a:rPr>
              <a:t>λ</a:t>
            </a:r>
            <a:r>
              <a:rPr sz="1509" b="0" i="0" baseline="-20000">
                <a:solidFill>
                  <a:srgbClr val="927035"/>
                </a:solidFill>
                <a:latin typeface="Arial"/>
                <a:ea typeface="Arial"/>
                <a:cs typeface="Arial"/>
              </a:rPr>
              <a:t>HF</a:t>
            </a:r>
            <a:r>
              <a:rPr sz="1250" b="0" i="0">
                <a:solidFill>
                  <a:srgbClr val="927035"/>
                </a:solidFill>
                <a:latin typeface="Arial"/>
                <a:ea typeface="Arial"/>
                <a:cs typeface="Arial"/>
              </a:rPr>
              <a:t xml:space="preserve"> </a:t>
            </a:r>
            <a:r>
              <a:rPr sz="1250" b="0" i="1">
                <a:solidFill>
                  <a:srgbClr val="927035"/>
                </a:solidFill>
                <a:latin typeface="Arial"/>
                <a:ea typeface="Arial"/>
                <a:cs typeface="Arial"/>
              </a:rPr>
              <a:t>L</a:t>
            </a:r>
            <a:r>
              <a:rPr sz="1509" b="0" i="0" baseline="-20000">
                <a:solidFill>
                  <a:srgbClr val="927035"/>
                </a:solidFill>
                <a:latin typeface="Arial"/>
                <a:ea typeface="Arial"/>
                <a:cs typeface="Arial"/>
              </a:rPr>
              <a:t>HF</a:t>
            </a:r>
          </a:p>
        </p:txBody>
      </p:sp>
      <p:sp>
        <p:nvSpPr>
          <p:cNvPr id="309" name="hf-cw-selection">
            <a:extLst xmlns:a="http://schemas.openxmlformats.org/drawingml/2006/main">
              <a:ext uri="{FF2B5EF4-FFF2-40B4-BE49-F238E27FC236}">
                <a16:creationId xmlns:a16="http://schemas.microsoft.com/office/drawing/2014/main" id="{3850DAB7-848F-4FC5-B91F-A078EC03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435100"/>
            <a:ext cx="304800" cy="13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0" b="0" i="0">
                <a:solidFill>
                  <a:srgbClr val="927035"/>
                </a:solidFill>
                <a:latin typeface="Arial"/>
                <a:ea typeface="Arial"/>
                <a:cs typeface="Arial"/>
              </a:defRPr>
            </a:pPr>
            <a:r>
              <a:rPr sz="880" b="0" i="0">
                <a:solidFill>
                  <a:srgbClr val="927035"/>
                </a:solidFill>
                <a:latin typeface="Arial"/>
                <a:ea typeface="Arial"/>
                <a:cs typeface="Arial"/>
              </a:rPr>
              <a:t>C/W</a:t>
            </a:r>
          </a:p>
        </p:txBody>
      </p:sp>
      <p:sp>
        <p:nvSpPr>
          <p:cNvPr id="311" name="hf-optional">
            <a:extLst xmlns:a="http://schemas.openxmlformats.org/drawingml/2006/main">
              <a:ext uri="{FF2B5EF4-FFF2-40B4-BE49-F238E27FC236}">
                <a16:creationId xmlns:a16="http://schemas.microsoft.com/office/drawing/2014/main" id="{387ABDF6-D660-4C1B-9CBB-FD25DA88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235200"/>
            <a:ext cx="698500" cy="13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92703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27035"/>
                </a:solidFill>
                <a:latin typeface="Arial"/>
                <a:ea typeface="Arial"/>
                <a:cs typeface="Arial"/>
              </a:rPr>
              <a:t>optional</a:t>
            </a:r>
          </a:p>
        </p:txBody>
      </p:sp>
      <p:sp>
        <p:nvSpPr>
          <p:cNvPr id="314" name="training-feedback">
            <a:extLst xmlns:a="http://schemas.openxmlformats.org/drawingml/2006/main">
              <a:ext uri="{FF2B5EF4-FFF2-40B4-BE49-F238E27FC236}">
                <a16:creationId xmlns:a16="http://schemas.microsoft.com/office/drawing/2014/main" id="{862E13A2-9542-4386-B10D-B7DFCA57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1473200"/>
            <a:ext cx="67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77D8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77D82"/>
                </a:solidFill>
                <a:latin typeface="Arial"/>
                <a:ea typeface="Arial"/>
                <a:cs typeface="Arial"/>
              </a:rPr>
              <a:t>Backprop</a:t>
            </a:r>
          </a:p>
        </p:txBody>
      </p:sp>
    </p:spTree>
    <p:extLst>
      <p:ext uri="{BB962C8B-B14F-4D97-AF65-F5344CB8AC3E}">
        <p14:creationId xmlns:p14="http://schemas.microsoft.com/office/powerpoint/2010/main" val="256367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2026-09-14T14:05:05.0290000Z</dcterms:created>
  <dcterms:modified xsi:type="dcterms:W3CDTF">2026-09-14T14:05:05.0290000Z</dcterms:modified>
</coreProperties>
</file>