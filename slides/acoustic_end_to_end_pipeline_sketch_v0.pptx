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05e0d032749b8" /><Relationship Type="http://schemas.openxmlformats.org/officeDocument/2006/relationships/extended-properties" Target="/docProps/app.xml" Id="Rea85f4f88e114cff" /><Relationship Type="http://schemas.openxmlformats.org/officeDocument/2006/relationships/officeDocument" Target="/ppt/presentation.xml" Id="Rfe7a2b66b265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19fc3f27a42e7"/>
  </p:sldMasterIdLst>
  <p:notesMasterIdLst>
    <p:notesMasterId xmlns:r="http://schemas.openxmlformats.org/officeDocument/2006/relationships" r:id="R3389f437a4514d58"/>
  </p:notesMasterIdLst>
  <p:sldIdLst>
    <p:sldId xmlns:r="http://schemas.openxmlformats.org/officeDocument/2006/relationships" id="256" r:id="R9d5430efc4164d32"/>
    <p:sldId xmlns:r="http://schemas.openxmlformats.org/officeDocument/2006/relationships" id="257" r:id="R98e15396e48f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716a85ba9849a4" /><Relationship Type="http://schemas.openxmlformats.org/officeDocument/2006/relationships/slideMaster" Target="/ppt/slideMasters/slideMaster1.xml" Id="R2cb19fc3f27a42e7" /><Relationship Type="http://schemas.openxmlformats.org/officeDocument/2006/relationships/notesMaster" Target="/ppt/notesMasters/notesMaster1.xml" Id="R3389f437a4514d58" /><Relationship Type="http://schemas.openxmlformats.org/officeDocument/2006/relationships/presProps" Target="/ppt/presProps.xml" Id="Rf1eefe2a72e9432d" /><Relationship Type="http://schemas.openxmlformats.org/officeDocument/2006/relationships/tableStyles" Target="/ppt/tableStyles.xml" Id="R58b0020c963f4bdf" /><Relationship Type="http://schemas.openxmlformats.org/officeDocument/2006/relationships/slide" Target="/ppt/slides/slide1.xml" Id="R9d5430efc4164d32" /><Relationship Type="http://schemas.openxmlformats.org/officeDocument/2006/relationships/slide" Target="/ppt/slides/slide2.xml" Id="R98e15396e48f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8d9f7c30a44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def335af8f4c70" /><Relationship Type="http://schemas.openxmlformats.org/officeDocument/2006/relationships/notesMaster" Target="/ppt/notesMasters/notesMaster1.xml" Id="R121277f5056f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19ee42bbc4d18" /><Relationship Type="http://schemas.openxmlformats.org/officeDocument/2006/relationships/notesMaster" Target="/ppt/notesMasters/notesMaster1.xml" Id="R54d515792097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/Users/zilongzeng/Research/Acoustic/docs/DATASETS.md</a:t>
            </a:r>
          </a:p>
          <a:p xmlns:a="http://schemas.openxmlformats.org/drawingml/2006/main">
            <a:r>
              <a:t>- /Users/zilongzeng/Research/Acoustic/dataset/processed/schema/event_fields.csv</a:t>
            </a:r>
          </a:p>
          <a:p xmlns:a="http://schemas.openxmlformats.org/drawingml/2006/main">
            <a:r>
              <a:t>- https://app.notion.com/p/3aa309efda298184b077dd3c46438f75 (2026-07-24 Project Discussion Meeting Record)</a:t>
            </a:r>
          </a:p>
          <a:p xmlns:a="http://schemas.openxmlformats.org/drawingml/2006/main">
            <a:r>
              <a:t>- https://app.notion.com/p/3aa309efda29811aa0bcc87211846295 (2026-07-27 Working Plan)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/Users/zilongzeng/Research/Acoustic/docs/MODEL.md</a:t>
            </a:r>
          </a:p>
          <a:p xmlns:a="http://schemas.openxmlformats.org/drawingml/2006/main">
            <a:r>
              <a:t>- /Users/zilongzeng/Research/Acoustic/docs/WORK_PLAN.md</a:t>
            </a:r>
          </a:p>
          <a:p xmlns:a="http://schemas.openxmlformats.org/drawingml/2006/main">
            <a:r>
              <a:t>- /Users/zilongzeng/Research/Acoustic/docs/surveys/survey_primary_source_novelty_audit_2026-07-24.md</a:t>
            </a:r>
          </a:p>
          <a:p xmlns:a="http://schemas.openxmlformats.org/drawingml/2006/main">
            <a:r>
              <a:t>- https://app.notion.com/p/3aa309efda29811aa0bcc87211846295 (2026-07-27 Working Plan)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d7bddb3de45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80ce31ae7244ff" /><Relationship Type="http://schemas.openxmlformats.org/officeDocument/2006/relationships/slideLayout" Target="/ppt/slideLayouts/slideLayout1.xml" Id="Ra49063ce2f43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063ce2f43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fcd36ec543da" /><Relationship Type="http://schemas.openxmlformats.org/officeDocument/2006/relationships/notesSlide" Target="/ppt/notesSlides/notesSlide1.xml" Id="R640bff13799e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d41e4b7384129" /><Relationship Type="http://schemas.openxmlformats.org/officeDocument/2006/relationships/notesSlide" Target="/ppt/notesSlides/notesSlide2.xml" Id="R884fc55db1e84f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A65DEC-C9C3-4B8F-A1F9-5394C9F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End-to-end pipeline v0 — shared evidence, native tasks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1B6F83-6ED6-4946-A285-82F6022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Solid boxes are fixed contracts; the dashed representation zone remains open for ablation.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858207-27C9-4036-8D1A-8455DAE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arrow-sources-adapter">
            <a:extLst xmlns:a="http://schemas.openxmlformats.org/drawingml/2006/main">
              <a:ext uri="{FF2B5EF4-FFF2-40B4-BE49-F238E27FC236}">
                <a16:creationId xmlns:a16="http://schemas.microsoft.com/office/drawing/2014/main" id="{5B351789-5091-4821-B61C-5553BB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adapter-representation">
            <a:extLst xmlns:a="http://schemas.openxmlformats.org/drawingml/2006/main">
              <a:ext uri="{FF2B5EF4-FFF2-40B4-BE49-F238E27FC236}">
                <a16:creationId xmlns:a16="http://schemas.microsoft.com/office/drawing/2014/main" id="{4709BF1F-6387-4EA2-8654-40C99CB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representation-heads">
            <a:extLst xmlns:a="http://schemas.openxmlformats.org/drawingml/2006/main">
              <a:ext uri="{FF2B5EF4-FFF2-40B4-BE49-F238E27FC236}">
                <a16:creationId xmlns:a16="http://schemas.microsoft.com/office/drawing/2014/main" id="{684077DF-0F1F-4949-BA96-96F6C79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heads-objective">
            <a:extLst xmlns:a="http://schemas.openxmlformats.org/drawingml/2006/main">
              <a:ext uri="{FF2B5EF4-FFF2-40B4-BE49-F238E27FC236}">
                <a16:creationId xmlns:a16="http://schemas.microsoft.com/office/drawing/2014/main" id="{4049C598-8188-4B23-948F-9D4BBF6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1D4B4EA6-E52B-49BD-A29A-191C556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F6B7A"/>
                </a:solidFill>
              </a:defRPr>
            </a:pPr>
            <a:r>
              <a:rPr sz="1125" b="1">
                <a:solidFill>
                  <a:srgbClr val="5F6B7A"/>
                </a:solidFill>
              </a:rPr>
              <a:t>DATASETS + NATIVE UNITS</a:t>
            </a:r>
          </a:p>
        </p:txBody>
      </p:sp>
      <p:sp>
        <p:nvSpPr>
          <p:cNvPr id="9" name="source-icbhi">
            <a:extLst xmlns:a="http://schemas.openxmlformats.org/drawingml/2006/main">
              <a:ext uri="{FF2B5EF4-FFF2-40B4-BE49-F238E27FC236}">
                <a16:creationId xmlns:a16="http://schemas.microsoft.com/office/drawing/2014/main" id="{4712DC49-8BC0-424D-91EA-1E314D6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2D7F"/>
          </a:solidFill>
          <a:ln xmlns:a="http://schemas.openxmlformats.org/drawingml/2006/main" w="9525">
            <a:solidFill>
              <a:srgbClr val="4F2D7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ICBHI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cycles</a:t>
            </a:r>
          </a:p>
        </p:txBody>
      </p:sp>
      <p:sp>
        <p:nvSpPr>
          <p:cNvPr id="10" name="source-sprsound">
            <a:extLst xmlns:a="http://schemas.openxmlformats.org/drawingml/2006/main">
              <a:ext uri="{FF2B5EF4-FFF2-40B4-BE49-F238E27FC236}">
                <a16:creationId xmlns:a16="http://schemas.microsoft.com/office/drawing/2014/main" id="{B7FD087A-5EEF-4613-926B-464E362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SPRSound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events + recordings</a:t>
            </a:r>
          </a:p>
        </p:txBody>
      </p:sp>
      <p:sp>
        <p:nvSpPr>
          <p:cNvPr id="11" name="source-hf_lung">
            <a:extLst xmlns:a="http://schemas.openxmlformats.org/drawingml/2006/main">
              <a:ext uri="{FF2B5EF4-FFF2-40B4-BE49-F238E27FC236}">
                <a16:creationId xmlns:a16="http://schemas.microsoft.com/office/drawing/2014/main" id="{CC7CAE31-1EFD-4D23-B792-C8041EE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74AE"/>
          </a:solidFill>
          <a:ln xmlns:a="http://schemas.openxmlformats.org/drawingml/2006/main" w="9525">
            <a:solidFill>
              <a:srgbClr val="2774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HF_Lung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overlapping intervals</a:t>
            </a:r>
          </a:p>
        </p:txBody>
      </p:sp>
      <p:sp>
        <p:nvSpPr>
          <p:cNvPr id="12" name="source-kauh">
            <a:extLst xmlns:a="http://schemas.openxmlformats.org/drawingml/2006/main">
              <a:ext uri="{FF2B5EF4-FFF2-40B4-BE49-F238E27FC236}">
                <a16:creationId xmlns:a16="http://schemas.microsoft.com/office/drawing/2014/main" id="{CE2A88AD-DACD-47E3-B53A-2A8770D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45A16"/>
          </a:solidFill>
          <a:ln xmlns:a="http://schemas.openxmlformats.org/drawingml/2006/main" w="9525">
            <a:solidFill>
              <a:srgbClr val="C45A16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KAUH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recordings + patients</a:t>
            </a:r>
          </a:p>
        </p:txBody>
      </p:sp>
      <p:sp>
        <p:nvSpPr>
          <p:cNvPr id="13" name="adapter-box">
            <a:extLst xmlns:a="http://schemas.openxmlformats.org/drawingml/2006/main">
              <a:ext uri="{FF2B5EF4-FFF2-40B4-BE49-F238E27FC236}">
                <a16:creationId xmlns:a16="http://schemas.microsoft.com/office/drawing/2014/main" id="{25B27F31-6220-4D3D-B899-67E71F8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57350"/>
            <a:ext cx="1905000" cy="2800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14" name="adapter-title">
            <a:extLst xmlns:a="http://schemas.openxmlformats.org/drawingml/2006/main">
              <a:ext uri="{FF2B5EF4-FFF2-40B4-BE49-F238E27FC236}">
                <a16:creationId xmlns:a16="http://schemas.microsoft.com/office/drawing/2014/main" id="{37494E27-3774-45A8-BC15-8C84012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DATA CONTRACT + ADAPTER</a:t>
            </a:r>
          </a:p>
        </p:txBody>
      </p:sp>
      <p:sp>
        <p:nvSpPr>
          <p:cNvPr id="15" name="adapter-body">
            <a:extLst xmlns:a="http://schemas.openxmlformats.org/drawingml/2006/main">
              <a:ext uri="{FF2B5EF4-FFF2-40B4-BE49-F238E27FC236}">
                <a16:creationId xmlns:a16="http://schemas.microsoft.com/office/drawing/2014/main" id="{C904F620-EFA3-4AEF-9276-046E6B4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160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  Immutable raw/native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2  Unitization + lineage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cycle • event • interval • recording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3  Preprocess + padding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waveform [B,T] • pad mask [B,T]</a:t>
            </a:r>
          </a:p>
        </p:txBody>
      </p:sp>
      <p:sp>
        <p:nvSpPr>
          <p:cNvPr id="16" name="representation-zone">
            <a:extLst xmlns:a="http://schemas.openxmlformats.org/drawingml/2006/main">
              <a:ext uri="{FF2B5EF4-FFF2-40B4-BE49-F238E27FC236}">
                <a16:creationId xmlns:a16="http://schemas.microsoft.com/office/drawing/2014/main" id="{AA389197-55CF-40F8-B332-E3E379B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2952750" cy="32385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17" name="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CE0C7C66-295A-4D5C-AE12-ADCEA3F0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REPRESENTATION — OPEN FOR ABLATION</a:t>
            </a:r>
          </a:p>
        </p:txBody>
      </p:sp>
      <p:sp>
        <p:nvSpPr>
          <p:cNvPr id="18" name="repr-baseline-box">
            <a:extLst xmlns:a="http://schemas.openxmlformats.org/drawingml/2006/main">
              <a:ext uri="{FF2B5EF4-FFF2-40B4-BE49-F238E27FC236}">
                <a16:creationId xmlns:a16="http://schemas.microsoft.com/office/drawing/2014/main" id="{5BCB9D19-EF97-45A9-99C4-4F27CB8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476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repr-baseline-title">
            <a:extLst xmlns:a="http://schemas.openxmlformats.org/drawingml/2006/main">
              <a:ext uri="{FF2B5EF4-FFF2-40B4-BE49-F238E27FC236}">
                <a16:creationId xmlns:a16="http://schemas.microsoft.com/office/drawing/2014/main" id="{FE0EB95D-BCCC-4CA6-B8B6-3D02B71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669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Baseline</a:t>
            </a:r>
          </a:p>
        </p:txBody>
      </p:sp>
      <p:sp>
        <p:nvSpPr>
          <p:cNvPr id="20" name="repr-baseline-body">
            <a:extLst xmlns:a="http://schemas.openxmlformats.org/drawingml/2006/main">
              <a:ext uri="{FF2B5EF4-FFF2-40B4-BE49-F238E27FC236}">
                <a16:creationId xmlns:a16="http://schemas.microsoft.com/office/drawing/2014/main" id="{E33EF3FB-7B2B-4DB9-829D-04A4ADA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955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shared encoder → [B,L,D] / [B,D]</a:t>
            </a:r>
          </a:p>
        </p:txBody>
      </p:sp>
      <p:sp>
        <p:nvSpPr>
          <p:cNvPr id="21" name="repr-candidate-a-box">
            <a:extLst xmlns:a="http://schemas.openxmlformats.org/drawingml/2006/main">
              <a:ext uri="{FF2B5EF4-FFF2-40B4-BE49-F238E27FC236}">
                <a16:creationId xmlns:a16="http://schemas.microsoft.com/office/drawing/2014/main" id="{8E514C82-F473-4467-A42C-AD869B0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2" name="repr-candidate-a-title">
            <a:extLst xmlns:a="http://schemas.openxmlformats.org/drawingml/2006/main">
              <a:ext uri="{FF2B5EF4-FFF2-40B4-BE49-F238E27FC236}">
                <a16:creationId xmlns:a16="http://schemas.microsoft.com/office/drawing/2014/main" id="{2F84DE29-0BD7-4469-975A-056B717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051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Candidate A</a:t>
            </a:r>
          </a:p>
        </p:txBody>
      </p:sp>
      <p:sp>
        <p:nvSpPr>
          <p:cNvPr id="23" name="repr-candidate-a-body">
            <a:extLst xmlns:a="http://schemas.openxmlformats.org/drawingml/2006/main">
              <a:ext uri="{FF2B5EF4-FFF2-40B4-BE49-F238E27FC236}">
                <a16:creationId xmlns:a16="http://schemas.microsoft.com/office/drawing/2014/main" id="{0A3813E6-7B61-4B3C-8221-70888FF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337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shared encoder + domain-specific residual</a:t>
            </a:r>
          </a:p>
        </p:txBody>
      </p:sp>
      <p:sp>
        <p:nvSpPr>
          <p:cNvPr id="24" name="repr-candidate-b-box">
            <a:extLst xmlns:a="http://schemas.openxmlformats.org/drawingml/2006/main">
              <a:ext uri="{FF2B5EF4-FFF2-40B4-BE49-F238E27FC236}">
                <a16:creationId xmlns:a16="http://schemas.microsoft.com/office/drawing/2014/main" id="{8D6AAD7A-55D2-453D-A252-70B2F49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25" name="repr-candidate-b-title">
            <a:extLst xmlns:a="http://schemas.openxmlformats.org/drawingml/2006/main">
              <a:ext uri="{FF2B5EF4-FFF2-40B4-BE49-F238E27FC236}">
                <a16:creationId xmlns:a16="http://schemas.microsoft.com/office/drawing/2014/main" id="{391A4DEF-DC92-4DA8-A890-51972D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Candidate B</a:t>
            </a:r>
          </a:p>
        </p:txBody>
      </p:sp>
      <p:sp>
        <p:nvSpPr>
          <p:cNvPr id="26" name="repr-candidate-b-body">
            <a:extLst xmlns:a="http://schemas.openxmlformats.org/drawingml/2006/main">
              <a:ext uri="{FF2B5EF4-FFF2-40B4-BE49-F238E27FC236}">
                <a16:creationId xmlns:a16="http://schemas.microsoft.com/office/drawing/2014/main" id="{DDC6B61D-126F-4916-8A03-813F01C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multiple encoders + fusion / MoE</a:t>
            </a:r>
          </a:p>
        </p:txBody>
      </p:sp>
      <p:sp>
        <p:nvSpPr>
          <p:cNvPr id="27" name="shared-heads-box">
            <a:extLst xmlns:a="http://schemas.openxmlformats.org/drawingml/2006/main">
              <a:ext uri="{FF2B5EF4-FFF2-40B4-BE49-F238E27FC236}">
                <a16:creationId xmlns:a16="http://schemas.microsoft.com/office/drawing/2014/main" id="{F9671544-0DA8-4AE3-A75D-4BF97BE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8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8" name="shared-heads-title">
            <a:extLst xmlns:a="http://schemas.openxmlformats.org/drawingml/2006/main">
              <a:ext uri="{FF2B5EF4-FFF2-40B4-BE49-F238E27FC236}">
                <a16:creationId xmlns:a16="http://schemas.microsoft.com/office/drawing/2014/main" id="{7E274DAC-045A-4BBF-AD72-814D2A8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</a:defRPr>
            </a:pPr>
            <a:r>
              <a:rPr sz="1350" b="1">
                <a:solidFill>
                  <a:srgbClr val="087F8C"/>
                </a:solidFill>
              </a:rPr>
              <a:t>SHARED COMPATIBLE HEADS</a:t>
            </a:r>
          </a:p>
        </p:txBody>
      </p:sp>
      <p:sp>
        <p:nvSpPr>
          <p:cNvPr id="29" name="shared-heads-body">
            <a:extLst xmlns:a="http://schemas.openxmlformats.org/drawingml/2006/main">
              <a:ext uri="{FF2B5EF4-FFF2-40B4-BE49-F238E27FC236}">
                <a16:creationId xmlns:a16="http://schemas.microsoft.com/office/drawing/2014/main" id="{D67155C8-1783-4684-A63C-C9FE0ED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eligible acoustic attributes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normal/abnormal • crackle • wheeze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mask [B,Cₕ]</a:t>
            </a:r>
          </a:p>
        </p:txBody>
      </p:sp>
      <p:sp>
        <p:nvSpPr>
          <p:cNvPr id="30" name="native-heads-box">
            <a:extLst xmlns:a="http://schemas.openxmlformats.org/drawingml/2006/main">
              <a:ext uri="{FF2B5EF4-FFF2-40B4-BE49-F238E27FC236}">
                <a16:creationId xmlns:a16="http://schemas.microsoft.com/office/drawing/2014/main" id="{FABA2266-428E-4B13-8212-2D03E2D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C45A16"/>
            </a:solidFill>
            <a:prstDash val="solid"/>
          </a:ln>
        </p:spPr>
      </p:sp>
      <p:sp>
        <p:nvSpPr>
          <p:cNvPr id="31" name="native-heads-title">
            <a:extLst xmlns:a="http://schemas.openxmlformats.org/drawingml/2006/main">
              <a:ext uri="{FF2B5EF4-FFF2-40B4-BE49-F238E27FC236}">
                <a16:creationId xmlns:a16="http://schemas.microsoft.com/office/drawing/2014/main" id="{89D7873D-8805-4424-B953-9745285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16"/>
                </a:solidFill>
              </a:defRPr>
            </a:pPr>
            <a:r>
              <a:rPr sz="1350" b="1">
                <a:solidFill>
                  <a:srgbClr val="C45A16"/>
                </a:solidFill>
              </a:rPr>
              <a:t>DATASET-NATIVE HEADS</a:t>
            </a:r>
          </a:p>
        </p:txBody>
      </p:sp>
      <p:sp>
        <p:nvSpPr>
          <p:cNvPr id="32" name="native-heads-body">
            <a:extLst xmlns:a="http://schemas.openxmlformats.org/drawingml/2006/main">
              <a:ext uri="{FF2B5EF4-FFF2-40B4-BE49-F238E27FC236}">
                <a16:creationId xmlns:a16="http://schemas.microsoft.com/office/drawing/2014/main" id="{061FABE9-9AC6-48BD-8E82-3271F62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native label spaces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quality • interval • record • diagnosis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mask [B,Cₕ]</a:t>
            </a:r>
          </a:p>
        </p:txBody>
      </p:sp>
      <p:sp>
        <p:nvSpPr>
          <p:cNvPr id="33" name="training-objective-box">
            <a:extLst xmlns:a="http://schemas.openxmlformats.org/drawingml/2006/main">
              <a:ext uri="{FF2B5EF4-FFF2-40B4-BE49-F238E27FC236}">
                <a16:creationId xmlns:a16="http://schemas.microsoft.com/office/drawing/2014/main" id="{52D41143-BE90-4F83-B5B4-58B8AD5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4" name="training-objective-title">
            <a:extLst xmlns:a="http://schemas.openxmlformats.org/drawingml/2006/main">
              <a:ext uri="{FF2B5EF4-FFF2-40B4-BE49-F238E27FC236}">
                <a16:creationId xmlns:a16="http://schemas.microsoft.com/office/drawing/2014/main" id="{670E0A6F-6F4E-4292-AD12-B3318B2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47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MASKED LOSSES</a:t>
            </a:r>
          </a:p>
        </p:txBody>
      </p:sp>
      <p:sp>
        <p:nvSpPr>
          <p:cNvPr id="35" name="training-objective-body">
            <a:extLst xmlns:a="http://schemas.openxmlformats.org/drawingml/2006/main">
              <a:ext uri="{FF2B5EF4-FFF2-40B4-BE49-F238E27FC236}">
                <a16:creationId xmlns:a16="http://schemas.microsoft.com/office/drawing/2014/main" id="{3F55B08F-A1D8-4D26-8C35-3CFF294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907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 balancing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× class / tail balancing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× eligibility masks</a:t>
            </a:r>
          </a:p>
        </p:txBody>
      </p:sp>
      <p:sp>
        <p:nvSpPr>
          <p:cNvPr id="36" name="evaluation-box">
            <a:extLst xmlns:a="http://schemas.openxmlformats.org/drawingml/2006/main">
              <a:ext uri="{FF2B5EF4-FFF2-40B4-BE49-F238E27FC236}">
                <a16:creationId xmlns:a16="http://schemas.microsoft.com/office/drawing/2014/main" id="{7FD30500-6C1E-404E-A982-1893676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3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DC9A26FF-DA08-4001-B26B-69DF9E36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EVALUATION + CLAIMS</a:t>
            </a:r>
          </a:p>
        </p:txBody>
      </p:sp>
      <p:sp>
        <p:nvSpPr>
          <p:cNvPr id="38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7FBB7E25-5069-4A6C-9387-6B70474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100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per-dataset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macro-F1 • UAR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support • LODO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shortcut probes</a:t>
            </a:r>
          </a:p>
        </p:txBody>
      </p:sp>
      <p:sp>
        <p:nvSpPr>
          <p:cNvPr id="39" name="control-lane-label">
            <a:extLst xmlns:a="http://schemas.openxmlformats.org/drawingml/2006/main">
              <a:ext uri="{FF2B5EF4-FFF2-40B4-BE49-F238E27FC236}">
                <a16:creationId xmlns:a16="http://schemas.microsoft.com/office/drawing/2014/main" id="{1A88FBDD-7252-4145-A1E1-EDA8D61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WHERE THE TWO IMBALANCES AND SHORTCUT CONTROLS ENTER</a:t>
            </a:r>
          </a:p>
        </p:txBody>
      </p:sp>
      <p:sp>
        <p:nvSpPr>
          <p:cNvPr id="40" name="control-source-box">
            <a:extLst xmlns:a="http://schemas.openxmlformats.org/drawingml/2006/main">
              <a:ext uri="{FF2B5EF4-FFF2-40B4-BE49-F238E27FC236}">
                <a16:creationId xmlns:a16="http://schemas.microsoft.com/office/drawing/2014/main" id="{4E12F059-6350-4101-9052-270D92E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41" name="control-source-title">
            <a:extLst xmlns:a="http://schemas.openxmlformats.org/drawingml/2006/main">
              <a:ext uri="{FF2B5EF4-FFF2-40B4-BE49-F238E27FC236}">
                <a16:creationId xmlns:a16="http://schemas.microsoft.com/office/drawing/2014/main" id="{B8E7A843-055A-4AED-8885-D83D897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SOURCE-LEVEL IMBALANCE</a:t>
            </a:r>
          </a:p>
        </p:txBody>
      </p:sp>
      <p:sp>
        <p:nvSpPr>
          <p:cNvPr id="42" name="control-source-body">
            <a:extLst xmlns:a="http://schemas.openxmlformats.org/drawingml/2006/main">
              <a:ext uri="{FF2B5EF4-FFF2-40B4-BE49-F238E27FC236}">
                <a16:creationId xmlns:a16="http://schemas.microsoft.com/office/drawing/2014/main" id="{DA601A82-CC50-49E4-982B-45D2AB6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dataset-balanced sampler / source weights</a:t>
            </a:r>
          </a:p>
        </p:txBody>
      </p:sp>
      <p:sp>
        <p:nvSpPr>
          <p:cNvPr id="43" name="control-tail-box">
            <a:extLst xmlns:a="http://schemas.openxmlformats.org/drawingml/2006/main">
              <a:ext uri="{FF2B5EF4-FFF2-40B4-BE49-F238E27FC236}">
                <a16:creationId xmlns:a16="http://schemas.microsoft.com/office/drawing/2014/main" id="{049B9161-10C0-4220-99A4-8088E6C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44" name="control-tail-title">
            <a:extLst xmlns:a="http://schemas.openxmlformats.org/drawingml/2006/main">
              <a:ext uri="{FF2B5EF4-FFF2-40B4-BE49-F238E27FC236}">
                <a16:creationId xmlns:a16="http://schemas.microsoft.com/office/drawing/2014/main" id="{D35BF276-64BC-4642-B788-1FFF048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3B"/>
                </a:solidFill>
              </a:defRPr>
            </a:pPr>
            <a:r>
              <a:rPr sz="1275" b="1">
                <a:solidFill>
                  <a:srgbClr val="B4233B"/>
                </a:solidFill>
              </a:rPr>
              <a:t>CLASS / EVIDENCE TAIL</a:t>
            </a:r>
          </a:p>
        </p:txBody>
      </p:sp>
      <p:sp>
        <p:nvSpPr>
          <p:cNvPr id="45" name="control-tail-body">
            <a:extLst xmlns:a="http://schemas.openxmlformats.org/drawingml/2006/main">
              <a:ext uri="{FF2B5EF4-FFF2-40B4-BE49-F238E27FC236}">
                <a16:creationId xmlns:a16="http://schemas.microsoft.com/office/drawing/2014/main" id="{67F9FA1C-45DC-4FCF-B05F-C2B952A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tail loss / event-sensitive pooling</a:t>
            </a:r>
          </a:p>
        </p:txBody>
      </p:sp>
      <p:sp>
        <p:nvSpPr>
          <p:cNvPr id="46" name="control-shortcut-box">
            <a:extLst xmlns:a="http://schemas.openxmlformats.org/drawingml/2006/main">
              <a:ext uri="{FF2B5EF4-FFF2-40B4-BE49-F238E27FC236}">
                <a16:creationId xmlns:a16="http://schemas.microsoft.com/office/drawing/2014/main" id="{B1995C46-7396-40C7-992E-34FD567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7" name="control-shortcut-title">
            <a:extLst xmlns:a="http://schemas.openxmlformats.org/drawingml/2006/main">
              <a:ext uri="{FF2B5EF4-FFF2-40B4-BE49-F238E27FC236}">
                <a16:creationId xmlns:a16="http://schemas.microsoft.com/office/drawing/2014/main" id="{CE8396B0-411A-4CC2-AF10-657120D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91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SHORTCUT + ATTRIBUTION</a:t>
            </a:r>
          </a:p>
        </p:txBody>
      </p:sp>
      <p:sp>
        <p:nvSpPr>
          <p:cNvPr id="48" name="control-shortcut-body">
            <a:extLst xmlns:a="http://schemas.openxmlformats.org/drawingml/2006/main">
              <a:ext uri="{FF2B5EF4-FFF2-40B4-BE49-F238E27FC236}">
                <a16:creationId xmlns:a16="http://schemas.microsoft.com/office/drawing/2014/main" id="{380D6975-16CB-4F4F-8D05-7D8F407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dataset-ID probe / AudioSet-only / random-init</a:t>
            </a:r>
          </a:p>
        </p:txBody>
      </p:sp>
      <p:sp>
        <p:nvSpPr>
          <p:cNvPr id="49" name="control-claim-box">
            <a:extLst xmlns:a="http://schemas.openxmlformats.org/drawingml/2006/main">
              <a:ext uri="{FF2B5EF4-FFF2-40B4-BE49-F238E27FC236}">
                <a16:creationId xmlns:a16="http://schemas.microsoft.com/office/drawing/2014/main" id="{683DBD47-F7CF-481A-949C-9EBAC51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619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0" name="control-claim-title">
            <a:extLst xmlns:a="http://schemas.openxmlformats.org/drawingml/2006/main">
              <a:ext uri="{FF2B5EF4-FFF2-40B4-BE49-F238E27FC236}">
                <a16:creationId xmlns:a16="http://schemas.microsoft.com/office/drawing/2014/main" id="{31B7F83C-0417-4ADE-8C3A-FD30F32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CLAIM LEDGER</a:t>
            </a:r>
          </a:p>
        </p:txBody>
      </p:sp>
      <p:sp>
        <p:nvSpPr>
          <p:cNvPr id="51" name="control-claim-body">
            <a:extLst xmlns:a="http://schemas.openxmlformats.org/drawingml/2006/main">
              <a:ext uri="{FF2B5EF4-FFF2-40B4-BE49-F238E27FC236}">
                <a16:creationId xmlns:a16="http://schemas.microsoft.com/office/drawing/2014/main" id="{EB7CAA28-A8F0-4B29-A5DD-0433A17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protocol • split • target-label use • metric • support</a:t>
            </a:r>
          </a:p>
        </p:txBody>
      </p:sp>
      <p:sp>
        <p:nvSpPr>
          <p:cNvPr id="52" name="footer-1">
            <a:extLst xmlns:a="http://schemas.openxmlformats.org/drawingml/2006/main">
              <a:ext uri="{FF2B5EF4-FFF2-40B4-BE49-F238E27FC236}">
                <a16:creationId xmlns:a16="http://schemas.microsoft.com/office/drawing/2014/main" id="{E86A6631-BC32-4953-91D2-F88A3AC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sketch v0  •  discussion draft  •  1/2</a:t>
            </a:r>
          </a:p>
        </p:txBody>
      </p:sp>
    </p:spTree>
    <p:extLst>
      <p:ext uri="{BB962C8B-B14F-4D97-AF65-F5344CB8AC3E}">
        <p14:creationId xmlns:p14="http://schemas.microsoft.com/office/powerpoint/2010/main" val="999326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0C08-A4C1-48CE-A754-8197A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Architecture freeze map — contracts, candidates and gates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C40AE-31F7-44F8-9C58-1021653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The pipeline can be specified now; the final representation architecture must wait for controlled baselines.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6C12A8-652A-4663-9E81-BD626C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gate-arrow-0">
            <a:extLst xmlns:a="http://schemas.openxmlformats.org/drawingml/2006/main">
              <a:ext uri="{FF2B5EF4-FFF2-40B4-BE49-F238E27FC236}">
                <a16:creationId xmlns:a16="http://schemas.microsoft.com/office/drawing/2014/main" id="{5B7B0C69-E48C-45D0-8FBF-9878D7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97245E88-92A1-4A43-BAF7-4943E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45EB9C68-306F-4AF9-828D-2937D1E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19A88C8D-665F-4BA8-9FC9-7E6370F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arrow-4">
            <a:extLst xmlns:a="http://schemas.openxmlformats.org/drawingml/2006/main">
              <a:ext uri="{FF2B5EF4-FFF2-40B4-BE49-F238E27FC236}">
                <a16:creationId xmlns:a16="http://schemas.microsoft.com/office/drawing/2014/main" id="{E78A1DA3-F59A-4E46-8F77-59F6C6F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339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xed-contracts-frame">
            <a:extLst xmlns:a="http://schemas.openxmlformats.org/drawingml/2006/main">
              <a:ext uri="{FF2B5EF4-FFF2-40B4-BE49-F238E27FC236}">
                <a16:creationId xmlns:a16="http://schemas.microsoft.com/office/drawing/2014/main" id="{ADFC9060-8561-4023-8A95-BFD2E19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F2D7F"/>
            </a:solidFill>
            <a:prstDash val="solid"/>
          </a:ln>
        </p:spPr>
      </p:sp>
      <p:sp>
        <p:nvSpPr>
          <p:cNvPr id="10" name="fixed-contracts-title">
            <a:extLst xmlns:a="http://schemas.openxmlformats.org/drawingml/2006/main">
              <a:ext uri="{FF2B5EF4-FFF2-40B4-BE49-F238E27FC236}">
                <a16:creationId xmlns:a16="http://schemas.microsoft.com/office/drawing/2014/main" id="{0B0DE4F7-0188-4AEE-9A75-ED545DF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2D7F"/>
                </a:solidFill>
              </a:defRPr>
            </a:pPr>
            <a:r>
              <a:rPr sz="1650" b="1">
                <a:solidFill>
                  <a:srgbClr val="4F2D7F"/>
                </a:solidFill>
              </a:rPr>
              <a:t>FIXED CONTRACTS</a:t>
            </a:r>
          </a:p>
        </p:txBody>
      </p:sp>
      <p:sp>
        <p:nvSpPr>
          <p:cNvPr id="11" name="fixed-contracts-category">
            <a:extLst xmlns:a="http://schemas.openxmlformats.org/drawingml/2006/main">
              <a:ext uri="{FF2B5EF4-FFF2-40B4-BE49-F238E27FC236}">
                <a16:creationId xmlns:a16="http://schemas.microsoft.com/office/drawing/2014/main" id="{CD400F5C-EE94-464F-9CB2-94448D9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VERIFIED RESULT / FIXED BOUNDARY</a:t>
            </a:r>
          </a:p>
        </p:txBody>
      </p:sp>
      <p:sp>
        <p:nvSpPr>
          <p:cNvPr id="12" name="fixed-dot-0">
            <a:extLst xmlns:a="http://schemas.openxmlformats.org/drawingml/2006/main">
              <a:ext uri="{FF2B5EF4-FFF2-40B4-BE49-F238E27FC236}">
                <a16:creationId xmlns:a16="http://schemas.microsoft.com/office/drawing/2014/main" id="{F541C0B2-4362-4932-BDEC-D1F2786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fixed-item-0">
            <a:extLst xmlns:a="http://schemas.openxmlformats.org/drawingml/2006/main">
              <a:ext uri="{FF2B5EF4-FFF2-40B4-BE49-F238E27FC236}">
                <a16:creationId xmlns:a16="http://schemas.microsoft.com/office/drawing/2014/main" id="{B12BF81E-D524-46C4-854B-6FACC4E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Raw/native labels remain immutable</a:t>
            </a:r>
          </a:p>
        </p:txBody>
      </p:sp>
      <p:sp>
        <p:nvSpPr>
          <p:cNvPr id="14" name="fixed-dot-1">
            <a:extLst xmlns:a="http://schemas.openxmlformats.org/drawingml/2006/main">
              <a:ext uri="{FF2B5EF4-FFF2-40B4-BE49-F238E27FC236}">
                <a16:creationId xmlns:a16="http://schemas.microsoft.com/office/drawing/2014/main" id="{DD3A938F-74E4-432A-9319-366E671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fixed-item-1">
            <a:extLst xmlns:a="http://schemas.openxmlformats.org/drawingml/2006/main">
              <a:ext uri="{FF2B5EF4-FFF2-40B4-BE49-F238E27FC236}">
                <a16:creationId xmlns:a16="http://schemas.microsoft.com/office/drawing/2014/main" id="{30BCDE26-A070-4C65-A633-4D3CF14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Cycle, event, interval and recording stay distinct</a:t>
            </a:r>
          </a:p>
        </p:txBody>
      </p:sp>
      <p:sp>
        <p:nvSpPr>
          <p:cNvPr id="16" name="fixed-dot-2">
            <a:extLst xmlns:a="http://schemas.openxmlformats.org/drawingml/2006/main">
              <a:ext uri="{FF2B5EF4-FFF2-40B4-BE49-F238E27FC236}">
                <a16:creationId xmlns:a16="http://schemas.microsoft.com/office/drawing/2014/main" id="{6A30A46D-A586-47BA-B815-98AF8E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fixed-item-2">
            <a:extLst xmlns:a="http://schemas.openxmlformats.org/drawingml/2006/main">
              <a:ext uri="{FF2B5EF4-FFF2-40B4-BE49-F238E27FC236}">
                <a16:creationId xmlns:a16="http://schemas.microsoft.com/office/drawing/2014/main" id="{31BACF5F-4CDF-4B7A-A175-8B86109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Eligibility masks decide which supervision is valid</a:t>
            </a:r>
          </a:p>
        </p:txBody>
      </p:sp>
      <p:sp>
        <p:nvSpPr>
          <p:cNvPr id="18" name="fixed-dot-3">
            <a:extLst xmlns:a="http://schemas.openxmlformats.org/drawingml/2006/main">
              <a:ext uri="{FF2B5EF4-FFF2-40B4-BE49-F238E27FC236}">
                <a16:creationId xmlns:a16="http://schemas.microsoft.com/office/drawing/2014/main" id="{A0E52D35-A1E3-4BA1-A505-CB0312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fixed-item-3">
            <a:extLst xmlns:a="http://schemas.openxmlformats.org/drawingml/2006/main">
              <a:ext uri="{FF2B5EF4-FFF2-40B4-BE49-F238E27FC236}">
                <a16:creationId xmlns:a16="http://schemas.microsoft.com/office/drawing/2014/main" id="{15909418-52A8-495C-9817-D253986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Target-head adaptation is not zero-shot</a:t>
            </a:r>
          </a:p>
        </p:txBody>
      </p:sp>
      <p:sp>
        <p:nvSpPr>
          <p:cNvPr id="20" name="fixed-dot-4">
            <a:extLst xmlns:a="http://schemas.openxmlformats.org/drawingml/2006/main">
              <a:ext uri="{FF2B5EF4-FFF2-40B4-BE49-F238E27FC236}">
                <a16:creationId xmlns:a16="http://schemas.microsoft.com/office/drawing/2014/main" id="{8DBD3642-5654-414B-A2D9-2211E5E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fixed-item-4">
            <a:extLst xmlns:a="http://schemas.openxmlformats.org/drawingml/2006/main">
              <a:ext uri="{FF2B5EF4-FFF2-40B4-BE49-F238E27FC236}">
                <a16:creationId xmlns:a16="http://schemas.microsoft.com/office/drawing/2014/main" id="{A4EBFAD7-2A4B-48C7-83C1-8C172E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Metrics travel with protocol, split and support</a:t>
            </a:r>
          </a:p>
        </p:txBody>
      </p:sp>
      <p:sp>
        <p:nvSpPr>
          <p:cNvPr id="22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B7999C3-E35B-4212-9E1A-A1378CC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C45A16"/>
            </a:solidFill>
            <a:prstDash val="solid"/>
          </a:ln>
        </p:spPr>
      </p:sp>
      <p:sp>
        <p:nvSpPr>
          <p:cNvPr id="23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B9225B3F-E8CC-48A4-BE4D-7E72DA2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5A16"/>
                </a:solidFill>
              </a:defRPr>
            </a:pPr>
            <a:r>
              <a:rPr sz="900" b="1">
                <a:solidFill>
                  <a:srgbClr val="C45A16"/>
                </a:solidFill>
              </a:rPr>
              <a:t>INTERPRETATION</a:t>
            </a:r>
          </a:p>
        </p:txBody>
      </p:sp>
      <p:sp>
        <p:nvSpPr>
          <p:cNvPr id="24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1961DAE4-3E71-437A-AADB-BFFE18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Dataset fingerprints are accessible; shortcut use remains unproven.</a:t>
            </a:r>
          </a:p>
        </p:txBody>
      </p:sp>
      <p:sp>
        <p:nvSpPr>
          <p:cNvPr id="2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D8B1346-A598-431B-A306-DFA3600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2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B1E00B-9351-4AF4-BE54-EAE41DD2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OPEN ARCHITECTURE FORK</a:t>
            </a:r>
          </a:p>
        </p:txBody>
      </p:sp>
      <p:sp>
        <p:nvSpPr>
          <p:cNvPr id="27" name="architecture-category">
            <a:extLst xmlns:a="http://schemas.openxmlformats.org/drawingml/2006/main">
              <a:ext uri="{FF2B5EF4-FFF2-40B4-BE49-F238E27FC236}">
                <a16:creationId xmlns:a16="http://schemas.microsoft.com/office/drawing/2014/main" id="{0771A49B-4ECB-4D1A-8755-0AA9C83E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PROPOSED METHOD</a:t>
            </a:r>
          </a:p>
        </p:txBody>
      </p:sp>
      <p:sp>
        <p:nvSpPr>
          <p:cNvPr id="28" name="architecture-a-box">
            <a:extLst xmlns:a="http://schemas.openxmlformats.org/drawingml/2006/main">
              <a:ext uri="{FF2B5EF4-FFF2-40B4-BE49-F238E27FC236}">
                <a16:creationId xmlns:a16="http://schemas.microsoft.com/office/drawing/2014/main" id="{72ADFBF9-28A4-49B0-8C8A-62D186F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8100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architecture-a-title">
            <a:extLst xmlns:a="http://schemas.openxmlformats.org/drawingml/2006/main">
              <a:ext uri="{FF2B5EF4-FFF2-40B4-BE49-F238E27FC236}">
                <a16:creationId xmlns:a16="http://schemas.microsoft.com/office/drawing/2014/main" id="{E99E26BD-7503-4063-99FC-C5DB3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Candidate A — shared encoder first</a:t>
            </a:r>
          </a:p>
        </p:txBody>
      </p:sp>
      <p:sp>
        <p:nvSpPr>
          <p:cNvPr id="30" name="architecture-a-body">
            <a:extLst xmlns:a="http://schemas.openxmlformats.org/drawingml/2006/main">
              <a:ext uri="{FF2B5EF4-FFF2-40B4-BE49-F238E27FC236}">
                <a16:creationId xmlns:a16="http://schemas.microsoft.com/office/drawing/2014/main" id="{BC6F217E-1B77-413A-B150-7C23F65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50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 adapter → shared encoder → general representation + domain residual → shared/native heads</a:t>
            </a:r>
          </a:p>
        </p:txBody>
      </p:sp>
      <p:sp>
        <p:nvSpPr>
          <p:cNvPr id="31" name="architecture-b-box">
            <a:extLst xmlns:a="http://schemas.openxmlformats.org/drawingml/2006/main">
              <a:ext uri="{FF2B5EF4-FFF2-40B4-BE49-F238E27FC236}">
                <a16:creationId xmlns:a16="http://schemas.microsoft.com/office/drawing/2014/main" id="{30467B50-649F-42B6-A3E7-72CA372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2" name="architecture-b-title">
            <a:extLst xmlns:a="http://schemas.openxmlformats.org/drawingml/2006/main">
              <a:ext uri="{FF2B5EF4-FFF2-40B4-BE49-F238E27FC236}">
                <a16:creationId xmlns:a16="http://schemas.microsoft.com/office/drawing/2014/main" id="{61317E27-B621-4747-898B-BDC24A3B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2D7F"/>
                </a:solidFill>
              </a:defRPr>
            </a:pPr>
            <a:r>
              <a:rPr sz="1425" b="1">
                <a:solidFill>
                  <a:srgbClr val="4F2D7F"/>
                </a:solidFill>
              </a:rPr>
              <a:t>Candidate B — dataset-specific encoders first</a:t>
            </a:r>
          </a:p>
        </p:txBody>
      </p:sp>
      <p:sp>
        <p:nvSpPr>
          <p:cNvPr id="33" name="architecture-b-body">
            <a:extLst xmlns:a="http://schemas.openxmlformats.org/drawingml/2006/main">
              <a:ext uri="{FF2B5EF4-FFF2-40B4-BE49-F238E27FC236}">
                <a16:creationId xmlns:a16="http://schemas.microsoft.com/office/drawing/2014/main" id="{A9205212-BFC2-4979-B5FB-C36E135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Dataset-specific encoders → soft router / fusion / MoE → shared/native heads</a:t>
            </a:r>
          </a:p>
        </p:txBody>
      </p:sp>
      <p:sp>
        <p:nvSpPr>
          <p:cNvPr id="34" name="architecture-risk-box">
            <a:extLst xmlns:a="http://schemas.openxmlformats.org/drawingml/2006/main">
              <a:ext uri="{FF2B5EF4-FFF2-40B4-BE49-F238E27FC236}">
                <a16:creationId xmlns:a16="http://schemas.microsoft.com/office/drawing/2014/main" id="{733F3526-F806-4B56-89C5-36F9D94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3810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35" name="architecture-risk-title">
            <a:extLst xmlns:a="http://schemas.openxmlformats.org/drawingml/2006/main">
              <a:ext uri="{FF2B5EF4-FFF2-40B4-BE49-F238E27FC236}">
                <a16:creationId xmlns:a16="http://schemas.microsoft.com/office/drawing/2014/main" id="{CC65ACC3-921D-4882-9DAD-1C5893F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3B"/>
                </a:solidFill>
              </a:defRPr>
            </a:pPr>
            <a:r>
              <a:rPr sz="1200" b="1">
                <a:solidFill>
                  <a:srgbClr val="B4233B"/>
                </a:solidFill>
              </a:rPr>
              <a:t>Key risk</a:t>
            </a:r>
          </a:p>
        </p:txBody>
      </p:sp>
      <p:sp>
        <p:nvSpPr>
          <p:cNvPr id="36" name="architecture-risk-body">
            <a:extLst xmlns:a="http://schemas.openxmlformats.org/drawingml/2006/main">
              <a:ext uri="{FF2B5EF4-FFF2-40B4-BE49-F238E27FC236}">
                <a16:creationId xmlns:a16="http://schemas.microsoft.com/office/drawing/2014/main" id="{A3F79AAC-54F7-4DBC-8A8D-0745A3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Dataset ID cannot be the router's main signal; MoE does not by itself fix the tail.</a:t>
            </a:r>
          </a:p>
        </p:txBody>
      </p:sp>
      <p:sp>
        <p:nvSpPr>
          <p:cNvPr id="37" name="gates-frame">
            <a:extLst xmlns:a="http://schemas.openxmlformats.org/drawingml/2006/main">
              <a:ext uri="{FF2B5EF4-FFF2-40B4-BE49-F238E27FC236}">
                <a16:creationId xmlns:a16="http://schemas.microsoft.com/office/drawing/2014/main" id="{95127F2E-CEE3-47BA-83D6-C260477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00425" cy="4095750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38" name="gates-title">
            <a:extLst xmlns:a="http://schemas.openxmlformats.org/drawingml/2006/main">
              <a:ext uri="{FF2B5EF4-FFF2-40B4-BE49-F238E27FC236}">
                <a16:creationId xmlns:a16="http://schemas.microsoft.com/office/drawing/2014/main" id="{179FE9FB-6ED7-46BB-B713-01709F5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DECISION GATES</a:t>
            </a:r>
          </a:p>
        </p:txBody>
      </p:sp>
      <p:sp>
        <p:nvSpPr>
          <p:cNvPr id="39" name="gates-category">
            <a:extLst xmlns:a="http://schemas.openxmlformats.org/drawingml/2006/main">
              <a:ext uri="{FF2B5EF4-FFF2-40B4-BE49-F238E27FC236}">
                <a16:creationId xmlns:a16="http://schemas.microsoft.com/office/drawing/2014/main" id="{07359247-1002-4853-8A4D-DB122D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43100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FUTURE PLAN</a:t>
            </a:r>
          </a:p>
        </p:txBody>
      </p:sp>
      <p:sp>
        <p:nvSpPr>
          <p:cNvPr id="40" name="gate-badge-G0">
            <a:extLst xmlns:a="http://schemas.openxmlformats.org/drawingml/2006/main">
              <a:ext uri="{FF2B5EF4-FFF2-40B4-BE49-F238E27FC236}">
                <a16:creationId xmlns:a16="http://schemas.microsoft.com/office/drawing/2014/main" id="{D9B853A3-B8C8-48D7-A3D4-3AA54E1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41" name="gate-label-G0">
            <a:extLst xmlns:a="http://schemas.openxmlformats.org/drawingml/2006/main">
              <a:ext uri="{FF2B5EF4-FFF2-40B4-BE49-F238E27FC236}">
                <a16:creationId xmlns:a16="http://schemas.microsoft.com/office/drawing/2014/main" id="{3B9E045D-F013-43B4-90F1-E1DDE4D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Freeze task / mask / split contract</a:t>
            </a:r>
          </a:p>
        </p:txBody>
      </p:sp>
      <p:sp>
        <p:nvSpPr>
          <p:cNvPr id="42" name="gate-badge-G1">
            <a:extLst xmlns:a="http://schemas.openxmlformats.org/drawingml/2006/main">
              <a:ext uri="{FF2B5EF4-FFF2-40B4-BE49-F238E27FC236}">
                <a16:creationId xmlns:a16="http://schemas.microsoft.com/office/drawing/2014/main" id="{4D21DBAC-D9B1-47EA-820B-1F7F223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43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58A7078D-E956-4A29-81A7-AFC91CE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Naive shared encoder + native heads</a:t>
            </a:r>
          </a:p>
        </p:txBody>
      </p:sp>
      <p:sp>
        <p:nvSpPr>
          <p:cNvPr id="44" name="gate-badge-G2">
            <a:extLst xmlns:a="http://schemas.openxmlformats.org/drawingml/2006/main">
              <a:ext uri="{FF2B5EF4-FFF2-40B4-BE49-F238E27FC236}">
                <a16:creationId xmlns:a16="http://schemas.microsoft.com/office/drawing/2014/main" id="{274B41B7-610F-4BA7-BBB2-BAF53D0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45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42EFDBF7-315F-4697-841A-C3411F8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Source-balanced control</a:t>
            </a:r>
          </a:p>
        </p:txBody>
      </p:sp>
      <p:sp>
        <p:nvSpPr>
          <p:cNvPr id="46" name="gate-badge-G3">
            <a:extLst xmlns:a="http://schemas.openxmlformats.org/drawingml/2006/main">
              <a:ext uri="{FF2B5EF4-FFF2-40B4-BE49-F238E27FC236}">
                <a16:creationId xmlns:a16="http://schemas.microsoft.com/office/drawing/2014/main" id="{1B98C37C-A1E2-4D4D-953E-CFE9D76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47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20937CB3-A4E5-49F3-B574-2E1F933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One preregistered tail-aware control</a:t>
            </a:r>
          </a:p>
        </p:txBody>
      </p:sp>
      <p:sp>
        <p:nvSpPr>
          <p:cNvPr id="48" name="gate-badge-G4">
            <a:extLst xmlns:a="http://schemas.openxmlformats.org/drawingml/2006/main">
              <a:ext uri="{FF2B5EF4-FFF2-40B4-BE49-F238E27FC236}">
                <a16:creationId xmlns:a16="http://schemas.microsoft.com/office/drawing/2014/main" id="{18E9A6DC-EAA2-4F4D-9EA1-AF30442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49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05DEEF6B-EDF1-4736-9778-5F6E7D9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Equal-parameter Candidate A / B</a:t>
            </a:r>
          </a:p>
        </p:txBody>
      </p:sp>
      <p:sp>
        <p:nvSpPr>
          <p:cNvPr id="50" name="gate-badge-G5">
            <a:extLst xmlns:a="http://schemas.openxmlformats.org/drawingml/2006/main">
              <a:ext uri="{FF2B5EF4-FFF2-40B4-BE49-F238E27FC236}">
                <a16:creationId xmlns:a16="http://schemas.microsoft.com/office/drawing/2014/main" id="{992A8472-3979-4000-9D39-429C48A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G5</a:t>
            </a:r>
          </a:p>
        </p:txBody>
      </p:sp>
      <p:sp>
        <p:nvSpPr>
          <p:cNvPr id="51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345537C5-68E0-4C84-B92F-3CEDCD2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LODO + unseen-dataset behavior</a:t>
            </a:r>
          </a:p>
        </p:txBody>
      </p:sp>
      <p:sp>
        <p:nvSpPr>
          <p:cNvPr id="52" name="freeze-rule-box">
            <a:extLst xmlns:a="http://schemas.openxmlformats.org/drawingml/2006/main">
              <a:ext uri="{FF2B5EF4-FFF2-40B4-BE49-F238E27FC236}">
                <a16:creationId xmlns:a16="http://schemas.microsoft.com/office/drawing/2014/main" id="{DD4CEC6C-D92B-4D8C-A6BD-A827A57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3" name="freeze-rule-title">
            <a:extLst xmlns:a="http://schemas.openxmlformats.org/drawingml/2006/main">
              <a:ext uri="{FF2B5EF4-FFF2-40B4-BE49-F238E27FC236}">
                <a16:creationId xmlns:a16="http://schemas.microsoft.com/office/drawing/2014/main" id="{6E135C5B-3F7B-44B2-A708-8D20B9B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FREEZE RULE</a:t>
            </a:r>
          </a:p>
        </p:txBody>
      </p:sp>
      <p:sp>
        <p:nvSpPr>
          <p:cNvPr id="54" name="freeze-rule-body">
            <a:extLst xmlns:a="http://schemas.openxmlformats.org/drawingml/2006/main">
              <a:ext uri="{FF2B5EF4-FFF2-40B4-BE49-F238E27FC236}">
                <a16:creationId xmlns:a16="http://schemas.microsoft.com/office/drawing/2014/main" id="{28B4CE40-FB72-4D93-8023-18D234E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Choose the final architecture only if a stable gap survives simple pooling, source balancing, tail controls, attribution controls and equal-parameter comparison.</a:t>
            </a:r>
          </a:p>
        </p:txBody>
      </p:sp>
      <p:sp>
        <p:nvSpPr>
          <p:cNvPr id="55" name="footer-2">
            <a:extLst xmlns:a="http://schemas.openxmlformats.org/drawingml/2006/main">
              <a:ext uri="{FF2B5EF4-FFF2-40B4-BE49-F238E27FC236}">
                <a16:creationId xmlns:a16="http://schemas.microsoft.com/office/drawing/2014/main" id="{AE17900E-FEA8-417C-83A1-E5565DE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sketch v0  •  discussion draft  •  2/2</a:t>
            </a:r>
          </a:p>
        </p:txBody>
      </p:sp>
    </p:spTree>
    <p:extLst>
      <p:ext uri="{BB962C8B-B14F-4D97-AF65-F5344CB8AC3E}">
        <p14:creationId xmlns:p14="http://schemas.microsoft.com/office/powerpoint/2010/main" val="308182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2026-07-28T06:08:09.8830000Z</dcterms:created>
  <dcterms:modified xsi:type="dcterms:W3CDTF">2026-07-28T06:08:09.8830000Z</dcterms:modified>
</coreProperties>
</file>