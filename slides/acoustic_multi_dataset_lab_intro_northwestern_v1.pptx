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23"/>
    <p:restoredTop sz="94612"/>
  </p:normalViewPr>
  <p:slideViewPr>
    <p:cSldViewPr snapToGrid="0">
      <p:cViewPr varScale="1">
        <p:scale>
          <a:sx n="213" d="100"/>
          <a:sy n="213" d="100"/>
        </p:scale>
        <p:origin x="10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-1">
            <a:extLst>
              <a:ext uri="{FF2B5EF4-FFF2-40B4-BE49-F238E27FC236}">
                <a16:creationId xmlns:a16="http://schemas.microsoft.com/office/drawing/2014/main" id="{4907F6E0-5B33-4BB6-8395-0A963002C13A}"/>
              </a:ext>
            </a:extLst>
          </p:cNvPr>
          <p:cNvSpPr>
            <a:spLocks noGrp="1"/>
          </p:cNvSpPr>
          <p:nvPr/>
        </p:nvSpPr>
        <p:spPr>
          <a:xfrm>
            <a:off x="0" y="155121"/>
            <a:ext cx="12192000" cy="6858000"/>
          </a:xfrm>
          <a:prstGeom prst="rect">
            <a:avLst/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-2">
            <a:extLst>
              <a:ext uri="{FF2B5EF4-FFF2-40B4-BE49-F238E27FC236}">
                <a16:creationId xmlns:a16="http://schemas.microsoft.com/office/drawing/2014/main" id="{8B218997-A9F9-49AA-B19F-9A4905203F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620092EF-DD00-4153-AC37-73D1EF05D58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8286750" cy="2381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375" dirty="0"/>
              <a:t>Acoustics - disease detection</a:t>
            </a:r>
            <a:endParaRPr dirty="0"/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9E72530E-586A-4B36-8545-326382961CC8}"/>
              </a:ext>
            </a:extLst>
          </p:cNvPr>
          <p:cNvSpPr>
            <a:spLocks noGrp="1"/>
          </p:cNvSpPr>
          <p:nvPr/>
        </p:nvSpPr>
        <p:spPr>
          <a:xfrm>
            <a:off x="723900" y="3286125"/>
            <a:ext cx="8096250" cy="457200"/>
          </a:xfrm>
          <a:prstGeom prst="rect">
            <a:avLst/>
          </a:prstGeom>
        </p:spPr>
        <p:txBody>
          <a:bodyPr wrap="square" lIns="0" tIns="0" rIns="0" bIns="0" anchor="t">
            <a:normAutofit fontScale="77500" lnSpcReduction="20000"/>
          </a:bodyPr>
          <a:lstStyle/>
          <a:p>
            <a:pPr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IMBALANCE-AWARE</a:t>
            </a:r>
            <a:r>
              <a:rPr lang="zh-CN" altLang="en-US" dirty="0"/>
              <a:t> </a:t>
            </a:r>
            <a:r>
              <a:rPr lang="en-US" dirty="0"/>
              <a:t>MULTI-DATASET LEARNING</a:t>
            </a:r>
          </a:p>
        </p:txBody>
      </p:sp>
      <p:sp>
        <p:nvSpPr>
          <p:cNvPr id="5" name="shape-5">
            <a:extLst>
              <a:ext uri="{FF2B5EF4-FFF2-40B4-BE49-F238E27FC236}">
                <a16:creationId xmlns:a16="http://schemas.microsoft.com/office/drawing/2014/main" id="{FA1DB970-97CA-47F7-80BB-848374D30B75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9906000" cy="19050"/>
          </a:xfrm>
          <a:prstGeom prst="rect">
            <a:avLst/>
          </a:prstGeom>
          <a:solidFill>
            <a:srgbClr val="9E89BE"/>
          </a:solidFill>
          <a:ln w="0">
            <a:solidFill>
              <a:srgbClr val="9E89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7">
            <a:extLst>
              <a:ext uri="{FF2B5EF4-FFF2-40B4-BE49-F238E27FC236}">
                <a16:creationId xmlns:a16="http://schemas.microsoft.com/office/drawing/2014/main" id="{A53ABCBD-C213-4638-A041-9032FBED2B7E}"/>
              </a:ext>
            </a:extLst>
          </p:cNvPr>
          <p:cNvSpPr>
            <a:spLocks noGrp="1"/>
          </p:cNvSpPr>
          <p:nvPr/>
        </p:nvSpPr>
        <p:spPr>
          <a:xfrm>
            <a:off x="723900" y="4638675"/>
            <a:ext cx="3810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D9D2E5"/>
                </a:solidFill>
                <a:latin typeface="Arial"/>
                <a:ea typeface="Arial"/>
                <a:cs typeface="Arial"/>
              </a:defRPr>
            </a:pPr>
            <a:r>
              <a:rPr dirty="0"/>
              <a:t>July 23, 2026</a:t>
            </a:r>
          </a:p>
        </p:txBody>
      </p:sp>
      <p:sp>
        <p:nvSpPr>
          <p:cNvPr id="8" name="shape-8">
            <a:extLst>
              <a:ext uri="{FF2B5EF4-FFF2-40B4-BE49-F238E27FC236}">
                <a16:creationId xmlns:a16="http://schemas.microsoft.com/office/drawing/2014/main" id="{8AD231CD-BA44-4F99-95C6-F9A67811B816}"/>
              </a:ext>
            </a:extLst>
          </p:cNvPr>
          <p:cNvSpPr>
            <a:spLocks noGrp="1"/>
          </p:cNvSpPr>
          <p:nvPr/>
        </p:nvSpPr>
        <p:spPr>
          <a:xfrm>
            <a:off x="8620125" y="5257800"/>
            <a:ext cx="2762250" cy="685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-9">
            <a:extLst>
              <a:ext uri="{FF2B5EF4-FFF2-40B4-BE49-F238E27FC236}">
                <a16:creationId xmlns:a16="http://schemas.microsoft.com/office/drawing/2014/main" id="{CECC6B30-7C92-4DB8-AA62-5E707861AB93}"/>
              </a:ext>
            </a:extLst>
          </p:cNvPr>
          <p:cNvSpPr>
            <a:spLocks noGrp="1"/>
          </p:cNvSpPr>
          <p:nvPr/>
        </p:nvSpPr>
        <p:spPr>
          <a:xfrm>
            <a:off x="8858250" y="5381625"/>
            <a:ext cx="2286000" cy="4286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
ENGINEERING</a:t>
            </a:r>
          </a:p>
        </p:txBody>
      </p:sp>
    </p:spTree>
    <p:extLst>
      <p:ext uri="{BB962C8B-B14F-4D97-AF65-F5344CB8AC3E}">
        <p14:creationId xmlns:p14="http://schemas.microsoft.com/office/powerpoint/2010/main" val="55781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-10">
            <a:extLst>
              <a:ext uri="{FF2B5EF4-FFF2-40B4-BE49-F238E27FC236}">
                <a16:creationId xmlns:a16="http://schemas.microsoft.com/office/drawing/2014/main" id="{883B475F-EC24-4537-B543-0E3261DD1E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-11">
            <a:extLst>
              <a:ext uri="{FF2B5EF4-FFF2-40B4-BE49-F238E27FC236}">
                <a16:creationId xmlns:a16="http://schemas.microsoft.com/office/drawing/2014/main" id="{4B6A57AB-4935-48FB-A38D-B4AF16A6C2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-12">
            <a:extLst>
              <a:ext uri="{FF2B5EF4-FFF2-40B4-BE49-F238E27FC236}">
                <a16:creationId xmlns:a16="http://schemas.microsoft.com/office/drawing/2014/main" id="{A5F9BCD2-D870-4F2B-BB33-562C04C1EC55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1096625" cy="704850"/>
          </a:xfrm>
          <a:prstGeom prst="rect">
            <a:avLst/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-13">
            <a:extLst>
              <a:ext uri="{FF2B5EF4-FFF2-40B4-BE49-F238E27FC236}">
                <a16:creationId xmlns:a16="http://schemas.microsoft.com/office/drawing/2014/main" id="{5183DFEC-3062-454F-8618-0F461C8FD3DC}"/>
              </a:ext>
            </a:extLst>
          </p:cNvPr>
          <p:cNvSpPr>
            <a:spLocks noGrp="1"/>
          </p:cNvSpPr>
          <p:nvPr/>
        </p:nvSpPr>
        <p:spPr>
          <a:xfrm>
            <a:off x="11096625" y="266700"/>
            <a:ext cx="762000" cy="70485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14">
            <a:extLst>
              <a:ext uri="{FF2B5EF4-FFF2-40B4-BE49-F238E27FC236}">
                <a16:creationId xmlns:a16="http://schemas.microsoft.com/office/drawing/2014/main" id="{E2AB7075-5AD6-4778-81F3-3DAD3BEF06B8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382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Single-dataset learning is structurally long-tailed</a:t>
            </a:r>
          </a:p>
        </p:txBody>
      </p:sp>
      <p:sp>
        <p:nvSpPr>
          <p:cNvPr id="6" name="shape-15">
            <a:extLst>
              <a:ext uri="{FF2B5EF4-FFF2-40B4-BE49-F238E27FC236}">
                <a16:creationId xmlns:a16="http://schemas.microsoft.com/office/drawing/2014/main" id="{B5593EE3-8721-4B78-97DE-2A31B6396706}"/>
              </a:ext>
            </a:extLst>
          </p:cNvPr>
          <p:cNvSpPr>
            <a:spLocks noGrp="1"/>
          </p:cNvSpPr>
          <p:nvPr/>
        </p:nvSpPr>
        <p:spPr>
          <a:xfrm>
            <a:off x="304800" y="6496050"/>
            <a:ext cx="2000250" cy="76200"/>
          </a:xfrm>
          <a:prstGeom prst="rect">
            <a:avLst/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16">
            <a:extLst>
              <a:ext uri="{FF2B5EF4-FFF2-40B4-BE49-F238E27FC236}">
                <a16:creationId xmlns:a16="http://schemas.microsoft.com/office/drawing/2014/main" id="{AD92898E-EDE1-4BA0-B763-98F129B255D6}"/>
              </a:ext>
            </a:extLst>
          </p:cNvPr>
          <p:cNvSpPr>
            <a:spLocks noGrp="1"/>
          </p:cNvSpPr>
          <p:nvPr/>
        </p:nvSpPr>
        <p:spPr>
          <a:xfrm>
            <a:off x="5715000" y="6438900"/>
            <a:ext cx="762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9" name="text-18">
            <a:extLst>
              <a:ext uri="{FF2B5EF4-FFF2-40B4-BE49-F238E27FC236}">
                <a16:creationId xmlns:a16="http://schemas.microsoft.com/office/drawing/2014/main" id="{B4EFBE90-5F38-4E83-8D05-B6D9F2BEB41F}"/>
              </a:ext>
            </a:extLst>
          </p:cNvPr>
          <p:cNvSpPr>
            <a:spLocks noGrp="1"/>
          </p:cNvSpPr>
          <p:nvPr/>
        </p:nvSpPr>
        <p:spPr>
          <a:xfrm>
            <a:off x="9620250" y="6438900"/>
            <a:ext cx="2238375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0" name="text-19">
            <a:extLst>
              <a:ext uri="{FF2B5EF4-FFF2-40B4-BE49-F238E27FC236}">
                <a16:creationId xmlns:a16="http://schemas.microsoft.com/office/drawing/2014/main" id="{269634BB-8629-4F48-9375-E5AC00E4A97F}"/>
              </a:ext>
            </a:extLst>
          </p:cNvPr>
          <p:cNvSpPr>
            <a:spLocks noGrp="1"/>
          </p:cNvSpPr>
          <p:nvPr/>
        </p:nvSpPr>
        <p:spPr>
          <a:xfrm>
            <a:off x="523875" y="1190625"/>
            <a:ext cx="49530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ICBHI 2017 • 6,898 cycles</a:t>
            </a:r>
          </a:p>
        </p:txBody>
      </p:sp>
      <p:sp>
        <p:nvSpPr>
          <p:cNvPr id="11" name="text-20">
            <a:extLst>
              <a:ext uri="{FF2B5EF4-FFF2-40B4-BE49-F238E27FC236}">
                <a16:creationId xmlns:a16="http://schemas.microsoft.com/office/drawing/2014/main" id="{5A2B93B1-FE3E-42FA-88EE-89BF97040A52}"/>
              </a:ext>
            </a:extLst>
          </p:cNvPr>
          <p:cNvSpPr>
            <a:spLocks noGrp="1"/>
          </p:cNvSpPr>
          <p:nvPr/>
        </p:nvSpPr>
        <p:spPr>
          <a:xfrm>
            <a:off x="6572250" y="1190625"/>
            <a:ext cx="49530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SPRSound inter • 1,429 events</a:t>
            </a:r>
          </a:p>
        </p:txBody>
      </p:sp>
      <p:sp>
        <p:nvSpPr>
          <p:cNvPr id="12" name="shape-21">
            <a:extLst>
              <a:ext uri="{FF2B5EF4-FFF2-40B4-BE49-F238E27FC236}">
                <a16:creationId xmlns:a16="http://schemas.microsoft.com/office/drawing/2014/main" id="{19E6C2BD-E2FF-4B05-B7CB-EC02D6195AC4}"/>
              </a:ext>
            </a:extLst>
          </p:cNvPr>
          <p:cNvSpPr>
            <a:spLocks noGrp="1"/>
          </p:cNvSpPr>
          <p:nvPr/>
        </p:nvSpPr>
        <p:spPr>
          <a:xfrm>
            <a:off x="457200" y="1571625"/>
            <a:ext cx="5191125" cy="3619500"/>
          </a:xfrm>
          <a:prstGeom prst="roundRect">
            <a:avLst>
              <a:gd name="adj" fmla="val 2105"/>
            </a:avLst>
          </a:prstGeom>
          <a:solidFill>
            <a:srgbClr val="F4F1F8"/>
          </a:solidFill>
          <a:ln w="0">
            <a:solidFill>
              <a:srgbClr val="F4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-22">
            <a:extLst>
              <a:ext uri="{FF2B5EF4-FFF2-40B4-BE49-F238E27FC236}">
                <a16:creationId xmlns:a16="http://schemas.microsoft.com/office/drawing/2014/main" id="{CC3DFB68-0279-49BE-8338-62C2A2830A03}"/>
              </a:ext>
            </a:extLst>
          </p:cNvPr>
          <p:cNvSpPr>
            <a:spLocks noGrp="1"/>
          </p:cNvSpPr>
          <p:nvPr/>
        </p:nvSpPr>
        <p:spPr>
          <a:xfrm>
            <a:off x="6429375" y="1571625"/>
            <a:ext cx="5305425" cy="3619500"/>
          </a:xfrm>
          <a:prstGeom prst="roundRect">
            <a:avLst>
              <a:gd name="adj" fmla="val 2105"/>
            </a:avLst>
          </a:prstGeom>
          <a:solidFill>
            <a:srgbClr val="F4F1F8"/>
          </a:solidFill>
          <a:ln w="0">
            <a:solidFill>
              <a:srgbClr val="F4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-23">
            <a:extLst>
              <a:ext uri="{FF2B5EF4-FFF2-40B4-BE49-F238E27FC236}">
                <a16:creationId xmlns:a16="http://schemas.microsoft.com/office/drawing/2014/main" id="{C7B95392-CEF1-4FA8-86AA-B1CCF5C17CCE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1430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Normal</a:t>
            </a:r>
          </a:p>
        </p:txBody>
      </p:sp>
      <p:sp>
        <p:nvSpPr>
          <p:cNvPr id="15" name="shape-24">
            <a:extLst>
              <a:ext uri="{FF2B5EF4-FFF2-40B4-BE49-F238E27FC236}">
                <a16:creationId xmlns:a16="http://schemas.microsoft.com/office/drawing/2014/main" id="{FC036BFD-5FA8-48E2-BECD-DEAFF2CE18F5}"/>
              </a:ext>
            </a:extLst>
          </p:cNvPr>
          <p:cNvSpPr>
            <a:spLocks noGrp="1"/>
          </p:cNvSpPr>
          <p:nvPr/>
        </p:nvSpPr>
        <p:spPr>
          <a:xfrm>
            <a:off x="1809750" y="1971675"/>
            <a:ext cx="3143250" cy="228600"/>
          </a:xfrm>
          <a:prstGeom prst="roundRect">
            <a:avLst>
              <a:gd name="adj" fmla="val 33333"/>
            </a:avLst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25">
            <a:extLst>
              <a:ext uri="{FF2B5EF4-FFF2-40B4-BE49-F238E27FC236}">
                <a16:creationId xmlns:a16="http://schemas.microsoft.com/office/drawing/2014/main" id="{04CC39CF-9E51-467C-AA5F-A4FD3F5A9FBB}"/>
              </a:ext>
            </a:extLst>
          </p:cNvPr>
          <p:cNvSpPr>
            <a:spLocks noGrp="1"/>
          </p:cNvSpPr>
          <p:nvPr/>
        </p:nvSpPr>
        <p:spPr>
          <a:xfrm>
            <a:off x="5048250" y="1952625"/>
            <a:ext cx="4953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3642</a:t>
            </a:r>
          </a:p>
        </p:txBody>
      </p:sp>
      <p:sp>
        <p:nvSpPr>
          <p:cNvPr id="17" name="text-26">
            <a:extLst>
              <a:ext uri="{FF2B5EF4-FFF2-40B4-BE49-F238E27FC236}">
                <a16:creationId xmlns:a16="http://schemas.microsoft.com/office/drawing/2014/main" id="{F2160CA2-8D86-4331-A8AE-9F62D6321846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1430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Crackle</a:t>
            </a:r>
          </a:p>
        </p:txBody>
      </p:sp>
      <p:sp>
        <p:nvSpPr>
          <p:cNvPr id="18" name="shape-27">
            <a:extLst>
              <a:ext uri="{FF2B5EF4-FFF2-40B4-BE49-F238E27FC236}">
                <a16:creationId xmlns:a16="http://schemas.microsoft.com/office/drawing/2014/main" id="{DBA5F769-0AEB-4113-839B-42989CAD9277}"/>
              </a:ext>
            </a:extLst>
          </p:cNvPr>
          <p:cNvSpPr>
            <a:spLocks noGrp="1"/>
          </p:cNvSpPr>
          <p:nvPr/>
        </p:nvSpPr>
        <p:spPr>
          <a:xfrm>
            <a:off x="1809750" y="2686050"/>
            <a:ext cx="2248702" cy="228600"/>
          </a:xfrm>
          <a:prstGeom prst="roundRect">
            <a:avLst>
              <a:gd name="adj" fmla="val 33333"/>
            </a:avLst>
          </a:prstGeom>
          <a:solidFill>
            <a:srgbClr val="765DA3"/>
          </a:solidFill>
          <a:ln w="0">
            <a:solidFill>
              <a:srgbClr val="765D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-28">
            <a:extLst>
              <a:ext uri="{FF2B5EF4-FFF2-40B4-BE49-F238E27FC236}">
                <a16:creationId xmlns:a16="http://schemas.microsoft.com/office/drawing/2014/main" id="{7088F921-BE51-443B-B64B-06E14417F4B5}"/>
              </a:ext>
            </a:extLst>
          </p:cNvPr>
          <p:cNvSpPr>
            <a:spLocks noGrp="1"/>
          </p:cNvSpPr>
          <p:nvPr/>
        </p:nvSpPr>
        <p:spPr>
          <a:xfrm>
            <a:off x="5048250" y="2667000"/>
            <a:ext cx="4953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1864</a:t>
            </a:r>
          </a:p>
        </p:txBody>
      </p:sp>
      <p:sp>
        <p:nvSpPr>
          <p:cNvPr id="20" name="text-29">
            <a:extLst>
              <a:ext uri="{FF2B5EF4-FFF2-40B4-BE49-F238E27FC236}">
                <a16:creationId xmlns:a16="http://schemas.microsoft.com/office/drawing/2014/main" id="{1C590693-84C6-45BA-82C9-DA69BDE76940}"/>
              </a:ext>
            </a:extLst>
          </p:cNvPr>
          <p:cNvSpPr>
            <a:spLocks noGrp="1"/>
          </p:cNvSpPr>
          <p:nvPr/>
        </p:nvSpPr>
        <p:spPr>
          <a:xfrm>
            <a:off x="685800" y="3381375"/>
            <a:ext cx="11430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Wheeze</a:t>
            </a:r>
          </a:p>
        </p:txBody>
      </p:sp>
      <p:sp>
        <p:nvSpPr>
          <p:cNvPr id="21" name="shape-30">
            <a:extLst>
              <a:ext uri="{FF2B5EF4-FFF2-40B4-BE49-F238E27FC236}">
                <a16:creationId xmlns:a16="http://schemas.microsoft.com/office/drawing/2014/main" id="{78B1AB5A-FFF9-4AF6-84DF-2386EC7A992E}"/>
              </a:ext>
            </a:extLst>
          </p:cNvPr>
          <p:cNvSpPr>
            <a:spLocks noGrp="1"/>
          </p:cNvSpPr>
          <p:nvPr/>
        </p:nvSpPr>
        <p:spPr>
          <a:xfrm>
            <a:off x="1809750" y="3400425"/>
            <a:ext cx="1550336" cy="228600"/>
          </a:xfrm>
          <a:prstGeom prst="roundRect">
            <a:avLst>
              <a:gd name="adj" fmla="val 33333"/>
            </a:avLst>
          </a:prstGeom>
          <a:solidFill>
            <a:srgbClr val="0B7189"/>
          </a:solidFill>
          <a:ln w="0">
            <a:solidFill>
              <a:srgbClr val="0B71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-31">
            <a:extLst>
              <a:ext uri="{FF2B5EF4-FFF2-40B4-BE49-F238E27FC236}">
                <a16:creationId xmlns:a16="http://schemas.microsoft.com/office/drawing/2014/main" id="{3412BF44-2FF1-4670-AEFE-B519C1431C24}"/>
              </a:ext>
            </a:extLst>
          </p:cNvPr>
          <p:cNvSpPr>
            <a:spLocks noGrp="1"/>
          </p:cNvSpPr>
          <p:nvPr/>
        </p:nvSpPr>
        <p:spPr>
          <a:xfrm>
            <a:off x="5048250" y="3381375"/>
            <a:ext cx="4953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886</a:t>
            </a:r>
          </a:p>
        </p:txBody>
      </p:sp>
      <p:sp>
        <p:nvSpPr>
          <p:cNvPr id="23" name="text-32">
            <a:extLst>
              <a:ext uri="{FF2B5EF4-FFF2-40B4-BE49-F238E27FC236}">
                <a16:creationId xmlns:a16="http://schemas.microsoft.com/office/drawing/2014/main" id="{69207271-4DDA-4FD5-9A0F-0AACEC6A7957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1430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Both</a:t>
            </a:r>
          </a:p>
        </p:txBody>
      </p:sp>
      <p:sp>
        <p:nvSpPr>
          <p:cNvPr id="24" name="shape-33">
            <a:extLst>
              <a:ext uri="{FF2B5EF4-FFF2-40B4-BE49-F238E27FC236}">
                <a16:creationId xmlns:a16="http://schemas.microsoft.com/office/drawing/2014/main" id="{6DEFB1B2-E8DA-487B-8CC3-E881B7B75E97}"/>
              </a:ext>
            </a:extLst>
          </p:cNvPr>
          <p:cNvSpPr>
            <a:spLocks noGrp="1"/>
          </p:cNvSpPr>
          <p:nvPr/>
        </p:nvSpPr>
        <p:spPr>
          <a:xfrm>
            <a:off x="1809750" y="4114800"/>
            <a:ext cx="1171613" cy="228600"/>
          </a:xfrm>
          <a:prstGeom prst="roundRect">
            <a:avLst>
              <a:gd name="adj" fmla="val 33333"/>
            </a:avLst>
          </a:prstGeom>
          <a:solidFill>
            <a:srgbClr val="A83E4B"/>
          </a:solidFill>
          <a:ln w="0">
            <a:solidFill>
              <a:srgbClr val="A83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-34">
            <a:extLst>
              <a:ext uri="{FF2B5EF4-FFF2-40B4-BE49-F238E27FC236}">
                <a16:creationId xmlns:a16="http://schemas.microsoft.com/office/drawing/2014/main" id="{825C5DBD-5ACF-4BFB-B872-EBE0B2C52C60}"/>
              </a:ext>
            </a:extLst>
          </p:cNvPr>
          <p:cNvSpPr>
            <a:spLocks noGrp="1"/>
          </p:cNvSpPr>
          <p:nvPr/>
        </p:nvSpPr>
        <p:spPr>
          <a:xfrm>
            <a:off x="5048250" y="4095750"/>
            <a:ext cx="4953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506</a:t>
            </a:r>
          </a:p>
        </p:txBody>
      </p:sp>
      <p:sp>
        <p:nvSpPr>
          <p:cNvPr id="26" name="text-35">
            <a:extLst>
              <a:ext uri="{FF2B5EF4-FFF2-40B4-BE49-F238E27FC236}">
                <a16:creationId xmlns:a16="http://schemas.microsoft.com/office/drawing/2014/main" id="{1BCB817E-1542-47B3-982D-BA8AC09D338D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147637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Normal</a:t>
            </a:r>
          </a:p>
        </p:txBody>
      </p:sp>
      <p:sp>
        <p:nvSpPr>
          <p:cNvPr id="27" name="shape-36">
            <a:extLst>
              <a:ext uri="{FF2B5EF4-FFF2-40B4-BE49-F238E27FC236}">
                <a16:creationId xmlns:a16="http://schemas.microsoft.com/office/drawing/2014/main" id="{93DFE3FA-DC25-4EEA-A6CD-049124FA6098}"/>
              </a:ext>
            </a:extLst>
          </p:cNvPr>
          <p:cNvSpPr>
            <a:spLocks noGrp="1"/>
          </p:cNvSpPr>
          <p:nvPr/>
        </p:nvSpPr>
        <p:spPr>
          <a:xfrm>
            <a:off x="8143875" y="1828800"/>
            <a:ext cx="3048000" cy="209550"/>
          </a:xfrm>
          <a:prstGeom prst="roundRect">
            <a:avLst>
              <a:gd name="adj" fmla="val 36364"/>
            </a:avLst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-37">
            <a:extLst>
              <a:ext uri="{FF2B5EF4-FFF2-40B4-BE49-F238E27FC236}">
                <a16:creationId xmlns:a16="http://schemas.microsoft.com/office/drawing/2014/main" id="{01CA6574-84A0-426A-96C3-971DE0D17FB7}"/>
              </a:ext>
            </a:extLst>
          </p:cNvPr>
          <p:cNvSpPr>
            <a:spLocks noGrp="1"/>
          </p:cNvSpPr>
          <p:nvPr/>
        </p:nvSpPr>
        <p:spPr>
          <a:xfrm>
            <a:off x="11144250" y="1809750"/>
            <a:ext cx="4286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1040</a:t>
            </a:r>
          </a:p>
        </p:txBody>
      </p:sp>
      <p:sp>
        <p:nvSpPr>
          <p:cNvPr id="29" name="text-38">
            <a:extLst>
              <a:ext uri="{FF2B5EF4-FFF2-40B4-BE49-F238E27FC236}">
                <a16:creationId xmlns:a16="http://schemas.microsoft.com/office/drawing/2014/main" id="{E886ED9B-3E39-47AB-81F0-0AA9A4A8365C}"/>
              </a:ext>
            </a:extLst>
          </p:cNvPr>
          <p:cNvSpPr>
            <a:spLocks noGrp="1"/>
          </p:cNvSpPr>
          <p:nvPr/>
        </p:nvSpPr>
        <p:spPr>
          <a:xfrm>
            <a:off x="6667500" y="2400300"/>
            <a:ext cx="147637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Fine crackle</a:t>
            </a:r>
          </a:p>
        </p:txBody>
      </p:sp>
      <p:sp>
        <p:nvSpPr>
          <p:cNvPr id="30" name="shape-39">
            <a:extLst>
              <a:ext uri="{FF2B5EF4-FFF2-40B4-BE49-F238E27FC236}">
                <a16:creationId xmlns:a16="http://schemas.microsoft.com/office/drawing/2014/main" id="{6F48EDD5-6A34-41E8-8D51-E218E3ECAA5C}"/>
              </a:ext>
            </a:extLst>
          </p:cNvPr>
          <p:cNvSpPr>
            <a:spLocks noGrp="1"/>
          </p:cNvSpPr>
          <p:nvPr/>
        </p:nvSpPr>
        <p:spPr>
          <a:xfrm>
            <a:off x="8143875" y="2419350"/>
            <a:ext cx="1927807" cy="209550"/>
          </a:xfrm>
          <a:prstGeom prst="roundRect">
            <a:avLst>
              <a:gd name="adj" fmla="val 36364"/>
            </a:avLst>
          </a:prstGeom>
          <a:solidFill>
            <a:srgbClr val="765DA3"/>
          </a:solidFill>
          <a:ln w="0">
            <a:solidFill>
              <a:srgbClr val="765D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-40">
            <a:extLst>
              <a:ext uri="{FF2B5EF4-FFF2-40B4-BE49-F238E27FC236}">
                <a16:creationId xmlns:a16="http://schemas.microsoft.com/office/drawing/2014/main" id="{E4F9FE0B-83F9-46A7-A5D2-9A4E22E5EB6C}"/>
              </a:ext>
            </a:extLst>
          </p:cNvPr>
          <p:cNvSpPr>
            <a:spLocks noGrp="1"/>
          </p:cNvSpPr>
          <p:nvPr/>
        </p:nvSpPr>
        <p:spPr>
          <a:xfrm>
            <a:off x="11144250" y="2400300"/>
            <a:ext cx="4286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80</a:t>
            </a:r>
          </a:p>
        </p:txBody>
      </p:sp>
      <p:sp>
        <p:nvSpPr>
          <p:cNvPr id="32" name="text-41">
            <a:extLst>
              <a:ext uri="{FF2B5EF4-FFF2-40B4-BE49-F238E27FC236}">
                <a16:creationId xmlns:a16="http://schemas.microsoft.com/office/drawing/2014/main" id="{6960F799-4EE9-4199-B2E8-044BC5DA07C2}"/>
              </a:ext>
            </a:extLst>
          </p:cNvPr>
          <p:cNvSpPr>
            <a:spLocks noGrp="1"/>
          </p:cNvSpPr>
          <p:nvPr/>
        </p:nvSpPr>
        <p:spPr>
          <a:xfrm>
            <a:off x="6667500" y="2990850"/>
            <a:ext cx="147637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Coarse crackle</a:t>
            </a:r>
          </a:p>
        </p:txBody>
      </p:sp>
      <p:sp>
        <p:nvSpPr>
          <p:cNvPr id="33" name="shape-42">
            <a:extLst>
              <a:ext uri="{FF2B5EF4-FFF2-40B4-BE49-F238E27FC236}">
                <a16:creationId xmlns:a16="http://schemas.microsoft.com/office/drawing/2014/main" id="{34900FFE-FBFD-430C-B2BB-F924F37EFEB7}"/>
              </a:ext>
            </a:extLst>
          </p:cNvPr>
          <p:cNvSpPr>
            <a:spLocks noGrp="1"/>
          </p:cNvSpPr>
          <p:nvPr/>
        </p:nvSpPr>
        <p:spPr>
          <a:xfrm>
            <a:off x="8143875" y="3009900"/>
            <a:ext cx="608155" cy="209550"/>
          </a:xfrm>
          <a:prstGeom prst="roundRect">
            <a:avLst>
              <a:gd name="adj" fmla="val 36364"/>
            </a:avLst>
          </a:prstGeom>
          <a:solidFill>
            <a:srgbClr val="A83E4B"/>
          </a:solidFill>
          <a:ln w="0">
            <a:solidFill>
              <a:srgbClr val="A83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-43">
            <a:extLst>
              <a:ext uri="{FF2B5EF4-FFF2-40B4-BE49-F238E27FC236}">
                <a16:creationId xmlns:a16="http://schemas.microsoft.com/office/drawing/2014/main" id="{CF14A386-B56B-499B-9957-9B47418FEA8B}"/>
              </a:ext>
            </a:extLst>
          </p:cNvPr>
          <p:cNvSpPr>
            <a:spLocks noGrp="1"/>
          </p:cNvSpPr>
          <p:nvPr/>
        </p:nvSpPr>
        <p:spPr>
          <a:xfrm>
            <a:off x="11144250" y="2990850"/>
            <a:ext cx="4286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35" name="text-44">
            <a:extLst>
              <a:ext uri="{FF2B5EF4-FFF2-40B4-BE49-F238E27FC236}">
                <a16:creationId xmlns:a16="http://schemas.microsoft.com/office/drawing/2014/main" id="{07DE736D-338B-4BC3-888D-1C361E4C0DEA}"/>
              </a:ext>
            </a:extLst>
          </p:cNvPr>
          <p:cNvSpPr>
            <a:spLocks noGrp="1"/>
          </p:cNvSpPr>
          <p:nvPr/>
        </p:nvSpPr>
        <p:spPr>
          <a:xfrm>
            <a:off x="6667500" y="3581400"/>
            <a:ext cx="147637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Wheeze</a:t>
            </a:r>
          </a:p>
        </p:txBody>
      </p:sp>
      <p:sp>
        <p:nvSpPr>
          <p:cNvPr id="36" name="shape-45">
            <a:extLst>
              <a:ext uri="{FF2B5EF4-FFF2-40B4-BE49-F238E27FC236}">
                <a16:creationId xmlns:a16="http://schemas.microsoft.com/office/drawing/2014/main" id="{F0A26053-22AE-4B9B-A5A3-D43C5D0C297D}"/>
              </a:ext>
            </a:extLst>
          </p:cNvPr>
          <p:cNvSpPr>
            <a:spLocks noGrp="1"/>
          </p:cNvSpPr>
          <p:nvPr/>
        </p:nvSpPr>
        <p:spPr>
          <a:xfrm>
            <a:off x="8143875" y="3600450"/>
            <a:ext cx="2510887" cy="209550"/>
          </a:xfrm>
          <a:prstGeom prst="roundRect">
            <a:avLst>
              <a:gd name="adj" fmla="val 36364"/>
            </a:avLst>
          </a:prstGeom>
          <a:solidFill>
            <a:srgbClr val="0B7189"/>
          </a:solidFill>
          <a:ln w="0">
            <a:solidFill>
              <a:srgbClr val="0B71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-46">
            <a:extLst>
              <a:ext uri="{FF2B5EF4-FFF2-40B4-BE49-F238E27FC236}">
                <a16:creationId xmlns:a16="http://schemas.microsoft.com/office/drawing/2014/main" id="{11E7E168-2BC5-4081-9F1D-C0E265C7B66C}"/>
              </a:ext>
            </a:extLst>
          </p:cNvPr>
          <p:cNvSpPr>
            <a:spLocks noGrp="1"/>
          </p:cNvSpPr>
          <p:nvPr/>
        </p:nvSpPr>
        <p:spPr>
          <a:xfrm>
            <a:off x="11144250" y="3581400"/>
            <a:ext cx="4286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305</a:t>
            </a:r>
          </a:p>
        </p:txBody>
      </p:sp>
      <p:sp>
        <p:nvSpPr>
          <p:cNvPr id="38" name="text-47">
            <a:extLst>
              <a:ext uri="{FF2B5EF4-FFF2-40B4-BE49-F238E27FC236}">
                <a16:creationId xmlns:a16="http://schemas.microsoft.com/office/drawing/2014/main" id="{417A7319-58BD-4183-BE60-129254DC8F57}"/>
              </a:ext>
            </a:extLst>
          </p:cNvPr>
          <p:cNvSpPr>
            <a:spLocks noGrp="1"/>
          </p:cNvSpPr>
          <p:nvPr/>
        </p:nvSpPr>
        <p:spPr>
          <a:xfrm>
            <a:off x="6667500" y="4171950"/>
            <a:ext cx="147637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Wheeze + crackle</a:t>
            </a:r>
          </a:p>
        </p:txBody>
      </p:sp>
      <p:sp>
        <p:nvSpPr>
          <p:cNvPr id="39" name="shape-48">
            <a:extLst>
              <a:ext uri="{FF2B5EF4-FFF2-40B4-BE49-F238E27FC236}">
                <a16:creationId xmlns:a16="http://schemas.microsoft.com/office/drawing/2014/main" id="{CA7BED19-3E7B-4162-AC3B-54FC09CE19DB}"/>
              </a:ext>
            </a:extLst>
          </p:cNvPr>
          <p:cNvSpPr>
            <a:spLocks noGrp="1"/>
          </p:cNvSpPr>
          <p:nvPr/>
        </p:nvSpPr>
        <p:spPr>
          <a:xfrm>
            <a:off x="8143875" y="4191000"/>
            <a:ext cx="304078" cy="209550"/>
          </a:xfrm>
          <a:prstGeom prst="roundRect">
            <a:avLst>
              <a:gd name="adj" fmla="val 36364"/>
            </a:avLst>
          </a:prstGeom>
          <a:solidFill>
            <a:srgbClr val="A83E4B"/>
          </a:solidFill>
          <a:ln w="0">
            <a:solidFill>
              <a:srgbClr val="A83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-49">
            <a:extLst>
              <a:ext uri="{FF2B5EF4-FFF2-40B4-BE49-F238E27FC236}">
                <a16:creationId xmlns:a16="http://schemas.microsoft.com/office/drawing/2014/main" id="{F1743956-EE39-4FF3-B2BB-154B27B7E76A}"/>
              </a:ext>
            </a:extLst>
          </p:cNvPr>
          <p:cNvSpPr>
            <a:spLocks noGrp="1"/>
          </p:cNvSpPr>
          <p:nvPr/>
        </p:nvSpPr>
        <p:spPr>
          <a:xfrm>
            <a:off x="11144250" y="4171950"/>
            <a:ext cx="4286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41" name="shape-50">
            <a:extLst>
              <a:ext uri="{FF2B5EF4-FFF2-40B4-BE49-F238E27FC236}">
                <a16:creationId xmlns:a16="http://schemas.microsoft.com/office/drawing/2014/main" id="{752F63D3-4C12-45F2-BC5A-9C7C930D771A}"/>
              </a:ext>
            </a:extLst>
          </p:cNvPr>
          <p:cNvSpPr>
            <a:spLocks noGrp="1"/>
          </p:cNvSpPr>
          <p:nvPr/>
        </p:nvSpPr>
        <p:spPr>
          <a:xfrm>
            <a:off x="1381125" y="5476875"/>
            <a:ext cx="9429750" cy="590550"/>
          </a:xfrm>
          <a:prstGeom prst="roundRect">
            <a:avLst>
              <a:gd name="adj" fmla="val 12903"/>
            </a:avLst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-51">
            <a:extLst>
              <a:ext uri="{FF2B5EF4-FFF2-40B4-BE49-F238E27FC236}">
                <a16:creationId xmlns:a16="http://schemas.microsoft.com/office/drawing/2014/main" id="{C4D35E03-EADC-498B-8662-AB6537793706}"/>
              </a:ext>
            </a:extLst>
          </p:cNvPr>
          <p:cNvSpPr>
            <a:spLocks noGrp="1"/>
          </p:cNvSpPr>
          <p:nvPr/>
        </p:nvSpPr>
        <p:spPr>
          <a:xfrm>
            <a:off x="1619250" y="5638800"/>
            <a:ext cx="8953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Aggregate performance can improve while rare-event learning still fails.</a:t>
            </a:r>
          </a:p>
        </p:txBody>
      </p:sp>
    </p:spTree>
    <p:extLst>
      <p:ext uri="{BB962C8B-B14F-4D97-AF65-F5344CB8AC3E}">
        <p14:creationId xmlns:p14="http://schemas.microsoft.com/office/powerpoint/2010/main" val="2127939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-52">
            <a:extLst>
              <a:ext uri="{FF2B5EF4-FFF2-40B4-BE49-F238E27FC236}">
                <a16:creationId xmlns:a16="http://schemas.microsoft.com/office/drawing/2014/main" id="{3169A00F-5CFB-4608-B972-714938F193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-53">
            <a:extLst>
              <a:ext uri="{FF2B5EF4-FFF2-40B4-BE49-F238E27FC236}">
                <a16:creationId xmlns:a16="http://schemas.microsoft.com/office/drawing/2014/main" id="{6A39DD27-EF5E-4B16-A200-9E10A4ABD5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-54">
            <a:extLst>
              <a:ext uri="{FF2B5EF4-FFF2-40B4-BE49-F238E27FC236}">
                <a16:creationId xmlns:a16="http://schemas.microsoft.com/office/drawing/2014/main" id="{803FD3EF-B4BB-44A0-B4C6-E50466F21308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1096625" cy="704850"/>
          </a:xfrm>
          <a:prstGeom prst="rect">
            <a:avLst/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-55">
            <a:extLst>
              <a:ext uri="{FF2B5EF4-FFF2-40B4-BE49-F238E27FC236}">
                <a16:creationId xmlns:a16="http://schemas.microsoft.com/office/drawing/2014/main" id="{56808B2F-45B9-4163-BF1E-4B0AAB738B9E}"/>
              </a:ext>
            </a:extLst>
          </p:cNvPr>
          <p:cNvSpPr>
            <a:spLocks noGrp="1"/>
          </p:cNvSpPr>
          <p:nvPr/>
        </p:nvSpPr>
        <p:spPr>
          <a:xfrm>
            <a:off x="11096625" y="266700"/>
            <a:ext cx="762000" cy="70485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6">
            <a:extLst>
              <a:ext uri="{FF2B5EF4-FFF2-40B4-BE49-F238E27FC236}">
                <a16:creationId xmlns:a16="http://schemas.microsoft.com/office/drawing/2014/main" id="{FEE713C6-4075-4CAA-BC8F-51FED976F707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382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Four datasets offer complementary—but non-identical—supervision</a:t>
            </a:r>
          </a:p>
        </p:txBody>
      </p:sp>
      <p:sp>
        <p:nvSpPr>
          <p:cNvPr id="6" name="shape-57">
            <a:extLst>
              <a:ext uri="{FF2B5EF4-FFF2-40B4-BE49-F238E27FC236}">
                <a16:creationId xmlns:a16="http://schemas.microsoft.com/office/drawing/2014/main" id="{7AA0B0CA-4C81-447C-B5D6-AC4BEEBCC6CB}"/>
              </a:ext>
            </a:extLst>
          </p:cNvPr>
          <p:cNvSpPr>
            <a:spLocks noGrp="1"/>
          </p:cNvSpPr>
          <p:nvPr/>
        </p:nvSpPr>
        <p:spPr>
          <a:xfrm>
            <a:off x="304800" y="6496050"/>
            <a:ext cx="2000250" cy="76200"/>
          </a:xfrm>
          <a:prstGeom prst="rect">
            <a:avLst/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58">
            <a:extLst>
              <a:ext uri="{FF2B5EF4-FFF2-40B4-BE49-F238E27FC236}">
                <a16:creationId xmlns:a16="http://schemas.microsoft.com/office/drawing/2014/main" id="{7FE19050-5463-44C7-9986-E64E9101C190}"/>
              </a:ext>
            </a:extLst>
          </p:cNvPr>
          <p:cNvSpPr>
            <a:spLocks noGrp="1"/>
          </p:cNvSpPr>
          <p:nvPr/>
        </p:nvSpPr>
        <p:spPr>
          <a:xfrm>
            <a:off x="5715000" y="6438900"/>
            <a:ext cx="762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9" name="text-60">
            <a:extLst>
              <a:ext uri="{FF2B5EF4-FFF2-40B4-BE49-F238E27FC236}">
                <a16:creationId xmlns:a16="http://schemas.microsoft.com/office/drawing/2014/main" id="{E4259D79-AF39-46DF-AE7E-540DAE1CA598}"/>
              </a:ext>
            </a:extLst>
          </p:cNvPr>
          <p:cNvSpPr>
            <a:spLocks noGrp="1"/>
          </p:cNvSpPr>
          <p:nvPr/>
        </p:nvSpPr>
        <p:spPr>
          <a:xfrm>
            <a:off x="9620250" y="6438900"/>
            <a:ext cx="2238375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0" name="shape-61">
            <a:extLst>
              <a:ext uri="{FF2B5EF4-FFF2-40B4-BE49-F238E27FC236}">
                <a16:creationId xmlns:a16="http://schemas.microsoft.com/office/drawing/2014/main" id="{16D7C212-A081-44DC-9F26-5FAE3DFD494E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2619375" cy="2905125"/>
          </a:xfrm>
          <a:prstGeom prst="roundRect">
            <a:avLst>
              <a:gd name="adj" fmla="val 2909"/>
            </a:avLst>
          </a:prstGeom>
          <a:solidFill>
            <a:srgbClr val="F4F1F8"/>
          </a:solidFill>
          <a:ln w="9525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-62">
            <a:extLst>
              <a:ext uri="{FF2B5EF4-FFF2-40B4-BE49-F238E27FC236}">
                <a16:creationId xmlns:a16="http://schemas.microsoft.com/office/drawing/2014/main" id="{7D13D573-F459-4E5A-AC94-A39BF251CAF5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2619375" cy="514350"/>
          </a:xfrm>
          <a:prstGeom prst="roundRect">
            <a:avLst>
              <a:gd name="adj" fmla="val 14815"/>
            </a:avLst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-63">
            <a:extLst>
              <a:ext uri="{FF2B5EF4-FFF2-40B4-BE49-F238E27FC236}">
                <a16:creationId xmlns:a16="http://schemas.microsoft.com/office/drawing/2014/main" id="{97A07375-79D4-482D-8E1D-9BFB57F73E96}"/>
              </a:ext>
            </a:extLst>
          </p:cNvPr>
          <p:cNvSpPr>
            <a:spLocks noGrp="1"/>
          </p:cNvSpPr>
          <p:nvPr/>
        </p:nvSpPr>
        <p:spPr>
          <a:xfrm>
            <a:off x="581025" y="1562100"/>
            <a:ext cx="23145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ICBHI</a:t>
            </a:r>
          </a:p>
        </p:txBody>
      </p:sp>
      <p:sp>
        <p:nvSpPr>
          <p:cNvPr id="13" name="text-64">
            <a:extLst>
              <a:ext uri="{FF2B5EF4-FFF2-40B4-BE49-F238E27FC236}">
                <a16:creationId xmlns:a16="http://schemas.microsoft.com/office/drawing/2014/main" id="{D0E1E951-28F4-4381-A82B-E1B3E452C698}"/>
              </a:ext>
            </a:extLst>
          </p:cNvPr>
          <p:cNvSpPr>
            <a:spLocks noGrp="1"/>
          </p:cNvSpPr>
          <p:nvPr/>
        </p:nvSpPr>
        <p:spPr>
          <a:xfrm>
            <a:off x="581025" y="2209800"/>
            <a:ext cx="2314575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920 recordings</a:t>
            </a:r>
          </a:p>
        </p:txBody>
      </p:sp>
      <p:sp>
        <p:nvSpPr>
          <p:cNvPr id="14" name="text-65">
            <a:extLst>
              <a:ext uri="{FF2B5EF4-FFF2-40B4-BE49-F238E27FC236}">
                <a16:creationId xmlns:a16="http://schemas.microsoft.com/office/drawing/2014/main" id="{7B60D25E-86F6-4F07-AA1E-1F7FF026EE58}"/>
              </a:ext>
            </a:extLst>
          </p:cNvPr>
          <p:cNvSpPr>
            <a:spLocks noGrp="1"/>
          </p:cNvSpPr>
          <p:nvPr/>
        </p:nvSpPr>
        <p:spPr>
          <a:xfrm>
            <a:off x="581025" y="2647950"/>
            <a:ext cx="23145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6,898 cycles</a:t>
            </a:r>
          </a:p>
        </p:txBody>
      </p:sp>
      <p:sp>
        <p:nvSpPr>
          <p:cNvPr id="15" name="text-66">
            <a:extLst>
              <a:ext uri="{FF2B5EF4-FFF2-40B4-BE49-F238E27FC236}">
                <a16:creationId xmlns:a16="http://schemas.microsoft.com/office/drawing/2014/main" id="{0906DEB5-4C43-43B4-9D6C-F5578A62904C}"/>
              </a:ext>
            </a:extLst>
          </p:cNvPr>
          <p:cNvSpPr>
            <a:spLocks noGrp="1"/>
          </p:cNvSpPr>
          <p:nvPr/>
        </p:nvSpPr>
        <p:spPr>
          <a:xfrm>
            <a:off x="619125" y="3143250"/>
            <a:ext cx="2238375" cy="781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Normal • crackle • wheeze • both</a:t>
            </a:r>
          </a:p>
        </p:txBody>
      </p:sp>
      <p:sp>
        <p:nvSpPr>
          <p:cNvPr id="16" name="shape-67">
            <a:extLst>
              <a:ext uri="{FF2B5EF4-FFF2-40B4-BE49-F238E27FC236}">
                <a16:creationId xmlns:a16="http://schemas.microsoft.com/office/drawing/2014/main" id="{53A423EF-E28B-413D-9822-757281522B63}"/>
              </a:ext>
            </a:extLst>
          </p:cNvPr>
          <p:cNvSpPr>
            <a:spLocks noGrp="1"/>
          </p:cNvSpPr>
          <p:nvPr/>
        </p:nvSpPr>
        <p:spPr>
          <a:xfrm>
            <a:off x="3333750" y="1428750"/>
            <a:ext cx="2619375" cy="2905125"/>
          </a:xfrm>
          <a:prstGeom prst="roundRect">
            <a:avLst>
              <a:gd name="adj" fmla="val 2909"/>
            </a:avLst>
          </a:prstGeom>
          <a:solidFill>
            <a:srgbClr val="F4F1F8"/>
          </a:solidFill>
          <a:ln w="9525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-68">
            <a:extLst>
              <a:ext uri="{FF2B5EF4-FFF2-40B4-BE49-F238E27FC236}">
                <a16:creationId xmlns:a16="http://schemas.microsoft.com/office/drawing/2014/main" id="{9AC41352-D9DC-46FA-A939-839F7387305D}"/>
              </a:ext>
            </a:extLst>
          </p:cNvPr>
          <p:cNvSpPr>
            <a:spLocks noGrp="1"/>
          </p:cNvSpPr>
          <p:nvPr/>
        </p:nvSpPr>
        <p:spPr>
          <a:xfrm>
            <a:off x="3333750" y="1428750"/>
            <a:ext cx="2619375" cy="514350"/>
          </a:xfrm>
          <a:prstGeom prst="roundRect">
            <a:avLst>
              <a:gd name="adj" fmla="val 14815"/>
            </a:avLst>
          </a:prstGeom>
          <a:solidFill>
            <a:srgbClr val="0B7189"/>
          </a:solidFill>
          <a:ln w="0">
            <a:solidFill>
              <a:srgbClr val="0B71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69">
            <a:extLst>
              <a:ext uri="{FF2B5EF4-FFF2-40B4-BE49-F238E27FC236}">
                <a16:creationId xmlns:a16="http://schemas.microsoft.com/office/drawing/2014/main" id="{4EEE2EFB-83C9-4A2F-ADED-49789A8B9417}"/>
              </a:ext>
            </a:extLst>
          </p:cNvPr>
          <p:cNvSpPr>
            <a:spLocks noGrp="1"/>
          </p:cNvSpPr>
          <p:nvPr/>
        </p:nvSpPr>
        <p:spPr>
          <a:xfrm>
            <a:off x="3486150" y="1562100"/>
            <a:ext cx="23145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SPRSound</a:t>
            </a:r>
          </a:p>
        </p:txBody>
      </p:sp>
      <p:sp>
        <p:nvSpPr>
          <p:cNvPr id="19" name="text-70">
            <a:extLst>
              <a:ext uri="{FF2B5EF4-FFF2-40B4-BE49-F238E27FC236}">
                <a16:creationId xmlns:a16="http://schemas.microsoft.com/office/drawing/2014/main" id="{CD974E03-9934-4D29-914E-D371C5C99493}"/>
              </a:ext>
            </a:extLst>
          </p:cNvPr>
          <p:cNvSpPr>
            <a:spLocks noGrp="1"/>
          </p:cNvSpPr>
          <p:nvPr/>
        </p:nvSpPr>
        <p:spPr>
          <a:xfrm>
            <a:off x="3486150" y="2209800"/>
            <a:ext cx="2314575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2,683 recordings</a:t>
            </a:r>
          </a:p>
        </p:txBody>
      </p:sp>
      <p:sp>
        <p:nvSpPr>
          <p:cNvPr id="20" name="text-71">
            <a:extLst>
              <a:ext uri="{FF2B5EF4-FFF2-40B4-BE49-F238E27FC236}">
                <a16:creationId xmlns:a16="http://schemas.microsoft.com/office/drawing/2014/main" id="{0933769F-4793-49DF-B4EA-4E012097F30F}"/>
              </a:ext>
            </a:extLst>
          </p:cNvPr>
          <p:cNvSpPr>
            <a:spLocks noGrp="1"/>
          </p:cNvSpPr>
          <p:nvPr/>
        </p:nvSpPr>
        <p:spPr>
          <a:xfrm>
            <a:off x="3486150" y="2647950"/>
            <a:ext cx="23145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9,089 events</a:t>
            </a:r>
          </a:p>
        </p:txBody>
      </p:sp>
      <p:sp>
        <p:nvSpPr>
          <p:cNvPr id="21" name="text-72">
            <a:extLst>
              <a:ext uri="{FF2B5EF4-FFF2-40B4-BE49-F238E27FC236}">
                <a16:creationId xmlns:a16="http://schemas.microsoft.com/office/drawing/2014/main" id="{CB8D881F-5132-4A1B-AE64-3AA75B25B26A}"/>
              </a:ext>
            </a:extLst>
          </p:cNvPr>
          <p:cNvSpPr>
            <a:spLocks noGrp="1"/>
          </p:cNvSpPr>
          <p:nvPr/>
        </p:nvSpPr>
        <p:spPr>
          <a:xfrm>
            <a:off x="3524250" y="3143250"/>
            <a:ext cx="2238375" cy="781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7 event types + record labels</a:t>
            </a:r>
          </a:p>
        </p:txBody>
      </p:sp>
      <p:sp>
        <p:nvSpPr>
          <p:cNvPr id="22" name="shape-73">
            <a:extLst>
              <a:ext uri="{FF2B5EF4-FFF2-40B4-BE49-F238E27FC236}">
                <a16:creationId xmlns:a16="http://schemas.microsoft.com/office/drawing/2014/main" id="{E125AD91-F1A9-49F1-B9E5-6C29DE4E81D1}"/>
              </a:ext>
            </a:extLst>
          </p:cNvPr>
          <p:cNvSpPr>
            <a:spLocks noGrp="1"/>
          </p:cNvSpPr>
          <p:nvPr/>
        </p:nvSpPr>
        <p:spPr>
          <a:xfrm>
            <a:off x="6238875" y="1428750"/>
            <a:ext cx="2619375" cy="2905125"/>
          </a:xfrm>
          <a:prstGeom prst="roundRect">
            <a:avLst>
              <a:gd name="adj" fmla="val 2909"/>
            </a:avLst>
          </a:prstGeom>
          <a:solidFill>
            <a:srgbClr val="F4F1F8"/>
          </a:solidFill>
          <a:ln w="9525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-74">
            <a:extLst>
              <a:ext uri="{FF2B5EF4-FFF2-40B4-BE49-F238E27FC236}">
                <a16:creationId xmlns:a16="http://schemas.microsoft.com/office/drawing/2014/main" id="{746D91EE-81B6-442B-AE18-65F9956CDD41}"/>
              </a:ext>
            </a:extLst>
          </p:cNvPr>
          <p:cNvSpPr>
            <a:spLocks noGrp="1"/>
          </p:cNvSpPr>
          <p:nvPr/>
        </p:nvSpPr>
        <p:spPr>
          <a:xfrm>
            <a:off x="6238875" y="1428750"/>
            <a:ext cx="2619375" cy="514350"/>
          </a:xfrm>
          <a:prstGeom prst="roundRect">
            <a:avLst>
              <a:gd name="adj" fmla="val 14815"/>
            </a:avLst>
          </a:prstGeom>
          <a:solidFill>
            <a:srgbClr val="2F5597"/>
          </a:solidFill>
          <a:ln w="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75">
            <a:extLst>
              <a:ext uri="{FF2B5EF4-FFF2-40B4-BE49-F238E27FC236}">
                <a16:creationId xmlns:a16="http://schemas.microsoft.com/office/drawing/2014/main" id="{F43D226D-8970-453E-AB4F-D499F4868E6B}"/>
              </a:ext>
            </a:extLst>
          </p:cNvPr>
          <p:cNvSpPr>
            <a:spLocks noGrp="1"/>
          </p:cNvSpPr>
          <p:nvPr/>
        </p:nvSpPr>
        <p:spPr>
          <a:xfrm>
            <a:off x="6391275" y="1562100"/>
            <a:ext cx="23145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HF_Lung</a:t>
            </a:r>
          </a:p>
        </p:txBody>
      </p:sp>
      <p:sp>
        <p:nvSpPr>
          <p:cNvPr id="25" name="text-76">
            <a:extLst>
              <a:ext uri="{FF2B5EF4-FFF2-40B4-BE49-F238E27FC236}">
                <a16:creationId xmlns:a16="http://schemas.microsoft.com/office/drawing/2014/main" id="{879F305A-35EF-4C06-9C9B-B494C16C9386}"/>
              </a:ext>
            </a:extLst>
          </p:cNvPr>
          <p:cNvSpPr>
            <a:spLocks noGrp="1"/>
          </p:cNvSpPr>
          <p:nvPr/>
        </p:nvSpPr>
        <p:spPr>
          <a:xfrm>
            <a:off x="6391275" y="2209800"/>
            <a:ext cx="2314575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9,765 recordings</a:t>
            </a:r>
          </a:p>
        </p:txBody>
      </p:sp>
      <p:sp>
        <p:nvSpPr>
          <p:cNvPr id="26" name="text-77">
            <a:extLst>
              <a:ext uri="{FF2B5EF4-FFF2-40B4-BE49-F238E27FC236}">
                <a16:creationId xmlns:a16="http://schemas.microsoft.com/office/drawing/2014/main" id="{ACE5FF2F-EC41-44B2-9541-203C55CEEBC3}"/>
              </a:ext>
            </a:extLst>
          </p:cNvPr>
          <p:cNvSpPr>
            <a:spLocks noGrp="1"/>
          </p:cNvSpPr>
          <p:nvPr/>
        </p:nvSpPr>
        <p:spPr>
          <a:xfrm>
            <a:off x="6391275" y="2647950"/>
            <a:ext cx="23145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81,933 intervals</a:t>
            </a:r>
          </a:p>
        </p:txBody>
      </p:sp>
      <p:sp>
        <p:nvSpPr>
          <p:cNvPr id="27" name="text-78">
            <a:extLst>
              <a:ext uri="{FF2B5EF4-FFF2-40B4-BE49-F238E27FC236}">
                <a16:creationId xmlns:a16="http://schemas.microsoft.com/office/drawing/2014/main" id="{06D62F42-F1EB-472D-9EBD-CB8EF77A7633}"/>
              </a:ext>
            </a:extLst>
          </p:cNvPr>
          <p:cNvSpPr>
            <a:spLocks noGrp="1"/>
          </p:cNvSpPr>
          <p:nvPr/>
        </p:nvSpPr>
        <p:spPr>
          <a:xfrm>
            <a:off x="6429375" y="3143250"/>
            <a:ext cx="2238375" cy="781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Breath phase + overlapping events</a:t>
            </a:r>
          </a:p>
        </p:txBody>
      </p:sp>
      <p:sp>
        <p:nvSpPr>
          <p:cNvPr id="28" name="shape-79">
            <a:extLst>
              <a:ext uri="{FF2B5EF4-FFF2-40B4-BE49-F238E27FC236}">
                <a16:creationId xmlns:a16="http://schemas.microsoft.com/office/drawing/2014/main" id="{CC259467-2E49-4FF5-9F55-8BB49738F608}"/>
              </a:ext>
            </a:extLst>
          </p:cNvPr>
          <p:cNvSpPr>
            <a:spLocks noGrp="1"/>
          </p:cNvSpPr>
          <p:nvPr/>
        </p:nvSpPr>
        <p:spPr>
          <a:xfrm>
            <a:off x="9144000" y="1428750"/>
            <a:ext cx="2619375" cy="2905125"/>
          </a:xfrm>
          <a:prstGeom prst="roundRect">
            <a:avLst>
              <a:gd name="adj" fmla="val 2909"/>
            </a:avLst>
          </a:prstGeom>
          <a:solidFill>
            <a:srgbClr val="F4F1F8"/>
          </a:solidFill>
          <a:ln w="9525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-80">
            <a:extLst>
              <a:ext uri="{FF2B5EF4-FFF2-40B4-BE49-F238E27FC236}">
                <a16:creationId xmlns:a16="http://schemas.microsoft.com/office/drawing/2014/main" id="{2C8A72BF-C4DF-44C9-BEA7-0FDDE98E78AB}"/>
              </a:ext>
            </a:extLst>
          </p:cNvPr>
          <p:cNvSpPr>
            <a:spLocks noGrp="1"/>
          </p:cNvSpPr>
          <p:nvPr/>
        </p:nvSpPr>
        <p:spPr>
          <a:xfrm>
            <a:off x="9144000" y="1428750"/>
            <a:ext cx="2619375" cy="514350"/>
          </a:xfrm>
          <a:prstGeom prst="roundRect">
            <a:avLst>
              <a:gd name="adj" fmla="val 14815"/>
            </a:avLst>
          </a:prstGeom>
          <a:solidFill>
            <a:srgbClr val="D97732"/>
          </a:solidFill>
          <a:ln w="0">
            <a:solidFill>
              <a:srgbClr val="D977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81">
            <a:extLst>
              <a:ext uri="{FF2B5EF4-FFF2-40B4-BE49-F238E27FC236}">
                <a16:creationId xmlns:a16="http://schemas.microsoft.com/office/drawing/2014/main" id="{60428E19-1B26-4667-A681-381BD9B5F479}"/>
              </a:ext>
            </a:extLst>
          </p:cNvPr>
          <p:cNvSpPr>
            <a:spLocks noGrp="1"/>
          </p:cNvSpPr>
          <p:nvPr/>
        </p:nvSpPr>
        <p:spPr>
          <a:xfrm>
            <a:off x="9296400" y="1562100"/>
            <a:ext cx="23145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KAUH</a:t>
            </a:r>
          </a:p>
        </p:txBody>
      </p:sp>
      <p:sp>
        <p:nvSpPr>
          <p:cNvPr id="31" name="text-82">
            <a:extLst>
              <a:ext uri="{FF2B5EF4-FFF2-40B4-BE49-F238E27FC236}">
                <a16:creationId xmlns:a16="http://schemas.microsoft.com/office/drawing/2014/main" id="{B0B1E298-663F-4C52-81E1-F4D813EDBAEB}"/>
              </a:ext>
            </a:extLst>
          </p:cNvPr>
          <p:cNvSpPr>
            <a:spLocks noGrp="1"/>
          </p:cNvSpPr>
          <p:nvPr/>
        </p:nvSpPr>
        <p:spPr>
          <a:xfrm>
            <a:off x="9296400" y="2209800"/>
            <a:ext cx="2314575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 i="0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t>336 recordings</a:t>
            </a:r>
          </a:p>
        </p:txBody>
      </p:sp>
      <p:sp>
        <p:nvSpPr>
          <p:cNvPr id="32" name="text-83">
            <a:extLst>
              <a:ext uri="{FF2B5EF4-FFF2-40B4-BE49-F238E27FC236}">
                <a16:creationId xmlns:a16="http://schemas.microsoft.com/office/drawing/2014/main" id="{67147221-9EDC-426A-91FD-4114D50E6837}"/>
              </a:ext>
            </a:extLst>
          </p:cNvPr>
          <p:cNvSpPr>
            <a:spLocks noGrp="1"/>
          </p:cNvSpPr>
          <p:nvPr/>
        </p:nvSpPr>
        <p:spPr>
          <a:xfrm>
            <a:off x="9296400" y="2647950"/>
            <a:ext cx="231457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112 patients</a:t>
            </a:r>
          </a:p>
        </p:txBody>
      </p:sp>
      <p:sp>
        <p:nvSpPr>
          <p:cNvPr id="33" name="text-84">
            <a:extLst>
              <a:ext uri="{FF2B5EF4-FFF2-40B4-BE49-F238E27FC236}">
                <a16:creationId xmlns:a16="http://schemas.microsoft.com/office/drawing/2014/main" id="{FC9F81C4-6136-4230-A499-C2F9D7D731FB}"/>
              </a:ext>
            </a:extLst>
          </p:cNvPr>
          <p:cNvSpPr>
            <a:spLocks noGrp="1"/>
          </p:cNvSpPr>
          <p:nvPr/>
        </p:nvSpPr>
        <p:spPr>
          <a:xfrm>
            <a:off x="9334500" y="3143250"/>
            <a:ext cx="2238375" cy="781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Recording sound type + diagnosis</a:t>
            </a:r>
          </a:p>
        </p:txBody>
      </p:sp>
      <p:sp>
        <p:nvSpPr>
          <p:cNvPr id="34" name="shape-85">
            <a:extLst>
              <a:ext uri="{FF2B5EF4-FFF2-40B4-BE49-F238E27FC236}">
                <a16:creationId xmlns:a16="http://schemas.microsoft.com/office/drawing/2014/main" id="{95DE0FC3-07AC-442C-A84C-743B4FC60430}"/>
              </a:ext>
            </a:extLst>
          </p:cNvPr>
          <p:cNvSpPr>
            <a:spLocks noGrp="1"/>
          </p:cNvSpPr>
          <p:nvPr/>
        </p:nvSpPr>
        <p:spPr>
          <a:xfrm>
            <a:off x="1000125" y="4686300"/>
            <a:ext cx="10191750" cy="1200150"/>
          </a:xfrm>
          <a:prstGeom prst="roundRect">
            <a:avLst>
              <a:gd name="adj" fmla="val 6349"/>
            </a:avLst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-86">
            <a:extLst>
              <a:ext uri="{FF2B5EF4-FFF2-40B4-BE49-F238E27FC236}">
                <a16:creationId xmlns:a16="http://schemas.microsoft.com/office/drawing/2014/main" id="{07ABC0EF-ACD0-4AC6-86CB-62FBFDDBE4DF}"/>
              </a:ext>
            </a:extLst>
          </p:cNvPr>
          <p:cNvSpPr>
            <a:spLocks noGrp="1"/>
          </p:cNvSpPr>
          <p:nvPr/>
        </p:nvSpPr>
        <p:spPr>
          <a:xfrm>
            <a:off x="1285875" y="4857750"/>
            <a:ext cx="9620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Partial semantic overlap creates an opportunity for shared supervision</a:t>
            </a:r>
          </a:p>
        </p:txBody>
      </p:sp>
      <p:sp>
        <p:nvSpPr>
          <p:cNvPr id="36" name="text-87">
            <a:extLst>
              <a:ext uri="{FF2B5EF4-FFF2-40B4-BE49-F238E27FC236}">
                <a16:creationId xmlns:a16="http://schemas.microsoft.com/office/drawing/2014/main" id="{7D35DD3C-3CC8-405A-AC6F-CF4E9542B79B}"/>
              </a:ext>
            </a:extLst>
          </p:cNvPr>
          <p:cNvSpPr>
            <a:spLocks noGrp="1"/>
          </p:cNvSpPr>
          <p:nvPr/>
        </p:nvSpPr>
        <p:spPr>
          <a:xfrm>
            <a:off x="1333500" y="5314950"/>
            <a:ext cx="9525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Crackle ↔ fine/coarse crackle     •     Wheeze ↔ wheeze     •     Other labels remain dataset-native</a:t>
            </a:r>
          </a:p>
        </p:txBody>
      </p:sp>
      <p:sp>
        <p:nvSpPr>
          <p:cNvPr id="37" name="text-88">
            <a:extLst>
              <a:ext uri="{FF2B5EF4-FFF2-40B4-BE49-F238E27FC236}">
                <a16:creationId xmlns:a16="http://schemas.microsoft.com/office/drawing/2014/main" id="{D66C9FA7-F64D-40A0-955E-7EA3B2E6FEDB}"/>
              </a:ext>
            </a:extLst>
          </p:cNvPr>
          <p:cNvSpPr>
            <a:spLocks noGrp="1"/>
          </p:cNvSpPr>
          <p:nvPr/>
        </p:nvSpPr>
        <p:spPr>
          <a:xfrm>
            <a:off x="1333500" y="5715000"/>
            <a:ext cx="9525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Recordings, cycles, events, and intervals are not interchangeable.</a:t>
            </a:r>
          </a:p>
        </p:txBody>
      </p:sp>
    </p:spTree>
    <p:extLst>
      <p:ext uri="{BB962C8B-B14F-4D97-AF65-F5344CB8AC3E}">
        <p14:creationId xmlns:p14="http://schemas.microsoft.com/office/powerpoint/2010/main" val="1941879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-89">
            <a:extLst>
              <a:ext uri="{FF2B5EF4-FFF2-40B4-BE49-F238E27FC236}">
                <a16:creationId xmlns:a16="http://schemas.microsoft.com/office/drawing/2014/main" id="{3C7D7F58-C23C-49BD-B313-71EC7B30792A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-90">
            <a:extLst>
              <a:ext uri="{FF2B5EF4-FFF2-40B4-BE49-F238E27FC236}">
                <a16:creationId xmlns:a16="http://schemas.microsoft.com/office/drawing/2014/main" id="{EC3F3D9D-D844-4DBE-900B-BC0EC3897C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-91">
            <a:extLst>
              <a:ext uri="{FF2B5EF4-FFF2-40B4-BE49-F238E27FC236}">
                <a16:creationId xmlns:a16="http://schemas.microsoft.com/office/drawing/2014/main" id="{2F2113CF-53FE-4CBF-9A06-02E976AAF4CA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1096625" cy="704850"/>
          </a:xfrm>
          <a:prstGeom prst="rect">
            <a:avLst/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-92">
            <a:extLst>
              <a:ext uri="{FF2B5EF4-FFF2-40B4-BE49-F238E27FC236}">
                <a16:creationId xmlns:a16="http://schemas.microsoft.com/office/drawing/2014/main" id="{624E0337-E6AD-43A9-9F07-6DE39C3ADF54}"/>
              </a:ext>
            </a:extLst>
          </p:cNvPr>
          <p:cNvSpPr>
            <a:spLocks noGrp="1"/>
          </p:cNvSpPr>
          <p:nvPr/>
        </p:nvSpPr>
        <p:spPr>
          <a:xfrm>
            <a:off x="11096625" y="266700"/>
            <a:ext cx="762000" cy="70485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93">
            <a:extLst>
              <a:ext uri="{FF2B5EF4-FFF2-40B4-BE49-F238E27FC236}">
                <a16:creationId xmlns:a16="http://schemas.microsoft.com/office/drawing/2014/main" id="{5E893948-D6CF-4F84-B8D2-7D2492DE513A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382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Why na</a:t>
            </a:r>
            <a:r>
              <a:rPr lang="en-US" dirty="0"/>
              <a:t>i</a:t>
            </a:r>
            <a:r>
              <a:rPr dirty="0"/>
              <a:t>ve pooling does not solve the problem</a:t>
            </a:r>
          </a:p>
        </p:txBody>
      </p:sp>
      <p:sp>
        <p:nvSpPr>
          <p:cNvPr id="6" name="shape-94">
            <a:extLst>
              <a:ext uri="{FF2B5EF4-FFF2-40B4-BE49-F238E27FC236}">
                <a16:creationId xmlns:a16="http://schemas.microsoft.com/office/drawing/2014/main" id="{BDAA5B8E-51DD-462E-9861-0B5BBE39440C}"/>
              </a:ext>
            </a:extLst>
          </p:cNvPr>
          <p:cNvSpPr>
            <a:spLocks noGrp="1"/>
          </p:cNvSpPr>
          <p:nvPr/>
        </p:nvSpPr>
        <p:spPr>
          <a:xfrm>
            <a:off x="304800" y="6496050"/>
            <a:ext cx="2000250" cy="76200"/>
          </a:xfrm>
          <a:prstGeom prst="rect">
            <a:avLst/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95">
            <a:extLst>
              <a:ext uri="{FF2B5EF4-FFF2-40B4-BE49-F238E27FC236}">
                <a16:creationId xmlns:a16="http://schemas.microsoft.com/office/drawing/2014/main" id="{09FF71D5-0005-4162-9680-128AD0C94648}"/>
              </a:ext>
            </a:extLst>
          </p:cNvPr>
          <p:cNvSpPr>
            <a:spLocks noGrp="1"/>
          </p:cNvSpPr>
          <p:nvPr/>
        </p:nvSpPr>
        <p:spPr>
          <a:xfrm>
            <a:off x="5715000" y="6438900"/>
            <a:ext cx="762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9" name="text-97">
            <a:extLst>
              <a:ext uri="{FF2B5EF4-FFF2-40B4-BE49-F238E27FC236}">
                <a16:creationId xmlns:a16="http://schemas.microsoft.com/office/drawing/2014/main" id="{4DE7FF3E-4BD3-42AD-9431-7E2AE94B66C9}"/>
              </a:ext>
            </a:extLst>
          </p:cNvPr>
          <p:cNvSpPr>
            <a:spLocks noGrp="1"/>
          </p:cNvSpPr>
          <p:nvPr/>
        </p:nvSpPr>
        <p:spPr>
          <a:xfrm>
            <a:off x="9620250" y="6438900"/>
            <a:ext cx="2238375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1" name="shape-99">
            <a:extLst>
              <a:ext uri="{FF2B5EF4-FFF2-40B4-BE49-F238E27FC236}">
                <a16:creationId xmlns:a16="http://schemas.microsoft.com/office/drawing/2014/main" id="{C7C4C0B4-BF14-4875-AB84-806C67DFF03D}"/>
              </a:ext>
            </a:extLst>
          </p:cNvPr>
          <p:cNvSpPr>
            <a:spLocks noGrp="1"/>
          </p:cNvSpPr>
          <p:nvPr/>
        </p:nvSpPr>
        <p:spPr>
          <a:xfrm>
            <a:off x="4476750" y="2476500"/>
            <a:ext cx="3238500" cy="1047750"/>
          </a:xfrm>
          <a:prstGeom prst="roundRect">
            <a:avLst>
              <a:gd name="adj" fmla="val 7273"/>
            </a:avLst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-100">
            <a:extLst>
              <a:ext uri="{FF2B5EF4-FFF2-40B4-BE49-F238E27FC236}">
                <a16:creationId xmlns:a16="http://schemas.microsoft.com/office/drawing/2014/main" id="{F18FF4DA-074A-4305-8010-8B795F1FE0F3}"/>
              </a:ext>
            </a:extLst>
          </p:cNvPr>
          <p:cNvSpPr>
            <a:spLocks noGrp="1"/>
          </p:cNvSpPr>
          <p:nvPr/>
        </p:nvSpPr>
        <p:spPr>
          <a:xfrm>
            <a:off x="4762500" y="2686050"/>
            <a:ext cx="2667000" cy="619125"/>
          </a:xfrm>
          <a:prstGeom prst="rect">
            <a:avLst/>
          </a:prstGeom>
        </p:spPr>
        <p:txBody>
          <a:bodyPr wrap="square" lIns="0" tIns="0" rIns="0" bIns="0" anchor="t">
            <a:normAutofit fontScale="96726"/>
          </a:bodyPr>
          <a:lstStyle/>
          <a:p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NA</a:t>
            </a:r>
            <a:r>
              <a:rPr lang="en-US" dirty="0"/>
              <a:t>I</a:t>
            </a:r>
            <a:r>
              <a:rPr dirty="0"/>
              <a:t>VE
POOLING</a:t>
            </a:r>
          </a:p>
        </p:txBody>
      </p:sp>
      <p:sp>
        <p:nvSpPr>
          <p:cNvPr id="13" name="shape-101">
            <a:extLst>
              <a:ext uri="{FF2B5EF4-FFF2-40B4-BE49-F238E27FC236}">
                <a16:creationId xmlns:a16="http://schemas.microsoft.com/office/drawing/2014/main" id="{573CEDBA-94AD-4226-B0C7-068818498DD5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2857500" cy="1381125"/>
          </a:xfrm>
          <a:prstGeom prst="roundRect">
            <a:avLst>
              <a:gd name="adj" fmla="val 5517"/>
            </a:avLst>
          </a:prstGeom>
          <a:solidFill>
            <a:srgbClr val="F4F1F8"/>
          </a:solidFill>
          <a:ln w="9525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-102">
            <a:extLst>
              <a:ext uri="{FF2B5EF4-FFF2-40B4-BE49-F238E27FC236}">
                <a16:creationId xmlns:a16="http://schemas.microsoft.com/office/drawing/2014/main" id="{85C3C0D1-4026-4AAE-AAC3-75C1D49CEF5A}"/>
              </a:ext>
            </a:extLst>
          </p:cNvPr>
          <p:cNvSpPr>
            <a:spLocks noGrp="1"/>
          </p:cNvSpPr>
          <p:nvPr/>
        </p:nvSpPr>
        <p:spPr>
          <a:xfrm>
            <a:off x="695325" y="1533525"/>
            <a:ext cx="25146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Domain</a:t>
            </a:r>
            <a:r>
              <a:rPr dirty="0"/>
              <a:t> mismatch</a:t>
            </a:r>
          </a:p>
        </p:txBody>
      </p:sp>
      <p:sp>
        <p:nvSpPr>
          <p:cNvPr id="15" name="text-103">
            <a:extLst>
              <a:ext uri="{FF2B5EF4-FFF2-40B4-BE49-F238E27FC236}">
                <a16:creationId xmlns:a16="http://schemas.microsoft.com/office/drawing/2014/main" id="{0DD615ED-C1B1-4956-908F-0DF45E89C4CF}"/>
              </a:ext>
            </a:extLst>
          </p:cNvPr>
          <p:cNvSpPr>
            <a:spLocks noGrp="1"/>
          </p:cNvSpPr>
          <p:nvPr/>
        </p:nvSpPr>
        <p:spPr>
          <a:xfrm>
            <a:off x="714375" y="1905000"/>
            <a:ext cx="247650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88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Crackle, DAS, Crep, rhonchi and stridor are not automatically equivalent.</a:t>
            </a:r>
          </a:p>
        </p:txBody>
      </p:sp>
      <p:sp>
        <p:nvSpPr>
          <p:cNvPr id="16" name="shape-104">
            <a:extLst>
              <a:ext uri="{FF2B5EF4-FFF2-40B4-BE49-F238E27FC236}">
                <a16:creationId xmlns:a16="http://schemas.microsoft.com/office/drawing/2014/main" id="{5FFBCED7-1886-4F40-B0DB-29194F62F3F5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2857500" cy="1381125"/>
          </a:xfrm>
          <a:prstGeom prst="roundRect">
            <a:avLst>
              <a:gd name="adj" fmla="val 5517"/>
            </a:avLst>
          </a:prstGeom>
          <a:solidFill>
            <a:srgbClr val="F4F1F8"/>
          </a:solidFill>
          <a:ln w="9525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-105">
            <a:extLst>
              <a:ext uri="{FF2B5EF4-FFF2-40B4-BE49-F238E27FC236}">
                <a16:creationId xmlns:a16="http://schemas.microsoft.com/office/drawing/2014/main" id="{7565DF6F-21CA-41DD-B67A-525D7C0224CA}"/>
              </a:ext>
            </a:extLst>
          </p:cNvPr>
          <p:cNvSpPr>
            <a:spLocks noGrp="1"/>
          </p:cNvSpPr>
          <p:nvPr/>
        </p:nvSpPr>
        <p:spPr>
          <a:xfrm>
            <a:off x="695325" y="4248150"/>
            <a:ext cx="25146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Sample-unit mismatch</a:t>
            </a:r>
          </a:p>
        </p:txBody>
      </p:sp>
      <p:sp>
        <p:nvSpPr>
          <p:cNvPr id="18" name="text-106">
            <a:extLst>
              <a:ext uri="{FF2B5EF4-FFF2-40B4-BE49-F238E27FC236}">
                <a16:creationId xmlns:a16="http://schemas.microsoft.com/office/drawing/2014/main" id="{B5528135-1E80-499C-932C-03E0504BC2E8}"/>
              </a:ext>
            </a:extLst>
          </p:cNvPr>
          <p:cNvSpPr>
            <a:spLocks noGrp="1"/>
          </p:cNvSpPr>
          <p:nvPr/>
        </p:nvSpPr>
        <p:spPr>
          <a:xfrm>
            <a:off x="714375" y="4619625"/>
            <a:ext cx="247650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88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Cycle, event, interval and recording labels supervise different targets.</a:t>
            </a:r>
          </a:p>
        </p:txBody>
      </p:sp>
      <p:sp>
        <p:nvSpPr>
          <p:cNvPr id="19" name="shape-107">
            <a:extLst>
              <a:ext uri="{FF2B5EF4-FFF2-40B4-BE49-F238E27FC236}">
                <a16:creationId xmlns:a16="http://schemas.microsoft.com/office/drawing/2014/main" id="{F520A197-FE05-48F4-895C-FF4459E4CFBF}"/>
              </a:ext>
            </a:extLst>
          </p:cNvPr>
          <p:cNvSpPr>
            <a:spLocks noGrp="1"/>
          </p:cNvSpPr>
          <p:nvPr/>
        </p:nvSpPr>
        <p:spPr>
          <a:xfrm>
            <a:off x="8810625" y="1381125"/>
            <a:ext cx="2857500" cy="1381125"/>
          </a:xfrm>
          <a:prstGeom prst="roundRect">
            <a:avLst>
              <a:gd name="adj" fmla="val 5517"/>
            </a:avLst>
          </a:prstGeom>
          <a:solidFill>
            <a:srgbClr val="F4F1F8"/>
          </a:solidFill>
          <a:ln w="9525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108">
            <a:extLst>
              <a:ext uri="{FF2B5EF4-FFF2-40B4-BE49-F238E27FC236}">
                <a16:creationId xmlns:a16="http://schemas.microsoft.com/office/drawing/2014/main" id="{9D0000DB-E307-4E7A-88B9-3A2150464D2D}"/>
              </a:ext>
            </a:extLst>
          </p:cNvPr>
          <p:cNvSpPr>
            <a:spLocks noGrp="1"/>
          </p:cNvSpPr>
          <p:nvPr/>
        </p:nvSpPr>
        <p:spPr>
          <a:xfrm>
            <a:off x="8982075" y="1533525"/>
            <a:ext cx="25146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Missing ≠ negative</a:t>
            </a:r>
          </a:p>
        </p:txBody>
      </p:sp>
      <p:sp>
        <p:nvSpPr>
          <p:cNvPr id="21" name="text-109">
            <a:extLst>
              <a:ext uri="{FF2B5EF4-FFF2-40B4-BE49-F238E27FC236}">
                <a16:creationId xmlns:a16="http://schemas.microsoft.com/office/drawing/2014/main" id="{4A50BF71-628B-43EA-B47E-62918FCE1F0E}"/>
              </a:ext>
            </a:extLst>
          </p:cNvPr>
          <p:cNvSpPr>
            <a:spLocks noGrp="1"/>
          </p:cNvSpPr>
          <p:nvPr/>
        </p:nvSpPr>
        <p:spPr>
          <a:xfrm>
            <a:off x="9001125" y="1905000"/>
            <a:ext cx="247650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88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Unlabeled HF background cannot be treated as Normal by default.</a:t>
            </a:r>
          </a:p>
        </p:txBody>
      </p:sp>
      <p:sp>
        <p:nvSpPr>
          <p:cNvPr id="22" name="shape-110">
            <a:extLst>
              <a:ext uri="{FF2B5EF4-FFF2-40B4-BE49-F238E27FC236}">
                <a16:creationId xmlns:a16="http://schemas.microsoft.com/office/drawing/2014/main" id="{55C185D5-2C35-4D53-961B-BECF99323872}"/>
              </a:ext>
            </a:extLst>
          </p:cNvPr>
          <p:cNvSpPr>
            <a:spLocks noGrp="1"/>
          </p:cNvSpPr>
          <p:nvPr/>
        </p:nvSpPr>
        <p:spPr>
          <a:xfrm>
            <a:off x="8810625" y="4095750"/>
            <a:ext cx="2857500" cy="1381125"/>
          </a:xfrm>
          <a:prstGeom prst="roundRect">
            <a:avLst>
              <a:gd name="adj" fmla="val 5517"/>
            </a:avLst>
          </a:prstGeom>
          <a:solidFill>
            <a:srgbClr val="F4F1F8"/>
          </a:solidFill>
          <a:ln w="9525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-111">
            <a:extLst>
              <a:ext uri="{FF2B5EF4-FFF2-40B4-BE49-F238E27FC236}">
                <a16:creationId xmlns:a16="http://schemas.microsoft.com/office/drawing/2014/main" id="{2C3D837D-43D1-41EA-8052-FA5E30484CB4}"/>
              </a:ext>
            </a:extLst>
          </p:cNvPr>
          <p:cNvSpPr>
            <a:spLocks noGrp="1"/>
          </p:cNvSpPr>
          <p:nvPr/>
        </p:nvSpPr>
        <p:spPr>
          <a:xfrm>
            <a:off x="8982075" y="4248150"/>
            <a:ext cx="25146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Dual imbalance</a:t>
            </a:r>
          </a:p>
        </p:txBody>
      </p:sp>
      <p:sp>
        <p:nvSpPr>
          <p:cNvPr id="24" name="text-112">
            <a:extLst>
              <a:ext uri="{FF2B5EF4-FFF2-40B4-BE49-F238E27FC236}">
                <a16:creationId xmlns:a16="http://schemas.microsoft.com/office/drawing/2014/main" id="{45DCA6B3-1D2B-45BB-A15E-5265A2F76006}"/>
              </a:ext>
            </a:extLst>
          </p:cNvPr>
          <p:cNvSpPr>
            <a:spLocks noGrp="1"/>
          </p:cNvSpPr>
          <p:nvPr/>
        </p:nvSpPr>
        <p:spPr>
          <a:xfrm>
            <a:off x="9001125" y="4619625"/>
            <a:ext cx="247650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88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Large datasets and head classes can dominate the same objective.</a:t>
            </a:r>
          </a:p>
        </p:txBody>
      </p:sp>
      <p:sp>
        <p:nvSpPr>
          <p:cNvPr id="25" name="shape-113">
            <a:extLst>
              <a:ext uri="{FF2B5EF4-FFF2-40B4-BE49-F238E27FC236}">
                <a16:creationId xmlns:a16="http://schemas.microsoft.com/office/drawing/2014/main" id="{BB5544DF-4747-40A6-A546-673AC2934E67}"/>
              </a:ext>
            </a:extLst>
          </p:cNvPr>
          <p:cNvSpPr>
            <a:spLocks noGrp="1"/>
          </p:cNvSpPr>
          <p:nvPr/>
        </p:nvSpPr>
        <p:spPr>
          <a:xfrm>
            <a:off x="4333875" y="4191000"/>
            <a:ext cx="3524250" cy="1381125"/>
          </a:xfrm>
          <a:prstGeom prst="roundRect">
            <a:avLst>
              <a:gd name="adj" fmla="val 5517"/>
            </a:avLst>
          </a:prstGeom>
          <a:solidFill>
            <a:srgbClr val="E4E0EE"/>
          </a:solidFill>
          <a:ln w="9525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-114">
            <a:extLst>
              <a:ext uri="{FF2B5EF4-FFF2-40B4-BE49-F238E27FC236}">
                <a16:creationId xmlns:a16="http://schemas.microsoft.com/office/drawing/2014/main" id="{D6AE2D94-01C8-4F62-A896-AB0CF5B399D1}"/>
              </a:ext>
            </a:extLst>
          </p:cNvPr>
          <p:cNvSpPr>
            <a:spLocks noGrp="1"/>
          </p:cNvSpPr>
          <p:nvPr/>
        </p:nvSpPr>
        <p:spPr>
          <a:xfrm>
            <a:off x="4505325" y="4343400"/>
            <a:ext cx="31813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Acquisition shortcut</a:t>
            </a:r>
          </a:p>
        </p:txBody>
      </p:sp>
      <p:sp>
        <p:nvSpPr>
          <p:cNvPr id="27" name="text-115">
            <a:extLst>
              <a:ext uri="{FF2B5EF4-FFF2-40B4-BE49-F238E27FC236}">
                <a16:creationId xmlns:a16="http://schemas.microsoft.com/office/drawing/2014/main" id="{414F9FF4-DC6E-4E12-9682-59C88942215A}"/>
              </a:ext>
            </a:extLst>
          </p:cNvPr>
          <p:cNvSpPr>
            <a:spLocks noGrp="1"/>
          </p:cNvSpPr>
          <p:nvPr/>
        </p:nvSpPr>
        <p:spPr>
          <a:xfrm>
            <a:off x="4524375" y="4714875"/>
            <a:ext cx="3143250" cy="666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88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Sampling rate, device, loudness and spectrum reveal dataset identity.</a:t>
            </a:r>
          </a:p>
        </p:txBody>
      </p:sp>
      <p:sp>
        <p:nvSpPr>
          <p:cNvPr id="28" name="text-116">
            <a:extLst>
              <a:ext uri="{FF2B5EF4-FFF2-40B4-BE49-F238E27FC236}">
                <a16:creationId xmlns:a16="http://schemas.microsoft.com/office/drawing/2014/main" id="{D9DCAB77-2FA0-489D-9041-3C4DCD033B77}"/>
              </a:ext>
            </a:extLst>
          </p:cNvPr>
          <p:cNvSpPr>
            <a:spLocks noGrp="1"/>
          </p:cNvSpPr>
          <p:nvPr/>
        </p:nvSpPr>
        <p:spPr>
          <a:xfrm>
            <a:off x="3429000" y="2238375"/>
            <a:ext cx="6667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315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↘</a:t>
            </a:r>
          </a:p>
        </p:txBody>
      </p:sp>
      <p:sp>
        <p:nvSpPr>
          <p:cNvPr id="29" name="text-117">
            <a:extLst>
              <a:ext uri="{FF2B5EF4-FFF2-40B4-BE49-F238E27FC236}">
                <a16:creationId xmlns:a16="http://schemas.microsoft.com/office/drawing/2014/main" id="{9D6453C6-3C2B-4FDE-B478-A1E5EA3C88B9}"/>
              </a:ext>
            </a:extLst>
          </p:cNvPr>
          <p:cNvSpPr>
            <a:spLocks noGrp="1"/>
          </p:cNvSpPr>
          <p:nvPr/>
        </p:nvSpPr>
        <p:spPr>
          <a:xfrm>
            <a:off x="8096250" y="2238375"/>
            <a:ext cx="6667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315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↗</a:t>
            </a:r>
          </a:p>
        </p:txBody>
      </p:sp>
      <p:sp>
        <p:nvSpPr>
          <p:cNvPr id="30" name="text-118">
            <a:extLst>
              <a:ext uri="{FF2B5EF4-FFF2-40B4-BE49-F238E27FC236}">
                <a16:creationId xmlns:a16="http://schemas.microsoft.com/office/drawing/2014/main" id="{D87CC250-7407-44A4-8723-540169FD8635}"/>
              </a:ext>
            </a:extLst>
          </p:cNvPr>
          <p:cNvSpPr>
            <a:spLocks noGrp="1"/>
          </p:cNvSpPr>
          <p:nvPr/>
        </p:nvSpPr>
        <p:spPr>
          <a:xfrm>
            <a:off x="3429000" y="3714750"/>
            <a:ext cx="6667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315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↗</a:t>
            </a:r>
          </a:p>
        </p:txBody>
      </p:sp>
      <p:sp>
        <p:nvSpPr>
          <p:cNvPr id="31" name="text-119">
            <a:extLst>
              <a:ext uri="{FF2B5EF4-FFF2-40B4-BE49-F238E27FC236}">
                <a16:creationId xmlns:a16="http://schemas.microsoft.com/office/drawing/2014/main" id="{5FA6C133-3F24-4DC7-B381-3980D33DB06B}"/>
              </a:ext>
            </a:extLst>
          </p:cNvPr>
          <p:cNvSpPr>
            <a:spLocks noGrp="1"/>
          </p:cNvSpPr>
          <p:nvPr/>
        </p:nvSpPr>
        <p:spPr>
          <a:xfrm>
            <a:off x="8096250" y="3714750"/>
            <a:ext cx="6667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315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↖</a:t>
            </a:r>
          </a:p>
        </p:txBody>
      </p:sp>
      <p:sp>
        <p:nvSpPr>
          <p:cNvPr id="33" name="text-121">
            <a:extLst>
              <a:ext uri="{FF2B5EF4-FFF2-40B4-BE49-F238E27FC236}">
                <a16:creationId xmlns:a16="http://schemas.microsoft.com/office/drawing/2014/main" id="{4134AB68-037A-485F-94F8-F5412C190D62}"/>
              </a:ext>
            </a:extLst>
          </p:cNvPr>
          <p:cNvSpPr>
            <a:spLocks noGrp="1"/>
          </p:cNvSpPr>
          <p:nvPr/>
        </p:nvSpPr>
        <p:spPr>
          <a:xfrm>
            <a:off x="1952625" y="5905500"/>
            <a:ext cx="828675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Paper contribution mut be a model / system / training strategy—not dataset aggregation.</a:t>
            </a:r>
          </a:p>
        </p:txBody>
      </p:sp>
    </p:spTree>
    <p:extLst>
      <p:ext uri="{BB962C8B-B14F-4D97-AF65-F5344CB8AC3E}">
        <p14:creationId xmlns:p14="http://schemas.microsoft.com/office/powerpoint/2010/main" val="131145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-122">
            <a:extLst>
              <a:ext uri="{FF2B5EF4-FFF2-40B4-BE49-F238E27FC236}">
                <a16:creationId xmlns:a16="http://schemas.microsoft.com/office/drawing/2014/main" id="{EB0C28DA-B23C-4FE5-B390-59ABC88B8DD3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-123">
            <a:extLst>
              <a:ext uri="{FF2B5EF4-FFF2-40B4-BE49-F238E27FC236}">
                <a16:creationId xmlns:a16="http://schemas.microsoft.com/office/drawing/2014/main" id="{455188EE-D6CE-428B-9C4C-85D7DAD305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-124">
            <a:extLst>
              <a:ext uri="{FF2B5EF4-FFF2-40B4-BE49-F238E27FC236}">
                <a16:creationId xmlns:a16="http://schemas.microsoft.com/office/drawing/2014/main" id="{AA4716B2-B471-4D92-97BD-30A924C63910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1096625" cy="704850"/>
          </a:xfrm>
          <a:prstGeom prst="rect">
            <a:avLst/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-125">
            <a:extLst>
              <a:ext uri="{FF2B5EF4-FFF2-40B4-BE49-F238E27FC236}">
                <a16:creationId xmlns:a16="http://schemas.microsoft.com/office/drawing/2014/main" id="{F70B2D09-1775-41CF-B09D-D436349996C2}"/>
              </a:ext>
            </a:extLst>
          </p:cNvPr>
          <p:cNvSpPr>
            <a:spLocks noGrp="1"/>
          </p:cNvSpPr>
          <p:nvPr/>
        </p:nvSpPr>
        <p:spPr>
          <a:xfrm>
            <a:off x="11096625" y="266700"/>
            <a:ext cx="762000" cy="70485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126">
            <a:extLst>
              <a:ext uri="{FF2B5EF4-FFF2-40B4-BE49-F238E27FC236}">
                <a16:creationId xmlns:a16="http://schemas.microsoft.com/office/drawing/2014/main" id="{107164BA-1E75-439B-BDFF-9BCBA9AF1AEF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382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Acquisition fingerprints: loudness differs by ~26 dB</a:t>
            </a:r>
          </a:p>
        </p:txBody>
      </p:sp>
      <p:sp>
        <p:nvSpPr>
          <p:cNvPr id="6" name="shape-127">
            <a:extLst>
              <a:ext uri="{FF2B5EF4-FFF2-40B4-BE49-F238E27FC236}">
                <a16:creationId xmlns:a16="http://schemas.microsoft.com/office/drawing/2014/main" id="{D73F42B0-94B7-453F-A9C8-18D135ED4B17}"/>
              </a:ext>
            </a:extLst>
          </p:cNvPr>
          <p:cNvSpPr>
            <a:spLocks noGrp="1"/>
          </p:cNvSpPr>
          <p:nvPr/>
        </p:nvSpPr>
        <p:spPr>
          <a:xfrm>
            <a:off x="304800" y="6496050"/>
            <a:ext cx="2000250" cy="76200"/>
          </a:xfrm>
          <a:prstGeom prst="rect">
            <a:avLst/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128">
            <a:extLst>
              <a:ext uri="{FF2B5EF4-FFF2-40B4-BE49-F238E27FC236}">
                <a16:creationId xmlns:a16="http://schemas.microsoft.com/office/drawing/2014/main" id="{B400CE00-7E17-49C7-9259-3E53802AC469}"/>
              </a:ext>
            </a:extLst>
          </p:cNvPr>
          <p:cNvSpPr>
            <a:spLocks noGrp="1"/>
          </p:cNvSpPr>
          <p:nvPr/>
        </p:nvSpPr>
        <p:spPr>
          <a:xfrm>
            <a:off x="5715000" y="6438900"/>
            <a:ext cx="762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9" name="text-130">
            <a:extLst>
              <a:ext uri="{FF2B5EF4-FFF2-40B4-BE49-F238E27FC236}">
                <a16:creationId xmlns:a16="http://schemas.microsoft.com/office/drawing/2014/main" id="{420745C2-F3CD-4379-BA66-9DBE2AE0DC09}"/>
              </a:ext>
            </a:extLst>
          </p:cNvPr>
          <p:cNvSpPr>
            <a:spLocks noGrp="1"/>
          </p:cNvSpPr>
          <p:nvPr/>
        </p:nvSpPr>
        <p:spPr>
          <a:xfrm>
            <a:off x="9620250" y="6438900"/>
            <a:ext cx="2238375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pic>
        <p:nvPicPr>
          <p:cNvPr id="31" name="image-1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8640" y="1171575"/>
            <a:ext cx="11094720" cy="3048000"/>
          </a:xfrm>
          <a:prstGeom prst="rect">
            <a:avLst/>
          </a:prstGeom>
        </p:spPr>
      </p:pic>
      <p:sp>
        <p:nvSpPr>
          <p:cNvPr id="12" name="shape-133">
            <a:extLst>
              <a:ext uri="{FF2B5EF4-FFF2-40B4-BE49-F238E27FC236}">
                <a16:creationId xmlns:a16="http://schemas.microsoft.com/office/drawing/2014/main" id="{09490E7F-BCC4-4E0F-859A-BA1C4513FE02}"/>
              </a:ext>
            </a:extLst>
          </p:cNvPr>
          <p:cNvSpPr>
            <a:spLocks noGrp="1"/>
          </p:cNvSpPr>
          <p:nvPr/>
        </p:nvSpPr>
        <p:spPr>
          <a:xfrm>
            <a:off x="523875" y="44958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4F1F8"/>
          </a:solidFill>
          <a:ln w="0">
            <a:solidFill>
              <a:srgbClr val="F4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134">
            <a:extLst>
              <a:ext uri="{FF2B5EF4-FFF2-40B4-BE49-F238E27FC236}">
                <a16:creationId xmlns:a16="http://schemas.microsoft.com/office/drawing/2014/main" id="{3CCD8CBE-66B8-44D5-ADEF-9629076059AB}"/>
              </a:ext>
            </a:extLst>
          </p:cNvPr>
          <p:cNvSpPr>
            <a:spLocks noGrp="1"/>
          </p:cNvSpPr>
          <p:nvPr/>
        </p:nvSpPr>
        <p:spPr>
          <a:xfrm>
            <a:off x="714375" y="4667250"/>
            <a:ext cx="3048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LOUDNESS</a:t>
            </a:r>
          </a:p>
        </p:txBody>
      </p:sp>
      <p:sp>
        <p:nvSpPr>
          <p:cNvPr id="14" name="text-135">
            <a:extLst>
              <a:ext uri="{FF2B5EF4-FFF2-40B4-BE49-F238E27FC236}">
                <a16:creationId xmlns:a16="http://schemas.microsoft.com/office/drawing/2014/main" id="{28EB88AB-8D75-4A66-81F3-8576ED38DC6E}"/>
              </a:ext>
            </a:extLst>
          </p:cNvPr>
          <p:cNvSpPr>
            <a:spLocks noGrp="1"/>
          </p:cNvSpPr>
          <p:nvPr/>
        </p:nvSpPr>
        <p:spPr>
          <a:xfrm>
            <a:off x="714375" y="4972050"/>
            <a:ext cx="30480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ICBHI −16.8 dBFS
SPRSound −43.2 dBFS</a:t>
            </a:r>
          </a:p>
        </p:txBody>
      </p:sp>
      <p:sp>
        <p:nvSpPr>
          <p:cNvPr id="15" name="shape-136">
            <a:extLst>
              <a:ext uri="{FF2B5EF4-FFF2-40B4-BE49-F238E27FC236}">
                <a16:creationId xmlns:a16="http://schemas.microsoft.com/office/drawing/2014/main" id="{F1423FE5-754E-4CF7-960C-F0BBDDFB5E9C}"/>
              </a:ext>
            </a:extLst>
          </p:cNvPr>
          <p:cNvSpPr>
            <a:spLocks noGrp="1"/>
          </p:cNvSpPr>
          <p:nvPr/>
        </p:nvSpPr>
        <p:spPr>
          <a:xfrm>
            <a:off x="7310437" y="4493079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4F1F8"/>
          </a:solidFill>
          <a:ln w="0">
            <a:solidFill>
              <a:srgbClr val="F4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137">
            <a:extLst>
              <a:ext uri="{FF2B5EF4-FFF2-40B4-BE49-F238E27FC236}">
                <a16:creationId xmlns:a16="http://schemas.microsoft.com/office/drawing/2014/main" id="{9711938F-4BE6-4C37-BD7A-85ED9D95057A}"/>
              </a:ext>
            </a:extLst>
          </p:cNvPr>
          <p:cNvSpPr>
            <a:spLocks noGrp="1"/>
          </p:cNvSpPr>
          <p:nvPr/>
        </p:nvSpPr>
        <p:spPr>
          <a:xfrm>
            <a:off x="7500937" y="4667250"/>
            <a:ext cx="3048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rPr dirty="0"/>
              <a:t>SNR PROXY</a:t>
            </a:r>
          </a:p>
        </p:txBody>
      </p:sp>
      <p:sp>
        <p:nvSpPr>
          <p:cNvPr id="17" name="text-138">
            <a:extLst>
              <a:ext uri="{FF2B5EF4-FFF2-40B4-BE49-F238E27FC236}">
                <a16:creationId xmlns:a16="http://schemas.microsoft.com/office/drawing/2014/main" id="{D74A3DA3-B251-479B-980A-AEF8EFAFAE0E}"/>
              </a:ext>
            </a:extLst>
          </p:cNvPr>
          <p:cNvSpPr>
            <a:spLocks noGrp="1"/>
          </p:cNvSpPr>
          <p:nvPr/>
        </p:nvSpPr>
        <p:spPr>
          <a:xfrm>
            <a:off x="7500937" y="4972050"/>
            <a:ext cx="30480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dirty="0"/>
              <a:t>Medians span only
12.9–15.4 dB</a:t>
            </a:r>
          </a:p>
        </p:txBody>
      </p:sp>
    </p:spTree>
    <p:extLst>
      <p:ext uri="{BB962C8B-B14F-4D97-AF65-F5344CB8AC3E}">
        <p14:creationId xmlns:p14="http://schemas.microsoft.com/office/powerpoint/2010/main" val="562717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-142">
            <a:extLst>
              <a:ext uri="{FF2B5EF4-FFF2-40B4-BE49-F238E27FC236}">
                <a16:creationId xmlns:a16="http://schemas.microsoft.com/office/drawing/2014/main" id="{E958D218-DE7C-4484-BD47-E88CD99E54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-143">
            <a:extLst>
              <a:ext uri="{FF2B5EF4-FFF2-40B4-BE49-F238E27FC236}">
                <a16:creationId xmlns:a16="http://schemas.microsoft.com/office/drawing/2014/main" id="{525BD0DB-C5D5-43C1-8967-7C2B0C19DB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-144">
            <a:extLst>
              <a:ext uri="{FF2B5EF4-FFF2-40B4-BE49-F238E27FC236}">
                <a16:creationId xmlns:a16="http://schemas.microsoft.com/office/drawing/2014/main" id="{B20230DF-47D3-4AA1-98A0-0F7679374552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1096625" cy="704850"/>
          </a:xfrm>
          <a:prstGeom prst="rect">
            <a:avLst/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-145">
            <a:extLst>
              <a:ext uri="{FF2B5EF4-FFF2-40B4-BE49-F238E27FC236}">
                <a16:creationId xmlns:a16="http://schemas.microsoft.com/office/drawing/2014/main" id="{2B8839C9-EB83-4583-8DED-DEFE49272E01}"/>
              </a:ext>
            </a:extLst>
          </p:cNvPr>
          <p:cNvSpPr>
            <a:spLocks noGrp="1"/>
          </p:cNvSpPr>
          <p:nvPr/>
        </p:nvSpPr>
        <p:spPr>
          <a:xfrm>
            <a:off x="11096625" y="266700"/>
            <a:ext cx="762000" cy="70485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146">
            <a:extLst>
              <a:ext uri="{FF2B5EF4-FFF2-40B4-BE49-F238E27FC236}">
                <a16:creationId xmlns:a16="http://schemas.microsoft.com/office/drawing/2014/main" id="{FFBE8D82-C133-4206-852C-E7C2749C7E73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382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Raw spectral shape is strongly dataset-specific</a:t>
            </a:r>
          </a:p>
        </p:txBody>
      </p:sp>
      <p:sp>
        <p:nvSpPr>
          <p:cNvPr id="6" name="shape-147">
            <a:extLst>
              <a:ext uri="{FF2B5EF4-FFF2-40B4-BE49-F238E27FC236}">
                <a16:creationId xmlns:a16="http://schemas.microsoft.com/office/drawing/2014/main" id="{970BF1EE-2FE4-40C3-A478-965F7CB60186}"/>
              </a:ext>
            </a:extLst>
          </p:cNvPr>
          <p:cNvSpPr>
            <a:spLocks noGrp="1"/>
          </p:cNvSpPr>
          <p:nvPr/>
        </p:nvSpPr>
        <p:spPr>
          <a:xfrm>
            <a:off x="304800" y="6496050"/>
            <a:ext cx="2000250" cy="76200"/>
          </a:xfrm>
          <a:prstGeom prst="rect">
            <a:avLst/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148">
            <a:extLst>
              <a:ext uri="{FF2B5EF4-FFF2-40B4-BE49-F238E27FC236}">
                <a16:creationId xmlns:a16="http://schemas.microsoft.com/office/drawing/2014/main" id="{640E214C-0680-4A86-983B-645D134513B3}"/>
              </a:ext>
            </a:extLst>
          </p:cNvPr>
          <p:cNvSpPr>
            <a:spLocks noGrp="1"/>
          </p:cNvSpPr>
          <p:nvPr/>
        </p:nvSpPr>
        <p:spPr>
          <a:xfrm>
            <a:off x="5715000" y="6438900"/>
            <a:ext cx="762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9" name="text-150">
            <a:extLst>
              <a:ext uri="{FF2B5EF4-FFF2-40B4-BE49-F238E27FC236}">
                <a16:creationId xmlns:a16="http://schemas.microsoft.com/office/drawing/2014/main" id="{A8A35B80-BDF1-407B-960E-7BE76DDAC783}"/>
              </a:ext>
            </a:extLst>
          </p:cNvPr>
          <p:cNvSpPr>
            <a:spLocks noGrp="1"/>
          </p:cNvSpPr>
          <p:nvPr/>
        </p:nvSpPr>
        <p:spPr>
          <a:xfrm>
            <a:off x="9620250" y="6438900"/>
            <a:ext cx="2238375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pic>
        <p:nvPicPr>
          <p:cNvPr id="25" name="image-1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223906"/>
            <a:ext cx="11144250" cy="3600562"/>
          </a:xfrm>
          <a:prstGeom prst="rect">
            <a:avLst/>
          </a:prstGeom>
        </p:spPr>
      </p:pic>
      <p:sp>
        <p:nvSpPr>
          <p:cNvPr id="12" name="shape-153">
            <a:extLst>
              <a:ext uri="{FF2B5EF4-FFF2-40B4-BE49-F238E27FC236}">
                <a16:creationId xmlns:a16="http://schemas.microsoft.com/office/drawing/2014/main" id="{B9FEEB53-EDA8-4F4B-812A-F48E5F0CC29A}"/>
              </a:ext>
            </a:extLst>
          </p:cNvPr>
          <p:cNvSpPr>
            <a:spLocks noGrp="1"/>
          </p:cNvSpPr>
          <p:nvPr/>
        </p:nvSpPr>
        <p:spPr>
          <a:xfrm>
            <a:off x="809625" y="5048250"/>
            <a:ext cx="10572750" cy="857250"/>
          </a:xfrm>
          <a:prstGeom prst="roundRect">
            <a:avLst>
              <a:gd name="adj" fmla="val 8889"/>
            </a:avLst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154">
            <a:extLst>
              <a:ext uri="{FF2B5EF4-FFF2-40B4-BE49-F238E27FC236}">
                <a16:creationId xmlns:a16="http://schemas.microsoft.com/office/drawing/2014/main" id="{24ED98E1-E2C8-4604-97D6-7E155F095C30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SPRSound concentrates energy in 100–250 Hz; HF_Lung is broader; ICBHI/KAUH are strongly low-frequency dominated.</a:t>
            </a:r>
          </a:p>
        </p:txBody>
      </p:sp>
      <p:sp>
        <p:nvSpPr>
          <p:cNvPr id="14" name="text-155">
            <a:extLst>
              <a:ext uri="{FF2B5EF4-FFF2-40B4-BE49-F238E27FC236}">
                <a16:creationId xmlns:a16="http://schemas.microsoft.com/office/drawing/2014/main" id="{38ECC692-7083-453F-B85F-5B1D138973CF}"/>
              </a:ext>
            </a:extLst>
          </p:cNvPr>
          <p:cNvSpPr>
            <a:spLocks noGrp="1"/>
          </p:cNvSpPr>
          <p:nvPr/>
        </p:nvSpPr>
        <p:spPr>
          <a:xfrm>
            <a:off x="1143000" y="5562600"/>
            <a:ext cx="9906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These raw differences motivate harmonized preprocessing and dataset/device-stratified evaluation.</a:t>
            </a:r>
          </a:p>
        </p:txBody>
      </p:sp>
    </p:spTree>
    <p:extLst>
      <p:ext uri="{BB962C8B-B14F-4D97-AF65-F5344CB8AC3E}">
        <p14:creationId xmlns:p14="http://schemas.microsoft.com/office/powerpoint/2010/main" val="1085533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-156">
            <a:extLst>
              <a:ext uri="{FF2B5EF4-FFF2-40B4-BE49-F238E27FC236}">
                <a16:creationId xmlns:a16="http://schemas.microsoft.com/office/drawing/2014/main" id="{F323594C-60BE-4710-9BA4-00A0C8DE52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-157">
            <a:extLst>
              <a:ext uri="{FF2B5EF4-FFF2-40B4-BE49-F238E27FC236}">
                <a16:creationId xmlns:a16="http://schemas.microsoft.com/office/drawing/2014/main" id="{EAB91CBC-F3C0-413D-A820-EED047418D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-158">
            <a:extLst>
              <a:ext uri="{FF2B5EF4-FFF2-40B4-BE49-F238E27FC236}">
                <a16:creationId xmlns:a16="http://schemas.microsoft.com/office/drawing/2014/main" id="{DC147598-8DAE-43A5-B1CB-B406E9C0522C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1096625" cy="704850"/>
          </a:xfrm>
          <a:prstGeom prst="rect">
            <a:avLst/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-159">
            <a:extLst>
              <a:ext uri="{FF2B5EF4-FFF2-40B4-BE49-F238E27FC236}">
                <a16:creationId xmlns:a16="http://schemas.microsoft.com/office/drawing/2014/main" id="{343410D3-18F6-423E-8130-3896F0ABA1A2}"/>
              </a:ext>
            </a:extLst>
          </p:cNvPr>
          <p:cNvSpPr>
            <a:spLocks noGrp="1"/>
          </p:cNvSpPr>
          <p:nvPr/>
        </p:nvSpPr>
        <p:spPr>
          <a:xfrm>
            <a:off x="11096625" y="266700"/>
            <a:ext cx="762000" cy="70485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160">
            <a:extLst>
              <a:ext uri="{FF2B5EF4-FFF2-40B4-BE49-F238E27FC236}">
                <a16:creationId xmlns:a16="http://schemas.microsoft.com/office/drawing/2014/main" id="{A44BB97A-1AD9-454C-A408-A0BA20DBA77E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382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Low-level acoustics identify the dataset with ~0.92–0.94 balanced accuracy</a:t>
            </a:r>
          </a:p>
        </p:txBody>
      </p:sp>
      <p:sp>
        <p:nvSpPr>
          <p:cNvPr id="6" name="shape-161">
            <a:extLst>
              <a:ext uri="{FF2B5EF4-FFF2-40B4-BE49-F238E27FC236}">
                <a16:creationId xmlns:a16="http://schemas.microsoft.com/office/drawing/2014/main" id="{A27E82CE-BF44-4D72-B292-60A64812500D}"/>
              </a:ext>
            </a:extLst>
          </p:cNvPr>
          <p:cNvSpPr>
            <a:spLocks noGrp="1"/>
          </p:cNvSpPr>
          <p:nvPr/>
        </p:nvSpPr>
        <p:spPr>
          <a:xfrm>
            <a:off x="304800" y="6496050"/>
            <a:ext cx="2000250" cy="76200"/>
          </a:xfrm>
          <a:prstGeom prst="rect">
            <a:avLst/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162">
            <a:extLst>
              <a:ext uri="{FF2B5EF4-FFF2-40B4-BE49-F238E27FC236}">
                <a16:creationId xmlns:a16="http://schemas.microsoft.com/office/drawing/2014/main" id="{A321EA41-D177-4811-B100-10454C15FC10}"/>
              </a:ext>
            </a:extLst>
          </p:cNvPr>
          <p:cNvSpPr>
            <a:spLocks noGrp="1"/>
          </p:cNvSpPr>
          <p:nvPr/>
        </p:nvSpPr>
        <p:spPr>
          <a:xfrm>
            <a:off x="5715000" y="6438900"/>
            <a:ext cx="762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  <p:sp>
        <p:nvSpPr>
          <p:cNvPr id="9" name="text-164">
            <a:extLst>
              <a:ext uri="{FF2B5EF4-FFF2-40B4-BE49-F238E27FC236}">
                <a16:creationId xmlns:a16="http://schemas.microsoft.com/office/drawing/2014/main" id="{2BBC7B5A-BB09-48FE-8635-C23E8EDEA62A}"/>
              </a:ext>
            </a:extLst>
          </p:cNvPr>
          <p:cNvSpPr>
            <a:spLocks noGrp="1"/>
          </p:cNvSpPr>
          <p:nvPr/>
        </p:nvSpPr>
        <p:spPr>
          <a:xfrm>
            <a:off x="9620250" y="6438900"/>
            <a:ext cx="2238375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pic>
        <p:nvPicPr>
          <p:cNvPr id="31" name="image-16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4176" y="1095375"/>
            <a:ext cx="10323648" cy="3981450"/>
          </a:xfrm>
          <a:prstGeom prst="rect">
            <a:avLst/>
          </a:prstGeom>
        </p:spPr>
      </p:pic>
      <p:sp>
        <p:nvSpPr>
          <p:cNvPr id="12" name="shape-167">
            <a:extLst>
              <a:ext uri="{FF2B5EF4-FFF2-40B4-BE49-F238E27FC236}">
                <a16:creationId xmlns:a16="http://schemas.microsoft.com/office/drawing/2014/main" id="{162451E1-1636-4977-8120-2B58065CDEA7}"/>
              </a:ext>
            </a:extLst>
          </p:cNvPr>
          <p:cNvSpPr>
            <a:spLocks noGrp="1"/>
          </p:cNvSpPr>
          <p:nvPr/>
        </p:nvSpPr>
        <p:spPr>
          <a:xfrm>
            <a:off x="619125" y="5191125"/>
            <a:ext cx="4095750" cy="838200"/>
          </a:xfrm>
          <a:prstGeom prst="roundRect">
            <a:avLst>
              <a:gd name="adj" fmla="val 9091"/>
            </a:avLst>
          </a:prstGeom>
          <a:solidFill>
            <a:srgbClr val="F4F1F8"/>
          </a:solidFill>
          <a:ln w="0">
            <a:solidFill>
              <a:srgbClr val="F4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168">
            <a:extLst>
              <a:ext uri="{FF2B5EF4-FFF2-40B4-BE49-F238E27FC236}">
                <a16:creationId xmlns:a16="http://schemas.microsoft.com/office/drawing/2014/main" id="{99A442A0-669E-47DF-B588-2AE00BEBE16E}"/>
              </a:ext>
            </a:extLst>
          </p:cNvPr>
          <p:cNvSpPr>
            <a:spLocks noGrp="1"/>
          </p:cNvSpPr>
          <p:nvPr/>
        </p:nvSpPr>
        <p:spPr>
          <a:xfrm>
            <a:off x="809625" y="5334000"/>
            <a:ext cx="37147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Original plot</a:t>
            </a:r>
          </a:p>
        </p:txBody>
      </p:sp>
      <p:sp>
        <p:nvSpPr>
          <p:cNvPr id="14" name="text-169">
            <a:extLst>
              <a:ext uri="{FF2B5EF4-FFF2-40B4-BE49-F238E27FC236}">
                <a16:creationId xmlns:a16="http://schemas.microsoft.com/office/drawing/2014/main" id="{4D375BE9-013F-47A6-90B5-4F3C273C0873}"/>
              </a:ext>
            </a:extLst>
          </p:cNvPr>
          <p:cNvSpPr>
            <a:spLocks noGrp="1"/>
          </p:cNvSpPr>
          <p:nvPr/>
        </p:nvSpPr>
        <p:spPr>
          <a:xfrm>
            <a:off x="809625" y="5581650"/>
            <a:ext cx="371475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0.935 recording-level CV</a:t>
            </a:r>
          </a:p>
        </p:txBody>
      </p:sp>
      <p:sp>
        <p:nvSpPr>
          <p:cNvPr id="15" name="shape-170">
            <a:extLst>
              <a:ext uri="{FF2B5EF4-FFF2-40B4-BE49-F238E27FC236}">
                <a16:creationId xmlns:a16="http://schemas.microsoft.com/office/drawing/2014/main" id="{870032AB-648D-4D0D-8E5C-BEB7B11629E7}"/>
              </a:ext>
            </a:extLst>
          </p:cNvPr>
          <p:cNvSpPr>
            <a:spLocks noGrp="1"/>
          </p:cNvSpPr>
          <p:nvPr/>
        </p:nvSpPr>
        <p:spPr>
          <a:xfrm>
            <a:off x="4953000" y="5191125"/>
            <a:ext cx="4095750" cy="838200"/>
          </a:xfrm>
          <a:prstGeom prst="roundRect">
            <a:avLst>
              <a:gd name="adj" fmla="val 9091"/>
            </a:avLst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171">
            <a:extLst>
              <a:ext uri="{FF2B5EF4-FFF2-40B4-BE49-F238E27FC236}">
                <a16:creationId xmlns:a16="http://schemas.microsoft.com/office/drawing/2014/main" id="{1E1C52AB-73F3-43EF-AA12-31FD9BA1BABB}"/>
              </a:ext>
            </a:extLst>
          </p:cNvPr>
          <p:cNvSpPr>
            <a:spLocks noGrp="1"/>
          </p:cNvSpPr>
          <p:nvPr/>
        </p:nvSpPr>
        <p:spPr>
          <a:xfrm>
            <a:off x="5143500" y="5334000"/>
            <a:ext cx="37147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R</a:t>
            </a:r>
            <a:r>
              <a:rPr dirty="0"/>
              <a:t>echeck</a:t>
            </a:r>
          </a:p>
        </p:txBody>
      </p:sp>
      <p:sp>
        <p:nvSpPr>
          <p:cNvPr id="17" name="text-172">
            <a:extLst>
              <a:ext uri="{FF2B5EF4-FFF2-40B4-BE49-F238E27FC236}">
                <a16:creationId xmlns:a16="http://schemas.microsoft.com/office/drawing/2014/main" id="{6529172C-4809-4CC1-891C-15DCEA14EAC8}"/>
              </a:ext>
            </a:extLst>
          </p:cNvPr>
          <p:cNvSpPr>
            <a:spLocks noGrp="1"/>
          </p:cNvSpPr>
          <p:nvPr/>
        </p:nvSpPr>
        <p:spPr>
          <a:xfrm>
            <a:off x="5143500" y="5581650"/>
            <a:ext cx="371475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0.924 patient-grouped CV</a:t>
            </a:r>
          </a:p>
        </p:txBody>
      </p:sp>
      <p:sp>
        <p:nvSpPr>
          <p:cNvPr id="18" name="shape-173">
            <a:extLst>
              <a:ext uri="{FF2B5EF4-FFF2-40B4-BE49-F238E27FC236}">
                <a16:creationId xmlns:a16="http://schemas.microsoft.com/office/drawing/2014/main" id="{55AB7CDF-971C-486B-AF7B-8D6ADD29197F}"/>
              </a:ext>
            </a:extLst>
          </p:cNvPr>
          <p:cNvSpPr>
            <a:spLocks noGrp="1"/>
          </p:cNvSpPr>
          <p:nvPr/>
        </p:nvSpPr>
        <p:spPr>
          <a:xfrm>
            <a:off x="9286875" y="5191125"/>
            <a:ext cx="2286000" cy="838200"/>
          </a:xfrm>
          <a:prstGeom prst="roundRect">
            <a:avLst>
              <a:gd name="adj" fmla="val 9091"/>
            </a:avLst>
          </a:prstGeom>
          <a:solidFill>
            <a:srgbClr val="F4F1F8"/>
          </a:solidFill>
          <a:ln w="0">
            <a:solidFill>
              <a:srgbClr val="F4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-174">
            <a:extLst>
              <a:ext uri="{FF2B5EF4-FFF2-40B4-BE49-F238E27FC236}">
                <a16:creationId xmlns:a16="http://schemas.microsoft.com/office/drawing/2014/main" id="{B661DDF9-D6AF-417A-883B-8B1B16183DE3}"/>
              </a:ext>
            </a:extLst>
          </p:cNvPr>
          <p:cNvSpPr>
            <a:spLocks noGrp="1"/>
          </p:cNvSpPr>
          <p:nvPr/>
        </p:nvSpPr>
        <p:spPr>
          <a:xfrm>
            <a:off x="9477375" y="5334000"/>
            <a:ext cx="19050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SPRSound</a:t>
            </a:r>
          </a:p>
        </p:txBody>
      </p:sp>
      <p:sp>
        <p:nvSpPr>
          <p:cNvPr id="20" name="text-175">
            <a:extLst>
              <a:ext uri="{FF2B5EF4-FFF2-40B4-BE49-F238E27FC236}">
                <a16:creationId xmlns:a16="http://schemas.microsoft.com/office/drawing/2014/main" id="{8473BD61-74F1-4470-B15A-15420144BD2F}"/>
              </a:ext>
            </a:extLst>
          </p:cNvPr>
          <p:cNvSpPr>
            <a:spLocks noGrp="1"/>
          </p:cNvSpPr>
          <p:nvPr/>
        </p:nvSpPr>
        <p:spPr>
          <a:xfrm>
            <a:off x="9477375" y="5581650"/>
            <a:ext cx="19050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336 / 336</a:t>
            </a:r>
          </a:p>
        </p:txBody>
      </p:sp>
    </p:spTree>
    <p:extLst>
      <p:ext uri="{BB962C8B-B14F-4D97-AF65-F5344CB8AC3E}">
        <p14:creationId xmlns:p14="http://schemas.microsoft.com/office/powerpoint/2010/main" val="1024706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-176">
            <a:extLst>
              <a:ext uri="{FF2B5EF4-FFF2-40B4-BE49-F238E27FC236}">
                <a16:creationId xmlns:a16="http://schemas.microsoft.com/office/drawing/2014/main" id="{C4334301-C9C6-4BEB-9CD6-261519548B16}"/>
              </a:ext>
            </a:extLst>
          </p:cNvPr>
          <p:cNvSpPr>
            <a:spLocks noGrp="1"/>
          </p:cNvSpPr>
          <p:nvPr/>
        </p:nvSpPr>
        <p:spPr>
          <a:xfrm>
            <a:off x="28575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-177">
            <a:extLst>
              <a:ext uri="{FF2B5EF4-FFF2-40B4-BE49-F238E27FC236}">
                <a16:creationId xmlns:a16="http://schemas.microsoft.com/office/drawing/2014/main" id="{AF1DCDD6-4AC0-463D-8748-A95A59C298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-178">
            <a:extLst>
              <a:ext uri="{FF2B5EF4-FFF2-40B4-BE49-F238E27FC236}">
                <a16:creationId xmlns:a16="http://schemas.microsoft.com/office/drawing/2014/main" id="{F7E1F0BD-336C-4419-954D-191D9E2E681B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1096625" cy="704850"/>
          </a:xfrm>
          <a:prstGeom prst="rect">
            <a:avLst/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-179">
            <a:extLst>
              <a:ext uri="{FF2B5EF4-FFF2-40B4-BE49-F238E27FC236}">
                <a16:creationId xmlns:a16="http://schemas.microsoft.com/office/drawing/2014/main" id="{7AD4BEF4-15CA-4973-BEFB-530AC66880C3}"/>
              </a:ext>
            </a:extLst>
          </p:cNvPr>
          <p:cNvSpPr>
            <a:spLocks noGrp="1"/>
          </p:cNvSpPr>
          <p:nvPr/>
        </p:nvSpPr>
        <p:spPr>
          <a:xfrm>
            <a:off x="11096625" y="266700"/>
            <a:ext cx="762000" cy="70485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180">
            <a:extLst>
              <a:ext uri="{FF2B5EF4-FFF2-40B4-BE49-F238E27FC236}">
                <a16:creationId xmlns:a16="http://schemas.microsoft.com/office/drawing/2014/main" id="{92684EB0-FC53-4A0C-96D5-242B96CA54FD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382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From </a:t>
            </a:r>
            <a:r>
              <a:rPr dirty="0"/>
              <a:t>source alignment to the open research question</a:t>
            </a:r>
          </a:p>
        </p:txBody>
      </p:sp>
      <p:sp>
        <p:nvSpPr>
          <p:cNvPr id="6" name="shape-181">
            <a:extLst>
              <a:ext uri="{FF2B5EF4-FFF2-40B4-BE49-F238E27FC236}">
                <a16:creationId xmlns:a16="http://schemas.microsoft.com/office/drawing/2014/main" id="{28D2C673-FA37-4821-98FE-F84BA3A43007}"/>
              </a:ext>
            </a:extLst>
          </p:cNvPr>
          <p:cNvSpPr>
            <a:spLocks noGrp="1"/>
          </p:cNvSpPr>
          <p:nvPr/>
        </p:nvSpPr>
        <p:spPr>
          <a:xfrm>
            <a:off x="304800" y="6496050"/>
            <a:ext cx="2000250" cy="76200"/>
          </a:xfrm>
          <a:prstGeom prst="rect">
            <a:avLst/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182">
            <a:extLst>
              <a:ext uri="{FF2B5EF4-FFF2-40B4-BE49-F238E27FC236}">
                <a16:creationId xmlns:a16="http://schemas.microsoft.com/office/drawing/2014/main" id="{1EA28289-7A89-4FE8-99F1-366CFC1574F5}"/>
              </a:ext>
            </a:extLst>
          </p:cNvPr>
          <p:cNvSpPr>
            <a:spLocks noGrp="1"/>
          </p:cNvSpPr>
          <p:nvPr/>
        </p:nvSpPr>
        <p:spPr>
          <a:xfrm>
            <a:off x="5715000" y="6438900"/>
            <a:ext cx="762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sp>
        <p:nvSpPr>
          <p:cNvPr id="9" name="text-184">
            <a:extLst>
              <a:ext uri="{FF2B5EF4-FFF2-40B4-BE49-F238E27FC236}">
                <a16:creationId xmlns:a16="http://schemas.microsoft.com/office/drawing/2014/main" id="{322B0377-118A-4500-A341-1D46088BE9AE}"/>
              </a:ext>
            </a:extLst>
          </p:cNvPr>
          <p:cNvSpPr>
            <a:spLocks noGrp="1"/>
          </p:cNvSpPr>
          <p:nvPr/>
        </p:nvSpPr>
        <p:spPr>
          <a:xfrm>
            <a:off x="9620250" y="6438900"/>
            <a:ext cx="2238375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1" name="shape-186">
            <a:extLst>
              <a:ext uri="{FF2B5EF4-FFF2-40B4-BE49-F238E27FC236}">
                <a16:creationId xmlns:a16="http://schemas.microsoft.com/office/drawing/2014/main" id="{01378088-A91E-4874-B160-3AAFFC1CEE5E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2333625" cy="1428750"/>
          </a:xfrm>
          <a:prstGeom prst="roundRect">
            <a:avLst>
              <a:gd name="adj" fmla="val 5333"/>
            </a:avLst>
          </a:prstGeom>
          <a:solidFill>
            <a:srgbClr val="F4F1F8"/>
          </a:solidFill>
          <a:ln w="9525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-187">
            <a:extLst>
              <a:ext uri="{FF2B5EF4-FFF2-40B4-BE49-F238E27FC236}">
                <a16:creationId xmlns:a16="http://schemas.microsoft.com/office/drawing/2014/main" id="{16FDF8B3-06DB-47B5-866D-8F6356C883D1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204787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Patch-Mix</a:t>
            </a:r>
          </a:p>
        </p:txBody>
      </p:sp>
      <p:sp>
        <p:nvSpPr>
          <p:cNvPr id="13" name="text-188">
            <a:extLst>
              <a:ext uri="{FF2B5EF4-FFF2-40B4-BE49-F238E27FC236}">
                <a16:creationId xmlns:a16="http://schemas.microsoft.com/office/drawing/2014/main" id="{909E4EC8-CBE7-4D9C-B721-B71165BFD2E7}"/>
              </a:ext>
            </a:extLst>
          </p:cNvPr>
          <p:cNvSpPr>
            <a:spLocks noGrp="1"/>
          </p:cNvSpPr>
          <p:nvPr/>
        </p:nvSpPr>
        <p:spPr>
          <a:xfrm>
            <a:off x="666750" y="1847850"/>
            <a:ext cx="2047875" cy="4095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3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62.1708</a:t>
            </a:r>
          </a:p>
        </p:txBody>
      </p:sp>
      <p:sp>
        <p:nvSpPr>
          <p:cNvPr id="14" name="text-189">
            <a:extLst>
              <a:ext uri="{FF2B5EF4-FFF2-40B4-BE49-F238E27FC236}">
                <a16:creationId xmlns:a16="http://schemas.microsoft.com/office/drawing/2014/main" id="{7A5FA1ED-4C69-4841-A3E5-63DB31B286F8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2047875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author: 62.17</a:t>
            </a:r>
          </a:p>
        </p:txBody>
      </p:sp>
      <p:sp>
        <p:nvSpPr>
          <p:cNvPr id="15" name="shape-190">
            <a:extLst>
              <a:ext uri="{FF2B5EF4-FFF2-40B4-BE49-F238E27FC236}">
                <a16:creationId xmlns:a16="http://schemas.microsoft.com/office/drawing/2014/main" id="{07FA8F5D-DEBD-4E81-9834-CC81ED57AC1B}"/>
              </a:ext>
            </a:extLst>
          </p:cNvPr>
          <p:cNvSpPr>
            <a:spLocks noGrp="1"/>
          </p:cNvSpPr>
          <p:nvPr/>
        </p:nvSpPr>
        <p:spPr>
          <a:xfrm>
            <a:off x="3143250" y="1333500"/>
            <a:ext cx="2333625" cy="1428750"/>
          </a:xfrm>
          <a:prstGeom prst="roundRect">
            <a:avLst>
              <a:gd name="adj" fmla="val 5333"/>
            </a:avLst>
          </a:prstGeom>
          <a:solidFill>
            <a:srgbClr val="F4F1F8"/>
          </a:solidFill>
          <a:ln w="9525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191">
            <a:extLst>
              <a:ext uri="{FF2B5EF4-FFF2-40B4-BE49-F238E27FC236}">
                <a16:creationId xmlns:a16="http://schemas.microsoft.com/office/drawing/2014/main" id="{562AF596-B572-44C6-844E-AC2F0CF4E91F}"/>
              </a:ext>
            </a:extLst>
          </p:cNvPr>
          <p:cNvSpPr>
            <a:spLocks noGrp="1"/>
          </p:cNvSpPr>
          <p:nvPr/>
        </p:nvSpPr>
        <p:spPr>
          <a:xfrm>
            <a:off x="3286125" y="1495425"/>
            <a:ext cx="204787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PAFA</a:t>
            </a:r>
          </a:p>
        </p:txBody>
      </p:sp>
      <p:sp>
        <p:nvSpPr>
          <p:cNvPr id="17" name="text-192">
            <a:extLst>
              <a:ext uri="{FF2B5EF4-FFF2-40B4-BE49-F238E27FC236}">
                <a16:creationId xmlns:a16="http://schemas.microsoft.com/office/drawing/2014/main" id="{A58B7933-140E-443D-8B92-B0F03673C2AB}"/>
              </a:ext>
            </a:extLst>
          </p:cNvPr>
          <p:cNvSpPr>
            <a:spLocks noGrp="1"/>
          </p:cNvSpPr>
          <p:nvPr/>
        </p:nvSpPr>
        <p:spPr>
          <a:xfrm>
            <a:off x="3286125" y="1847850"/>
            <a:ext cx="2047875" cy="4095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32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64.143</a:t>
            </a:r>
          </a:p>
        </p:txBody>
      </p:sp>
      <p:sp>
        <p:nvSpPr>
          <p:cNvPr id="18" name="text-193">
            <a:extLst>
              <a:ext uri="{FF2B5EF4-FFF2-40B4-BE49-F238E27FC236}">
                <a16:creationId xmlns:a16="http://schemas.microsoft.com/office/drawing/2014/main" id="{98A609DD-EB84-4BD6-86E0-7B9FA6B110AF}"/>
              </a:ext>
            </a:extLst>
          </p:cNvPr>
          <p:cNvSpPr>
            <a:spLocks noGrp="1"/>
          </p:cNvSpPr>
          <p:nvPr/>
        </p:nvSpPr>
        <p:spPr>
          <a:xfrm>
            <a:off x="3286125" y="2362200"/>
            <a:ext cx="2047875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paper: 64.84 ± 0.60</a:t>
            </a:r>
          </a:p>
        </p:txBody>
      </p:sp>
      <p:sp>
        <p:nvSpPr>
          <p:cNvPr id="19" name="shape-194">
            <a:extLst>
              <a:ext uri="{FF2B5EF4-FFF2-40B4-BE49-F238E27FC236}">
                <a16:creationId xmlns:a16="http://schemas.microsoft.com/office/drawing/2014/main" id="{47644C9D-A6F5-4A78-882F-F8BEECA50396}"/>
              </a:ext>
            </a:extLst>
          </p:cNvPr>
          <p:cNvSpPr>
            <a:spLocks noGrp="1"/>
          </p:cNvSpPr>
          <p:nvPr/>
        </p:nvSpPr>
        <p:spPr>
          <a:xfrm>
            <a:off x="5762625" y="1333500"/>
            <a:ext cx="2333625" cy="1428750"/>
          </a:xfrm>
          <a:prstGeom prst="roundRect">
            <a:avLst>
              <a:gd name="adj" fmla="val 5333"/>
            </a:avLst>
          </a:prstGeom>
          <a:solidFill>
            <a:srgbClr val="F4F1F8"/>
          </a:solidFill>
          <a:ln w="9525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195">
            <a:extLst>
              <a:ext uri="{FF2B5EF4-FFF2-40B4-BE49-F238E27FC236}">
                <a16:creationId xmlns:a16="http://schemas.microsoft.com/office/drawing/2014/main" id="{C5882B5D-AC81-4766-8C6B-54F6C352D79F}"/>
              </a:ext>
            </a:extLst>
          </p:cNvPr>
          <p:cNvSpPr>
            <a:spLocks noGrp="1"/>
          </p:cNvSpPr>
          <p:nvPr/>
        </p:nvSpPr>
        <p:spPr>
          <a:xfrm>
            <a:off x="5905500" y="1495425"/>
            <a:ext cx="204787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SG-SCL</a:t>
            </a:r>
          </a:p>
        </p:txBody>
      </p:sp>
      <p:sp>
        <p:nvSpPr>
          <p:cNvPr id="21" name="text-196">
            <a:extLst>
              <a:ext uri="{FF2B5EF4-FFF2-40B4-BE49-F238E27FC236}">
                <a16:creationId xmlns:a16="http://schemas.microsoft.com/office/drawing/2014/main" id="{DA8BD6AF-C242-4687-B4C9-C43DEA36E743}"/>
              </a:ext>
            </a:extLst>
          </p:cNvPr>
          <p:cNvSpPr>
            <a:spLocks noGrp="1"/>
          </p:cNvSpPr>
          <p:nvPr/>
        </p:nvSpPr>
        <p:spPr>
          <a:xfrm>
            <a:off x="5905500" y="1847850"/>
            <a:ext cx="2047875" cy="40957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32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60.984</a:t>
            </a:r>
          </a:p>
        </p:txBody>
      </p:sp>
      <p:sp>
        <p:nvSpPr>
          <p:cNvPr id="22" name="text-197">
            <a:extLst>
              <a:ext uri="{FF2B5EF4-FFF2-40B4-BE49-F238E27FC236}">
                <a16:creationId xmlns:a16="http://schemas.microsoft.com/office/drawing/2014/main" id="{BC8E5413-24FB-4E31-8DFE-94747CFC611E}"/>
              </a:ext>
            </a:extLst>
          </p:cNvPr>
          <p:cNvSpPr>
            <a:spLocks noGrp="1"/>
          </p:cNvSpPr>
          <p:nvPr/>
        </p:nvSpPr>
        <p:spPr>
          <a:xfrm>
            <a:off x="5905500" y="2362200"/>
            <a:ext cx="2047875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paper: 61.71 ± 1.61</a:t>
            </a:r>
          </a:p>
        </p:txBody>
      </p:sp>
      <p:sp>
        <p:nvSpPr>
          <p:cNvPr id="26" name="shape-201">
            <a:extLst>
              <a:ext uri="{FF2B5EF4-FFF2-40B4-BE49-F238E27FC236}">
                <a16:creationId xmlns:a16="http://schemas.microsoft.com/office/drawing/2014/main" id="{309A9734-0320-4C2C-A9AF-BE246941EA2E}"/>
              </a:ext>
            </a:extLst>
          </p:cNvPr>
          <p:cNvSpPr>
            <a:spLocks noGrp="1"/>
          </p:cNvSpPr>
          <p:nvPr/>
        </p:nvSpPr>
        <p:spPr>
          <a:xfrm>
            <a:off x="523875" y="3714750"/>
            <a:ext cx="2333625" cy="1428750"/>
          </a:xfrm>
          <a:prstGeom prst="roundRect">
            <a:avLst>
              <a:gd name="adj" fmla="val 5333"/>
            </a:avLst>
          </a:prstGeom>
          <a:solidFill>
            <a:srgbClr val="4E2A84"/>
          </a:solidFill>
          <a:ln w="1905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202">
            <a:extLst>
              <a:ext uri="{FF2B5EF4-FFF2-40B4-BE49-F238E27FC236}">
                <a16:creationId xmlns:a16="http://schemas.microsoft.com/office/drawing/2014/main" id="{32B2F388-C855-4AAF-BDA8-5BE664079145}"/>
              </a:ext>
            </a:extLst>
          </p:cNvPr>
          <p:cNvSpPr>
            <a:spLocks noGrp="1"/>
          </p:cNvSpPr>
          <p:nvPr/>
        </p:nvSpPr>
        <p:spPr>
          <a:xfrm>
            <a:off x="695325" y="3857625"/>
            <a:ext cx="3619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28" name="text-203">
            <a:extLst>
              <a:ext uri="{FF2B5EF4-FFF2-40B4-BE49-F238E27FC236}">
                <a16:creationId xmlns:a16="http://schemas.microsoft.com/office/drawing/2014/main" id="{77016477-50FC-4816-8B8C-B42E00EBBDD3}"/>
              </a:ext>
            </a:extLst>
          </p:cNvPr>
          <p:cNvSpPr>
            <a:spLocks noGrp="1"/>
          </p:cNvSpPr>
          <p:nvPr/>
        </p:nvSpPr>
        <p:spPr>
          <a:xfrm>
            <a:off x="714375" y="4343400"/>
            <a:ext cx="1952625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Source alignment</a:t>
            </a:r>
          </a:p>
        </p:txBody>
      </p:sp>
      <p:sp>
        <p:nvSpPr>
          <p:cNvPr id="29" name="text-204">
            <a:extLst>
              <a:ext uri="{FF2B5EF4-FFF2-40B4-BE49-F238E27FC236}">
                <a16:creationId xmlns:a16="http://schemas.microsoft.com/office/drawing/2014/main" id="{45784873-232A-42B1-8416-39EF675984C8}"/>
              </a:ext>
            </a:extLst>
          </p:cNvPr>
          <p:cNvSpPr>
            <a:spLocks noGrp="1"/>
          </p:cNvSpPr>
          <p:nvPr/>
        </p:nvSpPr>
        <p:spPr>
          <a:xfrm>
            <a:off x="714375" y="4876800"/>
            <a:ext cx="1952625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Verified</a:t>
            </a:r>
          </a:p>
        </p:txBody>
      </p:sp>
      <p:sp>
        <p:nvSpPr>
          <p:cNvPr id="30" name="text-205">
            <a:extLst>
              <a:ext uri="{FF2B5EF4-FFF2-40B4-BE49-F238E27FC236}">
                <a16:creationId xmlns:a16="http://schemas.microsoft.com/office/drawing/2014/main" id="{484939B8-B6F4-4BD9-80FC-DF079B25410A}"/>
              </a:ext>
            </a:extLst>
          </p:cNvPr>
          <p:cNvSpPr>
            <a:spLocks noGrp="1"/>
          </p:cNvSpPr>
          <p:nvPr/>
        </p:nvSpPr>
        <p:spPr>
          <a:xfrm>
            <a:off x="2886075" y="4191000"/>
            <a:ext cx="32385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1" name="shape-206">
            <a:extLst>
              <a:ext uri="{FF2B5EF4-FFF2-40B4-BE49-F238E27FC236}">
                <a16:creationId xmlns:a16="http://schemas.microsoft.com/office/drawing/2014/main" id="{8CB37720-199A-47B6-ACFF-10EE7D0BE3DB}"/>
              </a:ext>
            </a:extLst>
          </p:cNvPr>
          <p:cNvSpPr>
            <a:spLocks noGrp="1"/>
          </p:cNvSpPr>
          <p:nvPr/>
        </p:nvSpPr>
        <p:spPr>
          <a:xfrm>
            <a:off x="3238500" y="3714750"/>
            <a:ext cx="2333625" cy="1428750"/>
          </a:xfrm>
          <a:prstGeom prst="roundRect">
            <a:avLst>
              <a:gd name="adj" fmla="val 5333"/>
            </a:avLst>
          </a:prstGeom>
          <a:solidFill>
            <a:srgbClr val="4E2A84"/>
          </a:solidFill>
          <a:ln w="1905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-207">
            <a:extLst>
              <a:ext uri="{FF2B5EF4-FFF2-40B4-BE49-F238E27FC236}">
                <a16:creationId xmlns:a16="http://schemas.microsoft.com/office/drawing/2014/main" id="{CE5CD8DF-06A0-4EB6-858D-FC4068C48F82}"/>
              </a:ext>
            </a:extLst>
          </p:cNvPr>
          <p:cNvSpPr>
            <a:spLocks noGrp="1"/>
          </p:cNvSpPr>
          <p:nvPr/>
        </p:nvSpPr>
        <p:spPr>
          <a:xfrm>
            <a:off x="3409950" y="3857625"/>
            <a:ext cx="3619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33" name="text-208">
            <a:extLst>
              <a:ext uri="{FF2B5EF4-FFF2-40B4-BE49-F238E27FC236}">
                <a16:creationId xmlns:a16="http://schemas.microsoft.com/office/drawing/2014/main" id="{B093AC5E-E203-4822-A36D-D58533A8DB9F}"/>
              </a:ext>
            </a:extLst>
          </p:cNvPr>
          <p:cNvSpPr>
            <a:spLocks noGrp="1"/>
          </p:cNvSpPr>
          <p:nvPr/>
        </p:nvSpPr>
        <p:spPr>
          <a:xfrm>
            <a:off x="3429000" y="4343400"/>
            <a:ext cx="1952625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Direct source-head transfer</a:t>
            </a:r>
          </a:p>
        </p:txBody>
      </p:sp>
      <p:sp>
        <p:nvSpPr>
          <p:cNvPr id="34" name="text-209">
            <a:extLst>
              <a:ext uri="{FF2B5EF4-FFF2-40B4-BE49-F238E27FC236}">
                <a16:creationId xmlns:a16="http://schemas.microsoft.com/office/drawing/2014/main" id="{EDD9E085-FA90-4BBC-BBCC-4BEED8DBFC5F}"/>
              </a:ext>
            </a:extLst>
          </p:cNvPr>
          <p:cNvSpPr>
            <a:spLocks noGrp="1"/>
          </p:cNvSpPr>
          <p:nvPr/>
        </p:nvSpPr>
        <p:spPr>
          <a:xfrm>
            <a:off x="3429000" y="4876800"/>
            <a:ext cx="1952625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Verified</a:t>
            </a:r>
          </a:p>
        </p:txBody>
      </p:sp>
      <p:sp>
        <p:nvSpPr>
          <p:cNvPr id="35" name="text-210">
            <a:extLst>
              <a:ext uri="{FF2B5EF4-FFF2-40B4-BE49-F238E27FC236}">
                <a16:creationId xmlns:a16="http://schemas.microsoft.com/office/drawing/2014/main" id="{91D6FE77-F056-49E6-A67B-AA04C0FFA896}"/>
              </a:ext>
            </a:extLst>
          </p:cNvPr>
          <p:cNvSpPr>
            <a:spLocks noGrp="1"/>
          </p:cNvSpPr>
          <p:nvPr/>
        </p:nvSpPr>
        <p:spPr>
          <a:xfrm>
            <a:off x="5600700" y="4191000"/>
            <a:ext cx="32385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6" name="shape-211">
            <a:extLst>
              <a:ext uri="{FF2B5EF4-FFF2-40B4-BE49-F238E27FC236}">
                <a16:creationId xmlns:a16="http://schemas.microsoft.com/office/drawing/2014/main" id="{DFE7D656-B007-4A7A-A1EC-742395012932}"/>
              </a:ext>
            </a:extLst>
          </p:cNvPr>
          <p:cNvSpPr>
            <a:spLocks noGrp="1"/>
          </p:cNvSpPr>
          <p:nvPr/>
        </p:nvSpPr>
        <p:spPr>
          <a:xfrm>
            <a:off x="5953125" y="3714750"/>
            <a:ext cx="2333625" cy="1428750"/>
          </a:xfrm>
          <a:prstGeom prst="roundRect">
            <a:avLst>
              <a:gd name="adj" fmla="val 5333"/>
            </a:avLst>
          </a:prstGeom>
          <a:solidFill>
            <a:srgbClr val="4E2A84"/>
          </a:solidFill>
          <a:ln w="1905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-212">
            <a:extLst>
              <a:ext uri="{FF2B5EF4-FFF2-40B4-BE49-F238E27FC236}">
                <a16:creationId xmlns:a16="http://schemas.microsoft.com/office/drawing/2014/main" id="{F614BA0A-776F-4399-BA90-B252D36F1B39}"/>
              </a:ext>
            </a:extLst>
          </p:cNvPr>
          <p:cNvSpPr>
            <a:spLocks noGrp="1"/>
          </p:cNvSpPr>
          <p:nvPr/>
        </p:nvSpPr>
        <p:spPr>
          <a:xfrm>
            <a:off x="6124575" y="3857625"/>
            <a:ext cx="3619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38" name="text-213">
            <a:extLst>
              <a:ext uri="{FF2B5EF4-FFF2-40B4-BE49-F238E27FC236}">
                <a16:creationId xmlns:a16="http://schemas.microsoft.com/office/drawing/2014/main" id="{1CA7E4E0-C8DB-4E94-A9BB-98D449DF4F0D}"/>
              </a:ext>
            </a:extLst>
          </p:cNvPr>
          <p:cNvSpPr>
            <a:spLocks noGrp="1"/>
          </p:cNvSpPr>
          <p:nvPr/>
        </p:nvSpPr>
        <p:spPr>
          <a:xfrm>
            <a:off x="6143625" y="4343400"/>
            <a:ext cx="1952625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Frozen encoder + target head</a:t>
            </a:r>
          </a:p>
        </p:txBody>
      </p:sp>
      <p:sp>
        <p:nvSpPr>
          <p:cNvPr id="39" name="text-214">
            <a:extLst>
              <a:ext uri="{FF2B5EF4-FFF2-40B4-BE49-F238E27FC236}">
                <a16:creationId xmlns:a16="http://schemas.microsoft.com/office/drawing/2014/main" id="{E01F5D87-51B6-44AF-B7CF-A7D7A88CF20B}"/>
              </a:ext>
            </a:extLst>
          </p:cNvPr>
          <p:cNvSpPr>
            <a:spLocks noGrp="1"/>
          </p:cNvSpPr>
          <p:nvPr/>
        </p:nvSpPr>
        <p:spPr>
          <a:xfrm>
            <a:off x="6143625" y="4876800"/>
            <a:ext cx="1952625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Verified</a:t>
            </a:r>
          </a:p>
        </p:txBody>
      </p:sp>
      <p:sp>
        <p:nvSpPr>
          <p:cNvPr id="40" name="text-215">
            <a:extLst>
              <a:ext uri="{FF2B5EF4-FFF2-40B4-BE49-F238E27FC236}">
                <a16:creationId xmlns:a16="http://schemas.microsoft.com/office/drawing/2014/main" id="{574276BA-C443-4B2D-83F7-12F5D7404826}"/>
              </a:ext>
            </a:extLst>
          </p:cNvPr>
          <p:cNvSpPr>
            <a:spLocks noGrp="1"/>
          </p:cNvSpPr>
          <p:nvPr/>
        </p:nvSpPr>
        <p:spPr>
          <a:xfrm>
            <a:off x="8315325" y="4191000"/>
            <a:ext cx="32385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41" name="shape-216">
            <a:extLst>
              <a:ext uri="{FF2B5EF4-FFF2-40B4-BE49-F238E27FC236}">
                <a16:creationId xmlns:a16="http://schemas.microsoft.com/office/drawing/2014/main" id="{D932476F-202F-4BBE-BB1B-A522BEB04C6D}"/>
              </a:ext>
            </a:extLst>
          </p:cNvPr>
          <p:cNvSpPr>
            <a:spLocks noGrp="1"/>
          </p:cNvSpPr>
          <p:nvPr/>
        </p:nvSpPr>
        <p:spPr>
          <a:xfrm>
            <a:off x="8667750" y="3714750"/>
            <a:ext cx="233362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-217">
            <a:extLst>
              <a:ext uri="{FF2B5EF4-FFF2-40B4-BE49-F238E27FC236}">
                <a16:creationId xmlns:a16="http://schemas.microsoft.com/office/drawing/2014/main" id="{5ABE82B9-D897-48FE-B3BD-C2B397F0158A}"/>
              </a:ext>
            </a:extLst>
          </p:cNvPr>
          <p:cNvSpPr>
            <a:spLocks noGrp="1"/>
          </p:cNvSpPr>
          <p:nvPr/>
        </p:nvSpPr>
        <p:spPr>
          <a:xfrm>
            <a:off x="8839200" y="3857625"/>
            <a:ext cx="3619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43" name="text-218">
            <a:extLst>
              <a:ext uri="{FF2B5EF4-FFF2-40B4-BE49-F238E27FC236}">
                <a16:creationId xmlns:a16="http://schemas.microsoft.com/office/drawing/2014/main" id="{B32AF134-5740-4665-B9E4-A22F198087A2}"/>
              </a:ext>
            </a:extLst>
          </p:cNvPr>
          <p:cNvSpPr>
            <a:spLocks noGrp="1"/>
          </p:cNvSpPr>
          <p:nvPr/>
        </p:nvSpPr>
        <p:spPr>
          <a:xfrm>
            <a:off x="8858250" y="4343400"/>
            <a:ext cx="1952625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Rare-event multi-dataset learning</a:t>
            </a:r>
          </a:p>
        </p:txBody>
      </p:sp>
      <p:sp>
        <p:nvSpPr>
          <p:cNvPr id="44" name="text-219">
            <a:extLst>
              <a:ext uri="{FF2B5EF4-FFF2-40B4-BE49-F238E27FC236}">
                <a16:creationId xmlns:a16="http://schemas.microsoft.com/office/drawing/2014/main" id="{B304E67D-CB0B-4F16-AAD6-4965609EFA73}"/>
              </a:ext>
            </a:extLst>
          </p:cNvPr>
          <p:cNvSpPr>
            <a:spLocks noGrp="1"/>
          </p:cNvSpPr>
          <p:nvPr/>
        </p:nvSpPr>
        <p:spPr>
          <a:xfrm>
            <a:off x="8858250" y="4876800"/>
            <a:ext cx="1952625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Proposed</a:t>
            </a:r>
          </a:p>
        </p:txBody>
      </p:sp>
    </p:spTree>
    <p:extLst>
      <p:ext uri="{BB962C8B-B14F-4D97-AF65-F5344CB8AC3E}">
        <p14:creationId xmlns:p14="http://schemas.microsoft.com/office/powerpoint/2010/main" val="40585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-221">
            <a:extLst>
              <a:ext uri="{FF2B5EF4-FFF2-40B4-BE49-F238E27FC236}">
                <a16:creationId xmlns:a16="http://schemas.microsoft.com/office/drawing/2014/main" id="{C0466101-7E22-459E-9F50-418D3A29FA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-222">
            <a:extLst>
              <a:ext uri="{FF2B5EF4-FFF2-40B4-BE49-F238E27FC236}">
                <a16:creationId xmlns:a16="http://schemas.microsoft.com/office/drawing/2014/main" id="{B7971645-AB7C-46C9-8026-4E350D9755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-223">
            <a:extLst>
              <a:ext uri="{FF2B5EF4-FFF2-40B4-BE49-F238E27FC236}">
                <a16:creationId xmlns:a16="http://schemas.microsoft.com/office/drawing/2014/main" id="{396C0AB0-C630-4A22-9FDE-566EF318E33C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1096625" cy="704850"/>
          </a:xfrm>
          <a:prstGeom prst="rect">
            <a:avLst/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-224">
            <a:extLst>
              <a:ext uri="{FF2B5EF4-FFF2-40B4-BE49-F238E27FC236}">
                <a16:creationId xmlns:a16="http://schemas.microsoft.com/office/drawing/2014/main" id="{93F17E4A-17B7-4171-93D2-58DB9FCC295A}"/>
              </a:ext>
            </a:extLst>
          </p:cNvPr>
          <p:cNvSpPr>
            <a:spLocks noGrp="1"/>
          </p:cNvSpPr>
          <p:nvPr/>
        </p:nvSpPr>
        <p:spPr>
          <a:xfrm>
            <a:off x="11096625" y="266700"/>
            <a:ext cx="762000" cy="70485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225">
            <a:extLst>
              <a:ext uri="{FF2B5EF4-FFF2-40B4-BE49-F238E27FC236}">
                <a16:creationId xmlns:a16="http://schemas.microsoft.com/office/drawing/2014/main" id="{C0612BC7-0760-4795-9828-A734D382D64E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382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Direct source decision layers do not transfer</a:t>
            </a:r>
          </a:p>
        </p:txBody>
      </p:sp>
      <p:sp>
        <p:nvSpPr>
          <p:cNvPr id="6" name="shape-226">
            <a:extLst>
              <a:ext uri="{FF2B5EF4-FFF2-40B4-BE49-F238E27FC236}">
                <a16:creationId xmlns:a16="http://schemas.microsoft.com/office/drawing/2014/main" id="{4C90ED4A-21DF-4EB3-A6AB-A25066FF5005}"/>
              </a:ext>
            </a:extLst>
          </p:cNvPr>
          <p:cNvSpPr>
            <a:spLocks noGrp="1"/>
          </p:cNvSpPr>
          <p:nvPr/>
        </p:nvSpPr>
        <p:spPr>
          <a:xfrm>
            <a:off x="304800" y="6496050"/>
            <a:ext cx="2000250" cy="76200"/>
          </a:xfrm>
          <a:prstGeom prst="rect">
            <a:avLst/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227">
            <a:extLst>
              <a:ext uri="{FF2B5EF4-FFF2-40B4-BE49-F238E27FC236}">
                <a16:creationId xmlns:a16="http://schemas.microsoft.com/office/drawing/2014/main" id="{D0C06994-BFDA-4F0D-9893-5DD839B6C2BC}"/>
              </a:ext>
            </a:extLst>
          </p:cNvPr>
          <p:cNvSpPr>
            <a:spLocks noGrp="1"/>
          </p:cNvSpPr>
          <p:nvPr/>
        </p:nvSpPr>
        <p:spPr>
          <a:xfrm>
            <a:off x="5715000" y="6438900"/>
            <a:ext cx="762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9</a:t>
            </a:r>
          </a:p>
        </p:txBody>
      </p:sp>
      <p:sp>
        <p:nvSpPr>
          <p:cNvPr id="9" name="text-229">
            <a:extLst>
              <a:ext uri="{FF2B5EF4-FFF2-40B4-BE49-F238E27FC236}">
                <a16:creationId xmlns:a16="http://schemas.microsoft.com/office/drawing/2014/main" id="{7058AC3E-89B9-47E9-9BC7-84DEA730B2FD}"/>
              </a:ext>
            </a:extLst>
          </p:cNvPr>
          <p:cNvSpPr>
            <a:spLocks noGrp="1"/>
          </p:cNvSpPr>
          <p:nvPr/>
        </p:nvSpPr>
        <p:spPr>
          <a:xfrm>
            <a:off x="9620250" y="6438900"/>
            <a:ext cx="2238375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1" name="text-231">
            <a:extLst>
              <a:ext uri="{FF2B5EF4-FFF2-40B4-BE49-F238E27FC236}">
                <a16:creationId xmlns:a16="http://schemas.microsoft.com/office/drawing/2014/main" id="{E3D7960A-073E-4B89-9F2D-46AFAE7FC218}"/>
              </a:ext>
            </a:extLst>
          </p:cNvPr>
          <p:cNvSpPr>
            <a:spLocks noGrp="1"/>
          </p:cNvSpPr>
          <p:nvPr/>
        </p:nvSpPr>
        <p:spPr>
          <a:xfrm>
            <a:off x="523875" y="1190625"/>
            <a:ext cx="40957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Same 1,429 SPRSound inter events</a:t>
            </a:r>
          </a:p>
        </p:txBody>
      </p:sp>
      <p:sp>
        <p:nvSpPr>
          <p:cNvPr id="12" name="shape-232">
            <a:extLst>
              <a:ext uri="{FF2B5EF4-FFF2-40B4-BE49-F238E27FC236}">
                <a16:creationId xmlns:a16="http://schemas.microsoft.com/office/drawing/2014/main" id="{5FBDE83B-A414-448A-8E1B-90A590FCAF28}"/>
              </a:ext>
            </a:extLst>
          </p:cNvPr>
          <p:cNvSpPr>
            <a:spLocks noGrp="1"/>
          </p:cNvSpPr>
          <p:nvPr/>
        </p:nvSpPr>
        <p:spPr>
          <a:xfrm>
            <a:off x="8810625" y="1171575"/>
            <a:ext cx="2714625" cy="285750"/>
          </a:xfrm>
          <a:prstGeom prst="roundRect">
            <a:avLst>
              <a:gd name="adj" fmla="val 26667"/>
            </a:avLst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233">
            <a:extLst>
              <a:ext uri="{FF2B5EF4-FFF2-40B4-BE49-F238E27FC236}">
                <a16:creationId xmlns:a16="http://schemas.microsoft.com/office/drawing/2014/main" id="{78E38286-B11A-4B6E-AB8E-B4104A52AEC7}"/>
              </a:ext>
            </a:extLst>
          </p:cNvPr>
          <p:cNvSpPr>
            <a:spLocks noGrp="1"/>
          </p:cNvSpPr>
          <p:nvPr/>
        </p:nvSpPr>
        <p:spPr>
          <a:xfrm>
            <a:off x="8886825" y="1219200"/>
            <a:ext cx="2562225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ZERO-TARGET-TUNING</a:t>
            </a:r>
          </a:p>
        </p:txBody>
      </p:sp>
      <p:sp>
        <p:nvSpPr>
          <p:cNvPr id="14" name="text-234">
            <a:extLst>
              <a:ext uri="{FF2B5EF4-FFF2-40B4-BE49-F238E27FC236}">
                <a16:creationId xmlns:a16="http://schemas.microsoft.com/office/drawing/2014/main" id="{CC7239EF-E2A2-4659-8BDA-7FFEB2EE95D7}"/>
              </a:ext>
            </a:extLst>
          </p:cNvPr>
          <p:cNvSpPr>
            <a:spLocks noGrp="1"/>
          </p:cNvSpPr>
          <p:nvPr/>
        </p:nvSpPr>
        <p:spPr>
          <a:xfrm>
            <a:off x="3667125" y="1666875"/>
            <a:ext cx="22860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Binary AS</a:t>
            </a:r>
          </a:p>
        </p:txBody>
      </p:sp>
      <p:sp>
        <p:nvSpPr>
          <p:cNvPr id="15" name="text-235">
            <a:extLst>
              <a:ext uri="{FF2B5EF4-FFF2-40B4-BE49-F238E27FC236}">
                <a16:creationId xmlns:a16="http://schemas.microsoft.com/office/drawing/2014/main" id="{224E2CB0-47BE-4482-A55B-9BD1EB48480A}"/>
              </a:ext>
            </a:extLst>
          </p:cNvPr>
          <p:cNvSpPr>
            <a:spLocks noGrp="1"/>
          </p:cNvSpPr>
          <p:nvPr/>
        </p:nvSpPr>
        <p:spPr>
          <a:xfrm>
            <a:off x="7381875" y="1666875"/>
            <a:ext cx="276225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Narrow-four diagnostic</a:t>
            </a:r>
          </a:p>
        </p:txBody>
      </p:sp>
      <p:sp>
        <p:nvSpPr>
          <p:cNvPr id="16" name="shape-236">
            <a:extLst>
              <a:ext uri="{FF2B5EF4-FFF2-40B4-BE49-F238E27FC236}">
                <a16:creationId xmlns:a16="http://schemas.microsoft.com/office/drawing/2014/main" id="{C02FBED7-BB5D-4BFD-9220-55D991D7C30B}"/>
              </a:ext>
            </a:extLst>
          </p:cNvPr>
          <p:cNvSpPr>
            <a:spLocks noGrp="1"/>
          </p:cNvSpPr>
          <p:nvPr/>
        </p:nvSpPr>
        <p:spPr>
          <a:xfrm>
            <a:off x="3143250" y="2286000"/>
            <a:ext cx="7239000" cy="19050"/>
          </a:xfrm>
          <a:prstGeom prst="rect">
            <a:avLst/>
          </a:prstGeom>
          <a:solidFill>
            <a:srgbClr val="D8D5D9"/>
          </a:solidFill>
          <a:ln w="0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-237">
            <a:extLst>
              <a:ext uri="{FF2B5EF4-FFF2-40B4-BE49-F238E27FC236}">
                <a16:creationId xmlns:a16="http://schemas.microsoft.com/office/drawing/2014/main" id="{06E27D6B-2659-4FD3-AE68-1377DFA7F12C}"/>
              </a:ext>
            </a:extLst>
          </p:cNvPr>
          <p:cNvSpPr>
            <a:spLocks noGrp="1"/>
          </p:cNvSpPr>
          <p:nvPr/>
        </p:nvSpPr>
        <p:spPr>
          <a:xfrm>
            <a:off x="809625" y="2552700"/>
            <a:ext cx="1809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Patch-Mix</a:t>
            </a:r>
          </a:p>
        </p:txBody>
      </p:sp>
      <p:sp>
        <p:nvSpPr>
          <p:cNvPr id="18" name="shape-238">
            <a:extLst>
              <a:ext uri="{FF2B5EF4-FFF2-40B4-BE49-F238E27FC236}">
                <a16:creationId xmlns:a16="http://schemas.microsoft.com/office/drawing/2014/main" id="{53951860-CDE0-4181-8137-59054B2C3C74}"/>
              </a:ext>
            </a:extLst>
          </p:cNvPr>
          <p:cNvSpPr>
            <a:spLocks noGrp="1"/>
          </p:cNvSpPr>
          <p:nvPr/>
        </p:nvSpPr>
        <p:spPr>
          <a:xfrm>
            <a:off x="3238500" y="2476500"/>
            <a:ext cx="2857500" cy="476250"/>
          </a:xfrm>
          <a:prstGeom prst="roundRect">
            <a:avLst>
              <a:gd name="adj" fmla="val 16000"/>
            </a:avLst>
          </a:prstGeom>
          <a:solidFill>
            <a:srgbClr val="F2F1F2"/>
          </a:solidFill>
          <a:ln w="0">
            <a:solidFill>
              <a:srgbClr val="F2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-239">
            <a:extLst>
              <a:ext uri="{FF2B5EF4-FFF2-40B4-BE49-F238E27FC236}">
                <a16:creationId xmlns:a16="http://schemas.microsoft.com/office/drawing/2014/main" id="{FD52DFC1-B238-4855-AE2C-148CA019CF1E}"/>
              </a:ext>
            </a:extLst>
          </p:cNvPr>
          <p:cNvSpPr>
            <a:spLocks noGrp="1"/>
          </p:cNvSpPr>
          <p:nvPr/>
        </p:nvSpPr>
        <p:spPr>
          <a:xfrm>
            <a:off x="3238500" y="2476500"/>
            <a:ext cx="2233613" cy="476250"/>
          </a:xfrm>
          <a:prstGeom prst="roundRect">
            <a:avLst>
              <a:gd name="adj" fmla="val 16000"/>
            </a:avLst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240">
            <a:extLst>
              <a:ext uri="{FF2B5EF4-FFF2-40B4-BE49-F238E27FC236}">
                <a16:creationId xmlns:a16="http://schemas.microsoft.com/office/drawing/2014/main" id="{26322B32-133A-406B-8B6F-2CE0584C3701}"/>
              </a:ext>
            </a:extLst>
          </p:cNvPr>
          <p:cNvSpPr>
            <a:spLocks noGrp="1"/>
          </p:cNvSpPr>
          <p:nvPr/>
        </p:nvSpPr>
        <p:spPr>
          <a:xfrm>
            <a:off x="6191250" y="2571750"/>
            <a:ext cx="952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59.38</a:t>
            </a:r>
          </a:p>
        </p:txBody>
      </p:sp>
      <p:sp>
        <p:nvSpPr>
          <p:cNvPr id="21" name="shape-241">
            <a:extLst>
              <a:ext uri="{FF2B5EF4-FFF2-40B4-BE49-F238E27FC236}">
                <a16:creationId xmlns:a16="http://schemas.microsoft.com/office/drawing/2014/main" id="{E15A36C6-107B-41D1-AD8D-58B82F1E762B}"/>
              </a:ext>
            </a:extLst>
          </p:cNvPr>
          <p:cNvSpPr>
            <a:spLocks noGrp="1"/>
          </p:cNvSpPr>
          <p:nvPr/>
        </p:nvSpPr>
        <p:spPr>
          <a:xfrm>
            <a:off x="7239000" y="2476500"/>
            <a:ext cx="2857500" cy="476250"/>
          </a:xfrm>
          <a:prstGeom prst="roundRect">
            <a:avLst>
              <a:gd name="adj" fmla="val 16000"/>
            </a:avLst>
          </a:prstGeom>
          <a:solidFill>
            <a:srgbClr val="F2F1F2"/>
          </a:solidFill>
          <a:ln w="0">
            <a:solidFill>
              <a:srgbClr val="F2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-242">
            <a:extLst>
              <a:ext uri="{FF2B5EF4-FFF2-40B4-BE49-F238E27FC236}">
                <a16:creationId xmlns:a16="http://schemas.microsoft.com/office/drawing/2014/main" id="{50193EF0-D205-4643-B683-1F318E578884}"/>
              </a:ext>
            </a:extLst>
          </p:cNvPr>
          <p:cNvSpPr>
            <a:spLocks noGrp="1"/>
          </p:cNvSpPr>
          <p:nvPr/>
        </p:nvSpPr>
        <p:spPr>
          <a:xfrm>
            <a:off x="7239000" y="2476500"/>
            <a:ext cx="273844" cy="476250"/>
          </a:xfrm>
          <a:prstGeom prst="roundRect">
            <a:avLst>
              <a:gd name="adj" fmla="val 27826"/>
            </a:avLst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-243">
            <a:extLst>
              <a:ext uri="{FF2B5EF4-FFF2-40B4-BE49-F238E27FC236}">
                <a16:creationId xmlns:a16="http://schemas.microsoft.com/office/drawing/2014/main" id="{0EB09A34-B902-4ECC-9909-3335E546667A}"/>
              </a:ext>
            </a:extLst>
          </p:cNvPr>
          <p:cNvSpPr>
            <a:spLocks noGrp="1"/>
          </p:cNvSpPr>
          <p:nvPr/>
        </p:nvSpPr>
        <p:spPr>
          <a:xfrm>
            <a:off x="10191750" y="2571750"/>
            <a:ext cx="952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51.15</a:t>
            </a:r>
          </a:p>
        </p:txBody>
      </p:sp>
      <p:sp>
        <p:nvSpPr>
          <p:cNvPr id="24" name="text-244">
            <a:extLst>
              <a:ext uri="{FF2B5EF4-FFF2-40B4-BE49-F238E27FC236}">
                <a16:creationId xmlns:a16="http://schemas.microsoft.com/office/drawing/2014/main" id="{D1F50853-82F0-4EB3-89ED-6FB613052BFA}"/>
              </a:ext>
            </a:extLst>
          </p:cNvPr>
          <p:cNvSpPr>
            <a:spLocks noGrp="1"/>
          </p:cNvSpPr>
          <p:nvPr/>
        </p:nvSpPr>
        <p:spPr>
          <a:xfrm>
            <a:off x="809625" y="3552825"/>
            <a:ext cx="1809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PAFA</a:t>
            </a:r>
          </a:p>
        </p:txBody>
      </p:sp>
      <p:sp>
        <p:nvSpPr>
          <p:cNvPr id="25" name="shape-245">
            <a:extLst>
              <a:ext uri="{FF2B5EF4-FFF2-40B4-BE49-F238E27FC236}">
                <a16:creationId xmlns:a16="http://schemas.microsoft.com/office/drawing/2014/main" id="{D35294A2-D876-4686-AD5E-877CAB6541D6}"/>
              </a:ext>
            </a:extLst>
          </p:cNvPr>
          <p:cNvSpPr>
            <a:spLocks noGrp="1"/>
          </p:cNvSpPr>
          <p:nvPr/>
        </p:nvSpPr>
        <p:spPr>
          <a:xfrm>
            <a:off x="3238500" y="3476625"/>
            <a:ext cx="2857500" cy="476250"/>
          </a:xfrm>
          <a:prstGeom prst="roundRect">
            <a:avLst>
              <a:gd name="adj" fmla="val 16000"/>
            </a:avLst>
          </a:prstGeom>
          <a:solidFill>
            <a:srgbClr val="F2F1F2"/>
          </a:solidFill>
          <a:ln w="0">
            <a:solidFill>
              <a:srgbClr val="F2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-246">
            <a:extLst>
              <a:ext uri="{FF2B5EF4-FFF2-40B4-BE49-F238E27FC236}">
                <a16:creationId xmlns:a16="http://schemas.microsoft.com/office/drawing/2014/main" id="{6B716165-D006-446B-A209-7666371BA688}"/>
              </a:ext>
            </a:extLst>
          </p:cNvPr>
          <p:cNvSpPr>
            <a:spLocks noGrp="1"/>
          </p:cNvSpPr>
          <p:nvPr/>
        </p:nvSpPr>
        <p:spPr>
          <a:xfrm>
            <a:off x="3238500" y="3476625"/>
            <a:ext cx="1385888" cy="476250"/>
          </a:xfrm>
          <a:prstGeom prst="roundRect">
            <a:avLst>
              <a:gd name="adj" fmla="val 16000"/>
            </a:avLst>
          </a:prstGeom>
          <a:solidFill>
            <a:srgbClr val="0B7189"/>
          </a:solidFill>
          <a:ln w="0">
            <a:solidFill>
              <a:srgbClr val="0B71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247">
            <a:extLst>
              <a:ext uri="{FF2B5EF4-FFF2-40B4-BE49-F238E27FC236}">
                <a16:creationId xmlns:a16="http://schemas.microsoft.com/office/drawing/2014/main" id="{CE8A7095-9164-4B00-925B-CB49D57B8089}"/>
              </a:ext>
            </a:extLst>
          </p:cNvPr>
          <p:cNvSpPr>
            <a:spLocks noGrp="1"/>
          </p:cNvSpPr>
          <p:nvPr/>
        </p:nvSpPr>
        <p:spPr>
          <a:xfrm>
            <a:off x="6191250" y="3571875"/>
            <a:ext cx="952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55.82</a:t>
            </a:r>
          </a:p>
        </p:txBody>
      </p:sp>
      <p:sp>
        <p:nvSpPr>
          <p:cNvPr id="28" name="shape-248">
            <a:extLst>
              <a:ext uri="{FF2B5EF4-FFF2-40B4-BE49-F238E27FC236}">
                <a16:creationId xmlns:a16="http://schemas.microsoft.com/office/drawing/2014/main" id="{5C1F74A0-D5FE-424D-A73E-9C34A140A78F}"/>
              </a:ext>
            </a:extLst>
          </p:cNvPr>
          <p:cNvSpPr>
            <a:spLocks noGrp="1"/>
          </p:cNvSpPr>
          <p:nvPr/>
        </p:nvSpPr>
        <p:spPr>
          <a:xfrm>
            <a:off x="7239000" y="3476625"/>
            <a:ext cx="2857500" cy="476250"/>
          </a:xfrm>
          <a:prstGeom prst="roundRect">
            <a:avLst>
              <a:gd name="adj" fmla="val 16000"/>
            </a:avLst>
          </a:prstGeom>
          <a:solidFill>
            <a:srgbClr val="F2F1F2"/>
          </a:solidFill>
          <a:ln w="0">
            <a:solidFill>
              <a:srgbClr val="F2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-249">
            <a:extLst>
              <a:ext uri="{FF2B5EF4-FFF2-40B4-BE49-F238E27FC236}">
                <a16:creationId xmlns:a16="http://schemas.microsoft.com/office/drawing/2014/main" id="{3E1879CB-EE72-4E59-B82A-3707437C2AC4}"/>
              </a:ext>
            </a:extLst>
          </p:cNvPr>
          <p:cNvSpPr>
            <a:spLocks noGrp="1"/>
          </p:cNvSpPr>
          <p:nvPr/>
        </p:nvSpPr>
        <p:spPr>
          <a:xfrm>
            <a:off x="7239000" y="3476625"/>
            <a:ext cx="283369" cy="476250"/>
          </a:xfrm>
          <a:prstGeom prst="roundRect">
            <a:avLst>
              <a:gd name="adj" fmla="val 26891"/>
            </a:avLst>
          </a:prstGeom>
          <a:solidFill>
            <a:srgbClr val="0B7189"/>
          </a:solidFill>
          <a:ln w="0">
            <a:solidFill>
              <a:srgbClr val="0B71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250">
            <a:extLst>
              <a:ext uri="{FF2B5EF4-FFF2-40B4-BE49-F238E27FC236}">
                <a16:creationId xmlns:a16="http://schemas.microsoft.com/office/drawing/2014/main" id="{E2AE765D-92FD-4176-87C9-B7D15780F9DA}"/>
              </a:ext>
            </a:extLst>
          </p:cNvPr>
          <p:cNvSpPr>
            <a:spLocks noGrp="1"/>
          </p:cNvSpPr>
          <p:nvPr/>
        </p:nvSpPr>
        <p:spPr>
          <a:xfrm>
            <a:off x="10191750" y="3571875"/>
            <a:ext cx="952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51.19</a:t>
            </a:r>
          </a:p>
        </p:txBody>
      </p:sp>
      <p:sp>
        <p:nvSpPr>
          <p:cNvPr id="31" name="text-251">
            <a:extLst>
              <a:ext uri="{FF2B5EF4-FFF2-40B4-BE49-F238E27FC236}">
                <a16:creationId xmlns:a16="http://schemas.microsoft.com/office/drawing/2014/main" id="{119C08D1-9C6C-433F-A592-6A02CE28F046}"/>
              </a:ext>
            </a:extLst>
          </p:cNvPr>
          <p:cNvSpPr>
            <a:spLocks noGrp="1"/>
          </p:cNvSpPr>
          <p:nvPr/>
        </p:nvSpPr>
        <p:spPr>
          <a:xfrm>
            <a:off x="809625" y="4552950"/>
            <a:ext cx="1809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SG-SCL</a:t>
            </a:r>
          </a:p>
        </p:txBody>
      </p:sp>
      <p:sp>
        <p:nvSpPr>
          <p:cNvPr id="32" name="shape-252">
            <a:extLst>
              <a:ext uri="{FF2B5EF4-FFF2-40B4-BE49-F238E27FC236}">
                <a16:creationId xmlns:a16="http://schemas.microsoft.com/office/drawing/2014/main" id="{116A3369-1EF3-40BF-8A1B-051499B97794}"/>
              </a:ext>
            </a:extLst>
          </p:cNvPr>
          <p:cNvSpPr>
            <a:spLocks noGrp="1"/>
          </p:cNvSpPr>
          <p:nvPr/>
        </p:nvSpPr>
        <p:spPr>
          <a:xfrm>
            <a:off x="3238500" y="4476750"/>
            <a:ext cx="2857500" cy="476250"/>
          </a:xfrm>
          <a:prstGeom prst="roundRect">
            <a:avLst>
              <a:gd name="adj" fmla="val 16000"/>
            </a:avLst>
          </a:prstGeom>
          <a:solidFill>
            <a:srgbClr val="F2F1F2"/>
          </a:solidFill>
          <a:ln w="0">
            <a:solidFill>
              <a:srgbClr val="F2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-253">
            <a:extLst>
              <a:ext uri="{FF2B5EF4-FFF2-40B4-BE49-F238E27FC236}">
                <a16:creationId xmlns:a16="http://schemas.microsoft.com/office/drawing/2014/main" id="{695911E5-A6A3-4CAB-A008-DE47D53F7237}"/>
              </a:ext>
            </a:extLst>
          </p:cNvPr>
          <p:cNvSpPr>
            <a:spLocks noGrp="1"/>
          </p:cNvSpPr>
          <p:nvPr/>
        </p:nvSpPr>
        <p:spPr>
          <a:xfrm>
            <a:off x="3238500" y="4476750"/>
            <a:ext cx="2376487" cy="476250"/>
          </a:xfrm>
          <a:prstGeom prst="roundRect">
            <a:avLst>
              <a:gd name="adj" fmla="val 16000"/>
            </a:avLst>
          </a:prstGeom>
          <a:solidFill>
            <a:srgbClr val="2F5597"/>
          </a:solidFill>
          <a:ln w="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-254">
            <a:extLst>
              <a:ext uri="{FF2B5EF4-FFF2-40B4-BE49-F238E27FC236}">
                <a16:creationId xmlns:a16="http://schemas.microsoft.com/office/drawing/2014/main" id="{ADF2674C-F291-41A2-B33C-10661DF2A6CC}"/>
              </a:ext>
            </a:extLst>
          </p:cNvPr>
          <p:cNvSpPr>
            <a:spLocks noGrp="1"/>
          </p:cNvSpPr>
          <p:nvPr/>
        </p:nvSpPr>
        <p:spPr>
          <a:xfrm>
            <a:off x="6191250" y="4572000"/>
            <a:ext cx="952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59.98</a:t>
            </a:r>
          </a:p>
        </p:txBody>
      </p:sp>
      <p:sp>
        <p:nvSpPr>
          <p:cNvPr id="35" name="shape-255">
            <a:extLst>
              <a:ext uri="{FF2B5EF4-FFF2-40B4-BE49-F238E27FC236}">
                <a16:creationId xmlns:a16="http://schemas.microsoft.com/office/drawing/2014/main" id="{CA3ED014-A271-43B4-8CC4-7ECE77CC2056}"/>
              </a:ext>
            </a:extLst>
          </p:cNvPr>
          <p:cNvSpPr>
            <a:spLocks noGrp="1"/>
          </p:cNvSpPr>
          <p:nvPr/>
        </p:nvSpPr>
        <p:spPr>
          <a:xfrm>
            <a:off x="7239000" y="4476750"/>
            <a:ext cx="2857500" cy="476250"/>
          </a:xfrm>
          <a:prstGeom prst="roundRect">
            <a:avLst>
              <a:gd name="adj" fmla="val 16000"/>
            </a:avLst>
          </a:prstGeom>
          <a:solidFill>
            <a:srgbClr val="F2F1F2"/>
          </a:solidFill>
          <a:ln w="0">
            <a:solidFill>
              <a:srgbClr val="F2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-256">
            <a:extLst>
              <a:ext uri="{FF2B5EF4-FFF2-40B4-BE49-F238E27FC236}">
                <a16:creationId xmlns:a16="http://schemas.microsoft.com/office/drawing/2014/main" id="{7E5A6040-F510-46EB-9E4E-11721E6343BF}"/>
              </a:ext>
            </a:extLst>
          </p:cNvPr>
          <p:cNvSpPr>
            <a:spLocks noGrp="1"/>
          </p:cNvSpPr>
          <p:nvPr/>
        </p:nvSpPr>
        <p:spPr>
          <a:xfrm>
            <a:off x="7239000" y="4476750"/>
            <a:ext cx="28575" cy="47625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-257">
            <a:extLst>
              <a:ext uri="{FF2B5EF4-FFF2-40B4-BE49-F238E27FC236}">
                <a16:creationId xmlns:a16="http://schemas.microsoft.com/office/drawing/2014/main" id="{AC0A349A-7898-4C34-9CC6-9902B09B2705}"/>
              </a:ext>
            </a:extLst>
          </p:cNvPr>
          <p:cNvSpPr>
            <a:spLocks noGrp="1"/>
          </p:cNvSpPr>
          <p:nvPr/>
        </p:nvSpPr>
        <p:spPr>
          <a:xfrm>
            <a:off x="10191750" y="4572000"/>
            <a:ext cx="952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50.08</a:t>
            </a:r>
          </a:p>
        </p:txBody>
      </p:sp>
      <p:sp>
        <p:nvSpPr>
          <p:cNvPr id="38" name="text-258">
            <a:extLst>
              <a:ext uri="{FF2B5EF4-FFF2-40B4-BE49-F238E27FC236}">
                <a16:creationId xmlns:a16="http://schemas.microsoft.com/office/drawing/2014/main" id="{869849B6-E85C-46D6-AC7F-B4B8E6ECB75E}"/>
              </a:ext>
            </a:extLst>
          </p:cNvPr>
          <p:cNvSpPr>
            <a:spLocks noGrp="1"/>
          </p:cNvSpPr>
          <p:nvPr/>
        </p:nvSpPr>
        <p:spPr>
          <a:xfrm>
            <a:off x="3238500" y="5572125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than random guess</a:t>
            </a:r>
            <a:r>
              <a:rPr lang="en-US" altLang="zh-CN" dirty="0">
                <a:sym typeface="Wingdings" pitchFamily="2" charset="2"/>
              </a:rPr>
              <a:t></a:t>
            </a:r>
            <a:endParaRPr dirty="0"/>
          </a:p>
        </p:txBody>
      </p:sp>
      <p:sp>
        <p:nvSpPr>
          <p:cNvPr id="39" name="shape-259">
            <a:extLst>
              <a:ext uri="{FF2B5EF4-FFF2-40B4-BE49-F238E27FC236}">
                <a16:creationId xmlns:a16="http://schemas.microsoft.com/office/drawing/2014/main" id="{F24AF397-DB86-44AC-A98C-BBDD5AA8E914}"/>
              </a:ext>
            </a:extLst>
          </p:cNvPr>
          <p:cNvSpPr>
            <a:spLocks noGrp="1"/>
          </p:cNvSpPr>
          <p:nvPr/>
        </p:nvSpPr>
        <p:spPr>
          <a:xfrm>
            <a:off x="7000875" y="5400675"/>
            <a:ext cx="4381500" cy="590550"/>
          </a:xfrm>
          <a:prstGeom prst="roundRect">
            <a:avLst>
              <a:gd name="adj" fmla="val 12903"/>
            </a:avLst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-260">
            <a:extLst>
              <a:ext uri="{FF2B5EF4-FFF2-40B4-BE49-F238E27FC236}">
                <a16:creationId xmlns:a16="http://schemas.microsoft.com/office/drawing/2014/main" id="{EA772732-2F5E-4925-9D6F-9DE4AAA2B018}"/>
              </a:ext>
            </a:extLst>
          </p:cNvPr>
          <p:cNvSpPr>
            <a:spLocks noGrp="1"/>
          </p:cNvSpPr>
          <p:nvPr/>
        </p:nvSpPr>
        <p:spPr>
          <a:xfrm>
            <a:off x="7191375" y="5495925"/>
            <a:ext cx="4000500" cy="400050"/>
          </a:xfrm>
          <a:prstGeom prst="rect">
            <a:avLst/>
          </a:prstGeom>
        </p:spPr>
        <p:txBody>
          <a:bodyPr wrap="square" lIns="0" tIns="0" rIns="0" bIns="0" anchor="t">
            <a:normAutofit fontScale="97222"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Source features may be useful;
the source classifier is not.</a:t>
            </a:r>
          </a:p>
        </p:txBody>
      </p:sp>
    </p:spTree>
    <p:extLst>
      <p:ext uri="{BB962C8B-B14F-4D97-AF65-F5344CB8AC3E}">
        <p14:creationId xmlns:p14="http://schemas.microsoft.com/office/powerpoint/2010/main" val="61937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-261">
            <a:extLst>
              <a:ext uri="{FF2B5EF4-FFF2-40B4-BE49-F238E27FC236}">
                <a16:creationId xmlns:a16="http://schemas.microsoft.com/office/drawing/2014/main" id="{CAF3F6B9-5074-4A8D-95A2-A540D73B1637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-262">
            <a:extLst>
              <a:ext uri="{FF2B5EF4-FFF2-40B4-BE49-F238E27FC236}">
                <a16:creationId xmlns:a16="http://schemas.microsoft.com/office/drawing/2014/main" id="{3C89DB51-7587-41CC-9549-44F06A6F54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-263">
            <a:extLst>
              <a:ext uri="{FF2B5EF4-FFF2-40B4-BE49-F238E27FC236}">
                <a16:creationId xmlns:a16="http://schemas.microsoft.com/office/drawing/2014/main" id="{57F8B121-7F1F-4F6E-9545-40EF950D8C79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1096625" cy="704850"/>
          </a:xfrm>
          <a:prstGeom prst="rect">
            <a:avLst/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-264">
            <a:extLst>
              <a:ext uri="{FF2B5EF4-FFF2-40B4-BE49-F238E27FC236}">
                <a16:creationId xmlns:a16="http://schemas.microsoft.com/office/drawing/2014/main" id="{12400139-BC21-4AC2-9788-5A9D6D41CC10}"/>
              </a:ext>
            </a:extLst>
          </p:cNvPr>
          <p:cNvSpPr>
            <a:spLocks noGrp="1"/>
          </p:cNvSpPr>
          <p:nvPr/>
        </p:nvSpPr>
        <p:spPr>
          <a:xfrm>
            <a:off x="11096625" y="266700"/>
            <a:ext cx="762000" cy="70485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265">
            <a:extLst>
              <a:ext uri="{FF2B5EF4-FFF2-40B4-BE49-F238E27FC236}">
                <a16:creationId xmlns:a16="http://schemas.microsoft.com/office/drawing/2014/main" id="{564177AD-490B-45FA-AD84-93EC7071514B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382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Frozen representations retain target-linear accessibility</a:t>
            </a:r>
          </a:p>
        </p:txBody>
      </p:sp>
      <p:sp>
        <p:nvSpPr>
          <p:cNvPr id="6" name="shape-266">
            <a:extLst>
              <a:ext uri="{FF2B5EF4-FFF2-40B4-BE49-F238E27FC236}">
                <a16:creationId xmlns:a16="http://schemas.microsoft.com/office/drawing/2014/main" id="{A64C64C3-34C1-4562-9A9B-3E055FF0A9D2}"/>
              </a:ext>
            </a:extLst>
          </p:cNvPr>
          <p:cNvSpPr>
            <a:spLocks noGrp="1"/>
          </p:cNvSpPr>
          <p:nvPr/>
        </p:nvSpPr>
        <p:spPr>
          <a:xfrm>
            <a:off x="304800" y="6496050"/>
            <a:ext cx="2000250" cy="76200"/>
          </a:xfrm>
          <a:prstGeom prst="rect">
            <a:avLst/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267">
            <a:extLst>
              <a:ext uri="{FF2B5EF4-FFF2-40B4-BE49-F238E27FC236}">
                <a16:creationId xmlns:a16="http://schemas.microsoft.com/office/drawing/2014/main" id="{1ACA49B5-9EA7-4362-981F-AA399F77B7B1}"/>
              </a:ext>
            </a:extLst>
          </p:cNvPr>
          <p:cNvSpPr>
            <a:spLocks noGrp="1"/>
          </p:cNvSpPr>
          <p:nvPr/>
        </p:nvSpPr>
        <p:spPr>
          <a:xfrm>
            <a:off x="5715000" y="6438900"/>
            <a:ext cx="762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9" name="text-269">
            <a:extLst>
              <a:ext uri="{FF2B5EF4-FFF2-40B4-BE49-F238E27FC236}">
                <a16:creationId xmlns:a16="http://schemas.microsoft.com/office/drawing/2014/main" id="{4C7C8CA3-1A1D-4392-8D55-6C537F8DCD9F}"/>
              </a:ext>
            </a:extLst>
          </p:cNvPr>
          <p:cNvSpPr>
            <a:spLocks noGrp="1"/>
          </p:cNvSpPr>
          <p:nvPr/>
        </p:nvSpPr>
        <p:spPr>
          <a:xfrm>
            <a:off x="9620250" y="6438900"/>
            <a:ext cx="2238375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1" name="text-271">
            <a:extLst>
              <a:ext uri="{FF2B5EF4-FFF2-40B4-BE49-F238E27FC236}">
                <a16:creationId xmlns:a16="http://schemas.microsoft.com/office/drawing/2014/main" id="{A2CEA69F-79AA-4539-976C-75EAF7535563}"/>
              </a:ext>
            </a:extLst>
          </p:cNvPr>
          <p:cNvSpPr>
            <a:spLocks noGrp="1"/>
          </p:cNvSpPr>
          <p:nvPr/>
        </p:nvSpPr>
        <p:spPr>
          <a:xfrm>
            <a:off x="523875" y="1190625"/>
            <a:ext cx="4953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Binary AS on the same SPRSound inter set</a:t>
            </a:r>
          </a:p>
        </p:txBody>
      </p:sp>
      <p:sp>
        <p:nvSpPr>
          <p:cNvPr id="12" name="shape-272">
            <a:extLst>
              <a:ext uri="{FF2B5EF4-FFF2-40B4-BE49-F238E27FC236}">
                <a16:creationId xmlns:a16="http://schemas.microsoft.com/office/drawing/2014/main" id="{C80BB86B-5F56-4AAE-A524-C95CB18732F6}"/>
              </a:ext>
            </a:extLst>
          </p:cNvPr>
          <p:cNvSpPr>
            <a:spLocks noGrp="1"/>
          </p:cNvSpPr>
          <p:nvPr/>
        </p:nvSpPr>
        <p:spPr>
          <a:xfrm>
            <a:off x="9191625" y="1162050"/>
            <a:ext cx="2333625" cy="285750"/>
          </a:xfrm>
          <a:prstGeom prst="roundRect">
            <a:avLst>
              <a:gd name="adj" fmla="val 26667"/>
            </a:avLst>
          </a:prstGeom>
          <a:solidFill>
            <a:srgbClr val="0B7189"/>
          </a:solidFill>
          <a:ln w="0">
            <a:solidFill>
              <a:srgbClr val="0B71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273">
            <a:extLst>
              <a:ext uri="{FF2B5EF4-FFF2-40B4-BE49-F238E27FC236}">
                <a16:creationId xmlns:a16="http://schemas.microsoft.com/office/drawing/2014/main" id="{1F1FB595-5A03-43B2-8091-F6B4EA7BFAD0}"/>
              </a:ext>
            </a:extLst>
          </p:cNvPr>
          <p:cNvSpPr>
            <a:spLocks noGrp="1"/>
          </p:cNvSpPr>
          <p:nvPr/>
        </p:nvSpPr>
        <p:spPr>
          <a:xfrm>
            <a:off x="9267825" y="1209675"/>
            <a:ext cx="2181225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ENCODER FROZEN</a:t>
            </a:r>
          </a:p>
        </p:txBody>
      </p:sp>
      <p:sp>
        <p:nvSpPr>
          <p:cNvPr id="14" name="text-274">
            <a:extLst>
              <a:ext uri="{FF2B5EF4-FFF2-40B4-BE49-F238E27FC236}">
                <a16:creationId xmlns:a16="http://schemas.microsoft.com/office/drawing/2014/main" id="{0E8E05BC-3424-4E7B-BA58-8CA8CD540DAD}"/>
              </a:ext>
            </a:extLst>
          </p:cNvPr>
          <p:cNvSpPr>
            <a:spLocks noGrp="1"/>
          </p:cNvSpPr>
          <p:nvPr/>
        </p:nvSpPr>
        <p:spPr>
          <a:xfrm>
            <a:off x="2857500" y="1666875"/>
            <a:ext cx="1905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15" name="text-275">
            <a:extLst>
              <a:ext uri="{FF2B5EF4-FFF2-40B4-BE49-F238E27FC236}">
                <a16:creationId xmlns:a16="http://schemas.microsoft.com/office/drawing/2014/main" id="{FD3573C1-9D0B-41A1-A601-FCA0B0BB00B7}"/>
              </a:ext>
            </a:extLst>
          </p:cNvPr>
          <p:cNvSpPr>
            <a:spLocks noGrp="1"/>
          </p:cNvSpPr>
          <p:nvPr/>
        </p:nvSpPr>
        <p:spPr>
          <a:xfrm>
            <a:off x="6762750" y="1666875"/>
            <a:ext cx="2857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50</a:t>
            </a:r>
          </a:p>
        </p:txBody>
      </p:sp>
      <p:sp>
        <p:nvSpPr>
          <p:cNvPr id="16" name="text-276">
            <a:extLst>
              <a:ext uri="{FF2B5EF4-FFF2-40B4-BE49-F238E27FC236}">
                <a16:creationId xmlns:a16="http://schemas.microsoft.com/office/drawing/2014/main" id="{3399B04F-A82F-4FF6-B50D-7061E5649267}"/>
              </a:ext>
            </a:extLst>
          </p:cNvPr>
          <p:cNvSpPr>
            <a:spLocks noGrp="1"/>
          </p:cNvSpPr>
          <p:nvPr/>
        </p:nvSpPr>
        <p:spPr>
          <a:xfrm>
            <a:off x="10668000" y="1666875"/>
            <a:ext cx="428625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900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100</a:t>
            </a:r>
          </a:p>
        </p:txBody>
      </p:sp>
      <p:sp>
        <p:nvSpPr>
          <p:cNvPr id="17" name="text-277">
            <a:extLst>
              <a:ext uri="{FF2B5EF4-FFF2-40B4-BE49-F238E27FC236}">
                <a16:creationId xmlns:a16="http://schemas.microsoft.com/office/drawing/2014/main" id="{25994B49-598F-448F-8BA2-AE21B0E87948}"/>
              </a:ext>
            </a:extLst>
          </p:cNvPr>
          <p:cNvSpPr>
            <a:spLocks noGrp="1"/>
          </p:cNvSpPr>
          <p:nvPr/>
        </p:nvSpPr>
        <p:spPr>
          <a:xfrm>
            <a:off x="619125" y="2305050"/>
            <a:ext cx="1809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Patch-Mix</a:t>
            </a:r>
          </a:p>
        </p:txBody>
      </p:sp>
      <p:sp>
        <p:nvSpPr>
          <p:cNvPr id="18" name="shape-278">
            <a:extLst>
              <a:ext uri="{FF2B5EF4-FFF2-40B4-BE49-F238E27FC236}">
                <a16:creationId xmlns:a16="http://schemas.microsoft.com/office/drawing/2014/main" id="{2CBC54F4-64B0-474C-BCED-DB4A10D9D722}"/>
              </a:ext>
            </a:extLst>
          </p:cNvPr>
          <p:cNvSpPr>
            <a:spLocks noGrp="1"/>
          </p:cNvSpPr>
          <p:nvPr/>
        </p:nvSpPr>
        <p:spPr>
          <a:xfrm>
            <a:off x="2857500" y="2095500"/>
            <a:ext cx="8001000" cy="285750"/>
          </a:xfrm>
          <a:prstGeom prst="roundRect">
            <a:avLst>
              <a:gd name="adj" fmla="val 26667"/>
            </a:avLst>
          </a:prstGeom>
          <a:solidFill>
            <a:srgbClr val="F2F1F2"/>
          </a:solidFill>
          <a:ln w="0">
            <a:solidFill>
              <a:srgbClr val="F2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-279">
            <a:extLst>
              <a:ext uri="{FF2B5EF4-FFF2-40B4-BE49-F238E27FC236}">
                <a16:creationId xmlns:a16="http://schemas.microsoft.com/office/drawing/2014/main" id="{65A1E069-3EB5-4C83-B543-5C04FBA7527E}"/>
              </a:ext>
            </a:extLst>
          </p:cNvPr>
          <p:cNvSpPr>
            <a:spLocks noGrp="1"/>
          </p:cNvSpPr>
          <p:nvPr/>
        </p:nvSpPr>
        <p:spPr>
          <a:xfrm>
            <a:off x="2857500" y="2095500"/>
            <a:ext cx="4750994" cy="285750"/>
          </a:xfrm>
          <a:prstGeom prst="roundRect">
            <a:avLst>
              <a:gd name="adj" fmla="val 26667"/>
            </a:avLst>
          </a:prstGeom>
          <a:solidFill>
            <a:srgbClr val="765DA3"/>
          </a:solidFill>
          <a:ln w="0">
            <a:solidFill>
              <a:srgbClr val="765D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280">
            <a:extLst>
              <a:ext uri="{FF2B5EF4-FFF2-40B4-BE49-F238E27FC236}">
                <a16:creationId xmlns:a16="http://schemas.microsoft.com/office/drawing/2014/main" id="{59EB73A2-2BEE-4C38-B28E-BE9312444316}"/>
              </a:ext>
            </a:extLst>
          </p:cNvPr>
          <p:cNvSpPr>
            <a:spLocks noGrp="1"/>
          </p:cNvSpPr>
          <p:nvPr/>
        </p:nvSpPr>
        <p:spPr>
          <a:xfrm>
            <a:off x="2952750" y="2143125"/>
            <a:ext cx="2381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direct head  59.38</a:t>
            </a:r>
          </a:p>
        </p:txBody>
      </p:sp>
      <p:sp>
        <p:nvSpPr>
          <p:cNvPr id="21" name="shape-281">
            <a:extLst>
              <a:ext uri="{FF2B5EF4-FFF2-40B4-BE49-F238E27FC236}">
                <a16:creationId xmlns:a16="http://schemas.microsoft.com/office/drawing/2014/main" id="{8C71E7D9-A90F-4D55-A3BF-F447DC066AD7}"/>
              </a:ext>
            </a:extLst>
          </p:cNvPr>
          <p:cNvSpPr>
            <a:spLocks noGrp="1"/>
          </p:cNvSpPr>
          <p:nvPr/>
        </p:nvSpPr>
        <p:spPr>
          <a:xfrm>
            <a:off x="2857500" y="2524125"/>
            <a:ext cx="8001000" cy="285750"/>
          </a:xfrm>
          <a:prstGeom prst="roundRect">
            <a:avLst>
              <a:gd name="adj" fmla="val 26667"/>
            </a:avLst>
          </a:prstGeom>
          <a:solidFill>
            <a:srgbClr val="F2F1F2"/>
          </a:solidFill>
          <a:ln w="0">
            <a:solidFill>
              <a:srgbClr val="F2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-282">
            <a:extLst>
              <a:ext uri="{FF2B5EF4-FFF2-40B4-BE49-F238E27FC236}">
                <a16:creationId xmlns:a16="http://schemas.microsoft.com/office/drawing/2014/main" id="{0E29C507-FD61-4758-9160-3E0A88C42F96}"/>
              </a:ext>
            </a:extLst>
          </p:cNvPr>
          <p:cNvSpPr>
            <a:spLocks noGrp="1"/>
          </p:cNvSpPr>
          <p:nvPr/>
        </p:nvSpPr>
        <p:spPr>
          <a:xfrm>
            <a:off x="2857500" y="2524125"/>
            <a:ext cx="7015277" cy="285750"/>
          </a:xfrm>
          <a:prstGeom prst="roundRect">
            <a:avLst>
              <a:gd name="adj" fmla="val 26667"/>
            </a:avLst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-283">
            <a:extLst>
              <a:ext uri="{FF2B5EF4-FFF2-40B4-BE49-F238E27FC236}">
                <a16:creationId xmlns:a16="http://schemas.microsoft.com/office/drawing/2014/main" id="{7FCFFA61-7EB1-47D6-B4CC-6FFEEEABF529}"/>
              </a:ext>
            </a:extLst>
          </p:cNvPr>
          <p:cNvSpPr>
            <a:spLocks noGrp="1"/>
          </p:cNvSpPr>
          <p:nvPr/>
        </p:nvSpPr>
        <p:spPr>
          <a:xfrm>
            <a:off x="2952750" y="2571750"/>
            <a:ext cx="2381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target head  87.68</a:t>
            </a:r>
          </a:p>
        </p:txBody>
      </p:sp>
      <p:sp>
        <p:nvSpPr>
          <p:cNvPr id="24" name="text-284">
            <a:extLst>
              <a:ext uri="{FF2B5EF4-FFF2-40B4-BE49-F238E27FC236}">
                <a16:creationId xmlns:a16="http://schemas.microsoft.com/office/drawing/2014/main" id="{EE0415FD-ABDB-47E4-A7DC-F32AD143DC43}"/>
              </a:ext>
            </a:extLst>
          </p:cNvPr>
          <p:cNvSpPr>
            <a:spLocks noGrp="1"/>
          </p:cNvSpPr>
          <p:nvPr/>
        </p:nvSpPr>
        <p:spPr>
          <a:xfrm>
            <a:off x="619125" y="3448050"/>
            <a:ext cx="1809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PAFA</a:t>
            </a:r>
          </a:p>
        </p:txBody>
      </p:sp>
      <p:sp>
        <p:nvSpPr>
          <p:cNvPr id="25" name="shape-285">
            <a:extLst>
              <a:ext uri="{FF2B5EF4-FFF2-40B4-BE49-F238E27FC236}">
                <a16:creationId xmlns:a16="http://schemas.microsoft.com/office/drawing/2014/main" id="{C8A2BB62-B88D-4702-A247-4A549A495AA7}"/>
              </a:ext>
            </a:extLst>
          </p:cNvPr>
          <p:cNvSpPr>
            <a:spLocks noGrp="1"/>
          </p:cNvSpPr>
          <p:nvPr/>
        </p:nvSpPr>
        <p:spPr>
          <a:xfrm>
            <a:off x="2857500" y="3238500"/>
            <a:ext cx="8001000" cy="285750"/>
          </a:xfrm>
          <a:prstGeom prst="roundRect">
            <a:avLst>
              <a:gd name="adj" fmla="val 26667"/>
            </a:avLst>
          </a:prstGeom>
          <a:solidFill>
            <a:srgbClr val="F2F1F2"/>
          </a:solidFill>
          <a:ln w="0">
            <a:solidFill>
              <a:srgbClr val="F2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-286">
            <a:extLst>
              <a:ext uri="{FF2B5EF4-FFF2-40B4-BE49-F238E27FC236}">
                <a16:creationId xmlns:a16="http://schemas.microsoft.com/office/drawing/2014/main" id="{FAC99405-ED5E-4CFC-8CB1-24A2CCBBF5D5}"/>
              </a:ext>
            </a:extLst>
          </p:cNvPr>
          <p:cNvSpPr>
            <a:spLocks noGrp="1"/>
          </p:cNvSpPr>
          <p:nvPr/>
        </p:nvSpPr>
        <p:spPr>
          <a:xfrm>
            <a:off x="2857500" y="3238500"/>
            <a:ext cx="4466158" cy="285750"/>
          </a:xfrm>
          <a:prstGeom prst="roundRect">
            <a:avLst>
              <a:gd name="adj" fmla="val 26667"/>
            </a:avLst>
          </a:prstGeom>
          <a:solidFill>
            <a:srgbClr val="765DA3"/>
          </a:solidFill>
          <a:ln w="0">
            <a:solidFill>
              <a:srgbClr val="765D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287">
            <a:extLst>
              <a:ext uri="{FF2B5EF4-FFF2-40B4-BE49-F238E27FC236}">
                <a16:creationId xmlns:a16="http://schemas.microsoft.com/office/drawing/2014/main" id="{5F1AD0A0-3767-4557-ABC4-14A1CEF403C9}"/>
              </a:ext>
            </a:extLst>
          </p:cNvPr>
          <p:cNvSpPr>
            <a:spLocks noGrp="1"/>
          </p:cNvSpPr>
          <p:nvPr/>
        </p:nvSpPr>
        <p:spPr>
          <a:xfrm>
            <a:off x="2952750" y="3286125"/>
            <a:ext cx="2381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direct head  55.82</a:t>
            </a:r>
          </a:p>
        </p:txBody>
      </p:sp>
      <p:sp>
        <p:nvSpPr>
          <p:cNvPr id="28" name="shape-288">
            <a:extLst>
              <a:ext uri="{FF2B5EF4-FFF2-40B4-BE49-F238E27FC236}">
                <a16:creationId xmlns:a16="http://schemas.microsoft.com/office/drawing/2014/main" id="{EBECFDE4-0A3B-49A7-B4B4-07B8F04FFFD7}"/>
              </a:ext>
            </a:extLst>
          </p:cNvPr>
          <p:cNvSpPr>
            <a:spLocks noGrp="1"/>
          </p:cNvSpPr>
          <p:nvPr/>
        </p:nvSpPr>
        <p:spPr>
          <a:xfrm>
            <a:off x="2857500" y="3667125"/>
            <a:ext cx="8001000" cy="285750"/>
          </a:xfrm>
          <a:prstGeom prst="roundRect">
            <a:avLst>
              <a:gd name="adj" fmla="val 26667"/>
            </a:avLst>
          </a:prstGeom>
          <a:solidFill>
            <a:srgbClr val="F2F1F2"/>
          </a:solidFill>
          <a:ln w="0">
            <a:solidFill>
              <a:srgbClr val="F2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-289">
            <a:extLst>
              <a:ext uri="{FF2B5EF4-FFF2-40B4-BE49-F238E27FC236}">
                <a16:creationId xmlns:a16="http://schemas.microsoft.com/office/drawing/2014/main" id="{84C60E7E-B700-41D9-BA94-39EEC541E6BB}"/>
              </a:ext>
            </a:extLst>
          </p:cNvPr>
          <p:cNvSpPr>
            <a:spLocks noGrp="1"/>
          </p:cNvSpPr>
          <p:nvPr/>
        </p:nvSpPr>
        <p:spPr>
          <a:xfrm>
            <a:off x="2857500" y="3667125"/>
            <a:ext cx="6744043" cy="285750"/>
          </a:xfrm>
          <a:prstGeom prst="roundRect">
            <a:avLst>
              <a:gd name="adj" fmla="val 26667"/>
            </a:avLst>
          </a:prstGeom>
          <a:solidFill>
            <a:srgbClr val="0B7189"/>
          </a:solidFill>
          <a:ln w="0">
            <a:solidFill>
              <a:srgbClr val="0B71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290">
            <a:extLst>
              <a:ext uri="{FF2B5EF4-FFF2-40B4-BE49-F238E27FC236}">
                <a16:creationId xmlns:a16="http://schemas.microsoft.com/office/drawing/2014/main" id="{7A2868F4-291E-4080-867D-0839019B6E37}"/>
              </a:ext>
            </a:extLst>
          </p:cNvPr>
          <p:cNvSpPr>
            <a:spLocks noGrp="1"/>
          </p:cNvSpPr>
          <p:nvPr/>
        </p:nvSpPr>
        <p:spPr>
          <a:xfrm>
            <a:off x="2952750" y="3714750"/>
            <a:ext cx="2381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target head  84.29</a:t>
            </a:r>
          </a:p>
        </p:txBody>
      </p:sp>
      <p:sp>
        <p:nvSpPr>
          <p:cNvPr id="31" name="text-291">
            <a:extLst>
              <a:ext uri="{FF2B5EF4-FFF2-40B4-BE49-F238E27FC236}">
                <a16:creationId xmlns:a16="http://schemas.microsoft.com/office/drawing/2014/main" id="{DE390181-2706-40C6-9368-B30BDF9BF382}"/>
              </a:ext>
            </a:extLst>
          </p:cNvPr>
          <p:cNvSpPr>
            <a:spLocks noGrp="1"/>
          </p:cNvSpPr>
          <p:nvPr/>
        </p:nvSpPr>
        <p:spPr>
          <a:xfrm>
            <a:off x="619125" y="4591050"/>
            <a:ext cx="1809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SG-SCL</a:t>
            </a:r>
          </a:p>
        </p:txBody>
      </p:sp>
      <p:sp>
        <p:nvSpPr>
          <p:cNvPr id="32" name="shape-292">
            <a:extLst>
              <a:ext uri="{FF2B5EF4-FFF2-40B4-BE49-F238E27FC236}">
                <a16:creationId xmlns:a16="http://schemas.microsoft.com/office/drawing/2014/main" id="{D0FA8F29-C403-4DC1-9A04-C8A23C1BCFE0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8001000" cy="285750"/>
          </a:xfrm>
          <a:prstGeom prst="roundRect">
            <a:avLst>
              <a:gd name="adj" fmla="val 26667"/>
            </a:avLst>
          </a:prstGeom>
          <a:solidFill>
            <a:srgbClr val="F2F1F2"/>
          </a:solidFill>
          <a:ln w="0">
            <a:solidFill>
              <a:srgbClr val="F2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-293">
            <a:extLst>
              <a:ext uri="{FF2B5EF4-FFF2-40B4-BE49-F238E27FC236}">
                <a16:creationId xmlns:a16="http://schemas.microsoft.com/office/drawing/2014/main" id="{1004F58F-328C-4E76-97D5-568605B736B5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4799000" cy="285750"/>
          </a:xfrm>
          <a:prstGeom prst="roundRect">
            <a:avLst>
              <a:gd name="adj" fmla="val 26667"/>
            </a:avLst>
          </a:prstGeom>
          <a:solidFill>
            <a:srgbClr val="765DA3"/>
          </a:solidFill>
          <a:ln w="0">
            <a:solidFill>
              <a:srgbClr val="765D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-294">
            <a:extLst>
              <a:ext uri="{FF2B5EF4-FFF2-40B4-BE49-F238E27FC236}">
                <a16:creationId xmlns:a16="http://schemas.microsoft.com/office/drawing/2014/main" id="{60ECC004-3957-479A-AE11-D37AA6A83770}"/>
              </a:ext>
            </a:extLst>
          </p:cNvPr>
          <p:cNvSpPr>
            <a:spLocks noGrp="1"/>
          </p:cNvSpPr>
          <p:nvPr/>
        </p:nvSpPr>
        <p:spPr>
          <a:xfrm>
            <a:off x="2952750" y="4429125"/>
            <a:ext cx="2381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direct head  59.98</a:t>
            </a:r>
          </a:p>
        </p:txBody>
      </p:sp>
      <p:sp>
        <p:nvSpPr>
          <p:cNvPr id="35" name="shape-295">
            <a:extLst>
              <a:ext uri="{FF2B5EF4-FFF2-40B4-BE49-F238E27FC236}">
                <a16:creationId xmlns:a16="http://schemas.microsoft.com/office/drawing/2014/main" id="{478997B6-6B46-4ED0-A23A-9405AA2B7F8A}"/>
              </a:ext>
            </a:extLst>
          </p:cNvPr>
          <p:cNvSpPr>
            <a:spLocks noGrp="1"/>
          </p:cNvSpPr>
          <p:nvPr/>
        </p:nvSpPr>
        <p:spPr>
          <a:xfrm>
            <a:off x="2857500" y="4810125"/>
            <a:ext cx="8001000" cy="285750"/>
          </a:xfrm>
          <a:prstGeom prst="roundRect">
            <a:avLst>
              <a:gd name="adj" fmla="val 26667"/>
            </a:avLst>
          </a:prstGeom>
          <a:solidFill>
            <a:srgbClr val="F2F1F2"/>
          </a:solidFill>
          <a:ln w="0">
            <a:solidFill>
              <a:srgbClr val="F2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-296">
            <a:extLst>
              <a:ext uri="{FF2B5EF4-FFF2-40B4-BE49-F238E27FC236}">
                <a16:creationId xmlns:a16="http://schemas.microsoft.com/office/drawing/2014/main" id="{07A86A5F-D91A-48F8-AD8B-347D6321748D}"/>
              </a:ext>
            </a:extLst>
          </p:cNvPr>
          <p:cNvSpPr>
            <a:spLocks noGrp="1"/>
          </p:cNvSpPr>
          <p:nvPr/>
        </p:nvSpPr>
        <p:spPr>
          <a:xfrm>
            <a:off x="2857500" y="4810125"/>
            <a:ext cx="7252907" cy="285750"/>
          </a:xfrm>
          <a:prstGeom prst="roundRect">
            <a:avLst>
              <a:gd name="adj" fmla="val 26667"/>
            </a:avLst>
          </a:prstGeom>
          <a:solidFill>
            <a:srgbClr val="2F5597"/>
          </a:solidFill>
          <a:ln w="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-297">
            <a:extLst>
              <a:ext uri="{FF2B5EF4-FFF2-40B4-BE49-F238E27FC236}">
                <a16:creationId xmlns:a16="http://schemas.microsoft.com/office/drawing/2014/main" id="{6D36D5E8-5E7B-405D-B112-C280D2C873D9}"/>
              </a:ext>
            </a:extLst>
          </p:cNvPr>
          <p:cNvSpPr>
            <a:spLocks noGrp="1"/>
          </p:cNvSpPr>
          <p:nvPr/>
        </p:nvSpPr>
        <p:spPr>
          <a:xfrm>
            <a:off x="2952750" y="4857750"/>
            <a:ext cx="23812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target head  90.65</a:t>
            </a:r>
          </a:p>
        </p:txBody>
      </p:sp>
      <p:sp>
        <p:nvSpPr>
          <p:cNvPr id="38" name="shape-298">
            <a:extLst>
              <a:ext uri="{FF2B5EF4-FFF2-40B4-BE49-F238E27FC236}">
                <a16:creationId xmlns:a16="http://schemas.microsoft.com/office/drawing/2014/main" id="{67ED8B1F-14E1-4B6B-9B45-9CCC4F8696F6}"/>
              </a:ext>
            </a:extLst>
          </p:cNvPr>
          <p:cNvSpPr>
            <a:spLocks noGrp="1"/>
          </p:cNvSpPr>
          <p:nvPr/>
        </p:nvSpPr>
        <p:spPr>
          <a:xfrm>
            <a:off x="1476375" y="5591175"/>
            <a:ext cx="9239250" cy="514350"/>
          </a:xfrm>
          <a:prstGeom prst="roundRect">
            <a:avLst>
              <a:gd name="adj" fmla="val 14815"/>
            </a:avLst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-299">
            <a:extLst>
              <a:ext uri="{FF2B5EF4-FFF2-40B4-BE49-F238E27FC236}">
                <a16:creationId xmlns:a16="http://schemas.microsoft.com/office/drawing/2014/main" id="{D431CB1B-1DFC-475E-B051-688E3B096EFF}"/>
              </a:ext>
            </a:extLst>
          </p:cNvPr>
          <p:cNvSpPr>
            <a:spLocks noGrp="1"/>
          </p:cNvSpPr>
          <p:nvPr/>
        </p:nvSpPr>
        <p:spPr>
          <a:xfrm>
            <a:off x="1714500" y="5743575"/>
            <a:ext cx="876300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rPr dirty="0"/>
              <a:t>the representation is reusable under target supervision.</a:t>
            </a:r>
          </a:p>
        </p:txBody>
      </p:sp>
    </p:spTree>
    <p:extLst>
      <p:ext uri="{BB962C8B-B14F-4D97-AF65-F5344CB8AC3E}">
        <p14:creationId xmlns:p14="http://schemas.microsoft.com/office/powerpoint/2010/main" val="570611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-300">
            <a:extLst>
              <a:ext uri="{FF2B5EF4-FFF2-40B4-BE49-F238E27FC236}">
                <a16:creationId xmlns:a16="http://schemas.microsoft.com/office/drawing/2014/main" id="{CD51AE03-2606-43E9-953E-81CF482D03F4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-301">
            <a:extLst>
              <a:ext uri="{FF2B5EF4-FFF2-40B4-BE49-F238E27FC236}">
                <a16:creationId xmlns:a16="http://schemas.microsoft.com/office/drawing/2014/main" id="{2136227B-FFDA-44F3-85A9-A594984446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-302">
            <a:extLst>
              <a:ext uri="{FF2B5EF4-FFF2-40B4-BE49-F238E27FC236}">
                <a16:creationId xmlns:a16="http://schemas.microsoft.com/office/drawing/2014/main" id="{AC3876DE-664D-4F18-B013-08EA73153C4D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1096625" cy="704850"/>
          </a:xfrm>
          <a:prstGeom prst="rect">
            <a:avLst/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-303">
            <a:extLst>
              <a:ext uri="{FF2B5EF4-FFF2-40B4-BE49-F238E27FC236}">
                <a16:creationId xmlns:a16="http://schemas.microsoft.com/office/drawing/2014/main" id="{02D7C78F-2D60-4275-8EC7-CDC032408251}"/>
              </a:ext>
            </a:extLst>
          </p:cNvPr>
          <p:cNvSpPr>
            <a:spLocks noGrp="1"/>
          </p:cNvSpPr>
          <p:nvPr/>
        </p:nvSpPr>
        <p:spPr>
          <a:xfrm>
            <a:off x="11096625" y="266700"/>
            <a:ext cx="762000" cy="70485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304">
            <a:extLst>
              <a:ext uri="{FF2B5EF4-FFF2-40B4-BE49-F238E27FC236}">
                <a16:creationId xmlns:a16="http://schemas.microsoft.com/office/drawing/2014/main" id="{180477FE-C0BF-413F-8C8A-5964F5033892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382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Aggregate recovery and minority failure coexist</a:t>
            </a:r>
          </a:p>
        </p:txBody>
      </p:sp>
      <p:sp>
        <p:nvSpPr>
          <p:cNvPr id="6" name="shape-305">
            <a:extLst>
              <a:ext uri="{FF2B5EF4-FFF2-40B4-BE49-F238E27FC236}">
                <a16:creationId xmlns:a16="http://schemas.microsoft.com/office/drawing/2014/main" id="{877C48A2-297E-4E80-AA7D-CE0AF1922FD7}"/>
              </a:ext>
            </a:extLst>
          </p:cNvPr>
          <p:cNvSpPr>
            <a:spLocks noGrp="1"/>
          </p:cNvSpPr>
          <p:nvPr/>
        </p:nvSpPr>
        <p:spPr>
          <a:xfrm>
            <a:off x="304800" y="6496050"/>
            <a:ext cx="2000250" cy="76200"/>
          </a:xfrm>
          <a:prstGeom prst="rect">
            <a:avLst/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306">
            <a:extLst>
              <a:ext uri="{FF2B5EF4-FFF2-40B4-BE49-F238E27FC236}">
                <a16:creationId xmlns:a16="http://schemas.microsoft.com/office/drawing/2014/main" id="{6C148FBE-05AF-4325-AA0D-8C40BF2BF402}"/>
              </a:ext>
            </a:extLst>
          </p:cNvPr>
          <p:cNvSpPr>
            <a:spLocks noGrp="1"/>
          </p:cNvSpPr>
          <p:nvPr/>
        </p:nvSpPr>
        <p:spPr>
          <a:xfrm>
            <a:off x="5715000" y="6438900"/>
            <a:ext cx="762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9" name="text-308">
            <a:extLst>
              <a:ext uri="{FF2B5EF4-FFF2-40B4-BE49-F238E27FC236}">
                <a16:creationId xmlns:a16="http://schemas.microsoft.com/office/drawing/2014/main" id="{294DB1F3-3DAE-4726-BB6B-0FCA8190E23B}"/>
              </a:ext>
            </a:extLst>
          </p:cNvPr>
          <p:cNvSpPr>
            <a:spLocks noGrp="1"/>
          </p:cNvSpPr>
          <p:nvPr/>
        </p:nvSpPr>
        <p:spPr>
          <a:xfrm>
            <a:off x="9620250" y="6438900"/>
            <a:ext cx="2238375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1" name="text-310">
            <a:extLst>
              <a:ext uri="{FF2B5EF4-FFF2-40B4-BE49-F238E27FC236}">
                <a16:creationId xmlns:a16="http://schemas.microsoft.com/office/drawing/2014/main" id="{5CADB731-A532-446F-B2AF-E53F3995A00A}"/>
              </a:ext>
            </a:extLst>
          </p:cNvPr>
          <p:cNvSpPr>
            <a:spLocks noGrp="1"/>
          </p:cNvSpPr>
          <p:nvPr/>
        </p:nvSpPr>
        <p:spPr>
          <a:xfrm>
            <a:off x="523875" y="1190625"/>
            <a:ext cx="5334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Seven-class aggregate metrics</a:t>
            </a:r>
          </a:p>
        </p:txBody>
      </p:sp>
      <p:sp>
        <p:nvSpPr>
          <p:cNvPr id="12" name="text-311">
            <a:extLst>
              <a:ext uri="{FF2B5EF4-FFF2-40B4-BE49-F238E27FC236}">
                <a16:creationId xmlns:a16="http://schemas.microsoft.com/office/drawing/2014/main" id="{CB5A2267-4BA2-4843-8986-C5BA946F8811}"/>
              </a:ext>
            </a:extLst>
          </p:cNvPr>
          <p:cNvSpPr>
            <a:spLocks noGrp="1"/>
          </p:cNvSpPr>
          <p:nvPr/>
        </p:nvSpPr>
        <p:spPr>
          <a:xfrm>
            <a:off x="6953250" y="1190625"/>
            <a:ext cx="4572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SPRSound inter support</a:t>
            </a:r>
          </a:p>
        </p:txBody>
      </p:sp>
      <p:sp>
        <p:nvSpPr>
          <p:cNvPr id="13" name="shape-312">
            <a:extLst>
              <a:ext uri="{FF2B5EF4-FFF2-40B4-BE49-F238E27FC236}">
                <a16:creationId xmlns:a16="http://schemas.microsoft.com/office/drawing/2014/main" id="{288A0B36-6AFA-4946-B259-86759D0F3F4B}"/>
              </a:ext>
            </a:extLst>
          </p:cNvPr>
          <p:cNvSpPr>
            <a:spLocks noGrp="1"/>
          </p:cNvSpPr>
          <p:nvPr/>
        </p:nvSpPr>
        <p:spPr>
          <a:xfrm>
            <a:off x="476250" y="1714500"/>
            <a:ext cx="5619750" cy="1000125"/>
          </a:xfrm>
          <a:prstGeom prst="roundRect">
            <a:avLst>
              <a:gd name="adj" fmla="val 7619"/>
            </a:avLst>
          </a:prstGeom>
          <a:solidFill>
            <a:srgbClr val="F4F1F8"/>
          </a:solidFill>
          <a:ln w="0">
            <a:solidFill>
              <a:srgbClr val="F4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-313">
            <a:extLst>
              <a:ext uri="{FF2B5EF4-FFF2-40B4-BE49-F238E27FC236}">
                <a16:creationId xmlns:a16="http://schemas.microsoft.com/office/drawing/2014/main" id="{E0774E37-F47F-426B-A9EC-93BBD2113988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142875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Patch-Mix</a:t>
            </a:r>
          </a:p>
        </p:txBody>
      </p:sp>
      <p:sp>
        <p:nvSpPr>
          <p:cNvPr id="15" name="text-314">
            <a:extLst>
              <a:ext uri="{FF2B5EF4-FFF2-40B4-BE49-F238E27FC236}">
                <a16:creationId xmlns:a16="http://schemas.microsoft.com/office/drawing/2014/main" id="{17080A14-338E-4370-82BF-2CF91F8EB729}"/>
              </a:ext>
            </a:extLst>
          </p:cNvPr>
          <p:cNvSpPr>
            <a:spLocks noGrp="1"/>
          </p:cNvSpPr>
          <p:nvPr/>
        </p:nvSpPr>
        <p:spPr>
          <a:xfrm>
            <a:off x="2238375" y="1828800"/>
            <a:ext cx="1143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Official Score</a:t>
            </a:r>
          </a:p>
        </p:txBody>
      </p:sp>
      <p:sp>
        <p:nvSpPr>
          <p:cNvPr id="16" name="text-315">
            <a:extLst>
              <a:ext uri="{FF2B5EF4-FFF2-40B4-BE49-F238E27FC236}">
                <a16:creationId xmlns:a16="http://schemas.microsoft.com/office/drawing/2014/main" id="{55A6D7C2-E3DC-4880-B4AC-9A8474AEE830}"/>
              </a:ext>
            </a:extLst>
          </p:cNvPr>
          <p:cNvSpPr>
            <a:spLocks noGrp="1"/>
          </p:cNvSpPr>
          <p:nvPr/>
        </p:nvSpPr>
        <p:spPr>
          <a:xfrm>
            <a:off x="2238375" y="2114550"/>
            <a:ext cx="1143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82.37</a:t>
            </a:r>
          </a:p>
        </p:txBody>
      </p:sp>
      <p:sp>
        <p:nvSpPr>
          <p:cNvPr id="17" name="text-316">
            <a:extLst>
              <a:ext uri="{FF2B5EF4-FFF2-40B4-BE49-F238E27FC236}">
                <a16:creationId xmlns:a16="http://schemas.microsoft.com/office/drawing/2014/main" id="{0771B40E-9E2D-49C8-89F7-EB97E54264B3}"/>
              </a:ext>
            </a:extLst>
          </p:cNvPr>
          <p:cNvSpPr>
            <a:spLocks noGrp="1"/>
          </p:cNvSpPr>
          <p:nvPr/>
        </p:nvSpPr>
        <p:spPr>
          <a:xfrm>
            <a:off x="3667125" y="1828800"/>
            <a:ext cx="952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Macro-F1</a:t>
            </a:r>
          </a:p>
        </p:txBody>
      </p:sp>
      <p:sp>
        <p:nvSpPr>
          <p:cNvPr id="18" name="text-317">
            <a:extLst>
              <a:ext uri="{FF2B5EF4-FFF2-40B4-BE49-F238E27FC236}">
                <a16:creationId xmlns:a16="http://schemas.microsoft.com/office/drawing/2014/main" id="{92E3CD67-CCD1-48C9-9F9F-0BFF8CFA8642}"/>
              </a:ext>
            </a:extLst>
          </p:cNvPr>
          <p:cNvSpPr>
            <a:spLocks noGrp="1"/>
          </p:cNvSpPr>
          <p:nvPr/>
        </p:nvSpPr>
        <p:spPr>
          <a:xfrm>
            <a:off x="3667125" y="2114550"/>
            <a:ext cx="95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0.362</a:t>
            </a:r>
          </a:p>
        </p:txBody>
      </p:sp>
      <p:sp>
        <p:nvSpPr>
          <p:cNvPr id="19" name="text-318">
            <a:extLst>
              <a:ext uri="{FF2B5EF4-FFF2-40B4-BE49-F238E27FC236}">
                <a16:creationId xmlns:a16="http://schemas.microsoft.com/office/drawing/2014/main" id="{C045A460-19CC-466A-9121-58BC4CDC085A}"/>
              </a:ext>
            </a:extLst>
          </p:cNvPr>
          <p:cNvSpPr>
            <a:spLocks noGrp="1"/>
          </p:cNvSpPr>
          <p:nvPr/>
        </p:nvSpPr>
        <p:spPr>
          <a:xfrm>
            <a:off x="4905375" y="1828800"/>
            <a:ext cx="762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UAR</a:t>
            </a:r>
          </a:p>
        </p:txBody>
      </p:sp>
      <p:sp>
        <p:nvSpPr>
          <p:cNvPr id="20" name="text-319">
            <a:extLst>
              <a:ext uri="{FF2B5EF4-FFF2-40B4-BE49-F238E27FC236}">
                <a16:creationId xmlns:a16="http://schemas.microsoft.com/office/drawing/2014/main" id="{7F13B726-25C6-4B4D-956F-0486A1F13E86}"/>
              </a:ext>
            </a:extLst>
          </p:cNvPr>
          <p:cNvSpPr>
            <a:spLocks noGrp="1"/>
          </p:cNvSpPr>
          <p:nvPr/>
        </p:nvSpPr>
        <p:spPr>
          <a:xfrm>
            <a:off x="4905375" y="2114550"/>
            <a:ext cx="762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0.351</a:t>
            </a:r>
          </a:p>
        </p:txBody>
      </p:sp>
      <p:sp>
        <p:nvSpPr>
          <p:cNvPr id="21" name="shape-320">
            <a:extLst>
              <a:ext uri="{FF2B5EF4-FFF2-40B4-BE49-F238E27FC236}">
                <a16:creationId xmlns:a16="http://schemas.microsoft.com/office/drawing/2014/main" id="{B32E1A99-A22E-487A-A5ED-CCDA97D97DEC}"/>
              </a:ext>
            </a:extLst>
          </p:cNvPr>
          <p:cNvSpPr>
            <a:spLocks noGrp="1"/>
          </p:cNvSpPr>
          <p:nvPr/>
        </p:nvSpPr>
        <p:spPr>
          <a:xfrm>
            <a:off x="476250" y="2952750"/>
            <a:ext cx="5619750" cy="1000125"/>
          </a:xfrm>
          <a:prstGeom prst="roundRect">
            <a:avLst>
              <a:gd name="adj" fmla="val 7619"/>
            </a:avLst>
          </a:prstGeom>
          <a:solidFill>
            <a:srgbClr val="F4F1F8"/>
          </a:solidFill>
          <a:ln w="0">
            <a:solidFill>
              <a:srgbClr val="F4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-321">
            <a:extLst>
              <a:ext uri="{FF2B5EF4-FFF2-40B4-BE49-F238E27FC236}">
                <a16:creationId xmlns:a16="http://schemas.microsoft.com/office/drawing/2014/main" id="{6657BDFB-AB76-4AFF-B4EB-BA0A607E9AFA}"/>
              </a:ext>
            </a:extLst>
          </p:cNvPr>
          <p:cNvSpPr>
            <a:spLocks noGrp="1"/>
          </p:cNvSpPr>
          <p:nvPr/>
        </p:nvSpPr>
        <p:spPr>
          <a:xfrm>
            <a:off x="666750" y="3105150"/>
            <a:ext cx="142875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PAFA</a:t>
            </a:r>
          </a:p>
        </p:txBody>
      </p:sp>
      <p:sp>
        <p:nvSpPr>
          <p:cNvPr id="23" name="text-322">
            <a:extLst>
              <a:ext uri="{FF2B5EF4-FFF2-40B4-BE49-F238E27FC236}">
                <a16:creationId xmlns:a16="http://schemas.microsoft.com/office/drawing/2014/main" id="{109B490E-A474-43AF-BA19-89623CD6FDC9}"/>
              </a:ext>
            </a:extLst>
          </p:cNvPr>
          <p:cNvSpPr>
            <a:spLocks noGrp="1"/>
          </p:cNvSpPr>
          <p:nvPr/>
        </p:nvSpPr>
        <p:spPr>
          <a:xfrm>
            <a:off x="2238375" y="3067050"/>
            <a:ext cx="1143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Official Score</a:t>
            </a:r>
          </a:p>
        </p:txBody>
      </p:sp>
      <p:sp>
        <p:nvSpPr>
          <p:cNvPr id="24" name="text-323">
            <a:extLst>
              <a:ext uri="{FF2B5EF4-FFF2-40B4-BE49-F238E27FC236}">
                <a16:creationId xmlns:a16="http://schemas.microsoft.com/office/drawing/2014/main" id="{1C8BF55D-7C6F-47E1-898E-6D5FA2ECEFF6}"/>
              </a:ext>
            </a:extLst>
          </p:cNvPr>
          <p:cNvSpPr>
            <a:spLocks noGrp="1"/>
          </p:cNvSpPr>
          <p:nvPr/>
        </p:nvSpPr>
        <p:spPr>
          <a:xfrm>
            <a:off x="2238375" y="3352800"/>
            <a:ext cx="1143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75.77</a:t>
            </a:r>
          </a:p>
        </p:txBody>
      </p:sp>
      <p:sp>
        <p:nvSpPr>
          <p:cNvPr id="25" name="text-324">
            <a:extLst>
              <a:ext uri="{FF2B5EF4-FFF2-40B4-BE49-F238E27FC236}">
                <a16:creationId xmlns:a16="http://schemas.microsoft.com/office/drawing/2014/main" id="{2B237B26-A7FD-4B98-8469-05E8AAE30252}"/>
              </a:ext>
            </a:extLst>
          </p:cNvPr>
          <p:cNvSpPr>
            <a:spLocks noGrp="1"/>
          </p:cNvSpPr>
          <p:nvPr/>
        </p:nvSpPr>
        <p:spPr>
          <a:xfrm>
            <a:off x="3667125" y="3067050"/>
            <a:ext cx="952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Macro-F1</a:t>
            </a:r>
          </a:p>
        </p:txBody>
      </p:sp>
      <p:sp>
        <p:nvSpPr>
          <p:cNvPr id="26" name="text-325">
            <a:extLst>
              <a:ext uri="{FF2B5EF4-FFF2-40B4-BE49-F238E27FC236}">
                <a16:creationId xmlns:a16="http://schemas.microsoft.com/office/drawing/2014/main" id="{896DC8DD-51F2-47C6-A15D-93AE4BBE3ECC}"/>
              </a:ext>
            </a:extLst>
          </p:cNvPr>
          <p:cNvSpPr>
            <a:spLocks noGrp="1"/>
          </p:cNvSpPr>
          <p:nvPr/>
        </p:nvSpPr>
        <p:spPr>
          <a:xfrm>
            <a:off x="3667125" y="3352800"/>
            <a:ext cx="95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0.387</a:t>
            </a:r>
          </a:p>
        </p:txBody>
      </p:sp>
      <p:sp>
        <p:nvSpPr>
          <p:cNvPr id="27" name="text-326">
            <a:extLst>
              <a:ext uri="{FF2B5EF4-FFF2-40B4-BE49-F238E27FC236}">
                <a16:creationId xmlns:a16="http://schemas.microsoft.com/office/drawing/2014/main" id="{781798E9-867F-4719-BEA7-AD63DCB71B42}"/>
              </a:ext>
            </a:extLst>
          </p:cNvPr>
          <p:cNvSpPr>
            <a:spLocks noGrp="1"/>
          </p:cNvSpPr>
          <p:nvPr/>
        </p:nvSpPr>
        <p:spPr>
          <a:xfrm>
            <a:off x="4905375" y="3067050"/>
            <a:ext cx="762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UAR</a:t>
            </a:r>
          </a:p>
        </p:txBody>
      </p:sp>
      <p:sp>
        <p:nvSpPr>
          <p:cNvPr id="28" name="text-327">
            <a:extLst>
              <a:ext uri="{FF2B5EF4-FFF2-40B4-BE49-F238E27FC236}">
                <a16:creationId xmlns:a16="http://schemas.microsoft.com/office/drawing/2014/main" id="{FB4C92B9-17E6-49F9-A3D4-733A6D7E18FC}"/>
              </a:ext>
            </a:extLst>
          </p:cNvPr>
          <p:cNvSpPr>
            <a:spLocks noGrp="1"/>
          </p:cNvSpPr>
          <p:nvPr/>
        </p:nvSpPr>
        <p:spPr>
          <a:xfrm>
            <a:off x="4905375" y="3352800"/>
            <a:ext cx="762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0.279</a:t>
            </a:r>
          </a:p>
        </p:txBody>
      </p:sp>
      <p:sp>
        <p:nvSpPr>
          <p:cNvPr id="29" name="shape-328">
            <a:extLst>
              <a:ext uri="{FF2B5EF4-FFF2-40B4-BE49-F238E27FC236}">
                <a16:creationId xmlns:a16="http://schemas.microsoft.com/office/drawing/2014/main" id="{09A9D3FD-6B60-4408-BE8A-5A7BAA7E5011}"/>
              </a:ext>
            </a:extLst>
          </p:cNvPr>
          <p:cNvSpPr>
            <a:spLocks noGrp="1"/>
          </p:cNvSpPr>
          <p:nvPr/>
        </p:nvSpPr>
        <p:spPr>
          <a:xfrm>
            <a:off x="476250" y="4191000"/>
            <a:ext cx="5619750" cy="1000125"/>
          </a:xfrm>
          <a:prstGeom prst="roundRect">
            <a:avLst>
              <a:gd name="adj" fmla="val 7619"/>
            </a:avLst>
          </a:prstGeom>
          <a:solidFill>
            <a:srgbClr val="F4F1F8"/>
          </a:solidFill>
          <a:ln w="0">
            <a:solidFill>
              <a:srgbClr val="F4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329">
            <a:extLst>
              <a:ext uri="{FF2B5EF4-FFF2-40B4-BE49-F238E27FC236}">
                <a16:creationId xmlns:a16="http://schemas.microsoft.com/office/drawing/2014/main" id="{19497AAA-90EB-46A3-9B77-7AE35693DAEF}"/>
              </a:ext>
            </a:extLst>
          </p:cNvPr>
          <p:cNvSpPr>
            <a:spLocks noGrp="1"/>
          </p:cNvSpPr>
          <p:nvPr/>
        </p:nvSpPr>
        <p:spPr>
          <a:xfrm>
            <a:off x="666750" y="4343400"/>
            <a:ext cx="142875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SG-SCL</a:t>
            </a:r>
          </a:p>
        </p:txBody>
      </p:sp>
      <p:sp>
        <p:nvSpPr>
          <p:cNvPr id="31" name="text-330">
            <a:extLst>
              <a:ext uri="{FF2B5EF4-FFF2-40B4-BE49-F238E27FC236}">
                <a16:creationId xmlns:a16="http://schemas.microsoft.com/office/drawing/2014/main" id="{7DAA25A8-E195-421C-8141-C95B837755C8}"/>
              </a:ext>
            </a:extLst>
          </p:cNvPr>
          <p:cNvSpPr>
            <a:spLocks noGrp="1"/>
          </p:cNvSpPr>
          <p:nvPr/>
        </p:nvSpPr>
        <p:spPr>
          <a:xfrm>
            <a:off x="2238375" y="4305300"/>
            <a:ext cx="1143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Official Score</a:t>
            </a:r>
          </a:p>
        </p:txBody>
      </p:sp>
      <p:sp>
        <p:nvSpPr>
          <p:cNvPr id="32" name="text-331">
            <a:extLst>
              <a:ext uri="{FF2B5EF4-FFF2-40B4-BE49-F238E27FC236}">
                <a16:creationId xmlns:a16="http://schemas.microsoft.com/office/drawing/2014/main" id="{123F2F0D-D34E-46CB-89B5-67F8FE9D9F53}"/>
              </a:ext>
            </a:extLst>
          </p:cNvPr>
          <p:cNvSpPr>
            <a:spLocks noGrp="1"/>
          </p:cNvSpPr>
          <p:nvPr/>
        </p:nvSpPr>
        <p:spPr>
          <a:xfrm>
            <a:off x="2238375" y="4591050"/>
            <a:ext cx="1143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t>84.41</a:t>
            </a:r>
          </a:p>
        </p:txBody>
      </p:sp>
      <p:sp>
        <p:nvSpPr>
          <p:cNvPr id="33" name="text-332">
            <a:extLst>
              <a:ext uri="{FF2B5EF4-FFF2-40B4-BE49-F238E27FC236}">
                <a16:creationId xmlns:a16="http://schemas.microsoft.com/office/drawing/2014/main" id="{EBFB21B6-4E57-4514-9EB8-554D534BA369}"/>
              </a:ext>
            </a:extLst>
          </p:cNvPr>
          <p:cNvSpPr>
            <a:spLocks noGrp="1"/>
          </p:cNvSpPr>
          <p:nvPr/>
        </p:nvSpPr>
        <p:spPr>
          <a:xfrm>
            <a:off x="3667125" y="4305300"/>
            <a:ext cx="9525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Macro-F1</a:t>
            </a:r>
          </a:p>
        </p:txBody>
      </p:sp>
      <p:sp>
        <p:nvSpPr>
          <p:cNvPr id="34" name="text-333">
            <a:extLst>
              <a:ext uri="{FF2B5EF4-FFF2-40B4-BE49-F238E27FC236}">
                <a16:creationId xmlns:a16="http://schemas.microsoft.com/office/drawing/2014/main" id="{4461FC84-FBD3-469C-88F5-0CF9555AB3A3}"/>
              </a:ext>
            </a:extLst>
          </p:cNvPr>
          <p:cNvSpPr>
            <a:spLocks noGrp="1"/>
          </p:cNvSpPr>
          <p:nvPr/>
        </p:nvSpPr>
        <p:spPr>
          <a:xfrm>
            <a:off x="3667125" y="4591050"/>
            <a:ext cx="952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0.372</a:t>
            </a:r>
          </a:p>
        </p:txBody>
      </p:sp>
      <p:sp>
        <p:nvSpPr>
          <p:cNvPr id="35" name="text-334">
            <a:extLst>
              <a:ext uri="{FF2B5EF4-FFF2-40B4-BE49-F238E27FC236}">
                <a16:creationId xmlns:a16="http://schemas.microsoft.com/office/drawing/2014/main" id="{C9070E7E-0228-4119-A3FB-C14C9B550FB3}"/>
              </a:ext>
            </a:extLst>
          </p:cNvPr>
          <p:cNvSpPr>
            <a:spLocks noGrp="1"/>
          </p:cNvSpPr>
          <p:nvPr/>
        </p:nvSpPr>
        <p:spPr>
          <a:xfrm>
            <a:off x="4905375" y="4305300"/>
            <a:ext cx="762000" cy="209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UAR</a:t>
            </a:r>
          </a:p>
        </p:txBody>
      </p:sp>
      <p:sp>
        <p:nvSpPr>
          <p:cNvPr id="36" name="text-335">
            <a:extLst>
              <a:ext uri="{FF2B5EF4-FFF2-40B4-BE49-F238E27FC236}">
                <a16:creationId xmlns:a16="http://schemas.microsoft.com/office/drawing/2014/main" id="{D3399E6A-BA95-40EA-A47F-FB504ADEEA2B}"/>
              </a:ext>
            </a:extLst>
          </p:cNvPr>
          <p:cNvSpPr>
            <a:spLocks noGrp="1"/>
          </p:cNvSpPr>
          <p:nvPr/>
        </p:nvSpPr>
        <p:spPr>
          <a:xfrm>
            <a:off x="4905375" y="4591050"/>
            <a:ext cx="762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0.351</a:t>
            </a:r>
          </a:p>
        </p:txBody>
      </p:sp>
      <p:sp>
        <p:nvSpPr>
          <p:cNvPr id="37" name="text-336">
            <a:extLst>
              <a:ext uri="{FF2B5EF4-FFF2-40B4-BE49-F238E27FC236}">
                <a16:creationId xmlns:a16="http://schemas.microsoft.com/office/drawing/2014/main" id="{7E0480EC-6664-4C27-9012-133AFE9040D3}"/>
              </a:ext>
            </a:extLst>
          </p:cNvPr>
          <p:cNvSpPr>
            <a:spLocks noGrp="1"/>
          </p:cNvSpPr>
          <p:nvPr/>
        </p:nvSpPr>
        <p:spPr>
          <a:xfrm>
            <a:off x="6858000" y="1771650"/>
            <a:ext cx="15716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63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Normal</a:t>
            </a:r>
          </a:p>
        </p:txBody>
      </p:sp>
      <p:sp>
        <p:nvSpPr>
          <p:cNvPr id="38" name="shape-337">
            <a:extLst>
              <a:ext uri="{FF2B5EF4-FFF2-40B4-BE49-F238E27FC236}">
                <a16:creationId xmlns:a16="http://schemas.microsoft.com/office/drawing/2014/main" id="{9FBA974F-F9E8-4687-8FBF-8F2493557496}"/>
              </a:ext>
            </a:extLst>
          </p:cNvPr>
          <p:cNvSpPr>
            <a:spLocks noGrp="1"/>
          </p:cNvSpPr>
          <p:nvPr/>
        </p:nvSpPr>
        <p:spPr>
          <a:xfrm>
            <a:off x="7429500" y="1704975"/>
            <a:ext cx="3619500" cy="333375"/>
          </a:xfrm>
          <a:prstGeom prst="roundRect">
            <a:avLst>
              <a:gd name="adj" fmla="val 22857"/>
            </a:avLst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-338">
            <a:extLst>
              <a:ext uri="{FF2B5EF4-FFF2-40B4-BE49-F238E27FC236}">
                <a16:creationId xmlns:a16="http://schemas.microsoft.com/office/drawing/2014/main" id="{4C7521F5-8BA7-4740-AEAB-0F55ADED4A82}"/>
              </a:ext>
            </a:extLst>
          </p:cNvPr>
          <p:cNvSpPr>
            <a:spLocks noGrp="1"/>
          </p:cNvSpPr>
          <p:nvPr/>
        </p:nvSpPr>
        <p:spPr>
          <a:xfrm>
            <a:off x="11049000" y="1771650"/>
            <a:ext cx="4572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1040</a:t>
            </a:r>
          </a:p>
        </p:txBody>
      </p:sp>
      <p:sp>
        <p:nvSpPr>
          <p:cNvPr id="40" name="text-339">
            <a:extLst>
              <a:ext uri="{FF2B5EF4-FFF2-40B4-BE49-F238E27FC236}">
                <a16:creationId xmlns:a16="http://schemas.microsoft.com/office/drawing/2014/main" id="{75754E3C-0CCF-4B0E-81FC-10B8E40479FC}"/>
              </a:ext>
            </a:extLst>
          </p:cNvPr>
          <p:cNvSpPr>
            <a:spLocks noGrp="1"/>
          </p:cNvSpPr>
          <p:nvPr/>
        </p:nvSpPr>
        <p:spPr>
          <a:xfrm>
            <a:off x="6858000" y="2486025"/>
            <a:ext cx="15716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63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Wheeze</a:t>
            </a:r>
          </a:p>
        </p:txBody>
      </p:sp>
      <p:sp>
        <p:nvSpPr>
          <p:cNvPr id="41" name="shape-340">
            <a:extLst>
              <a:ext uri="{FF2B5EF4-FFF2-40B4-BE49-F238E27FC236}">
                <a16:creationId xmlns:a16="http://schemas.microsoft.com/office/drawing/2014/main" id="{28DAFF97-F4DA-4CB0-B064-B8A77B4BB9E9}"/>
              </a:ext>
            </a:extLst>
          </p:cNvPr>
          <p:cNvSpPr>
            <a:spLocks noGrp="1"/>
          </p:cNvSpPr>
          <p:nvPr/>
        </p:nvSpPr>
        <p:spPr>
          <a:xfrm>
            <a:off x="7429500" y="2438400"/>
            <a:ext cx="2981679" cy="333375"/>
          </a:xfrm>
          <a:prstGeom prst="roundRect">
            <a:avLst>
              <a:gd name="adj" fmla="val 22857"/>
            </a:avLst>
          </a:prstGeom>
          <a:solidFill>
            <a:srgbClr val="0B7189"/>
          </a:solidFill>
          <a:ln w="0">
            <a:solidFill>
              <a:srgbClr val="0B71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-341">
            <a:extLst>
              <a:ext uri="{FF2B5EF4-FFF2-40B4-BE49-F238E27FC236}">
                <a16:creationId xmlns:a16="http://schemas.microsoft.com/office/drawing/2014/main" id="{864B26A6-A784-400C-897D-2787C7B8727E}"/>
              </a:ext>
            </a:extLst>
          </p:cNvPr>
          <p:cNvSpPr>
            <a:spLocks noGrp="1"/>
          </p:cNvSpPr>
          <p:nvPr/>
        </p:nvSpPr>
        <p:spPr>
          <a:xfrm>
            <a:off x="11049000" y="2486025"/>
            <a:ext cx="4572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0B7189"/>
                </a:solidFill>
                <a:latin typeface="Arial"/>
                <a:ea typeface="Arial"/>
                <a:cs typeface="Arial"/>
              </a:defRPr>
            </a:pPr>
            <a:r>
              <a:t>305</a:t>
            </a:r>
          </a:p>
        </p:txBody>
      </p:sp>
      <p:sp>
        <p:nvSpPr>
          <p:cNvPr id="43" name="text-342">
            <a:extLst>
              <a:ext uri="{FF2B5EF4-FFF2-40B4-BE49-F238E27FC236}">
                <a16:creationId xmlns:a16="http://schemas.microsoft.com/office/drawing/2014/main" id="{3E7A2D11-3852-47F7-B6B5-6009F6DC14E8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15716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63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Fine crackle</a:t>
            </a:r>
          </a:p>
        </p:txBody>
      </p:sp>
      <p:sp>
        <p:nvSpPr>
          <p:cNvPr id="44" name="shape-343">
            <a:extLst>
              <a:ext uri="{FF2B5EF4-FFF2-40B4-BE49-F238E27FC236}">
                <a16:creationId xmlns:a16="http://schemas.microsoft.com/office/drawing/2014/main" id="{8C23F8DC-1267-4EA4-94FE-0E5D21FAF501}"/>
              </a:ext>
            </a:extLst>
          </p:cNvPr>
          <p:cNvSpPr>
            <a:spLocks noGrp="1"/>
          </p:cNvSpPr>
          <p:nvPr/>
        </p:nvSpPr>
        <p:spPr>
          <a:xfrm>
            <a:off x="7775703" y="3133725"/>
            <a:ext cx="2289271" cy="333375"/>
          </a:xfrm>
          <a:prstGeom prst="roundRect">
            <a:avLst>
              <a:gd name="adj" fmla="val 22857"/>
            </a:avLst>
          </a:prstGeom>
          <a:solidFill>
            <a:srgbClr val="765DA3"/>
          </a:solidFill>
          <a:ln w="0">
            <a:solidFill>
              <a:srgbClr val="765D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-344">
            <a:extLst>
              <a:ext uri="{FF2B5EF4-FFF2-40B4-BE49-F238E27FC236}">
                <a16:creationId xmlns:a16="http://schemas.microsoft.com/office/drawing/2014/main" id="{2CB45617-21B8-4045-B580-7BC251D6AE07}"/>
              </a:ext>
            </a:extLst>
          </p:cNvPr>
          <p:cNvSpPr>
            <a:spLocks noGrp="1"/>
          </p:cNvSpPr>
          <p:nvPr/>
        </p:nvSpPr>
        <p:spPr>
          <a:xfrm>
            <a:off x="11049000" y="3200400"/>
            <a:ext cx="4572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80</a:t>
            </a:r>
          </a:p>
        </p:txBody>
      </p:sp>
      <p:sp>
        <p:nvSpPr>
          <p:cNvPr id="46" name="text-345">
            <a:extLst>
              <a:ext uri="{FF2B5EF4-FFF2-40B4-BE49-F238E27FC236}">
                <a16:creationId xmlns:a16="http://schemas.microsoft.com/office/drawing/2014/main" id="{9C02C814-FC52-4E6D-8D82-EDF568567D57}"/>
              </a:ext>
            </a:extLst>
          </p:cNvPr>
          <p:cNvSpPr>
            <a:spLocks noGrp="1"/>
          </p:cNvSpPr>
          <p:nvPr/>
        </p:nvSpPr>
        <p:spPr>
          <a:xfrm>
            <a:off x="6858000" y="3914775"/>
            <a:ext cx="15716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63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Coarse crackle</a:t>
            </a:r>
          </a:p>
        </p:txBody>
      </p:sp>
      <p:sp>
        <p:nvSpPr>
          <p:cNvPr id="47" name="shape-346">
            <a:extLst>
              <a:ext uri="{FF2B5EF4-FFF2-40B4-BE49-F238E27FC236}">
                <a16:creationId xmlns:a16="http://schemas.microsoft.com/office/drawing/2014/main" id="{89F0CF32-9CF9-4DBC-91B3-698098BF1F6F}"/>
              </a:ext>
            </a:extLst>
          </p:cNvPr>
          <p:cNvSpPr>
            <a:spLocks noGrp="1"/>
          </p:cNvSpPr>
          <p:nvPr/>
        </p:nvSpPr>
        <p:spPr>
          <a:xfrm>
            <a:off x="8146623" y="3830574"/>
            <a:ext cx="722184" cy="333375"/>
          </a:xfrm>
          <a:prstGeom prst="roundRect">
            <a:avLst>
              <a:gd name="adj" fmla="val 22857"/>
            </a:avLst>
          </a:prstGeom>
          <a:solidFill>
            <a:srgbClr val="A83E4B"/>
          </a:solidFill>
          <a:ln w="0">
            <a:solidFill>
              <a:srgbClr val="A83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-347">
            <a:extLst>
              <a:ext uri="{FF2B5EF4-FFF2-40B4-BE49-F238E27FC236}">
                <a16:creationId xmlns:a16="http://schemas.microsoft.com/office/drawing/2014/main" id="{9C9A9C11-E44D-4698-ACFD-1A70F1475E68}"/>
              </a:ext>
            </a:extLst>
          </p:cNvPr>
          <p:cNvSpPr>
            <a:spLocks noGrp="1"/>
          </p:cNvSpPr>
          <p:nvPr/>
        </p:nvSpPr>
        <p:spPr>
          <a:xfrm>
            <a:off x="11049000" y="3914775"/>
            <a:ext cx="4572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49" name="text-348">
            <a:extLst>
              <a:ext uri="{FF2B5EF4-FFF2-40B4-BE49-F238E27FC236}">
                <a16:creationId xmlns:a16="http://schemas.microsoft.com/office/drawing/2014/main" id="{70D33AEE-EF93-4A60-AB46-6FA1B61EDE7F}"/>
              </a:ext>
            </a:extLst>
          </p:cNvPr>
          <p:cNvSpPr>
            <a:spLocks noGrp="1"/>
          </p:cNvSpPr>
          <p:nvPr/>
        </p:nvSpPr>
        <p:spPr>
          <a:xfrm>
            <a:off x="6858000" y="4629150"/>
            <a:ext cx="1571625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63" b="1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t>Wheeze + crackle</a:t>
            </a:r>
          </a:p>
        </p:txBody>
      </p:sp>
      <p:sp>
        <p:nvSpPr>
          <p:cNvPr id="50" name="shape-349">
            <a:extLst>
              <a:ext uri="{FF2B5EF4-FFF2-40B4-BE49-F238E27FC236}">
                <a16:creationId xmlns:a16="http://schemas.microsoft.com/office/drawing/2014/main" id="{DE7E6AE1-658B-4706-912A-3F804562D0BB}"/>
              </a:ext>
            </a:extLst>
          </p:cNvPr>
          <p:cNvSpPr>
            <a:spLocks noGrp="1"/>
          </p:cNvSpPr>
          <p:nvPr/>
        </p:nvSpPr>
        <p:spPr>
          <a:xfrm>
            <a:off x="8411433" y="4526089"/>
            <a:ext cx="361092" cy="333375"/>
          </a:xfrm>
          <a:prstGeom prst="roundRect">
            <a:avLst>
              <a:gd name="adj" fmla="val 22857"/>
            </a:avLst>
          </a:prstGeom>
          <a:solidFill>
            <a:srgbClr val="A83E4B"/>
          </a:solidFill>
          <a:ln w="0">
            <a:solidFill>
              <a:srgbClr val="A83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-350">
            <a:extLst>
              <a:ext uri="{FF2B5EF4-FFF2-40B4-BE49-F238E27FC236}">
                <a16:creationId xmlns:a16="http://schemas.microsoft.com/office/drawing/2014/main" id="{45D9AB4C-DACA-4493-B0C0-79BCED178F59}"/>
              </a:ext>
            </a:extLst>
          </p:cNvPr>
          <p:cNvSpPr>
            <a:spLocks noGrp="1"/>
          </p:cNvSpPr>
          <p:nvPr/>
        </p:nvSpPr>
        <p:spPr>
          <a:xfrm>
            <a:off x="11049000" y="4629150"/>
            <a:ext cx="4572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 i="0">
                <a:solidFill>
                  <a:srgbClr val="A83E4B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52" name="shape-351">
            <a:extLst>
              <a:ext uri="{FF2B5EF4-FFF2-40B4-BE49-F238E27FC236}">
                <a16:creationId xmlns:a16="http://schemas.microsoft.com/office/drawing/2014/main" id="{0A17CDEB-3EE9-41BE-8703-F28B1262EA58}"/>
              </a:ext>
            </a:extLst>
          </p:cNvPr>
          <p:cNvSpPr>
            <a:spLocks noGrp="1"/>
          </p:cNvSpPr>
          <p:nvPr/>
        </p:nvSpPr>
        <p:spPr>
          <a:xfrm>
            <a:off x="6667500" y="5429250"/>
            <a:ext cx="4857750" cy="666750"/>
          </a:xfrm>
          <a:prstGeom prst="roundRect">
            <a:avLst>
              <a:gd name="adj" fmla="val 11429"/>
            </a:avLst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-352">
            <a:extLst>
              <a:ext uri="{FF2B5EF4-FFF2-40B4-BE49-F238E27FC236}">
                <a16:creationId xmlns:a16="http://schemas.microsoft.com/office/drawing/2014/main" id="{DA430F51-2CAC-4C48-90D7-6A236C1CC2D6}"/>
              </a:ext>
            </a:extLst>
          </p:cNvPr>
          <p:cNvSpPr>
            <a:spLocks noGrp="1"/>
          </p:cNvSpPr>
          <p:nvPr/>
        </p:nvSpPr>
        <p:spPr>
          <a:xfrm>
            <a:off x="6905625" y="5534025"/>
            <a:ext cx="43815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Wheeze + crackle recall = 0
for all three models</a:t>
            </a:r>
          </a:p>
        </p:txBody>
      </p:sp>
    </p:spTree>
    <p:extLst>
      <p:ext uri="{BB962C8B-B14F-4D97-AF65-F5344CB8AC3E}">
        <p14:creationId xmlns:p14="http://schemas.microsoft.com/office/powerpoint/2010/main" val="1232707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-353">
            <a:extLst>
              <a:ext uri="{FF2B5EF4-FFF2-40B4-BE49-F238E27FC236}">
                <a16:creationId xmlns:a16="http://schemas.microsoft.com/office/drawing/2014/main" id="{B70D24EA-5DF4-430B-B253-CCBFFE4184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-354">
            <a:extLst>
              <a:ext uri="{FF2B5EF4-FFF2-40B4-BE49-F238E27FC236}">
                <a16:creationId xmlns:a16="http://schemas.microsoft.com/office/drawing/2014/main" id="{D8BD92F3-B49C-4AC0-96CC-17A1CCA79E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-355">
            <a:extLst>
              <a:ext uri="{FF2B5EF4-FFF2-40B4-BE49-F238E27FC236}">
                <a16:creationId xmlns:a16="http://schemas.microsoft.com/office/drawing/2014/main" id="{D79434F2-A428-495C-9375-53C421654D37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1096625" cy="704850"/>
          </a:xfrm>
          <a:prstGeom prst="rect">
            <a:avLst/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-356">
            <a:extLst>
              <a:ext uri="{FF2B5EF4-FFF2-40B4-BE49-F238E27FC236}">
                <a16:creationId xmlns:a16="http://schemas.microsoft.com/office/drawing/2014/main" id="{8DF35403-02C8-4DAB-A53C-5B0DECD2A363}"/>
              </a:ext>
            </a:extLst>
          </p:cNvPr>
          <p:cNvSpPr>
            <a:spLocks noGrp="1"/>
          </p:cNvSpPr>
          <p:nvPr/>
        </p:nvSpPr>
        <p:spPr>
          <a:xfrm>
            <a:off x="11096625" y="266700"/>
            <a:ext cx="762000" cy="704850"/>
          </a:xfrm>
          <a:prstGeom prst="rect">
            <a:avLst/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357">
            <a:extLst>
              <a:ext uri="{FF2B5EF4-FFF2-40B4-BE49-F238E27FC236}">
                <a16:creationId xmlns:a16="http://schemas.microsoft.com/office/drawing/2014/main" id="{3F2EACB0-BD07-4248-AAD9-AE07E98BD505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038225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Proposed system: share only acoustically compatible supervision</a:t>
            </a:r>
          </a:p>
        </p:txBody>
      </p:sp>
      <p:sp>
        <p:nvSpPr>
          <p:cNvPr id="6" name="shape-358">
            <a:extLst>
              <a:ext uri="{FF2B5EF4-FFF2-40B4-BE49-F238E27FC236}">
                <a16:creationId xmlns:a16="http://schemas.microsoft.com/office/drawing/2014/main" id="{57B4CE01-9F3B-4C25-BF6A-882FD7F911D2}"/>
              </a:ext>
            </a:extLst>
          </p:cNvPr>
          <p:cNvSpPr>
            <a:spLocks noGrp="1"/>
          </p:cNvSpPr>
          <p:nvPr/>
        </p:nvSpPr>
        <p:spPr>
          <a:xfrm>
            <a:off x="304800" y="6496050"/>
            <a:ext cx="2000250" cy="76200"/>
          </a:xfrm>
          <a:prstGeom prst="rect">
            <a:avLst/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359">
            <a:extLst>
              <a:ext uri="{FF2B5EF4-FFF2-40B4-BE49-F238E27FC236}">
                <a16:creationId xmlns:a16="http://schemas.microsoft.com/office/drawing/2014/main" id="{901E7962-E288-4286-B4C2-A6C39C9000B2}"/>
              </a:ext>
            </a:extLst>
          </p:cNvPr>
          <p:cNvSpPr>
            <a:spLocks noGrp="1"/>
          </p:cNvSpPr>
          <p:nvPr/>
        </p:nvSpPr>
        <p:spPr>
          <a:xfrm>
            <a:off x="5715000" y="6438900"/>
            <a:ext cx="762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 i="0">
                <a:solidFill>
                  <a:srgbClr val="6F6B73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9" name="text-361">
            <a:extLst>
              <a:ext uri="{FF2B5EF4-FFF2-40B4-BE49-F238E27FC236}">
                <a16:creationId xmlns:a16="http://schemas.microsoft.com/office/drawing/2014/main" id="{D389B363-D30E-440C-9773-D2ABF9514E4F}"/>
              </a:ext>
            </a:extLst>
          </p:cNvPr>
          <p:cNvSpPr>
            <a:spLocks noGrp="1"/>
          </p:cNvSpPr>
          <p:nvPr/>
        </p:nvSpPr>
        <p:spPr>
          <a:xfrm>
            <a:off x="9620250" y="6438900"/>
            <a:ext cx="2238375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7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NORTHWESTERN ENGINEERING</a:t>
            </a:r>
          </a:p>
        </p:txBody>
      </p:sp>
      <p:sp>
        <p:nvSpPr>
          <p:cNvPr id="11" name="shape-363">
            <a:extLst>
              <a:ext uri="{FF2B5EF4-FFF2-40B4-BE49-F238E27FC236}">
                <a16:creationId xmlns:a16="http://schemas.microsoft.com/office/drawing/2014/main" id="{84863F85-0BEB-472E-B63B-5FC6458718DB}"/>
              </a:ext>
            </a:extLst>
          </p:cNvPr>
          <p:cNvSpPr>
            <a:spLocks noGrp="1"/>
          </p:cNvSpPr>
          <p:nvPr/>
        </p:nvSpPr>
        <p:spPr>
          <a:xfrm>
            <a:off x="428625" y="1381125"/>
            <a:ext cx="1809750" cy="590550"/>
          </a:xfrm>
          <a:prstGeom prst="roundRect">
            <a:avLst>
              <a:gd name="adj" fmla="val 12903"/>
            </a:avLst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-364">
            <a:extLst>
              <a:ext uri="{FF2B5EF4-FFF2-40B4-BE49-F238E27FC236}">
                <a16:creationId xmlns:a16="http://schemas.microsoft.com/office/drawing/2014/main" id="{F89B1808-8CB8-4D7C-A9E4-F42E9F17731D}"/>
              </a:ext>
            </a:extLst>
          </p:cNvPr>
          <p:cNvSpPr>
            <a:spLocks noGrp="1"/>
          </p:cNvSpPr>
          <p:nvPr/>
        </p:nvSpPr>
        <p:spPr>
          <a:xfrm>
            <a:off x="542925" y="1552575"/>
            <a:ext cx="158115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ICBHI</a:t>
            </a:r>
          </a:p>
        </p:txBody>
      </p:sp>
      <p:sp>
        <p:nvSpPr>
          <p:cNvPr id="13" name="text-365">
            <a:extLst>
              <a:ext uri="{FF2B5EF4-FFF2-40B4-BE49-F238E27FC236}">
                <a16:creationId xmlns:a16="http://schemas.microsoft.com/office/drawing/2014/main" id="{D6D4B054-577D-4C85-9941-985A401EDEC6}"/>
              </a:ext>
            </a:extLst>
          </p:cNvPr>
          <p:cNvSpPr>
            <a:spLocks noGrp="1"/>
          </p:cNvSpPr>
          <p:nvPr/>
        </p:nvSpPr>
        <p:spPr>
          <a:xfrm>
            <a:off x="2314575" y="1495425"/>
            <a:ext cx="523875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shape-366">
            <a:extLst>
              <a:ext uri="{FF2B5EF4-FFF2-40B4-BE49-F238E27FC236}">
                <a16:creationId xmlns:a16="http://schemas.microsoft.com/office/drawing/2014/main" id="{A19DD96D-626D-43B9-8EC5-1965DF313DF1}"/>
              </a:ext>
            </a:extLst>
          </p:cNvPr>
          <p:cNvSpPr>
            <a:spLocks noGrp="1"/>
          </p:cNvSpPr>
          <p:nvPr/>
        </p:nvSpPr>
        <p:spPr>
          <a:xfrm>
            <a:off x="428625" y="2333625"/>
            <a:ext cx="1809750" cy="590550"/>
          </a:xfrm>
          <a:prstGeom prst="roundRect">
            <a:avLst>
              <a:gd name="adj" fmla="val 12903"/>
            </a:avLst>
          </a:prstGeom>
          <a:solidFill>
            <a:srgbClr val="0B7189"/>
          </a:solidFill>
          <a:ln w="0">
            <a:solidFill>
              <a:srgbClr val="0B71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-367">
            <a:extLst>
              <a:ext uri="{FF2B5EF4-FFF2-40B4-BE49-F238E27FC236}">
                <a16:creationId xmlns:a16="http://schemas.microsoft.com/office/drawing/2014/main" id="{1C66EC88-6897-4A14-9143-95AEA3B3FAB4}"/>
              </a:ext>
            </a:extLst>
          </p:cNvPr>
          <p:cNvSpPr>
            <a:spLocks noGrp="1"/>
          </p:cNvSpPr>
          <p:nvPr/>
        </p:nvSpPr>
        <p:spPr>
          <a:xfrm>
            <a:off x="542925" y="2505075"/>
            <a:ext cx="158115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SPRSound</a:t>
            </a:r>
          </a:p>
        </p:txBody>
      </p:sp>
      <p:sp>
        <p:nvSpPr>
          <p:cNvPr id="16" name="text-368">
            <a:extLst>
              <a:ext uri="{FF2B5EF4-FFF2-40B4-BE49-F238E27FC236}">
                <a16:creationId xmlns:a16="http://schemas.microsoft.com/office/drawing/2014/main" id="{D10A2116-AB79-412D-B87F-48B69FC550C1}"/>
              </a:ext>
            </a:extLst>
          </p:cNvPr>
          <p:cNvSpPr>
            <a:spLocks noGrp="1"/>
          </p:cNvSpPr>
          <p:nvPr/>
        </p:nvSpPr>
        <p:spPr>
          <a:xfrm>
            <a:off x="2314575" y="2447925"/>
            <a:ext cx="523875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7" name="shape-369">
            <a:extLst>
              <a:ext uri="{FF2B5EF4-FFF2-40B4-BE49-F238E27FC236}">
                <a16:creationId xmlns:a16="http://schemas.microsoft.com/office/drawing/2014/main" id="{2F1262E2-BD2B-4841-A397-464DC30FDED4}"/>
              </a:ext>
            </a:extLst>
          </p:cNvPr>
          <p:cNvSpPr>
            <a:spLocks noGrp="1"/>
          </p:cNvSpPr>
          <p:nvPr/>
        </p:nvSpPr>
        <p:spPr>
          <a:xfrm>
            <a:off x="428625" y="3286125"/>
            <a:ext cx="1809750" cy="590550"/>
          </a:xfrm>
          <a:prstGeom prst="roundRect">
            <a:avLst>
              <a:gd name="adj" fmla="val 12903"/>
            </a:avLst>
          </a:prstGeom>
          <a:solidFill>
            <a:srgbClr val="2F5597"/>
          </a:solidFill>
          <a:ln w="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370">
            <a:extLst>
              <a:ext uri="{FF2B5EF4-FFF2-40B4-BE49-F238E27FC236}">
                <a16:creationId xmlns:a16="http://schemas.microsoft.com/office/drawing/2014/main" id="{1033A2AE-D8E5-4A92-91EB-7852A067C30E}"/>
              </a:ext>
            </a:extLst>
          </p:cNvPr>
          <p:cNvSpPr>
            <a:spLocks noGrp="1"/>
          </p:cNvSpPr>
          <p:nvPr/>
        </p:nvSpPr>
        <p:spPr>
          <a:xfrm>
            <a:off x="542925" y="3457575"/>
            <a:ext cx="158115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HF_Lung</a:t>
            </a:r>
          </a:p>
        </p:txBody>
      </p:sp>
      <p:sp>
        <p:nvSpPr>
          <p:cNvPr id="19" name="text-371">
            <a:extLst>
              <a:ext uri="{FF2B5EF4-FFF2-40B4-BE49-F238E27FC236}">
                <a16:creationId xmlns:a16="http://schemas.microsoft.com/office/drawing/2014/main" id="{2C4364EE-2594-444D-BEDC-61CF2E652160}"/>
              </a:ext>
            </a:extLst>
          </p:cNvPr>
          <p:cNvSpPr>
            <a:spLocks noGrp="1"/>
          </p:cNvSpPr>
          <p:nvPr/>
        </p:nvSpPr>
        <p:spPr>
          <a:xfrm>
            <a:off x="2314575" y="3400425"/>
            <a:ext cx="523875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0" name="shape-372">
            <a:extLst>
              <a:ext uri="{FF2B5EF4-FFF2-40B4-BE49-F238E27FC236}">
                <a16:creationId xmlns:a16="http://schemas.microsoft.com/office/drawing/2014/main" id="{9A6E9D4D-C180-4862-BE44-C0ED441D58ED}"/>
              </a:ext>
            </a:extLst>
          </p:cNvPr>
          <p:cNvSpPr>
            <a:spLocks noGrp="1"/>
          </p:cNvSpPr>
          <p:nvPr/>
        </p:nvSpPr>
        <p:spPr>
          <a:xfrm>
            <a:off x="428625" y="4238625"/>
            <a:ext cx="1809750" cy="590550"/>
          </a:xfrm>
          <a:prstGeom prst="roundRect">
            <a:avLst>
              <a:gd name="adj" fmla="val 12903"/>
            </a:avLst>
          </a:prstGeom>
          <a:solidFill>
            <a:srgbClr val="D97732"/>
          </a:solidFill>
          <a:ln w="0">
            <a:solidFill>
              <a:srgbClr val="D977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-373">
            <a:extLst>
              <a:ext uri="{FF2B5EF4-FFF2-40B4-BE49-F238E27FC236}">
                <a16:creationId xmlns:a16="http://schemas.microsoft.com/office/drawing/2014/main" id="{931C2ED3-CB35-4CC8-8EEE-DD402FC50795}"/>
              </a:ext>
            </a:extLst>
          </p:cNvPr>
          <p:cNvSpPr>
            <a:spLocks noGrp="1"/>
          </p:cNvSpPr>
          <p:nvPr/>
        </p:nvSpPr>
        <p:spPr>
          <a:xfrm>
            <a:off x="542925" y="4410075"/>
            <a:ext cx="1581150" cy="23812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KAUH</a:t>
            </a:r>
          </a:p>
        </p:txBody>
      </p:sp>
      <p:sp>
        <p:nvSpPr>
          <p:cNvPr id="22" name="text-374">
            <a:extLst>
              <a:ext uri="{FF2B5EF4-FFF2-40B4-BE49-F238E27FC236}">
                <a16:creationId xmlns:a16="http://schemas.microsoft.com/office/drawing/2014/main" id="{4FFDA02C-36FB-426C-B877-0DD14A1224E8}"/>
              </a:ext>
            </a:extLst>
          </p:cNvPr>
          <p:cNvSpPr>
            <a:spLocks noGrp="1"/>
          </p:cNvSpPr>
          <p:nvPr/>
        </p:nvSpPr>
        <p:spPr>
          <a:xfrm>
            <a:off x="2314575" y="4352925"/>
            <a:ext cx="523875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10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3" name="shape-375">
            <a:extLst>
              <a:ext uri="{FF2B5EF4-FFF2-40B4-BE49-F238E27FC236}">
                <a16:creationId xmlns:a16="http://schemas.microsoft.com/office/drawing/2014/main" id="{94465BC6-1EEB-4A3D-977A-4B565458E26C}"/>
              </a:ext>
            </a:extLst>
          </p:cNvPr>
          <p:cNvSpPr>
            <a:spLocks noGrp="1"/>
          </p:cNvSpPr>
          <p:nvPr/>
        </p:nvSpPr>
        <p:spPr>
          <a:xfrm>
            <a:off x="2714625" y="1809750"/>
            <a:ext cx="1619250" cy="2952750"/>
          </a:xfrm>
          <a:prstGeom prst="roundRect">
            <a:avLst>
              <a:gd name="adj" fmla="val 4706"/>
            </a:avLst>
          </a:prstGeom>
          <a:solidFill>
            <a:srgbClr val="F4F1F8"/>
          </a:solidFill>
          <a:ln w="9525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376">
            <a:extLst>
              <a:ext uri="{FF2B5EF4-FFF2-40B4-BE49-F238E27FC236}">
                <a16:creationId xmlns:a16="http://schemas.microsoft.com/office/drawing/2014/main" id="{8D7DD7FB-06D2-49E2-B6A5-70FA7D692A07}"/>
              </a:ext>
            </a:extLst>
          </p:cNvPr>
          <p:cNvSpPr>
            <a:spLocks noGrp="1"/>
          </p:cNvSpPr>
          <p:nvPr/>
        </p:nvSpPr>
        <p:spPr>
          <a:xfrm>
            <a:off x="2952750" y="2647950"/>
            <a:ext cx="1143000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rPr dirty="0"/>
              <a:t>OPTIONAL
DATASET
ADAPTERS</a:t>
            </a:r>
          </a:p>
        </p:txBody>
      </p:sp>
      <p:sp>
        <p:nvSpPr>
          <p:cNvPr id="25" name="text-377">
            <a:extLst>
              <a:ext uri="{FF2B5EF4-FFF2-40B4-BE49-F238E27FC236}">
                <a16:creationId xmlns:a16="http://schemas.microsoft.com/office/drawing/2014/main" id="{E1626354-6426-43D5-AF3C-C5B883C74F87}"/>
              </a:ext>
            </a:extLst>
          </p:cNvPr>
          <p:cNvSpPr>
            <a:spLocks noGrp="1"/>
          </p:cNvSpPr>
          <p:nvPr/>
        </p:nvSpPr>
        <p:spPr>
          <a:xfrm>
            <a:off x="4429125" y="3028950"/>
            <a:ext cx="523875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6" name="shape-378">
            <a:extLst>
              <a:ext uri="{FF2B5EF4-FFF2-40B4-BE49-F238E27FC236}">
                <a16:creationId xmlns:a16="http://schemas.microsoft.com/office/drawing/2014/main" id="{C1216D49-9EDF-4D89-988A-0379337C9982}"/>
              </a:ext>
            </a:extLst>
          </p:cNvPr>
          <p:cNvSpPr>
            <a:spLocks noGrp="1"/>
          </p:cNvSpPr>
          <p:nvPr/>
        </p:nvSpPr>
        <p:spPr>
          <a:xfrm>
            <a:off x="5048250" y="2095500"/>
            <a:ext cx="2333625" cy="2381250"/>
          </a:xfrm>
          <a:prstGeom prst="roundRect">
            <a:avLst>
              <a:gd name="adj" fmla="val 3265"/>
            </a:avLst>
          </a:prstGeom>
          <a:solidFill>
            <a:srgbClr val="4E2A84"/>
          </a:solidFill>
          <a:ln w="0">
            <a:solidFill>
              <a:srgbClr val="4E2A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379">
            <a:extLst>
              <a:ext uri="{FF2B5EF4-FFF2-40B4-BE49-F238E27FC236}">
                <a16:creationId xmlns:a16="http://schemas.microsoft.com/office/drawing/2014/main" id="{E8B90BED-BFEB-4D60-8F1E-8E36CBBF608F}"/>
              </a:ext>
            </a:extLst>
          </p:cNvPr>
          <p:cNvSpPr>
            <a:spLocks noGrp="1"/>
          </p:cNvSpPr>
          <p:nvPr/>
        </p:nvSpPr>
        <p:spPr>
          <a:xfrm>
            <a:off x="5334000" y="2762250"/>
            <a:ext cx="1762125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SHARED
ACOUSTIC
ENCODER</a:t>
            </a:r>
          </a:p>
        </p:txBody>
      </p:sp>
      <p:sp>
        <p:nvSpPr>
          <p:cNvPr id="28" name="text-380">
            <a:extLst>
              <a:ext uri="{FF2B5EF4-FFF2-40B4-BE49-F238E27FC236}">
                <a16:creationId xmlns:a16="http://schemas.microsoft.com/office/drawing/2014/main" id="{99D4CB1F-66B8-4AA9-8444-54FAFA1390BE}"/>
              </a:ext>
            </a:extLst>
          </p:cNvPr>
          <p:cNvSpPr>
            <a:spLocks noGrp="1"/>
          </p:cNvSpPr>
          <p:nvPr/>
        </p:nvSpPr>
        <p:spPr>
          <a:xfrm>
            <a:off x="7477125" y="3028950"/>
            <a:ext cx="523875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 i="0">
                <a:solidFill>
                  <a:srgbClr val="765DA3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9" name="shape-381">
            <a:extLst>
              <a:ext uri="{FF2B5EF4-FFF2-40B4-BE49-F238E27FC236}">
                <a16:creationId xmlns:a16="http://schemas.microsoft.com/office/drawing/2014/main" id="{9B2237D9-0FF7-4D09-8756-C87C01B32BA0}"/>
              </a:ext>
            </a:extLst>
          </p:cNvPr>
          <p:cNvSpPr>
            <a:spLocks noGrp="1"/>
          </p:cNvSpPr>
          <p:nvPr/>
        </p:nvSpPr>
        <p:spPr>
          <a:xfrm>
            <a:off x="8096250" y="1476375"/>
            <a:ext cx="3476625" cy="1381125"/>
          </a:xfrm>
          <a:prstGeom prst="roundRect">
            <a:avLst>
              <a:gd name="adj" fmla="val 5517"/>
            </a:avLst>
          </a:prstGeom>
          <a:solidFill>
            <a:srgbClr val="E4E0EE"/>
          </a:solidFill>
          <a:ln w="0">
            <a:solidFill>
              <a:srgbClr val="E4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382">
            <a:extLst>
              <a:ext uri="{FF2B5EF4-FFF2-40B4-BE49-F238E27FC236}">
                <a16:creationId xmlns:a16="http://schemas.microsoft.com/office/drawing/2014/main" id="{49648873-7211-42F3-9039-2579BFEBC491}"/>
              </a:ext>
            </a:extLst>
          </p:cNvPr>
          <p:cNvSpPr>
            <a:spLocks noGrp="1"/>
          </p:cNvSpPr>
          <p:nvPr/>
        </p:nvSpPr>
        <p:spPr>
          <a:xfrm>
            <a:off x="8334375" y="1666875"/>
            <a:ext cx="3000375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rPr dirty="0"/>
              <a:t>SHARED HEADS</a:t>
            </a:r>
          </a:p>
        </p:txBody>
      </p:sp>
      <p:sp>
        <p:nvSpPr>
          <p:cNvPr id="31" name="text-383">
            <a:extLst>
              <a:ext uri="{FF2B5EF4-FFF2-40B4-BE49-F238E27FC236}">
                <a16:creationId xmlns:a16="http://schemas.microsoft.com/office/drawing/2014/main" id="{06193CBA-6590-49F3-8305-B56C8A412961}"/>
              </a:ext>
            </a:extLst>
          </p:cNvPr>
          <p:cNvSpPr>
            <a:spLocks noGrp="1"/>
          </p:cNvSpPr>
          <p:nvPr/>
        </p:nvSpPr>
        <p:spPr>
          <a:xfrm>
            <a:off x="8334375" y="2095500"/>
            <a:ext cx="3000375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dirty="0"/>
              <a:t>crackle families • wheeze
</a:t>
            </a:r>
            <a:r>
              <a:rPr lang="en-US" altLang="zh-CN" dirty="0"/>
              <a:t>normal &amp; abnormal</a:t>
            </a:r>
            <a:endParaRPr dirty="0"/>
          </a:p>
        </p:txBody>
      </p:sp>
      <p:sp>
        <p:nvSpPr>
          <p:cNvPr id="32" name="shape-384">
            <a:extLst>
              <a:ext uri="{FF2B5EF4-FFF2-40B4-BE49-F238E27FC236}">
                <a16:creationId xmlns:a16="http://schemas.microsoft.com/office/drawing/2014/main" id="{40DA3AE0-A8C0-45A7-9486-F00F55D94D33}"/>
              </a:ext>
            </a:extLst>
          </p:cNvPr>
          <p:cNvSpPr>
            <a:spLocks noGrp="1"/>
          </p:cNvSpPr>
          <p:nvPr/>
        </p:nvSpPr>
        <p:spPr>
          <a:xfrm>
            <a:off x="8096250" y="3333750"/>
            <a:ext cx="3476625" cy="1381125"/>
          </a:xfrm>
          <a:prstGeom prst="roundRect">
            <a:avLst>
              <a:gd name="adj" fmla="val 5517"/>
            </a:avLst>
          </a:prstGeom>
          <a:solidFill>
            <a:srgbClr val="F4F1F8"/>
          </a:solidFill>
          <a:ln w="9525">
            <a:solidFill>
              <a:srgbClr val="D8D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-385">
            <a:extLst>
              <a:ext uri="{FF2B5EF4-FFF2-40B4-BE49-F238E27FC236}">
                <a16:creationId xmlns:a16="http://schemas.microsoft.com/office/drawing/2014/main" id="{48FDAFF2-124A-4542-9E05-229B7B5E972E}"/>
              </a:ext>
            </a:extLst>
          </p:cNvPr>
          <p:cNvSpPr>
            <a:spLocks noGrp="1"/>
          </p:cNvSpPr>
          <p:nvPr/>
        </p:nvSpPr>
        <p:spPr>
          <a:xfrm>
            <a:off x="8334375" y="3524250"/>
            <a:ext cx="3000375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4E2A84"/>
                </a:solidFill>
                <a:latin typeface="Arial"/>
                <a:ea typeface="Arial"/>
                <a:cs typeface="Arial"/>
              </a:defRPr>
            </a:pPr>
            <a:r>
              <a:t>DATASET-NATIVE HEADS</a:t>
            </a:r>
          </a:p>
        </p:txBody>
      </p:sp>
      <p:sp>
        <p:nvSpPr>
          <p:cNvPr id="34" name="text-386">
            <a:extLst>
              <a:ext uri="{FF2B5EF4-FFF2-40B4-BE49-F238E27FC236}">
                <a16:creationId xmlns:a16="http://schemas.microsoft.com/office/drawing/2014/main" id="{CCBB2E21-445F-498E-94D3-DB31A88A1274}"/>
              </a:ext>
            </a:extLst>
          </p:cNvPr>
          <p:cNvSpPr>
            <a:spLocks noGrp="1"/>
          </p:cNvSpPr>
          <p:nvPr/>
        </p:nvSpPr>
        <p:spPr>
          <a:xfrm>
            <a:off x="8334375" y="3952875"/>
            <a:ext cx="3000375" cy="5143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endParaRPr lang="en-US" dirty="0"/>
          </a:p>
          <a:p>
            <a:pPr algn="ctr">
              <a:defRPr sz="1200" b="0" i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dirty="0"/>
              <a:t>quality / diagnosis / interval heads</a:t>
            </a:r>
          </a:p>
        </p:txBody>
      </p:sp>
      <p:sp>
        <p:nvSpPr>
          <p:cNvPr id="35" name="shape-387">
            <a:extLst>
              <a:ext uri="{FF2B5EF4-FFF2-40B4-BE49-F238E27FC236}">
                <a16:creationId xmlns:a16="http://schemas.microsoft.com/office/drawing/2014/main" id="{6C60D2D1-0484-4DA6-AFDB-F5122BF37742}"/>
              </a:ext>
            </a:extLst>
          </p:cNvPr>
          <p:cNvSpPr>
            <a:spLocks noGrp="1"/>
          </p:cNvSpPr>
          <p:nvPr/>
        </p:nvSpPr>
        <p:spPr>
          <a:xfrm>
            <a:off x="2881312" y="5291137"/>
            <a:ext cx="7191375" cy="685800"/>
          </a:xfrm>
          <a:prstGeom prst="roundRect">
            <a:avLst>
              <a:gd name="adj" fmla="val 11111"/>
            </a:avLst>
          </a:prstGeom>
          <a:solidFill>
            <a:srgbClr val="321353"/>
          </a:solidFill>
          <a:ln w="0">
            <a:solidFill>
              <a:srgbClr val="321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-389">
            <a:extLst>
              <a:ext uri="{FF2B5EF4-FFF2-40B4-BE49-F238E27FC236}">
                <a16:creationId xmlns:a16="http://schemas.microsoft.com/office/drawing/2014/main" id="{BA63CD17-7A20-49BC-9146-9CFEA25AF6BF}"/>
              </a:ext>
            </a:extLst>
          </p:cNvPr>
          <p:cNvSpPr>
            <a:spLocks noGrp="1"/>
          </p:cNvSpPr>
          <p:nvPr/>
        </p:nvSpPr>
        <p:spPr>
          <a:xfrm>
            <a:off x="4333875" y="5410200"/>
            <a:ext cx="5191125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dataset balancing  ×  class balancing</a:t>
            </a:r>
          </a:p>
        </p:txBody>
      </p:sp>
    </p:spTree>
    <p:extLst>
      <p:ext uri="{BB962C8B-B14F-4D97-AF65-F5344CB8AC3E}">
        <p14:creationId xmlns:p14="http://schemas.microsoft.com/office/powerpoint/2010/main" val="4835297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636</Words>
  <Application>Microsoft Macintosh PowerPoint</Application>
  <DocSecurity>0</DocSecurity>
  <PresentationFormat>Widescreen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Zilong Zeng</cp:lastModifiedBy>
  <cp:revision>5</cp:revision>
  <dcterms:created xsi:type="dcterms:W3CDTF">2026-07-23T19:41:03Z</dcterms:created>
  <dcterms:modified xsi:type="dcterms:W3CDTF">2026-07-23T20:37:22Z</dcterms:modified>
</cp:coreProperties>
</file>