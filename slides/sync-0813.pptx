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607325cad54ee7" /><Relationship Type="http://schemas.openxmlformats.org/officeDocument/2006/relationships/extended-properties" Target="/docProps/app.xml" Id="Reaed0cc6e15c4732" /><Relationship Type="http://schemas.openxmlformats.org/officeDocument/2006/relationships/officeDocument" Target="/ppt/presentation.xml" Id="R39958da9582d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329cc8e3ac4036"/>
  </p:sldMasterIdLst>
  <p:notesMasterIdLst>
    <p:notesMasterId xmlns:r="http://schemas.openxmlformats.org/officeDocument/2006/relationships" r:id="Rad94dc6f3e9045a3"/>
  </p:notesMasterIdLst>
  <p:sldIdLst>
    <p:sldId xmlns:r="http://schemas.openxmlformats.org/officeDocument/2006/relationships" id="256" r:id="Rc07306cfc7cd4624"/>
    <p:sldId xmlns:r="http://schemas.openxmlformats.org/officeDocument/2006/relationships" id="257" r:id="R6f2186ab7e6e4949"/>
    <p:sldId xmlns:r="http://schemas.openxmlformats.org/officeDocument/2006/relationships" id="258" r:id="R13ae303ebdbe421c"/>
    <p:sldId xmlns:r="http://schemas.openxmlformats.org/officeDocument/2006/relationships" id="259" r:id="R6223083166ba4b27"/>
    <p:sldId xmlns:r="http://schemas.openxmlformats.org/officeDocument/2006/relationships" id="260" r:id="R8a7f085a5cf24a8d"/>
    <p:sldId xmlns:r="http://schemas.openxmlformats.org/officeDocument/2006/relationships" id="261" r:id="R5fe3f14186d84050"/>
    <p:sldId xmlns:r="http://schemas.openxmlformats.org/officeDocument/2006/relationships" id="262" r:id="R7f03f12100f040f4"/>
    <p:sldId xmlns:r="http://schemas.openxmlformats.org/officeDocument/2006/relationships" id="263" r:id="Rdd1ea7ade925477a"/>
    <p:sldId xmlns:r="http://schemas.openxmlformats.org/officeDocument/2006/relationships" id="264" r:id="Rcacb56d9217b48da"/>
    <p:sldId xmlns:r="http://schemas.openxmlformats.org/officeDocument/2006/relationships" id="265" r:id="R0109330fa7c747e6"/>
    <p:sldId xmlns:r="http://schemas.openxmlformats.org/officeDocument/2006/relationships" id="266" r:id="Re9efd1292dd0414e"/>
    <p:sldId xmlns:r="http://schemas.openxmlformats.org/officeDocument/2006/relationships" id="267" r:id="Rf93e1905887b41bf"/>
    <p:sldId xmlns:r="http://schemas.openxmlformats.org/officeDocument/2006/relationships" id="268" r:id="Rc093ed48cd094236"/>
    <p:sldId xmlns:r="http://schemas.openxmlformats.org/officeDocument/2006/relationships" id="269" r:id="R856d4afc9f2f40cb"/>
    <p:sldId xmlns:r="http://schemas.openxmlformats.org/officeDocument/2006/relationships" id="270" r:id="R50a9f55911ff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3148791d8d46db" /><Relationship Type="http://schemas.openxmlformats.org/officeDocument/2006/relationships/slideMaster" Target="/ppt/slideMasters/slideMaster1.xml" Id="Rdb329cc8e3ac4036" /><Relationship Type="http://schemas.openxmlformats.org/officeDocument/2006/relationships/notesMaster" Target="/ppt/notesMasters/notesMaster1.xml" Id="Rad94dc6f3e9045a3" /><Relationship Type="http://schemas.openxmlformats.org/officeDocument/2006/relationships/presProps" Target="/ppt/presProps.xml" Id="R83511925e8ba498d" /><Relationship Type="http://schemas.openxmlformats.org/officeDocument/2006/relationships/viewProps" Target="/ppt/viewProps.xml" Id="R581ae90a6a834122" /><Relationship Type="http://schemas.openxmlformats.org/officeDocument/2006/relationships/tableStyles" Target="/ppt/tableStyles.xml" Id="Rfe2e7ce769c04e12" /><Relationship Type="http://schemas.openxmlformats.org/officeDocument/2006/relationships/slide" Target="/ppt/slides/slide1.xml" Id="Rc07306cfc7cd4624" /><Relationship Type="http://schemas.openxmlformats.org/officeDocument/2006/relationships/slide" Target="/ppt/slides/slide2.xml" Id="R6f2186ab7e6e4949" /><Relationship Type="http://schemas.openxmlformats.org/officeDocument/2006/relationships/slide" Target="/ppt/slides/slide3.xml" Id="R13ae303ebdbe421c" /><Relationship Type="http://schemas.openxmlformats.org/officeDocument/2006/relationships/slide" Target="/ppt/slides/slide4.xml" Id="R6223083166ba4b27" /><Relationship Type="http://schemas.openxmlformats.org/officeDocument/2006/relationships/slide" Target="/ppt/slides/slide5.xml" Id="R8a7f085a5cf24a8d" /><Relationship Type="http://schemas.openxmlformats.org/officeDocument/2006/relationships/slide" Target="/ppt/slides/slide6.xml" Id="R5fe3f14186d84050" /><Relationship Type="http://schemas.openxmlformats.org/officeDocument/2006/relationships/slide" Target="/ppt/slides/slide7.xml" Id="R7f03f12100f040f4" /><Relationship Type="http://schemas.openxmlformats.org/officeDocument/2006/relationships/slide" Target="/ppt/slides/slide8.xml" Id="Rdd1ea7ade925477a" /><Relationship Type="http://schemas.openxmlformats.org/officeDocument/2006/relationships/slide" Target="/ppt/slides/slide9.xml" Id="Rcacb56d9217b48da" /><Relationship Type="http://schemas.openxmlformats.org/officeDocument/2006/relationships/slide" Target="/ppt/slides/slide10.xml" Id="R0109330fa7c747e6" /><Relationship Type="http://schemas.openxmlformats.org/officeDocument/2006/relationships/slide" Target="/ppt/slides/slide11.xml" Id="Re9efd1292dd0414e" /><Relationship Type="http://schemas.openxmlformats.org/officeDocument/2006/relationships/slide" Target="/ppt/slides/slide12.xml" Id="Rf93e1905887b41bf" /><Relationship Type="http://schemas.openxmlformats.org/officeDocument/2006/relationships/slide" Target="/ppt/slides/slide13.xml" Id="Rc093ed48cd094236" /><Relationship Type="http://schemas.openxmlformats.org/officeDocument/2006/relationships/slide" Target="/ppt/slides/slide14.xml" Id="R856d4afc9f2f40cb" /><Relationship Type="http://schemas.openxmlformats.org/officeDocument/2006/relationships/slide" Target="/ppt/slides/slide15.xml" Id="R50a9f55911ff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d3f3a74394f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b2d7afe4db4536" /><Relationship Type="http://schemas.openxmlformats.org/officeDocument/2006/relationships/notesMaster" Target="/ppt/notesMasters/notesMaster1.xml" Id="Re3c655a1b3b1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90775b9a5c41eb" /><Relationship Type="http://schemas.openxmlformats.org/officeDocument/2006/relationships/notesMaster" Target="/ppt/notesMasters/notesMaster1.xml" Id="Rc342ab74db1c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5fd0811a0e471c" /><Relationship Type="http://schemas.openxmlformats.org/officeDocument/2006/relationships/notesMaster" Target="/ppt/notesMasters/notesMaster1.xml" Id="R1e583eebf87b47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2ac447dfb04c96" /><Relationship Type="http://schemas.openxmlformats.org/officeDocument/2006/relationships/notesMaster" Target="/ppt/notesMasters/notesMaster1.xml" Id="Rad88fbb27e5e41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d58038db694e43" /><Relationship Type="http://schemas.openxmlformats.org/officeDocument/2006/relationships/notesMaster" Target="/ppt/notesMasters/notesMaster1.xml" Id="R85521192811545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29d408b944ed0" /><Relationship Type="http://schemas.openxmlformats.org/officeDocument/2006/relationships/notesMaster" Target="/ppt/notesMasters/notesMaster1.xml" Id="Rac0d0525277f42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4cb0efbb7464e" /><Relationship Type="http://schemas.openxmlformats.org/officeDocument/2006/relationships/notesMaster" Target="/ppt/notesMasters/notesMaster1.xml" Id="R57f74cde323d4d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82fa1224ce4198" /><Relationship Type="http://schemas.openxmlformats.org/officeDocument/2006/relationships/notesMaster" Target="/ppt/notesMasters/notesMaster1.xml" Id="R4e7cb68d9f9144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8a6533ac6a4034" /><Relationship Type="http://schemas.openxmlformats.org/officeDocument/2006/relationships/notesMaster" Target="/ppt/notesMasters/notesMaster1.xml" Id="R979dbf7e14d646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43d7329a474dca" /><Relationship Type="http://schemas.openxmlformats.org/officeDocument/2006/relationships/notesMaster" Target="/ppt/notesMasters/notesMaster1.xml" Id="Rd7d1a640110247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637bcd67404613" /><Relationship Type="http://schemas.openxmlformats.org/officeDocument/2006/relationships/notesMaster" Target="/ppt/notesMasters/notesMaster1.xml" Id="R3e68c15b764d45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8fd8df8e144fce" /><Relationship Type="http://schemas.openxmlformats.org/officeDocument/2006/relationships/notesMaster" Target="/ppt/notesMasters/notesMaster1.xml" Id="R74f614236bb34c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571eeb61644707" /><Relationship Type="http://schemas.openxmlformats.org/officeDocument/2006/relationships/notesMaster" Target="/ppt/notesMasters/notesMaster1.xml" Id="R14103bc7b4b040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d39b1d709c4453" /><Relationship Type="http://schemas.openxmlformats.org/officeDocument/2006/relationships/notesMaster" Target="/ppt/notesMasters/notesMaster1.xml" Id="R908da84216dd41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a16e5b42214ea4" /><Relationship Type="http://schemas.openxmlformats.org/officeDocument/2006/relationships/notesMaster" Target="/ppt/notesMasters/notesMaster1.xml" Id="R61ad70dca0364d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Open: this update concerns controlled encoder screening, not a performance announcement.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Rare-event support motivates the project but does not establish a solution.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deck; ICBHI 2017 and SPRSound BioCAS2022 release inventories.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prediction units and labels separate. Four datasets do not imply one unified label space.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docs/pipeline/end_to_end_pipeline_textual_spec_v2.md, four native-lane contracts.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only: acquisition differences are a control concern, not proof of pathology shortcut use.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docs/pipeline/end_to_end_pipeline_textual_spec_v2.md, hard claim boundaries.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dBFS is a recording level; the displayed SNR quantity is a proxy.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 diagnostic figure; local read-only acoustic probe.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motivation for preprocessing and stratified evaluation, not as a performance result.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 diagnostic figure; local read-only acoustic probe.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Dataset-ID accessibility does not demonstrate disease-model shortcut use.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 diagnostic figure; local read-only dataset-ID probe.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and P2 have independently verified terminal native-task results. P3 completed full training, validation-only selection, export, and HF threshold selection with outer/test untouched; terminal scoring and independent verification are pending. These states do not yet establish an encoder ranking.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result/reproduce/sync_20260813T162603Z_c9e531d_P1_P2/.../result_sync_manifest.json.</a:t>
            </a:r>
            <a:endParaRPr/>
          </a:p>
          <a:p xmlns:a="http://schemas.openxmlformats.org/drawingml/2006/main">
            <a:r>
              <a:t>- P3 run_receipt.json, validation_selection_receipt.json, validation_export_receipt.json and hf_threshold_receipt.json.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P1/P2 values are independently verified native-task results: ICBHI and SPRSound values are native scores, HF values are channel F1 in I/E/CAS/DAS order, and KAUH values are macro-F1 from fold0 terminal only. Do not interpret the small P1/P2 differences as an encoder ranking. P3 Gate A is complete: validation export and HF threshold selection finished with outer/test untouched. Terminal scoring is waiting for a safely available GPU, so P3 still has no performance result.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result/reproduce/sync_20260813T162603Z_c9e531d_P1_P2/files1/Zilong/acoustic_server_results/result_sync_manifests/20260813T162603Z_c9e531d_P1_P2/result_sync_manifest.json.</a:t>
            </a:r>
            <a:endParaRPr/>
          </a:p>
          <a:p xmlns:a="http://schemas.openxmlformats.org/drawingml/2006/main">
            <a:r>
              <a:t>- /files1/Zilong/Acoustic/result/reproduce/P3_shared_window_seed20260728/full/3b7370c9447340331e7c78168922ca59d5469a93be3e9420dc69250231db4652/run_receipt.json.</a:t>
            </a:r>
            <a:endParaRPr/>
          </a:p>
          <a:p xmlns:a="http://schemas.openxmlformats.org/drawingml/2006/main">
            <a:r>
              <a:t>- /files1/Zilong/acoustic_server_results/p3_hf_validation_export/20260813T203000Z_8b8ec1d/validation_export_receipt.json and hf_threshold_receipt.json.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reference only. The unchanged 02:40 CDT image predates the current P1/P2 terminal verification and P3 full-training milestone; slide 9 is the authoritative execution/result update. The lower execution inset is clean-cropped to reduce stale operational detail.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figures/pipeline/acoustic_end_to_end_pipeline_v2.png, management-accepted 2026-08-13 02:40 CDT architecture snapshot.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question: definitions and useful temporal scales. Ask for protocol guidance, not a claim of efficacy.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exploratory diagnostic. It does not select the present P1/P2 screen.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deck; local historical alignment receipts.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Protocol-specific historical direct transfer: same 1,429 SPRSound inter events and no target tuning. It is not current shared-window evidence.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deck; historical SPRSound inter transfer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labels were used for the target head. This is adaptation, not zero-shot and not a joint-training conclusion.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deck; historical target-head adaptation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diagnostic only. Preserve the tail-failure caveat and do not promote it to a current method conclusion.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Source deck; historical SPRSound inter diagnostic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227fb04c24f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91de5168ac4b27" /><Relationship Type="http://schemas.openxmlformats.org/officeDocument/2006/relationships/slideLayout" Target="/ppt/slideLayouts/slideLayout1.xml" Id="Rdd4ff5b911144e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4ff5b911144e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b77d023e244ad" /><Relationship Type="http://schemas.openxmlformats.org/officeDocument/2006/relationships/notesSlide" Target="/ppt/notesSlides/notesSlide1.xml" Id="R8c61119ec4ac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8f5105f3244bb" /><Relationship Type="http://schemas.openxmlformats.org/officeDocument/2006/relationships/notesSlide" Target="/ppt/notesSlides/notesSlide2.xml" Id="Rc0949b8a085d46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7c791877b4fcc" /><Relationship Type="http://schemas.openxmlformats.org/officeDocument/2006/relationships/notesSlide" Target="/ppt/notesSlides/notesSlide3.xml" Id="R16037e1fae3742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4ddaaa6ec4082" /><Relationship Type="http://schemas.openxmlformats.org/officeDocument/2006/relationships/notesSlide" Target="/ppt/notesSlides/notesSlide4.xml" Id="R312242aac2e24c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f2c75bc4d41dd" /><Relationship Type="http://schemas.openxmlformats.org/officeDocument/2006/relationships/image" Target="/ppt/media/image.png" Id="R4cd382f6b8dd42f8" /><Relationship Type="http://schemas.openxmlformats.org/officeDocument/2006/relationships/notesSlide" Target="/ppt/notesSlides/notesSlide5.xml" Id="Rf62309a47d7849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f032e5b544f32" /><Relationship Type="http://schemas.openxmlformats.org/officeDocument/2006/relationships/image" Target="/ppt/media/image2.png" Id="R6af128cbe9674618" /><Relationship Type="http://schemas.openxmlformats.org/officeDocument/2006/relationships/notesSlide" Target="/ppt/notesSlides/notesSlide6.xml" Id="R9f4d34b05888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b41f05e424437" /><Relationship Type="http://schemas.openxmlformats.org/officeDocument/2006/relationships/image" Target="/ppt/media/image3.png" Id="R8846d34735ff4ebf" /><Relationship Type="http://schemas.openxmlformats.org/officeDocument/2006/relationships/notesSlide" Target="/ppt/notesSlides/notesSlide7.xml" Id="Rf236c903324c41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8cd9c7368461a" /><Relationship Type="http://schemas.openxmlformats.org/officeDocument/2006/relationships/notesSlide" Target="/ppt/notesSlides/notesSlide8.xml" Id="R564757e898f0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6b4a25b634d60" /><Relationship Type="http://schemas.openxmlformats.org/officeDocument/2006/relationships/notesSlide" Target="/ppt/notesSlides/notesSlide9.xml" Id="R1159f0236088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0642cad7146d5" /><Relationship Type="http://schemas.openxmlformats.org/officeDocument/2006/relationships/image" Target="/ppt/media/image4.png" Id="Rd0b3474b138b4822" /><Relationship Type="http://schemas.openxmlformats.org/officeDocument/2006/relationships/notesSlide" Target="/ppt/notesSlides/notesSlide10.xml" Id="Re12449a3ddfb49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dfac0e2524ea2" /><Relationship Type="http://schemas.openxmlformats.org/officeDocument/2006/relationships/notesSlide" Target="/ppt/notesSlides/notesSlide11.xml" Id="Rfc7a89fd089345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38db01e174d28" /><Relationship Type="http://schemas.openxmlformats.org/officeDocument/2006/relationships/notesSlide" Target="/ppt/notesSlides/notesSlide12.xml" Id="R49b430642c584f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85054431d4d2e" /><Relationship Type="http://schemas.openxmlformats.org/officeDocument/2006/relationships/notesSlide" Target="/ppt/notesSlides/notesSlide13.xml" Id="Rc531c65594004c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608f738e947a6" /><Relationship Type="http://schemas.openxmlformats.org/officeDocument/2006/relationships/notesSlide" Target="/ppt/notesSlides/notesSlide14.xml" Id="R3bb6f66b04ad42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7109ff06e4d38" /><Relationship Type="http://schemas.openxmlformats.org/officeDocument/2006/relationships/notesSlide" Target="/ppt/notesSlides/notesSlide15.xml" Id="R1b2a103725ed47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">
            <a:extLst xmlns:a="http://schemas.openxmlformats.org/drawingml/2006/main">
              <a:ext uri="{FF2B5EF4-FFF2-40B4-BE49-F238E27FC236}">
                <a16:creationId xmlns:a16="http://schemas.microsoft.com/office/drawing/2014/main" id="{4907F6E0-5B33-4BB6-8395-0A963002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12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8B218997-A9F9-49AA-B19F-9A490520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20092EF-DD00-4153-AC37-73D1EF05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286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/>
              <a:t>Acoustics - disease detection</a:t>
            </a:r>
            <a:endParaRPr/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E72530E-586A-4B36-8545-32638296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809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>
              <a:buNone/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IMBALANCE-AWARE</a:t>
            </a:r>
            <a:r>
              <a:t> </a:t>
            </a:r>
            <a:r>
              <a:t>MULTI-DATASET LEARNING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FA1DB970-97CA-47F7-80BB-848374D3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89BE"/>
          </a:solidFill>
          <a:ln xmlns:a="http://schemas.openxmlformats.org/drawingml/2006/main" w="0">
            <a:solidFill>
              <a:srgbClr val="9E89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53ABCBD-C213-4638-A041-9032FBED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9D2E5"/>
                </a:solidFill>
                <a:latin typeface="Arial"/>
                <a:ea typeface="Arial"/>
                <a:cs typeface="Arial"/>
              </a:defRPr>
            </a:pPr>
            <a:r>
              <a:t>August 13, 2026</a:t>
            </a:r>
          </a:p>
        </p:txBody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8AD231CD-BA44-4F99-95C6-F9A6781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5780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ECC6B30-7C92-4DB8-AA62-5E707861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81625"/>
            <a:ext cx="2286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
ENGINEERING</a:t>
            </a:r>
          </a:p>
        </p:txBody>
      </p:sp>
    </p:spTree>
    <p:extLst>
      <p:ext uri="{BB962C8B-B14F-4D97-AF65-F5344CB8AC3E}">
        <p14:creationId xmlns:p14="http://schemas.microsoft.com/office/powerpoint/2010/main" val="557814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hape-10">
            <a:extLst xmlns:a="http://schemas.openxmlformats.org/drawingml/2006/main">
              <a:ext uri="{FF2B5EF4-FFF2-40B4-BE49-F238E27FC236}">
                <a16:creationId xmlns:a16="http://schemas.microsoft.com/office/drawing/2014/main" id="{883B475F-EC24-4537-B543-0E3261D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11">
            <a:extLst xmlns:a="http://schemas.openxmlformats.org/drawingml/2006/main">
              <a:ext uri="{FF2B5EF4-FFF2-40B4-BE49-F238E27FC236}">
                <a16:creationId xmlns:a16="http://schemas.microsoft.com/office/drawing/2014/main" id="{4B6A57AB-4935-48FB-A38D-B4AF16A6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12">
            <a:extLst xmlns:a="http://schemas.openxmlformats.org/drawingml/2006/main">
              <a:ext uri="{FF2B5EF4-FFF2-40B4-BE49-F238E27FC236}">
                <a16:creationId xmlns:a16="http://schemas.microsoft.com/office/drawing/2014/main" id="{A5F9BCD2-D870-4F2B-BB33-562C04C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13">
            <a:extLst xmlns:a="http://schemas.openxmlformats.org/drawingml/2006/main">
              <a:ext uri="{FF2B5EF4-FFF2-40B4-BE49-F238E27FC236}">
                <a16:creationId xmlns:a16="http://schemas.microsoft.com/office/drawing/2014/main" id="{5183DFEC-3062-454F-8618-0F461C8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E2AB7075-5AD6-4778-81F3-3DAD3BE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Single-dataset learning is structurally long-tailed</a:t>
            </a:r>
          </a:p>
        </p:txBody>
      </p:sp>
      <p:sp>
        <p:nvSpPr>
          <p:cNvPr id="6" name="shape-15">
            <a:extLst xmlns:a="http://schemas.openxmlformats.org/drawingml/2006/main">
              <a:ext uri="{FF2B5EF4-FFF2-40B4-BE49-F238E27FC236}">
                <a16:creationId xmlns:a16="http://schemas.microsoft.com/office/drawing/2014/main" id="{B5593EE3-8721-4B78-97DE-2A31B63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AD92898E-EDE1-4BA0-B763-98F129B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B4EFBE90-5F38-4E83-8D05-B6D9F2BE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269634BB-8629-4F48-9375-E5AC00E4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ICBHI 2017 • 6,898 cycles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5A2B93B1-FE3E-42FA-88EE-89BF970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90625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SPRSound inter • 1,429 events</a:t>
            </a:r>
          </a:p>
        </p:txBody>
      </p:sp>
      <p:sp>
        <p:nvSpPr>
          <p:cNvPr id="12" name="shape-21">
            <a:extLst xmlns:a="http://schemas.openxmlformats.org/drawingml/2006/main">
              <a:ext uri="{FF2B5EF4-FFF2-40B4-BE49-F238E27FC236}">
                <a16:creationId xmlns:a16="http://schemas.microsoft.com/office/drawing/2014/main" id="{19E6C2BD-E2FF-4B05-B7CB-EC02D61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-22">
            <a:extLst xmlns:a="http://schemas.openxmlformats.org/drawingml/2006/main">
              <a:ext uri="{FF2B5EF4-FFF2-40B4-BE49-F238E27FC236}">
                <a16:creationId xmlns:a16="http://schemas.microsoft.com/office/drawing/2014/main" id="{CC3DFB68-0279-49BE-8338-62C2A28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3054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23">
            <a:extLst xmlns:a="http://schemas.openxmlformats.org/drawingml/2006/main">
              <a:ext uri="{FF2B5EF4-FFF2-40B4-BE49-F238E27FC236}">
                <a16:creationId xmlns:a16="http://schemas.microsoft.com/office/drawing/2014/main" id="{C7B95392-CEF1-4FA8-86AA-B1CCF5C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143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Normal</a:t>
            </a:r>
          </a:p>
        </p:txBody>
      </p:sp>
      <p:sp>
        <p:nvSpPr>
          <p:cNvPr id="15" name="shape-24">
            <a:extLst xmlns:a="http://schemas.openxmlformats.org/drawingml/2006/main">
              <a:ext uri="{FF2B5EF4-FFF2-40B4-BE49-F238E27FC236}">
                <a16:creationId xmlns:a16="http://schemas.microsoft.com/office/drawing/2014/main" id="{FC036BFD-5FA8-48E2-BECD-DEAFF2CE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3143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04CC39CF-9E51-467C-AA5F-A4FD3F5A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495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3642</a:t>
            </a:r>
          </a:p>
        </p:txBody>
      </p:sp>
      <p:sp>
        <p:nvSpPr>
          <p:cNvPr id="17" name="text-26">
            <a:extLst xmlns:a="http://schemas.openxmlformats.org/drawingml/2006/main">
              <a:ext uri="{FF2B5EF4-FFF2-40B4-BE49-F238E27FC236}">
                <a16:creationId xmlns:a16="http://schemas.microsoft.com/office/drawing/2014/main" id="{F2160CA2-8D86-4331-A8AE-9F62D632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143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Crackle</a:t>
            </a:r>
          </a:p>
        </p:txBody>
      </p:sp>
      <p:sp>
        <p:nvSpPr>
          <p:cNvPr id="18" name="shape-27">
            <a:extLst xmlns:a="http://schemas.openxmlformats.org/drawingml/2006/main">
              <a:ext uri="{FF2B5EF4-FFF2-40B4-BE49-F238E27FC236}">
                <a16:creationId xmlns:a16="http://schemas.microsoft.com/office/drawing/2014/main" id="{DBA5F769-0AEB-4113-839B-42989CAD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2248702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65DA3"/>
          </a:solidFill>
          <a:ln xmlns:a="http://schemas.openxmlformats.org/drawingml/2006/main" w="0">
            <a:solidFill>
              <a:srgbClr val="765D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-28">
            <a:extLst xmlns:a="http://schemas.openxmlformats.org/drawingml/2006/main">
              <a:ext uri="{FF2B5EF4-FFF2-40B4-BE49-F238E27FC236}">
                <a16:creationId xmlns:a16="http://schemas.microsoft.com/office/drawing/2014/main" id="{7088F921-BE51-443B-B64B-06E1441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495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1864</a:t>
            </a:r>
          </a:p>
        </p:txBody>
      </p:sp>
      <p:sp>
        <p:nvSpPr>
          <p:cNvPr id="20" name="text-29">
            <a:extLst xmlns:a="http://schemas.openxmlformats.org/drawingml/2006/main">
              <a:ext uri="{FF2B5EF4-FFF2-40B4-BE49-F238E27FC236}">
                <a16:creationId xmlns:a16="http://schemas.microsoft.com/office/drawing/2014/main" id="{1C590693-84C6-45BA-82C9-DA69BDE7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</a:t>
            </a:r>
          </a:p>
        </p:txBody>
      </p:sp>
      <p:sp>
        <p:nvSpPr>
          <p:cNvPr id="21" name="shape-30">
            <a:extLst xmlns:a="http://schemas.openxmlformats.org/drawingml/2006/main">
              <a:ext uri="{FF2B5EF4-FFF2-40B4-BE49-F238E27FC236}">
                <a16:creationId xmlns:a16="http://schemas.microsoft.com/office/drawing/2014/main" id="{78B1AB5A-FFF9-4AF6-84DF-2386EC7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00425"/>
            <a:ext cx="1550336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-31">
            <a:extLst xmlns:a="http://schemas.openxmlformats.org/drawingml/2006/main">
              <a:ext uri="{FF2B5EF4-FFF2-40B4-BE49-F238E27FC236}">
                <a16:creationId xmlns:a16="http://schemas.microsoft.com/office/drawing/2014/main" id="{3412BF44-2FF1-4670-AEFE-B519C14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1375"/>
            <a:ext cx="495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886</a:t>
            </a:r>
          </a:p>
        </p:txBody>
      </p:sp>
      <p:sp>
        <p:nvSpPr>
          <p:cNvPr id="23" name="text-32">
            <a:extLst xmlns:a="http://schemas.openxmlformats.org/drawingml/2006/main">
              <a:ext uri="{FF2B5EF4-FFF2-40B4-BE49-F238E27FC236}">
                <a16:creationId xmlns:a16="http://schemas.microsoft.com/office/drawing/2014/main" id="{69207271-4DDA-4FD5-9A0F-0AACEC6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143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Both</a:t>
            </a:r>
          </a:p>
        </p:txBody>
      </p:sp>
      <p:sp>
        <p:nvSpPr>
          <p:cNvPr id="24" name="shape-33">
            <a:extLst xmlns:a="http://schemas.openxmlformats.org/drawingml/2006/main">
              <a:ext uri="{FF2B5EF4-FFF2-40B4-BE49-F238E27FC236}">
                <a16:creationId xmlns:a16="http://schemas.microsoft.com/office/drawing/2014/main" id="{6DEFB1B2-E8DA-487B-8CC3-E881B7B7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1171613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A83E4B"/>
          </a:solidFill>
          <a:ln xmlns:a="http://schemas.openxmlformats.org/drawingml/2006/main" w="0">
            <a:solidFill>
              <a:srgbClr val="A83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-34">
            <a:extLst xmlns:a="http://schemas.openxmlformats.org/drawingml/2006/main">
              <a:ext uri="{FF2B5EF4-FFF2-40B4-BE49-F238E27FC236}">
                <a16:creationId xmlns:a16="http://schemas.microsoft.com/office/drawing/2014/main" id="{825C5DBD-5ACF-4BFB-B872-EBE0B2C5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495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506</a:t>
            </a:r>
          </a:p>
        </p:txBody>
      </p:sp>
      <p:sp>
        <p:nvSpPr>
          <p:cNvPr id="26" name="text-35">
            <a:extLst xmlns:a="http://schemas.openxmlformats.org/drawingml/2006/main">
              <a:ext uri="{FF2B5EF4-FFF2-40B4-BE49-F238E27FC236}">
                <a16:creationId xmlns:a16="http://schemas.microsoft.com/office/drawing/2014/main" id="{1BCB817E-1542-47B3-982D-BA8AC09D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476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Normal</a:t>
            </a:r>
          </a:p>
        </p:txBody>
      </p:sp>
      <p:sp>
        <p:nvSpPr>
          <p:cNvPr id="27" name="shape-36">
            <a:extLst xmlns:a="http://schemas.openxmlformats.org/drawingml/2006/main">
              <a:ext uri="{FF2B5EF4-FFF2-40B4-BE49-F238E27FC236}">
                <a16:creationId xmlns:a16="http://schemas.microsoft.com/office/drawing/2014/main" id="{93DFE3FA-DC25-4EEA-A6CD-049124FA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28800"/>
            <a:ext cx="30480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-37">
            <a:extLst xmlns:a="http://schemas.openxmlformats.org/drawingml/2006/main">
              <a:ext uri="{FF2B5EF4-FFF2-40B4-BE49-F238E27FC236}">
                <a16:creationId xmlns:a16="http://schemas.microsoft.com/office/drawing/2014/main" id="{01CA6574-84A0-426A-96C3-971DE0D1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809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1040</a:t>
            </a:r>
          </a:p>
        </p:txBody>
      </p:sp>
      <p:sp>
        <p:nvSpPr>
          <p:cNvPr id="29" name="text-38">
            <a:extLst xmlns:a="http://schemas.openxmlformats.org/drawingml/2006/main">
              <a:ext uri="{FF2B5EF4-FFF2-40B4-BE49-F238E27FC236}">
                <a16:creationId xmlns:a16="http://schemas.microsoft.com/office/drawing/2014/main" id="{E886ED9B-3E39-47AB-81F0-0AA9A4A8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1476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Fine crackle</a:t>
            </a:r>
          </a:p>
        </p:txBody>
      </p:sp>
      <p:sp>
        <p:nvSpPr>
          <p:cNvPr id="30" name="shape-39">
            <a:extLst xmlns:a="http://schemas.openxmlformats.org/drawingml/2006/main">
              <a:ext uri="{FF2B5EF4-FFF2-40B4-BE49-F238E27FC236}">
                <a16:creationId xmlns:a16="http://schemas.microsoft.com/office/drawing/2014/main" id="{6F48EDD5-6A34-41E8-8D51-E218E3EC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19350"/>
            <a:ext cx="1927807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765DA3"/>
          </a:solidFill>
          <a:ln xmlns:a="http://schemas.openxmlformats.org/drawingml/2006/main" w="0">
            <a:solidFill>
              <a:srgbClr val="765D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-40">
            <a:extLst xmlns:a="http://schemas.openxmlformats.org/drawingml/2006/main">
              <a:ext uri="{FF2B5EF4-FFF2-40B4-BE49-F238E27FC236}">
                <a16:creationId xmlns:a16="http://schemas.microsoft.com/office/drawing/2014/main" id="{E4F9FE0B-83F9-46A7-A5D2-9A4E22E5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0030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80</a:t>
            </a:r>
          </a:p>
        </p:txBody>
      </p:sp>
      <p:sp>
        <p:nvSpPr>
          <p:cNvPr id="32" name="text-41">
            <a:extLst xmlns:a="http://schemas.openxmlformats.org/drawingml/2006/main">
              <a:ext uri="{FF2B5EF4-FFF2-40B4-BE49-F238E27FC236}">
                <a16:creationId xmlns:a16="http://schemas.microsoft.com/office/drawing/2014/main" id="{6960F799-4EE9-4199-B2E8-044BC5DA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1476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Coarse crackle</a:t>
            </a:r>
          </a:p>
        </p:txBody>
      </p:sp>
      <p:sp>
        <p:nvSpPr>
          <p:cNvPr id="33" name="shape-42">
            <a:extLst xmlns:a="http://schemas.openxmlformats.org/drawingml/2006/main">
              <a:ext uri="{FF2B5EF4-FFF2-40B4-BE49-F238E27FC236}">
                <a16:creationId xmlns:a16="http://schemas.microsoft.com/office/drawing/2014/main" id="{34900FFE-FBFD-430C-B2BB-F924F37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9900"/>
            <a:ext cx="60815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83E4B"/>
          </a:solidFill>
          <a:ln xmlns:a="http://schemas.openxmlformats.org/drawingml/2006/main" w="0">
            <a:solidFill>
              <a:srgbClr val="A83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-43">
            <a:extLst xmlns:a="http://schemas.openxmlformats.org/drawingml/2006/main">
              <a:ext uri="{FF2B5EF4-FFF2-40B4-BE49-F238E27FC236}">
                <a16:creationId xmlns:a16="http://schemas.microsoft.com/office/drawing/2014/main" id="{CF14A386-B56B-499B-9957-9B47418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5" name="text-44">
            <a:extLst xmlns:a="http://schemas.openxmlformats.org/drawingml/2006/main">
              <a:ext uri="{FF2B5EF4-FFF2-40B4-BE49-F238E27FC236}">
                <a16:creationId xmlns:a16="http://schemas.microsoft.com/office/drawing/2014/main" id="{07DE736D-338B-4BC3-888D-1C361E4C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1476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</a:t>
            </a:r>
          </a:p>
        </p:txBody>
      </p:sp>
      <p:sp>
        <p:nvSpPr>
          <p:cNvPr id="36" name="shape-45">
            <a:extLst xmlns:a="http://schemas.openxmlformats.org/drawingml/2006/main">
              <a:ext uri="{FF2B5EF4-FFF2-40B4-BE49-F238E27FC236}">
                <a16:creationId xmlns:a16="http://schemas.microsoft.com/office/drawing/2014/main" id="{F0A26053-22AE-4B9B-A5A3-D43C5D0C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2510887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-46">
            <a:extLst xmlns:a="http://schemas.openxmlformats.org/drawingml/2006/main">
              <a:ext uri="{FF2B5EF4-FFF2-40B4-BE49-F238E27FC236}">
                <a16:creationId xmlns:a16="http://schemas.microsoft.com/office/drawing/2014/main" id="{11E7E168-2BC5-4081-9F1D-C0E265C7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8140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305</a:t>
            </a:r>
          </a:p>
        </p:txBody>
      </p:sp>
      <p:sp>
        <p:nvSpPr>
          <p:cNvPr id="38" name="text-47">
            <a:extLst xmlns:a="http://schemas.openxmlformats.org/drawingml/2006/main">
              <a:ext uri="{FF2B5EF4-FFF2-40B4-BE49-F238E27FC236}">
                <a16:creationId xmlns:a16="http://schemas.microsoft.com/office/drawing/2014/main" id="{417A7319-58BD-4183-BE60-129254DC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1476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 + crackle</a:t>
            </a:r>
          </a:p>
        </p:txBody>
      </p:sp>
      <p:sp>
        <p:nvSpPr>
          <p:cNvPr id="39" name="shape-48">
            <a:extLst xmlns:a="http://schemas.openxmlformats.org/drawingml/2006/main">
              <a:ext uri="{FF2B5EF4-FFF2-40B4-BE49-F238E27FC236}">
                <a16:creationId xmlns:a16="http://schemas.microsoft.com/office/drawing/2014/main" id="{CA7BED19-3E7B-4162-AC3B-54FC09CE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91000"/>
            <a:ext cx="30407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83E4B"/>
          </a:solidFill>
          <a:ln xmlns:a="http://schemas.openxmlformats.org/drawingml/2006/main" w="0">
            <a:solidFill>
              <a:srgbClr val="A83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-49">
            <a:extLst xmlns:a="http://schemas.openxmlformats.org/drawingml/2006/main">
              <a:ext uri="{FF2B5EF4-FFF2-40B4-BE49-F238E27FC236}">
                <a16:creationId xmlns:a16="http://schemas.microsoft.com/office/drawing/2014/main" id="{F1743956-EE39-4FF3-B2BB-154B27B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719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41" name="shape-50">
            <a:extLst xmlns:a="http://schemas.openxmlformats.org/drawingml/2006/main">
              <a:ext uri="{FF2B5EF4-FFF2-40B4-BE49-F238E27FC236}">
                <a16:creationId xmlns:a16="http://schemas.microsoft.com/office/drawing/2014/main" id="{752F63D3-4C12-45F2-BC5A-9C7C930D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942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-51">
            <a:extLst xmlns:a="http://schemas.openxmlformats.org/drawingml/2006/main">
              <a:ext uri="{FF2B5EF4-FFF2-40B4-BE49-F238E27FC236}">
                <a16:creationId xmlns:a16="http://schemas.microsoft.com/office/drawing/2014/main" id="{C4D35E03-EADC-498B-8662-AB6537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38800"/>
            <a:ext cx="895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Aggregate performance can improve while rare-event learning still fails.</a:t>
            </a:r>
          </a:p>
        </p:txBody>
      </p:sp>
    </p:spTree>
    <p:extLst>
      <p:ext uri="{BB962C8B-B14F-4D97-AF65-F5344CB8AC3E}">
        <p14:creationId xmlns:p14="http://schemas.microsoft.com/office/powerpoint/2010/main" val="21279391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hape-52">
            <a:extLst xmlns:a="http://schemas.openxmlformats.org/drawingml/2006/main">
              <a:ext uri="{FF2B5EF4-FFF2-40B4-BE49-F238E27FC236}">
                <a16:creationId xmlns:a16="http://schemas.microsoft.com/office/drawing/2014/main" id="{3169A00F-5CFB-4608-B972-714938F1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53">
            <a:extLst xmlns:a="http://schemas.openxmlformats.org/drawingml/2006/main">
              <a:ext uri="{FF2B5EF4-FFF2-40B4-BE49-F238E27FC236}">
                <a16:creationId xmlns:a16="http://schemas.microsoft.com/office/drawing/2014/main" id="{6A39DD27-EF5E-4B16-A200-9E10A4A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54">
            <a:extLst xmlns:a="http://schemas.openxmlformats.org/drawingml/2006/main">
              <a:ext uri="{FF2B5EF4-FFF2-40B4-BE49-F238E27FC236}">
                <a16:creationId xmlns:a16="http://schemas.microsoft.com/office/drawing/2014/main" id="{803FD3EF-B4BB-44A0-B4C6-E50466F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55">
            <a:extLst xmlns:a="http://schemas.openxmlformats.org/drawingml/2006/main">
              <a:ext uri="{FF2B5EF4-FFF2-40B4-BE49-F238E27FC236}">
                <a16:creationId xmlns:a16="http://schemas.microsoft.com/office/drawing/2014/main" id="{56808B2F-45B9-4163-BF1E-4B0AAB7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FEE713C6-4075-4CAA-BC8F-51FED97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Four datasets offer complementary—but non-identical—supervision</a:t>
            </a:r>
          </a:p>
        </p:txBody>
      </p:sp>
      <p:sp>
        <p:nvSpPr>
          <p:cNvPr id="6" name="shape-57">
            <a:extLst xmlns:a="http://schemas.openxmlformats.org/drawingml/2006/main">
              <a:ext uri="{FF2B5EF4-FFF2-40B4-BE49-F238E27FC236}">
                <a16:creationId xmlns:a16="http://schemas.microsoft.com/office/drawing/2014/main" id="{7AA0B0CA-4C81-447C-B5D6-AC4BEEB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7FE19050-5463-44C7-9986-E64E9101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9" name="text-60">
            <a:extLst xmlns:a="http://schemas.openxmlformats.org/drawingml/2006/main">
              <a:ext uri="{FF2B5EF4-FFF2-40B4-BE49-F238E27FC236}">
                <a16:creationId xmlns:a16="http://schemas.microsoft.com/office/drawing/2014/main" id="{E4259D79-AF39-46DF-AE7E-540DAE1C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0" name="shape-61">
            <a:extLst xmlns:a="http://schemas.openxmlformats.org/drawingml/2006/main">
              <a:ext uri="{FF2B5EF4-FFF2-40B4-BE49-F238E27FC236}">
                <a16:creationId xmlns:a16="http://schemas.microsoft.com/office/drawing/2014/main" id="{16D7C212-A081-44DC-9F26-5FAE3DFD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-62">
            <a:extLst xmlns:a="http://schemas.openxmlformats.org/drawingml/2006/main">
              <a:ext uri="{FF2B5EF4-FFF2-40B4-BE49-F238E27FC236}">
                <a16:creationId xmlns:a16="http://schemas.microsoft.com/office/drawing/2014/main" id="{7D13D573-F459-4E5A-AC94-A39BF251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-63">
            <a:extLst xmlns:a="http://schemas.openxmlformats.org/drawingml/2006/main">
              <a:ext uri="{FF2B5EF4-FFF2-40B4-BE49-F238E27FC236}">
                <a16:creationId xmlns:a16="http://schemas.microsoft.com/office/drawing/2014/main" id="{97A07375-79D4-482D-8E1D-9BFB57F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ICBHI</a:t>
            </a:r>
          </a:p>
        </p:txBody>
      </p:sp>
      <p:sp>
        <p:nvSpPr>
          <p:cNvPr id="13" name="text-64">
            <a:extLst xmlns:a="http://schemas.openxmlformats.org/drawingml/2006/main">
              <a:ext uri="{FF2B5EF4-FFF2-40B4-BE49-F238E27FC236}">
                <a16:creationId xmlns:a16="http://schemas.microsoft.com/office/drawing/2014/main" id="{D0E1E951-28F4-4381-A82B-E1B3E452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920 recordings</a:t>
            </a:r>
          </a:p>
        </p:txBody>
      </p:sp>
      <p:sp>
        <p:nvSpPr>
          <p:cNvPr id="14" name="text-65">
            <a:extLst xmlns:a="http://schemas.openxmlformats.org/drawingml/2006/main">
              <a:ext uri="{FF2B5EF4-FFF2-40B4-BE49-F238E27FC236}">
                <a16:creationId xmlns:a16="http://schemas.microsoft.com/office/drawing/2014/main" id="{7B60D25E-86F6-4F07-AA1E-1F7FF02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6,898 cycles</a:t>
            </a:r>
          </a:p>
        </p:txBody>
      </p:sp>
      <p:sp>
        <p:nvSpPr>
          <p:cNvPr id="15" name="text-66">
            <a:extLst xmlns:a="http://schemas.openxmlformats.org/drawingml/2006/main">
              <a:ext uri="{FF2B5EF4-FFF2-40B4-BE49-F238E27FC236}">
                <a16:creationId xmlns:a16="http://schemas.microsoft.com/office/drawing/2014/main" id="{0906DEB5-4C43-43B4-9D6C-F5578A6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Normal • crackle • wheeze • both</a:t>
            </a:r>
          </a:p>
        </p:txBody>
      </p:sp>
      <p:sp>
        <p:nvSpPr>
          <p:cNvPr id="16" name="shape-67">
            <a:extLst xmlns:a="http://schemas.openxmlformats.org/drawingml/2006/main">
              <a:ext uri="{FF2B5EF4-FFF2-40B4-BE49-F238E27FC236}">
                <a16:creationId xmlns:a16="http://schemas.microsoft.com/office/drawing/2014/main" id="{53A423EF-E28B-413D-9822-7572815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-68">
            <a:extLst xmlns:a="http://schemas.openxmlformats.org/drawingml/2006/main">
              <a:ext uri="{FF2B5EF4-FFF2-40B4-BE49-F238E27FC236}">
                <a16:creationId xmlns:a16="http://schemas.microsoft.com/office/drawing/2014/main" id="{9AC41352-D9DC-46FA-A939-839F7387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-69">
            <a:extLst xmlns:a="http://schemas.openxmlformats.org/drawingml/2006/main">
              <a:ext uri="{FF2B5EF4-FFF2-40B4-BE49-F238E27FC236}">
                <a16:creationId xmlns:a16="http://schemas.microsoft.com/office/drawing/2014/main" id="{4EEE2EFB-83C9-4A2F-ADED-49789A8B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SPRSound</a:t>
            </a:r>
          </a:p>
        </p:txBody>
      </p:sp>
      <p:sp>
        <p:nvSpPr>
          <p:cNvPr id="19" name="text-70">
            <a:extLst xmlns:a="http://schemas.openxmlformats.org/drawingml/2006/main">
              <a:ext uri="{FF2B5EF4-FFF2-40B4-BE49-F238E27FC236}">
                <a16:creationId xmlns:a16="http://schemas.microsoft.com/office/drawing/2014/main" id="{CD974E03-9934-4D29-914E-D371C5C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2,683 recordings</a:t>
            </a:r>
          </a:p>
        </p:txBody>
      </p:sp>
      <p:sp>
        <p:nvSpPr>
          <p:cNvPr id="20" name="text-71">
            <a:extLst xmlns:a="http://schemas.openxmlformats.org/drawingml/2006/main">
              <a:ext uri="{FF2B5EF4-FFF2-40B4-BE49-F238E27FC236}">
                <a16:creationId xmlns:a16="http://schemas.microsoft.com/office/drawing/2014/main" id="{0933769F-4793-49DF-B4EA-4E012097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9,089 events</a:t>
            </a:r>
          </a:p>
        </p:txBody>
      </p:sp>
      <p:sp>
        <p:nvSpPr>
          <p:cNvPr id="21" name="text-72">
            <a:extLst xmlns:a="http://schemas.openxmlformats.org/drawingml/2006/main">
              <a:ext uri="{FF2B5EF4-FFF2-40B4-BE49-F238E27FC236}">
                <a16:creationId xmlns:a16="http://schemas.microsoft.com/office/drawing/2014/main" id="{CB8D881F-5132-4A1B-AE64-3AA75B2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7 event types + record labels</a:t>
            </a:r>
          </a:p>
        </p:txBody>
      </p:sp>
      <p:sp>
        <p:nvSpPr>
          <p:cNvPr id="22" name="shape-73">
            <a:extLst xmlns:a="http://schemas.openxmlformats.org/drawingml/2006/main">
              <a:ext uri="{FF2B5EF4-FFF2-40B4-BE49-F238E27FC236}">
                <a16:creationId xmlns:a16="http://schemas.microsoft.com/office/drawing/2014/main" id="{E125AD91-F1A9-49F1-B9E5-6C29DE4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-74">
            <a:extLst xmlns:a="http://schemas.openxmlformats.org/drawingml/2006/main">
              <a:ext uri="{FF2B5EF4-FFF2-40B4-BE49-F238E27FC236}">
                <a16:creationId xmlns:a16="http://schemas.microsoft.com/office/drawing/2014/main" id="{746D91EE-81B6-442B-AE18-65F9956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2F55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-75">
            <a:extLst xmlns:a="http://schemas.openxmlformats.org/drawingml/2006/main">
              <a:ext uri="{FF2B5EF4-FFF2-40B4-BE49-F238E27FC236}">
                <a16:creationId xmlns:a16="http://schemas.microsoft.com/office/drawing/2014/main" id="{F43D226D-8970-453E-AB4F-D499F486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HF_Lung</a:t>
            </a:r>
          </a:p>
        </p:txBody>
      </p:sp>
      <p:sp>
        <p:nvSpPr>
          <p:cNvPr id="25" name="text-76">
            <a:extLst xmlns:a="http://schemas.openxmlformats.org/drawingml/2006/main">
              <a:ext uri="{FF2B5EF4-FFF2-40B4-BE49-F238E27FC236}">
                <a16:creationId xmlns:a16="http://schemas.microsoft.com/office/drawing/2014/main" id="{879F305A-35EF-4C06-9C9B-B494C16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9,765 recordings</a:t>
            </a:r>
          </a:p>
        </p:txBody>
      </p:sp>
      <p:sp>
        <p:nvSpPr>
          <p:cNvPr id="26" name="text-77">
            <a:extLst xmlns:a="http://schemas.openxmlformats.org/drawingml/2006/main">
              <a:ext uri="{FF2B5EF4-FFF2-40B4-BE49-F238E27FC236}">
                <a16:creationId xmlns:a16="http://schemas.microsoft.com/office/drawing/2014/main" id="{ACE5FF2F-EC41-44B2-9541-203C55CE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81,933 intervals</a:t>
            </a:r>
          </a:p>
        </p:txBody>
      </p:sp>
      <p:sp>
        <p:nvSpPr>
          <p:cNvPr id="27" name="text-78">
            <a:extLst xmlns:a="http://schemas.openxmlformats.org/drawingml/2006/main">
              <a:ext uri="{FF2B5EF4-FFF2-40B4-BE49-F238E27FC236}">
                <a16:creationId xmlns:a16="http://schemas.microsoft.com/office/drawing/2014/main" id="{06D62F42-F1EB-472D-9EBD-CB8EF77A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Breath phase + overlapping events</a:t>
            </a:r>
          </a:p>
        </p:txBody>
      </p:sp>
      <p:sp>
        <p:nvSpPr>
          <p:cNvPr id="28" name="shape-79">
            <a:extLst xmlns:a="http://schemas.openxmlformats.org/drawingml/2006/main">
              <a:ext uri="{FF2B5EF4-FFF2-40B4-BE49-F238E27FC236}">
                <a16:creationId xmlns:a16="http://schemas.microsoft.com/office/drawing/2014/main" id="{CC259467-2E49-4FF5-9F55-8BB4973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-80">
            <a:extLst xmlns:a="http://schemas.openxmlformats.org/drawingml/2006/main">
              <a:ext uri="{FF2B5EF4-FFF2-40B4-BE49-F238E27FC236}">
                <a16:creationId xmlns:a16="http://schemas.microsoft.com/office/drawing/2014/main" id="{2C8A72BF-C4DF-44C9-BEA7-0FDDE98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solidFill>
              <a:srgbClr val="D977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-81">
            <a:extLst xmlns:a="http://schemas.openxmlformats.org/drawingml/2006/main">
              <a:ext uri="{FF2B5EF4-FFF2-40B4-BE49-F238E27FC236}">
                <a16:creationId xmlns:a16="http://schemas.microsoft.com/office/drawing/2014/main" id="{60428E19-1B26-4667-A681-381BD9B5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KAUH</a:t>
            </a:r>
          </a:p>
        </p:txBody>
      </p:sp>
      <p:sp>
        <p:nvSpPr>
          <p:cNvPr id="31" name="text-82">
            <a:extLst xmlns:a="http://schemas.openxmlformats.org/drawingml/2006/main">
              <a:ext uri="{FF2B5EF4-FFF2-40B4-BE49-F238E27FC236}">
                <a16:creationId xmlns:a16="http://schemas.microsoft.com/office/drawing/2014/main" id="{B0B1E298-663F-4C52-81E1-F4D813ED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t>336 recordings</a:t>
            </a:r>
          </a:p>
        </p:txBody>
      </p:sp>
      <p:sp>
        <p:nvSpPr>
          <p:cNvPr id="32" name="text-83">
            <a:extLst xmlns:a="http://schemas.openxmlformats.org/drawingml/2006/main">
              <a:ext uri="{FF2B5EF4-FFF2-40B4-BE49-F238E27FC236}">
                <a16:creationId xmlns:a16="http://schemas.microsoft.com/office/drawing/2014/main" id="{67147221-9EDC-426A-91FD-4114D50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112 patients</a:t>
            </a:r>
          </a:p>
        </p:txBody>
      </p:sp>
      <p:sp>
        <p:nvSpPr>
          <p:cNvPr id="33" name="text-84">
            <a:extLst xmlns:a="http://schemas.openxmlformats.org/drawingml/2006/main">
              <a:ext uri="{FF2B5EF4-FFF2-40B4-BE49-F238E27FC236}">
                <a16:creationId xmlns:a16="http://schemas.microsoft.com/office/drawing/2014/main" id="{FC9F81C4-6136-4230-A499-C2F9D7D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Recording sound type + diagnosis</a:t>
            </a:r>
          </a:p>
        </p:txBody>
      </p:sp>
      <p:sp>
        <p:nvSpPr>
          <p:cNvPr id="34" name="shape-85">
            <a:extLst xmlns:a="http://schemas.openxmlformats.org/drawingml/2006/main">
              <a:ext uri="{FF2B5EF4-FFF2-40B4-BE49-F238E27FC236}">
                <a16:creationId xmlns:a16="http://schemas.microsoft.com/office/drawing/2014/main" id="{95DE0FC3-07AC-442C-A84C-743B4FC6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0191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-86">
            <a:extLst xmlns:a="http://schemas.openxmlformats.org/drawingml/2006/main">
              <a:ext uri="{FF2B5EF4-FFF2-40B4-BE49-F238E27FC236}">
                <a16:creationId xmlns:a16="http://schemas.microsoft.com/office/drawing/2014/main" id="{07ABC0EF-ACD0-4AC6-86CB-62FBFDD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962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Partial semantic overlap creates an opportunity for shared supervision</a:t>
            </a:r>
          </a:p>
        </p:txBody>
      </p:sp>
      <p:sp>
        <p:nvSpPr>
          <p:cNvPr id="36" name="text-87">
            <a:extLst xmlns:a="http://schemas.openxmlformats.org/drawingml/2006/main">
              <a:ext uri="{FF2B5EF4-FFF2-40B4-BE49-F238E27FC236}">
                <a16:creationId xmlns:a16="http://schemas.microsoft.com/office/drawing/2014/main" id="{7D35DD3C-3CC8-405A-AC6F-CF4E954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Crackle ↔ fine/coarse crackle     •     Wheeze ↔ wheeze     •     Other labels remain dataset-native</a:t>
            </a:r>
          </a:p>
        </p:txBody>
      </p:sp>
      <p:sp>
        <p:nvSpPr>
          <p:cNvPr id="37" name="text-88">
            <a:extLst xmlns:a="http://schemas.openxmlformats.org/drawingml/2006/main">
              <a:ext uri="{FF2B5EF4-FFF2-40B4-BE49-F238E27FC236}">
                <a16:creationId xmlns:a16="http://schemas.microsoft.com/office/drawing/2014/main" id="{D66C9FA7-F64D-40A0-955E-7EA3B2E6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52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Recordings, cycles, events, and intervals are not interchangeable.</a:t>
            </a:r>
          </a:p>
        </p:txBody>
      </p:sp>
    </p:spTree>
    <p:extLst>
      <p:ext uri="{BB962C8B-B14F-4D97-AF65-F5344CB8AC3E}">
        <p14:creationId xmlns:p14="http://schemas.microsoft.com/office/powerpoint/2010/main" val="19418798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hape-89">
            <a:extLst xmlns:a="http://schemas.openxmlformats.org/drawingml/2006/main">
              <a:ext uri="{FF2B5EF4-FFF2-40B4-BE49-F238E27FC236}">
                <a16:creationId xmlns:a16="http://schemas.microsoft.com/office/drawing/2014/main" id="{3C7D7F58-C23C-49BD-B313-71EC7B30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90">
            <a:extLst xmlns:a="http://schemas.openxmlformats.org/drawingml/2006/main">
              <a:ext uri="{FF2B5EF4-FFF2-40B4-BE49-F238E27FC236}">
                <a16:creationId xmlns:a16="http://schemas.microsoft.com/office/drawing/2014/main" id="{EC3F3D9D-D844-4DBE-900B-BC0EC38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91">
            <a:extLst xmlns:a="http://schemas.openxmlformats.org/drawingml/2006/main">
              <a:ext uri="{FF2B5EF4-FFF2-40B4-BE49-F238E27FC236}">
                <a16:creationId xmlns:a16="http://schemas.microsoft.com/office/drawing/2014/main" id="{2F2113CF-53FE-4CBF-9A06-02E976AA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92">
            <a:extLst xmlns:a="http://schemas.openxmlformats.org/drawingml/2006/main">
              <a:ext uri="{FF2B5EF4-FFF2-40B4-BE49-F238E27FC236}">
                <a16:creationId xmlns:a16="http://schemas.microsoft.com/office/drawing/2014/main" id="{624E0337-E6AD-43A9-9F07-6DE39C3A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5E893948-D6CF-4F84-B8D2-7D2492DE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Why na</a:t>
            </a:r>
            <a:r>
              <a:t>i</a:t>
            </a:r>
            <a:r>
              <a:t>ve pooling does not solve the problem</a:t>
            </a:r>
          </a:p>
        </p:txBody>
      </p:sp>
      <p:sp>
        <p:nvSpPr>
          <p:cNvPr id="6" name="shape-94">
            <a:extLst xmlns:a="http://schemas.openxmlformats.org/drawingml/2006/main">
              <a:ext uri="{FF2B5EF4-FFF2-40B4-BE49-F238E27FC236}">
                <a16:creationId xmlns:a16="http://schemas.microsoft.com/office/drawing/2014/main" id="{BDAA5B8E-51DD-462E-9861-0B5BBE39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95">
            <a:extLst xmlns:a="http://schemas.openxmlformats.org/drawingml/2006/main">
              <a:ext uri="{FF2B5EF4-FFF2-40B4-BE49-F238E27FC236}">
                <a16:creationId xmlns:a16="http://schemas.microsoft.com/office/drawing/2014/main" id="{09FF71D5-0005-4162-9680-128AD0C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9" name="text-97">
            <a:extLst xmlns:a="http://schemas.openxmlformats.org/drawingml/2006/main">
              <a:ext uri="{FF2B5EF4-FFF2-40B4-BE49-F238E27FC236}">
                <a16:creationId xmlns:a16="http://schemas.microsoft.com/office/drawing/2014/main" id="{4DE7FF3E-4BD3-42AD-9431-7E2AE94B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shape-99">
            <a:extLst xmlns:a="http://schemas.openxmlformats.org/drawingml/2006/main">
              <a:ext uri="{FF2B5EF4-FFF2-40B4-BE49-F238E27FC236}">
                <a16:creationId xmlns:a16="http://schemas.microsoft.com/office/drawing/2014/main" id="{C7C4C0B4-BF14-4875-AB84-806C67DF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-100">
            <a:extLst xmlns:a="http://schemas.openxmlformats.org/drawingml/2006/main">
              <a:ext uri="{FF2B5EF4-FFF2-40B4-BE49-F238E27FC236}">
                <a16:creationId xmlns:a16="http://schemas.microsoft.com/office/drawing/2014/main" id="{F18FF4DA-074A-4305-8010-8B795F1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2667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NA</a:t>
            </a:r>
            <a:r>
              <a:t>I</a:t>
            </a:r>
            <a:r>
              <a:t>VE
POOLING</a:t>
            </a:r>
          </a:p>
        </p:txBody>
      </p:sp>
      <p:sp>
        <p:nvSpPr>
          <p:cNvPr id="13" name="shape-101">
            <a:extLst xmlns:a="http://schemas.openxmlformats.org/drawingml/2006/main">
              <a:ext uri="{FF2B5EF4-FFF2-40B4-BE49-F238E27FC236}">
                <a16:creationId xmlns:a16="http://schemas.microsoft.com/office/drawing/2014/main" id="{573CEDBA-94AD-4226-B0C7-0688184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102">
            <a:extLst xmlns:a="http://schemas.openxmlformats.org/drawingml/2006/main">
              <a:ext uri="{FF2B5EF4-FFF2-40B4-BE49-F238E27FC236}">
                <a16:creationId xmlns:a16="http://schemas.microsoft.com/office/drawing/2014/main" id="{85C3C0D1-4026-4AAE-AAC3-75C1D49C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33525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Domain</a:t>
            </a:r>
            <a:r>
              <a:t> mismatch</a:t>
            </a:r>
          </a:p>
        </p:txBody>
      </p:sp>
      <p:sp>
        <p:nvSpPr>
          <p:cNvPr id="15" name="text-103">
            <a:extLst xmlns:a="http://schemas.openxmlformats.org/drawingml/2006/main">
              <a:ext uri="{FF2B5EF4-FFF2-40B4-BE49-F238E27FC236}">
                <a16:creationId xmlns:a16="http://schemas.microsoft.com/office/drawing/2014/main" id="{0DD615ED-C1B1-4956-908F-0DF45E89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Crackle, DAS, Crep, rhonchi and stridor are not automatically equivalent.</a:t>
            </a:r>
          </a:p>
        </p:txBody>
      </p:sp>
      <p:sp>
        <p:nvSpPr>
          <p:cNvPr id="16" name="shape-104">
            <a:extLst xmlns:a="http://schemas.openxmlformats.org/drawingml/2006/main">
              <a:ext uri="{FF2B5EF4-FFF2-40B4-BE49-F238E27FC236}">
                <a16:creationId xmlns:a16="http://schemas.microsoft.com/office/drawing/2014/main" id="{5FFBCED7-1886-4F40-B0DB-29194F62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-105">
            <a:extLst xmlns:a="http://schemas.openxmlformats.org/drawingml/2006/main">
              <a:ext uri="{FF2B5EF4-FFF2-40B4-BE49-F238E27FC236}">
                <a16:creationId xmlns:a16="http://schemas.microsoft.com/office/drawing/2014/main" id="{7565DF6F-21CA-41DD-B67A-525D7C02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8150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Sample-unit mismatch</a:t>
            </a:r>
          </a:p>
        </p:txBody>
      </p:sp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B5528135-1E80-499C-932C-03E0504B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Cycle, event, interval and recording labels supervise different targets.</a:t>
            </a:r>
          </a:p>
        </p:txBody>
      </p:sp>
      <p:sp>
        <p:nvSpPr>
          <p:cNvPr id="19" name="shape-107">
            <a:extLst xmlns:a="http://schemas.openxmlformats.org/drawingml/2006/main">
              <a:ext uri="{FF2B5EF4-FFF2-40B4-BE49-F238E27FC236}">
                <a16:creationId xmlns:a16="http://schemas.microsoft.com/office/drawing/2014/main" id="{F520A197-FE05-48F4-895C-FF4459E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811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108">
            <a:extLst xmlns:a="http://schemas.openxmlformats.org/drawingml/2006/main">
              <a:ext uri="{FF2B5EF4-FFF2-40B4-BE49-F238E27FC236}">
                <a16:creationId xmlns:a16="http://schemas.microsoft.com/office/drawing/2014/main" id="{9D0000DB-E307-4E7A-88B9-3A215046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533525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Missing ≠ negative</a:t>
            </a:r>
          </a:p>
        </p:txBody>
      </p:sp>
      <p:sp>
        <p:nvSpPr>
          <p:cNvPr id="21" name="text-109">
            <a:extLst xmlns:a="http://schemas.openxmlformats.org/drawingml/2006/main">
              <a:ext uri="{FF2B5EF4-FFF2-40B4-BE49-F238E27FC236}">
                <a16:creationId xmlns:a16="http://schemas.microsoft.com/office/drawing/2014/main" id="{4A50BF71-628B-43EA-B47E-62918FCE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05000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Unlabeled HF background cannot be treated as Normal by default.</a:t>
            </a:r>
          </a:p>
        </p:txBody>
      </p:sp>
      <p:sp>
        <p:nvSpPr>
          <p:cNvPr id="22" name="shape-110">
            <a:extLst xmlns:a="http://schemas.openxmlformats.org/drawingml/2006/main">
              <a:ext uri="{FF2B5EF4-FFF2-40B4-BE49-F238E27FC236}">
                <a16:creationId xmlns:a16="http://schemas.microsoft.com/office/drawing/2014/main" id="{55C185D5-2C35-4D53-961B-BECF9932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957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-111">
            <a:extLst xmlns:a="http://schemas.openxmlformats.org/drawingml/2006/main">
              <a:ext uri="{FF2B5EF4-FFF2-40B4-BE49-F238E27FC236}">
                <a16:creationId xmlns:a16="http://schemas.microsoft.com/office/drawing/2014/main" id="{2C3D837D-43D1-41EA-8052-FA5E3048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48150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Dual imbalance</a:t>
            </a:r>
          </a:p>
        </p:txBody>
      </p:sp>
      <p:sp>
        <p:nvSpPr>
          <p:cNvPr id="24" name="text-112">
            <a:extLst xmlns:a="http://schemas.openxmlformats.org/drawingml/2006/main">
              <a:ext uri="{FF2B5EF4-FFF2-40B4-BE49-F238E27FC236}">
                <a16:creationId xmlns:a16="http://schemas.microsoft.com/office/drawing/2014/main" id="{45DCA6B3-1D2B-45BB-A15E-5265A2F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19625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Large datasets and head classes can dominate the same objective.</a:t>
            </a:r>
          </a:p>
        </p:txBody>
      </p:sp>
      <p:sp>
        <p:nvSpPr>
          <p:cNvPr id="25" name="shape-113">
            <a:extLst xmlns:a="http://schemas.openxmlformats.org/drawingml/2006/main">
              <a:ext uri="{FF2B5EF4-FFF2-40B4-BE49-F238E27FC236}">
                <a16:creationId xmlns:a16="http://schemas.microsoft.com/office/drawing/2014/main" id="{BB5544DF-4747-40A6-A546-673AC293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3524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4E0EE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-114">
            <a:extLst xmlns:a="http://schemas.openxmlformats.org/drawingml/2006/main">
              <a:ext uri="{FF2B5EF4-FFF2-40B4-BE49-F238E27FC236}">
                <a16:creationId xmlns:a16="http://schemas.microsoft.com/office/drawing/2014/main" id="{D6AE2D94-01C8-4F62-A896-AB0CF5B3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43400"/>
            <a:ext cx="318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Acquisition shortcut</a:t>
            </a:r>
          </a:p>
        </p:txBody>
      </p:sp>
      <p:sp>
        <p:nvSpPr>
          <p:cNvPr id="27" name="text-115">
            <a:extLst xmlns:a="http://schemas.openxmlformats.org/drawingml/2006/main">
              <a:ext uri="{FF2B5EF4-FFF2-40B4-BE49-F238E27FC236}">
                <a16:creationId xmlns:a16="http://schemas.microsoft.com/office/drawing/2014/main" id="{414F9FF4-DC6E-4E12-9682-59C88942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14875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Sampling rate, device, loudness and spectrum reveal dataset identity.</a:t>
            </a:r>
          </a:p>
        </p:txBody>
      </p:sp>
      <p:sp>
        <p:nvSpPr>
          <p:cNvPr id="28" name="text-116">
            <a:extLst xmlns:a="http://schemas.openxmlformats.org/drawingml/2006/main">
              <a:ext uri="{FF2B5EF4-FFF2-40B4-BE49-F238E27FC236}">
                <a16:creationId xmlns:a16="http://schemas.microsoft.com/office/drawing/2014/main" id="{D9DCAB77-2FA0-489D-9041-3C4DCD03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↘</a:t>
            </a:r>
          </a:p>
        </p:txBody>
      </p:sp>
      <p:sp>
        <p:nvSpPr>
          <p:cNvPr id="29" name="text-117">
            <a:extLst xmlns:a="http://schemas.openxmlformats.org/drawingml/2006/main">
              <a:ext uri="{FF2B5EF4-FFF2-40B4-BE49-F238E27FC236}">
                <a16:creationId xmlns:a16="http://schemas.microsoft.com/office/drawing/2014/main" id="{9D6453C6-3C2B-4FDE-B478-A1E5EA3C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↗</a:t>
            </a:r>
          </a:p>
        </p:txBody>
      </p:sp>
      <p:sp>
        <p:nvSpPr>
          <p:cNvPr id="30" name="text-118">
            <a:extLst xmlns:a="http://schemas.openxmlformats.org/drawingml/2006/main">
              <a:ext uri="{FF2B5EF4-FFF2-40B4-BE49-F238E27FC236}">
                <a16:creationId xmlns:a16="http://schemas.microsoft.com/office/drawing/2014/main" id="{D87CC250-7407-44A4-8723-540169FD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↗</a:t>
            </a:r>
          </a:p>
        </p:txBody>
      </p:sp>
      <p:sp>
        <p:nvSpPr>
          <p:cNvPr id="31" name="text-119">
            <a:extLst xmlns:a="http://schemas.openxmlformats.org/drawingml/2006/main">
              <a:ext uri="{FF2B5EF4-FFF2-40B4-BE49-F238E27FC236}">
                <a16:creationId xmlns:a16="http://schemas.microsoft.com/office/drawing/2014/main" id="{5FA6C133-3F24-4DC7-B381-3980D33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↖</a:t>
            </a:r>
          </a:p>
        </p:txBody>
      </p:sp>
      <p:sp>
        <p:nvSpPr>
          <p:cNvPr id="33" name="text-121">
            <a:extLst xmlns:a="http://schemas.openxmlformats.org/drawingml/2006/main">
              <a:ext uri="{FF2B5EF4-FFF2-40B4-BE49-F238E27FC236}">
                <a16:creationId xmlns:a16="http://schemas.microsoft.com/office/drawing/2014/main" id="{4134AB68-037A-485F-94F8-F5412C19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05500"/>
            <a:ext cx="828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Paper contribution must be a model / system / training strategy—not dataset aggregation.</a:t>
            </a:r>
          </a:p>
        </p:txBody>
      </p:sp>
    </p:spTree>
    <p:extLst>
      <p:ext uri="{BB962C8B-B14F-4D97-AF65-F5344CB8AC3E}">
        <p14:creationId xmlns:p14="http://schemas.microsoft.com/office/powerpoint/2010/main" val="13114535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22">
            <a:extLst xmlns:a="http://schemas.openxmlformats.org/drawingml/2006/main">
              <a:ext uri="{FF2B5EF4-FFF2-40B4-BE49-F238E27FC236}">
                <a16:creationId xmlns:a16="http://schemas.microsoft.com/office/drawing/2014/main" id="{EB0C28DA-B23C-4FE5-B390-59ABC88B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123">
            <a:extLst xmlns:a="http://schemas.openxmlformats.org/drawingml/2006/main">
              <a:ext uri="{FF2B5EF4-FFF2-40B4-BE49-F238E27FC236}">
                <a16:creationId xmlns:a16="http://schemas.microsoft.com/office/drawing/2014/main" id="{455188EE-D6CE-428B-9C4C-85D7DAD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124">
            <a:extLst xmlns:a="http://schemas.openxmlformats.org/drawingml/2006/main">
              <a:ext uri="{FF2B5EF4-FFF2-40B4-BE49-F238E27FC236}">
                <a16:creationId xmlns:a16="http://schemas.microsoft.com/office/drawing/2014/main" id="{AA4716B2-B471-4D92-97BD-30A924C6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125">
            <a:extLst xmlns:a="http://schemas.openxmlformats.org/drawingml/2006/main">
              <a:ext uri="{FF2B5EF4-FFF2-40B4-BE49-F238E27FC236}">
                <a16:creationId xmlns:a16="http://schemas.microsoft.com/office/drawing/2014/main" id="{F70B2D09-1775-41CF-B09D-D4363499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26">
            <a:extLst xmlns:a="http://schemas.openxmlformats.org/drawingml/2006/main">
              <a:ext uri="{FF2B5EF4-FFF2-40B4-BE49-F238E27FC236}">
                <a16:creationId xmlns:a16="http://schemas.microsoft.com/office/drawing/2014/main" id="{107164BA-1E75-439B-BDFF-9BCBA9AF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Acquisition fingerprints: loudness differs by ~26 dB</a:t>
            </a:r>
          </a:p>
        </p:txBody>
      </p:sp>
      <p:sp>
        <p:nvSpPr>
          <p:cNvPr id="6" name="shape-127">
            <a:extLst xmlns:a="http://schemas.openxmlformats.org/drawingml/2006/main">
              <a:ext uri="{FF2B5EF4-FFF2-40B4-BE49-F238E27FC236}">
                <a16:creationId xmlns:a16="http://schemas.microsoft.com/office/drawing/2014/main" id="{D73F42B0-94B7-453F-A9C8-18D135ED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128">
            <a:extLst xmlns:a="http://schemas.openxmlformats.org/drawingml/2006/main">
              <a:ext uri="{FF2B5EF4-FFF2-40B4-BE49-F238E27FC236}">
                <a16:creationId xmlns:a16="http://schemas.microsoft.com/office/drawing/2014/main" id="{B400CE00-7E17-49C7-9259-3E53802A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9" name="text-130">
            <a:extLst xmlns:a="http://schemas.openxmlformats.org/drawingml/2006/main">
              <a:ext uri="{FF2B5EF4-FFF2-40B4-BE49-F238E27FC236}">
                <a16:creationId xmlns:a16="http://schemas.microsoft.com/office/drawing/2014/main" id="{420745C2-F3CD-4379-BA66-9DBE2AE0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pic>
        <p:nvPicPr>
          <p:cNvPr id="31" name="image-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382f6b8dd42f8"/>
          <a:stretch xmlns:a="http://schemas.openxmlformats.org/drawingml/2006/main"/>
        </p:blipFill>
        <p:spPr>
          <a:xfrm xmlns:a="http://schemas.openxmlformats.org/drawingml/2006/main">
            <a:off x="548640" y="1171575"/>
            <a:ext cx="11094720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shape-133">
            <a:extLst xmlns:a="http://schemas.openxmlformats.org/drawingml/2006/main">
              <a:ext uri="{FF2B5EF4-FFF2-40B4-BE49-F238E27FC236}">
                <a16:creationId xmlns:a16="http://schemas.microsoft.com/office/drawing/2014/main" id="{09490E7F-BCC4-4E0F-859A-BA1C4513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958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34">
            <a:extLst xmlns:a="http://schemas.openxmlformats.org/drawingml/2006/main">
              <a:ext uri="{FF2B5EF4-FFF2-40B4-BE49-F238E27FC236}">
                <a16:creationId xmlns:a16="http://schemas.microsoft.com/office/drawing/2014/main" id="{3CCD8CBE-66B8-44D5-ADEF-9629076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LOUDNESS</a:t>
            </a:r>
          </a:p>
        </p:txBody>
      </p:sp>
      <p:sp>
        <p:nvSpPr>
          <p:cNvPr id="14" name="text-135">
            <a:extLst xmlns:a="http://schemas.openxmlformats.org/drawingml/2006/main">
              <a:ext uri="{FF2B5EF4-FFF2-40B4-BE49-F238E27FC236}">
                <a16:creationId xmlns:a16="http://schemas.microsoft.com/office/drawing/2014/main" id="{28EB88AB-8D75-4A66-81F3-8576ED38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720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ICBHI −16.8 dBFS
SPRSound −43.2 dBFS</a:t>
            </a:r>
          </a:p>
        </p:txBody>
      </p:sp>
      <p:sp>
        <p:nvSpPr>
          <p:cNvPr id="15" name="shape-136">
            <a:extLst xmlns:a="http://schemas.openxmlformats.org/drawingml/2006/main">
              <a:ext uri="{FF2B5EF4-FFF2-40B4-BE49-F238E27FC236}">
                <a16:creationId xmlns:a16="http://schemas.microsoft.com/office/drawing/2014/main" id="{F1423FE5-754E-4CF7-960C-F0BBDDFB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7" y="4493079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9711938F-4BE6-4C37-BD7A-85ED9D95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7" y="46672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SNR PROXY</a:t>
            </a:r>
          </a:p>
        </p:txBody>
      </p:sp>
      <p:sp>
        <p:nvSpPr>
          <p:cNvPr id="17" name="text-138">
            <a:extLst xmlns:a="http://schemas.openxmlformats.org/drawingml/2006/main">
              <a:ext uri="{FF2B5EF4-FFF2-40B4-BE49-F238E27FC236}">
                <a16:creationId xmlns:a16="http://schemas.microsoft.com/office/drawing/2014/main" id="{D74A3DA3-B251-479B-980A-AEF8EFAF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7" y="49720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Medians span only
12.9–15.4 dB</a:t>
            </a:r>
          </a:p>
        </p:txBody>
      </p:sp>
    </p:spTree>
    <p:extLst>
      <p:ext uri="{BB962C8B-B14F-4D97-AF65-F5344CB8AC3E}">
        <p14:creationId xmlns:p14="http://schemas.microsoft.com/office/powerpoint/2010/main" val="562717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142">
            <a:extLst xmlns:a="http://schemas.openxmlformats.org/drawingml/2006/main">
              <a:ext uri="{FF2B5EF4-FFF2-40B4-BE49-F238E27FC236}">
                <a16:creationId xmlns:a16="http://schemas.microsoft.com/office/drawing/2014/main" id="{E958D218-DE7C-4484-BD47-E88CD99E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143">
            <a:extLst xmlns:a="http://schemas.openxmlformats.org/drawingml/2006/main">
              <a:ext uri="{FF2B5EF4-FFF2-40B4-BE49-F238E27FC236}">
                <a16:creationId xmlns:a16="http://schemas.microsoft.com/office/drawing/2014/main" id="{525BD0DB-C5D5-43C1-8967-7C2B0C19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144">
            <a:extLst xmlns:a="http://schemas.openxmlformats.org/drawingml/2006/main">
              <a:ext uri="{FF2B5EF4-FFF2-40B4-BE49-F238E27FC236}">
                <a16:creationId xmlns:a16="http://schemas.microsoft.com/office/drawing/2014/main" id="{B20230DF-47D3-4AA1-98A0-0F767937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145">
            <a:extLst xmlns:a="http://schemas.openxmlformats.org/drawingml/2006/main">
              <a:ext uri="{FF2B5EF4-FFF2-40B4-BE49-F238E27FC236}">
                <a16:creationId xmlns:a16="http://schemas.microsoft.com/office/drawing/2014/main" id="{2B8839C9-EB83-4583-8DED-DEFE4927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FFBE8D82-C133-4206-852C-E7C2749C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Raw spectral shape is strongly dataset-specific</a:t>
            </a:r>
          </a:p>
        </p:txBody>
      </p:sp>
      <p:sp>
        <p:nvSpPr>
          <p:cNvPr id="6" name="shape-147">
            <a:extLst xmlns:a="http://schemas.openxmlformats.org/drawingml/2006/main">
              <a:ext uri="{FF2B5EF4-FFF2-40B4-BE49-F238E27FC236}">
                <a16:creationId xmlns:a16="http://schemas.microsoft.com/office/drawing/2014/main" id="{970BF1EE-2FE4-40C3-A478-965F7CB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640E214C-0680-4A86-983B-645D1345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A8A35B80-BDF1-407B-960E-7BE76DDA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pic>
        <p:nvPicPr>
          <p:cNvPr id="25" name="image-1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128cbe9674618"/>
          <a:stretch xmlns:a="http://schemas.openxmlformats.org/drawingml/2006/main"/>
        </p:blipFill>
        <p:spPr>
          <a:xfrm xmlns:a="http://schemas.openxmlformats.org/drawingml/2006/main">
            <a:off x="523875" y="1223906"/>
            <a:ext cx="11144250" cy="3600562"/>
          </a:xfrm>
          <a:prstGeom xmlns:a="http://schemas.openxmlformats.org/drawingml/2006/main" prst="rect">
            <a:avLst/>
          </a:prstGeom>
        </p:spPr>
      </p:pic>
      <p:sp>
        <p:nvSpPr>
          <p:cNvPr id="12" name="shape-153">
            <a:extLst xmlns:a="http://schemas.openxmlformats.org/drawingml/2006/main">
              <a:ext uri="{FF2B5EF4-FFF2-40B4-BE49-F238E27FC236}">
                <a16:creationId xmlns:a16="http://schemas.microsoft.com/office/drawing/2014/main" id="{B9FEEB53-EDA8-4F4B-812A-F48E5F0C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48250"/>
            <a:ext cx="1057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24ED98E1-E2C8-4604-97D6-7E155F0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SPRSound concentrates energy in 100–250 Hz; HF_Lung is broader; ICBHI/KAUH are strongly low-frequency dominated.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38ECC692-7083-453F-B85F-5B1D1389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These raw differences motivate harmonized preprocessing and dataset/device-stratified evaluation.</a:t>
            </a:r>
          </a:p>
        </p:txBody>
      </p:sp>
    </p:spTree>
    <p:extLst>
      <p:ext uri="{BB962C8B-B14F-4D97-AF65-F5344CB8AC3E}">
        <p14:creationId xmlns:p14="http://schemas.microsoft.com/office/powerpoint/2010/main" val="10855335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56">
            <a:extLst xmlns:a="http://schemas.openxmlformats.org/drawingml/2006/main">
              <a:ext uri="{FF2B5EF4-FFF2-40B4-BE49-F238E27FC236}">
                <a16:creationId xmlns:a16="http://schemas.microsoft.com/office/drawing/2014/main" id="{F323594C-60BE-4710-9BA4-00A0C8DE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157">
            <a:extLst xmlns:a="http://schemas.openxmlformats.org/drawingml/2006/main">
              <a:ext uri="{FF2B5EF4-FFF2-40B4-BE49-F238E27FC236}">
                <a16:creationId xmlns:a16="http://schemas.microsoft.com/office/drawing/2014/main" id="{EAB91CBC-F3C0-413D-A820-EED0474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158">
            <a:extLst xmlns:a="http://schemas.openxmlformats.org/drawingml/2006/main">
              <a:ext uri="{FF2B5EF4-FFF2-40B4-BE49-F238E27FC236}">
                <a16:creationId xmlns:a16="http://schemas.microsoft.com/office/drawing/2014/main" id="{DC147598-8DAE-43A5-B1CB-B406E9C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159">
            <a:extLst xmlns:a="http://schemas.openxmlformats.org/drawingml/2006/main">
              <a:ext uri="{FF2B5EF4-FFF2-40B4-BE49-F238E27FC236}">
                <a16:creationId xmlns:a16="http://schemas.microsoft.com/office/drawing/2014/main" id="{343410D3-18F6-423E-8130-3896F0AB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A44BB97A-1AD9-454C-A408-A0BA20DB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Low-level acoustics identify the dataset with ~0.92–0.94 balanced accuracy</a:t>
            </a:r>
          </a:p>
        </p:txBody>
      </p:sp>
      <p:sp>
        <p:nvSpPr>
          <p:cNvPr id="6" name="shape-161">
            <a:extLst xmlns:a="http://schemas.openxmlformats.org/drawingml/2006/main">
              <a:ext uri="{FF2B5EF4-FFF2-40B4-BE49-F238E27FC236}">
                <a16:creationId xmlns:a16="http://schemas.microsoft.com/office/drawing/2014/main" id="{A27E82CE-BF44-4D72-B292-60A64812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A321EA41-D177-4811-B100-10454C15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2BBC7B5A-BB09-48FE-8635-C23E8EDE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pic>
        <p:nvPicPr>
          <p:cNvPr id="31" name="image-1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6d34735ff4ebf"/>
          <a:stretch xmlns:a="http://schemas.openxmlformats.org/drawingml/2006/main"/>
        </p:blipFill>
        <p:spPr>
          <a:xfrm xmlns:a="http://schemas.openxmlformats.org/drawingml/2006/main">
            <a:off x="934176" y="1095375"/>
            <a:ext cx="10323648" cy="3981450"/>
          </a:xfrm>
          <a:prstGeom xmlns:a="http://schemas.openxmlformats.org/drawingml/2006/main" prst="rect">
            <a:avLst/>
          </a:prstGeom>
        </p:spPr>
      </p:pic>
      <p:sp>
        <p:nvSpPr>
          <p:cNvPr id="12" name="shape-167">
            <a:extLst xmlns:a="http://schemas.openxmlformats.org/drawingml/2006/main">
              <a:ext uri="{FF2B5EF4-FFF2-40B4-BE49-F238E27FC236}">
                <a16:creationId xmlns:a16="http://schemas.microsoft.com/office/drawing/2014/main" id="{162451E1-1636-4977-8120-2B58065C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99A442A0-669E-47DF-B588-2AE00BEB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3714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Original plot</a:t>
            </a:r>
          </a:p>
        </p:txBody>
      </p:sp>
      <p:sp>
        <p:nvSpPr>
          <p:cNvPr id="14" name="text-169">
            <a:extLst xmlns:a="http://schemas.openxmlformats.org/drawingml/2006/main">
              <a:ext uri="{FF2B5EF4-FFF2-40B4-BE49-F238E27FC236}">
                <a16:creationId xmlns:a16="http://schemas.microsoft.com/office/drawing/2014/main" id="{4D375BE9-013F-47A6-90B5-4F3C273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8165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0.935 recording-level CV</a:t>
            </a:r>
          </a:p>
        </p:txBody>
      </p:sp>
      <p:sp>
        <p:nvSpPr>
          <p:cNvPr id="15" name="shape-170">
            <a:extLst xmlns:a="http://schemas.openxmlformats.org/drawingml/2006/main">
              <a:ext uri="{FF2B5EF4-FFF2-40B4-BE49-F238E27FC236}">
                <a16:creationId xmlns:a16="http://schemas.microsoft.com/office/drawing/2014/main" id="{870032AB-648D-4D0D-8E5C-BEB7B11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91125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71">
            <a:extLst xmlns:a="http://schemas.openxmlformats.org/drawingml/2006/main">
              <a:ext uri="{FF2B5EF4-FFF2-40B4-BE49-F238E27FC236}">
                <a16:creationId xmlns:a16="http://schemas.microsoft.com/office/drawing/2014/main" id="{1E1C52AB-73F3-43EF-AA12-31FD9BA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34000"/>
            <a:ext cx="3714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</a:t>
            </a:r>
            <a:r>
              <a:t>echeck</a:t>
            </a:r>
          </a:p>
        </p:txBody>
      </p:sp>
      <p:sp>
        <p:nvSpPr>
          <p:cNvPr id="17" name="text-172">
            <a:extLst xmlns:a="http://schemas.openxmlformats.org/drawingml/2006/main">
              <a:ext uri="{FF2B5EF4-FFF2-40B4-BE49-F238E27FC236}">
                <a16:creationId xmlns:a16="http://schemas.microsoft.com/office/drawing/2014/main" id="{6529172C-4809-4CC1-891C-15DCEA1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81650"/>
            <a:ext cx="3714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0.924 patient-grouped CV</a:t>
            </a:r>
          </a:p>
        </p:txBody>
      </p:sp>
      <p:sp>
        <p:nvSpPr>
          <p:cNvPr id="18" name="shape-173">
            <a:extLst xmlns:a="http://schemas.openxmlformats.org/drawingml/2006/main">
              <a:ext uri="{FF2B5EF4-FFF2-40B4-BE49-F238E27FC236}">
                <a16:creationId xmlns:a16="http://schemas.microsoft.com/office/drawing/2014/main" id="{55AB7CDF-971C-486B-AF7B-8D6ADD29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91125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-174">
            <a:extLst xmlns:a="http://schemas.openxmlformats.org/drawingml/2006/main">
              <a:ext uri="{FF2B5EF4-FFF2-40B4-BE49-F238E27FC236}">
                <a16:creationId xmlns:a16="http://schemas.microsoft.com/office/drawing/2014/main" id="{B661DDF9-D6AF-417A-883B-8B1B1618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3340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SPRSound</a:t>
            </a:r>
          </a:p>
        </p:txBody>
      </p:sp>
      <p:sp>
        <p:nvSpPr>
          <p:cNvPr id="20" name="text-175">
            <a:extLst xmlns:a="http://schemas.openxmlformats.org/drawingml/2006/main">
              <a:ext uri="{FF2B5EF4-FFF2-40B4-BE49-F238E27FC236}">
                <a16:creationId xmlns:a16="http://schemas.microsoft.com/office/drawing/2014/main" id="{8473BD61-74F1-4470-B15A-15420144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581650"/>
            <a:ext cx="1905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336 / 336</a:t>
            </a:r>
          </a:p>
        </p:txBody>
      </p:sp>
    </p:spTree>
    <p:extLst>
      <p:ext uri="{BB962C8B-B14F-4D97-AF65-F5344CB8AC3E}">
        <p14:creationId xmlns:p14="http://schemas.microsoft.com/office/powerpoint/2010/main" val="10247062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-176">
            <a:extLst xmlns:a="http://schemas.openxmlformats.org/drawingml/2006/main">
              <a:ext uri="{FF2B5EF4-FFF2-40B4-BE49-F238E27FC236}">
                <a16:creationId xmlns:a16="http://schemas.microsoft.com/office/drawing/2014/main" id="{C4334301-C9C6-4BEB-9CD6-26151954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177">
            <a:extLst xmlns:a="http://schemas.openxmlformats.org/drawingml/2006/main">
              <a:ext uri="{FF2B5EF4-FFF2-40B4-BE49-F238E27FC236}">
                <a16:creationId xmlns:a16="http://schemas.microsoft.com/office/drawing/2014/main" id="{AF1DCDD6-4AC0-463D-8748-A95A59C2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178">
            <a:extLst xmlns:a="http://schemas.openxmlformats.org/drawingml/2006/main">
              <a:ext uri="{FF2B5EF4-FFF2-40B4-BE49-F238E27FC236}">
                <a16:creationId xmlns:a16="http://schemas.microsoft.com/office/drawing/2014/main" id="{F7E1F0BD-336C-4419-954D-191D9E2E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179">
            <a:extLst xmlns:a="http://schemas.openxmlformats.org/drawingml/2006/main">
              <a:ext uri="{FF2B5EF4-FFF2-40B4-BE49-F238E27FC236}">
                <a16:creationId xmlns:a16="http://schemas.microsoft.com/office/drawing/2014/main" id="{7AD4BEF4-15CA-4973-BEFB-530AC66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80">
            <a:extLst xmlns:a="http://schemas.openxmlformats.org/drawingml/2006/main">
              <a:ext uri="{FF2B5EF4-FFF2-40B4-BE49-F238E27FC236}">
                <a16:creationId xmlns:a16="http://schemas.microsoft.com/office/drawing/2014/main" id="{92684EB0-FC53-4A0C-96D5-242B96CA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Encoder screening has entered verified native-task evidence</a:t>
            </a:r>
          </a:p>
        </p:txBody>
      </p:sp>
      <p:sp>
        <p:nvSpPr>
          <p:cNvPr id="6" name="shape-181">
            <a:extLst xmlns:a="http://schemas.openxmlformats.org/drawingml/2006/main">
              <a:ext uri="{FF2B5EF4-FFF2-40B4-BE49-F238E27FC236}">
                <a16:creationId xmlns:a16="http://schemas.microsoft.com/office/drawing/2014/main" id="{28D2C673-FA37-4821-98FE-F84BA3A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182">
            <a:extLst xmlns:a="http://schemas.openxmlformats.org/drawingml/2006/main">
              <a:ext uri="{FF2B5EF4-FFF2-40B4-BE49-F238E27FC236}">
                <a16:creationId xmlns:a16="http://schemas.microsoft.com/office/drawing/2014/main" id="{1EA28289-7A89-4FE8-99F1-366CFC1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9" name="text-184">
            <a:extLst xmlns:a="http://schemas.openxmlformats.org/drawingml/2006/main">
              <a:ext uri="{FF2B5EF4-FFF2-40B4-BE49-F238E27FC236}">
                <a16:creationId xmlns:a16="http://schemas.microsoft.com/office/drawing/2014/main" id="{322B0377-118A-4500-A341-1D46088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shape-186">
            <a:extLst xmlns:a="http://schemas.openxmlformats.org/drawingml/2006/main">
              <a:ext uri="{FF2B5EF4-FFF2-40B4-BE49-F238E27FC236}">
                <a16:creationId xmlns:a16="http://schemas.microsoft.com/office/drawing/2014/main" id="{01378088-A91E-4874-B160-3AAFFC1C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-187">
            <a:extLst xmlns:a="http://schemas.openxmlformats.org/drawingml/2006/main">
              <a:ext uri="{FF2B5EF4-FFF2-40B4-BE49-F238E27FC236}">
                <a16:creationId xmlns:a16="http://schemas.microsoft.com/office/drawing/2014/main" id="{16FDF8B3-06DB-47B5-866D-8F6356C8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2047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Four native lanes</a:t>
            </a:r>
          </a:p>
        </p:txBody>
      </p:sp>
      <p:sp>
        <p:nvSpPr>
          <p:cNvPr id="13" name="text-188">
            <a:extLst xmlns:a="http://schemas.openxmlformats.org/drawingml/2006/main">
              <a:ext uri="{FF2B5EF4-FFF2-40B4-BE49-F238E27FC236}">
                <a16:creationId xmlns:a16="http://schemas.microsoft.com/office/drawing/2014/main" id="{909E4EC8-CBE7-4D9C-B721-B71165BF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047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5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Labels stay native</a:t>
            </a:r>
          </a:p>
        </p:txBody>
      </p:sp>
      <p:sp>
        <p:nvSpPr>
          <p:cNvPr id="14" name="text-189">
            <a:extLst xmlns:a="http://schemas.openxmlformats.org/drawingml/2006/main">
              <a:ext uri="{FF2B5EF4-FFF2-40B4-BE49-F238E27FC236}">
                <a16:creationId xmlns:a16="http://schemas.microsoft.com/office/drawing/2014/main" id="{7A5FA1ED-4C69-4841-A3E5-63DB31B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47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No label merging</a:t>
            </a:r>
          </a:p>
        </p:txBody>
      </p:sp>
      <p:sp>
        <p:nvSpPr>
          <p:cNvPr id="15" name="shape-190">
            <a:extLst xmlns:a="http://schemas.openxmlformats.org/drawingml/2006/main">
              <a:ext uri="{FF2B5EF4-FFF2-40B4-BE49-F238E27FC236}">
                <a16:creationId xmlns:a16="http://schemas.microsoft.com/office/drawing/2014/main" id="{07FA8F5D-DEBD-4E81-9834-CC81ED57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562AF596-B572-44C6-844E-AC2F0CF4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95425"/>
            <a:ext cx="2047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Shared-window contract</a:t>
            </a:r>
          </a:p>
        </p:txBody>
      </p:sp>
      <p:sp>
        <p:nvSpPr>
          <p:cNvPr id="17" name="text-192">
            <a:extLst xmlns:a="http://schemas.openxmlformats.org/drawingml/2006/main">
              <a:ext uri="{FF2B5EF4-FFF2-40B4-BE49-F238E27FC236}">
                <a16:creationId xmlns:a16="http://schemas.microsoft.com/office/drawing/2014/main" id="{A58B7933-140E-443D-8B92-B0F0367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47850"/>
            <a:ext cx="2047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9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16 kHz • 2 s / 1 s</a:t>
            </a:r>
          </a:p>
        </p:txBody>
      </p:sp>
      <p:sp>
        <p:nvSpPr>
          <p:cNvPr id="18" name="text-193">
            <a:extLst xmlns:a="http://schemas.openxmlformats.org/drawingml/2006/main">
              <a:ext uri="{FF2B5EF4-FFF2-40B4-BE49-F238E27FC236}">
                <a16:creationId xmlns:a16="http://schemas.microsoft.com/office/drawing/2014/main" id="{98A609DD-EB84-4BD6-86E0-7B9FA6B1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62200"/>
            <a:ext cx="2047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Fixed evaluation contract</a:t>
            </a:r>
          </a:p>
        </p:txBody>
      </p:sp>
      <p:sp>
        <p:nvSpPr>
          <p:cNvPr id="19" name="shape-194">
            <a:extLst xmlns:a="http://schemas.openxmlformats.org/drawingml/2006/main">
              <a:ext uri="{FF2B5EF4-FFF2-40B4-BE49-F238E27FC236}">
                <a16:creationId xmlns:a16="http://schemas.microsoft.com/office/drawing/2014/main" id="{47644C9D-A6F5-4A78-882F-F8BEECA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335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195">
            <a:extLst xmlns:a="http://schemas.openxmlformats.org/drawingml/2006/main">
              <a:ext uri="{FF2B5EF4-FFF2-40B4-BE49-F238E27FC236}">
                <a16:creationId xmlns:a16="http://schemas.microsoft.com/office/drawing/2014/main" id="{C5882B5D-AC81-4766-8C6B-54F6C35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95425"/>
            <a:ext cx="2047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9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P1/P2 verified • P3 pending</a:t>
            </a:r>
          </a:p>
        </p:txBody>
      </p:sp>
      <p:sp>
        <p:nvSpPr>
          <p:cNvPr id="21" name="text-196">
            <a:extLst xmlns:a="http://schemas.openxmlformats.org/drawingml/2006/main">
              <a:ext uri="{FF2B5EF4-FFF2-40B4-BE49-F238E27FC236}">
                <a16:creationId xmlns:a16="http://schemas.microsoft.com/office/drawing/2014/main" id="{DA8BD6AF-C242-4687-B4C9-C43DEA36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2047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Native-task evidence</a:t>
            </a:r>
          </a:p>
        </p:txBody>
      </p:sp>
      <p:sp>
        <p:nvSpPr>
          <p:cNvPr id="22" name="text-197">
            <a:extLst xmlns:a="http://schemas.openxmlformats.org/drawingml/2006/main">
              <a:ext uri="{FF2B5EF4-FFF2-40B4-BE49-F238E27FC236}">
                <a16:creationId xmlns:a16="http://schemas.microsoft.com/office/drawing/2014/main" id="{BC8E5413-24FB-4E31-8DFE-94747CF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047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No pooled/global score</a:t>
            </a:r>
          </a:p>
        </p:txBody>
      </p:sp>
      <p:sp>
        <p:nvSpPr>
          <p:cNvPr id="26" name="shape-201">
            <a:extLst xmlns:a="http://schemas.openxmlformats.org/drawingml/2006/main">
              <a:ext uri="{FF2B5EF4-FFF2-40B4-BE49-F238E27FC236}">
                <a16:creationId xmlns:a16="http://schemas.microsoft.com/office/drawing/2014/main" id="{309A9734-0320-4C2C-A9AF-BE24694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02">
            <a:extLst xmlns:a="http://schemas.openxmlformats.org/drawingml/2006/main">
              <a:ext uri="{FF2B5EF4-FFF2-40B4-BE49-F238E27FC236}">
                <a16:creationId xmlns:a16="http://schemas.microsoft.com/office/drawing/2014/main" id="{32B2F388-C855-4AAF-BDA8-5BE6640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8" name="text-203">
            <a:extLst xmlns:a="http://schemas.openxmlformats.org/drawingml/2006/main">
              <a:ext uri="{FF2B5EF4-FFF2-40B4-BE49-F238E27FC236}">
                <a16:creationId xmlns:a16="http://schemas.microsoft.com/office/drawing/2014/main" id="{77016477-50FC-4816-8B8C-B42E00E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Fixed native contracts</a:t>
            </a:r>
          </a:p>
        </p:txBody>
      </p:sp>
      <p:sp>
        <p:nvSpPr>
          <p:cNvPr id="29" name="text-204">
            <a:extLst xmlns:a="http://schemas.openxmlformats.org/drawingml/2006/main">
              <a:ext uri="{FF2B5EF4-FFF2-40B4-BE49-F238E27FC236}">
                <a16:creationId xmlns:a16="http://schemas.microsoft.com/office/drawing/2014/main" id="{45784873-232A-42B1-8416-39EF6759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30" name="text-205">
            <a:extLst xmlns:a="http://schemas.openxmlformats.org/drawingml/2006/main">
              <a:ext uri="{FF2B5EF4-FFF2-40B4-BE49-F238E27FC236}">
                <a16:creationId xmlns:a16="http://schemas.microsoft.com/office/drawing/2014/main" id="{484939B8-B6F4-4BD9-80FC-DF079B25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9100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1" name="shape-206">
            <a:extLst xmlns:a="http://schemas.openxmlformats.org/drawingml/2006/main">
              <a:ext uri="{FF2B5EF4-FFF2-40B4-BE49-F238E27FC236}">
                <a16:creationId xmlns:a16="http://schemas.microsoft.com/office/drawing/2014/main" id="{8CB37720-199A-47B6-ACFF-10EE7D0B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-207">
            <a:extLst xmlns:a="http://schemas.openxmlformats.org/drawingml/2006/main">
              <a:ext uri="{FF2B5EF4-FFF2-40B4-BE49-F238E27FC236}">
                <a16:creationId xmlns:a16="http://schemas.microsoft.com/office/drawing/2014/main" id="{CE5CD8DF-06A0-4EB6-858D-FC4068C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33" name="text-208">
            <a:extLst xmlns:a="http://schemas.openxmlformats.org/drawingml/2006/main">
              <a:ext uri="{FF2B5EF4-FFF2-40B4-BE49-F238E27FC236}">
                <a16:creationId xmlns:a16="http://schemas.microsoft.com/office/drawing/2014/main" id="{B093AC5E-E203-4822-A36D-D58533A8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Windowed native units</a:t>
            </a:r>
          </a:p>
        </p:txBody>
      </p:sp>
      <p:sp>
        <p:nvSpPr>
          <p:cNvPr id="34" name="text-209">
            <a:extLst xmlns:a="http://schemas.openxmlformats.org/drawingml/2006/main">
              <a:ext uri="{FF2B5EF4-FFF2-40B4-BE49-F238E27FC236}">
                <a16:creationId xmlns:a16="http://schemas.microsoft.com/office/drawing/2014/main" id="{EDD9E085-FA90-4BBC-BBCC-4BEED8DB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35" name="text-210">
            <a:extLst xmlns:a="http://schemas.openxmlformats.org/drawingml/2006/main">
              <a:ext uri="{FF2B5EF4-FFF2-40B4-BE49-F238E27FC236}">
                <a16:creationId xmlns:a16="http://schemas.microsoft.com/office/drawing/2014/main" id="{91D6FE77-F056-49E6-A67B-AA04C0F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9100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6" name="shape-211">
            <a:extLst xmlns:a="http://schemas.openxmlformats.org/drawingml/2006/main">
              <a:ext uri="{FF2B5EF4-FFF2-40B4-BE49-F238E27FC236}">
                <a16:creationId xmlns:a16="http://schemas.microsoft.com/office/drawing/2014/main" id="{DFE7D656-B007-4A7A-A1EC-74239501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-212">
            <a:extLst xmlns:a="http://schemas.openxmlformats.org/drawingml/2006/main">
              <a:ext uri="{FF2B5EF4-FFF2-40B4-BE49-F238E27FC236}">
                <a16:creationId xmlns:a16="http://schemas.microsoft.com/office/drawing/2014/main" id="{F614BA0A-776F-4399-BA90-B252D36F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8" name="text-213">
            <a:extLst xmlns:a="http://schemas.openxmlformats.org/drawingml/2006/main">
              <a:ext uri="{FF2B5EF4-FFF2-40B4-BE49-F238E27FC236}">
                <a16:creationId xmlns:a16="http://schemas.microsoft.com/office/drawing/2014/main" id="{1CA7E4E0-C8DB-4E94-A9BB-98D449D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P1/P2 native evidence</a:t>
            </a:r>
          </a:p>
        </p:txBody>
      </p:sp>
      <p:sp>
        <p:nvSpPr>
          <p:cNvPr id="39" name="text-214">
            <a:extLst xmlns:a="http://schemas.openxmlformats.org/drawingml/2006/main">
              <a:ext uri="{FF2B5EF4-FFF2-40B4-BE49-F238E27FC236}">
                <a16:creationId xmlns:a16="http://schemas.microsoft.com/office/drawing/2014/main" id="{E01F5D87-51B6-44AF-B7CF-A7D7A88C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GO verified</a:t>
            </a:r>
          </a:p>
        </p:txBody>
      </p:sp>
      <p:sp>
        <p:nvSpPr>
          <p:cNvPr id="40" name="text-215">
            <a:extLst xmlns:a="http://schemas.openxmlformats.org/drawingml/2006/main">
              <a:ext uri="{FF2B5EF4-FFF2-40B4-BE49-F238E27FC236}">
                <a16:creationId xmlns:a16="http://schemas.microsoft.com/office/drawing/2014/main" id="{574276BA-C443-4B2D-83F7-12F5D740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9100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41" name="shape-216">
            <a:extLst xmlns:a="http://schemas.openxmlformats.org/drawingml/2006/main">
              <a:ext uri="{FF2B5EF4-FFF2-40B4-BE49-F238E27FC236}">
                <a16:creationId xmlns:a16="http://schemas.microsoft.com/office/drawing/2014/main" id="{D932476F-202F-4BBE-BB1B-A522BEB0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-217">
            <a:extLst xmlns:a="http://schemas.openxmlformats.org/drawingml/2006/main">
              <a:ext uri="{FF2B5EF4-FFF2-40B4-BE49-F238E27FC236}">
                <a16:creationId xmlns:a16="http://schemas.microsoft.com/office/drawing/2014/main" id="{5ABE82B9-D897-48FE-B3BD-C2B397F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43" name="text-218">
            <a:extLst xmlns:a="http://schemas.openxmlformats.org/drawingml/2006/main">
              <a:ext uri="{FF2B5EF4-FFF2-40B4-BE49-F238E27FC236}">
                <a16:creationId xmlns:a16="http://schemas.microsoft.com/office/drawing/2014/main" id="{B32AF134-5740-4665-B9E4-A22F1980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Encoder shortlist</a:t>
            </a:r>
          </a:p>
        </p:txBody>
      </p:sp>
      <p:sp>
        <p:nvSpPr>
          <p:cNvPr id="44" name="text-219">
            <a:extLst xmlns:a="http://schemas.openxmlformats.org/drawingml/2006/main">
              <a:ext uri="{FF2B5EF4-FFF2-40B4-BE49-F238E27FC236}">
                <a16:creationId xmlns:a16="http://schemas.microsoft.com/office/drawing/2014/main" id="{B304E67D-CB0B-4F16-AAD6-4965609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P3/P4/P5 gates</a:t>
            </a:r>
          </a:p>
        </p:txBody>
      </p:sp>
    </p:spTree>
    <p:extLst>
      <p:ext uri="{BB962C8B-B14F-4D97-AF65-F5344CB8AC3E}">
        <p14:creationId xmlns:p14="http://schemas.microsoft.com/office/powerpoint/2010/main" val="405853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hape-261">
            <a:extLst xmlns:a="http://schemas.openxmlformats.org/drawingml/2006/main">
              <a:ext uri="{FF2B5EF4-FFF2-40B4-BE49-F238E27FC236}">
                <a16:creationId xmlns:a16="http://schemas.microsoft.com/office/drawing/2014/main" id="{CAF3F6B9-5074-4A8D-95A2-A540D73B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262">
            <a:extLst xmlns:a="http://schemas.openxmlformats.org/drawingml/2006/main">
              <a:ext uri="{FF2B5EF4-FFF2-40B4-BE49-F238E27FC236}">
                <a16:creationId xmlns:a16="http://schemas.microsoft.com/office/drawing/2014/main" id="{3C89DB51-7587-41CC-9549-44F06A6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263">
            <a:extLst xmlns:a="http://schemas.openxmlformats.org/drawingml/2006/main">
              <a:ext uri="{FF2B5EF4-FFF2-40B4-BE49-F238E27FC236}">
                <a16:creationId xmlns:a16="http://schemas.microsoft.com/office/drawing/2014/main" id="{57F8B121-7F1F-4F6E-9545-40EF950D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264">
            <a:extLst xmlns:a="http://schemas.openxmlformats.org/drawingml/2006/main">
              <a:ext uri="{FF2B5EF4-FFF2-40B4-BE49-F238E27FC236}">
                <a16:creationId xmlns:a16="http://schemas.microsoft.com/office/drawing/2014/main" id="{12400139-BC21-4AC2-9788-5A9D6D41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265">
            <a:extLst xmlns:a="http://schemas.openxmlformats.org/drawingml/2006/main">
              <a:ext uri="{FF2B5EF4-FFF2-40B4-BE49-F238E27FC236}">
                <a16:creationId xmlns:a16="http://schemas.microsoft.com/office/drawing/2014/main" id="{564177AD-490B-45FA-AD84-93EC707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P1/P2 verified native-task results; P3 terminal pending</a:t>
            </a:r>
          </a:p>
        </p:txBody>
      </p:sp>
      <p:sp>
        <p:nvSpPr>
          <p:cNvPr id="6" name="shape-266">
            <a:extLst xmlns:a="http://schemas.openxmlformats.org/drawingml/2006/main">
              <a:ext uri="{FF2B5EF4-FFF2-40B4-BE49-F238E27FC236}">
                <a16:creationId xmlns:a16="http://schemas.microsoft.com/office/drawing/2014/main" id="{A64C64C3-34C1-4562-9A9B-3E055FF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267">
            <a:extLst xmlns:a="http://schemas.openxmlformats.org/drawingml/2006/main">
              <a:ext uri="{FF2B5EF4-FFF2-40B4-BE49-F238E27FC236}">
                <a16:creationId xmlns:a16="http://schemas.microsoft.com/office/drawing/2014/main" id="{1ACA49B5-9EA7-4362-981F-AA399F77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sp>
        <p:nvSpPr>
          <p:cNvPr id="9" name="text-269">
            <a:extLst xmlns:a="http://schemas.openxmlformats.org/drawingml/2006/main">
              <a:ext uri="{FF2B5EF4-FFF2-40B4-BE49-F238E27FC236}">
                <a16:creationId xmlns:a16="http://schemas.microsoft.com/office/drawing/2014/main" id="{4C7C8CA3-1A1D-4392-8D55-6C537F8D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text-271">
            <a:extLst xmlns:a="http://schemas.openxmlformats.org/drawingml/2006/main">
              <a:ext uri="{FF2B5EF4-FFF2-40B4-BE49-F238E27FC236}">
                <a16:creationId xmlns:a16="http://schemas.microsoft.com/office/drawing/2014/main" id="{A2CEA69F-79AA-4539-976C-75EAF75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4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Native-task metrics only — no pooled/global score or encoder ranking</a:t>
            </a:r>
          </a:p>
        </p:txBody>
      </p:sp>
      <p:sp>
        <p:nvSpPr>
          <p:cNvPr id="12" name="shape-272">
            <a:extLst xmlns:a="http://schemas.openxmlformats.org/drawingml/2006/main">
              <a:ext uri="{FF2B5EF4-FFF2-40B4-BE49-F238E27FC236}">
                <a16:creationId xmlns:a16="http://schemas.microsoft.com/office/drawing/2014/main" id="{C80BB86B-5F56-4AAE-A524-C95CB187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62050"/>
            <a:ext cx="2333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273">
            <a:extLst xmlns:a="http://schemas.openxmlformats.org/drawingml/2006/main">
              <a:ext uri="{FF2B5EF4-FFF2-40B4-BE49-F238E27FC236}">
                <a16:creationId xmlns:a16="http://schemas.microsoft.com/office/drawing/2014/main" id="{1F1FB595-5A03-43B2-8091-F6B4EA7B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209675"/>
            <a:ext cx="2181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 + PENDING</a:t>
            </a:r>
          </a:p>
        </p:txBody>
      </p:sp>
      <p:sp>
        <p:nvSpPr>
          <p:cNvPr id="17" name="text-277">
            <a:extLst xmlns:a="http://schemas.openxmlformats.org/drawingml/2006/main">
              <a:ext uri="{FF2B5EF4-FFF2-40B4-BE49-F238E27FC236}">
                <a16:creationId xmlns:a16="http://schemas.microsoft.com/office/drawing/2014/main" id="{25994B49-598F-448F-8BA2-AE21B0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P1 — AST</a:t>
            </a:r>
          </a:p>
        </p:txBody>
      </p:sp>
      <p:sp>
        <p:nvSpPr>
          <p:cNvPr id="18" name="shape-278">
            <a:extLst xmlns:a="http://schemas.openxmlformats.org/drawingml/2006/main">
              <a:ext uri="{FF2B5EF4-FFF2-40B4-BE49-F238E27FC236}">
                <a16:creationId xmlns:a16="http://schemas.microsoft.com/office/drawing/2014/main" id="{2CBC54F4-64B0-474C-BCED-DB4A10D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280">
            <a:extLst xmlns:a="http://schemas.openxmlformats.org/drawingml/2006/main">
              <a:ext uri="{FF2B5EF4-FFF2-40B4-BE49-F238E27FC236}">
                <a16:creationId xmlns:a16="http://schemas.microsoft.com/office/drawing/2014/main" id="{59EB73A2-2BEE-4C38-B28E-BE931244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GO • ICBHI .510 • SPR (B/7) .911/.858</a:t>
            </a:r>
          </a:p>
        </p:txBody>
      </p:sp>
      <p:sp>
        <p:nvSpPr>
          <p:cNvPr id="21" name="shape-281">
            <a:extLst xmlns:a="http://schemas.openxmlformats.org/drawingml/2006/main">
              <a:ext uri="{FF2B5EF4-FFF2-40B4-BE49-F238E27FC236}">
                <a16:creationId xmlns:a16="http://schemas.microsoft.com/office/drawing/2014/main" id="{8C71E7D9-A90F-4D55-A3BF-F447DC06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-283">
            <a:extLst xmlns:a="http://schemas.openxmlformats.org/drawingml/2006/main">
              <a:ext uri="{FF2B5EF4-FFF2-40B4-BE49-F238E27FC236}">
                <a16:creationId xmlns:a16="http://schemas.microsoft.com/office/drawing/2014/main" id="{7FCFFA61-7EB1-47D6-B4CC-6FFEEEAB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HF F1 .551/.285/.362/.246 • KAUH mF1 .165</a:t>
            </a:r>
          </a:p>
        </p:txBody>
      </p:sp>
      <p:sp>
        <p:nvSpPr>
          <p:cNvPr id="24" name="text-284">
            <a:extLst xmlns:a="http://schemas.openxmlformats.org/drawingml/2006/main">
              <a:ext uri="{FF2B5EF4-FFF2-40B4-BE49-F238E27FC236}">
                <a16:creationId xmlns:a16="http://schemas.microsoft.com/office/drawing/2014/main" id="{EE0415FD-ABDB-47E4-A7DC-F32AD143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P2 — BEATs</a:t>
            </a:r>
          </a:p>
        </p:txBody>
      </p:sp>
      <p:sp>
        <p:nvSpPr>
          <p:cNvPr id="25" name="shape-285">
            <a:extLst xmlns:a="http://schemas.openxmlformats.org/drawingml/2006/main">
              <a:ext uri="{FF2B5EF4-FFF2-40B4-BE49-F238E27FC236}">
                <a16:creationId xmlns:a16="http://schemas.microsoft.com/office/drawing/2014/main" id="{C8A2BB62-B88D-4702-A247-4A549A4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87">
            <a:extLst xmlns:a="http://schemas.openxmlformats.org/drawingml/2006/main">
              <a:ext uri="{FF2B5EF4-FFF2-40B4-BE49-F238E27FC236}">
                <a16:creationId xmlns:a16="http://schemas.microsoft.com/office/drawing/2014/main" id="{5F1AD0A0-3767-4557-ABC4-14A1CEF4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861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GO • ICBHI .514 • SPR (B/7) .908/.827</a:t>
            </a:r>
          </a:p>
        </p:txBody>
      </p:sp>
      <p:sp>
        <p:nvSpPr>
          <p:cNvPr id="28" name="shape-288">
            <a:extLst xmlns:a="http://schemas.openxmlformats.org/drawingml/2006/main">
              <a:ext uri="{FF2B5EF4-FFF2-40B4-BE49-F238E27FC236}">
                <a16:creationId xmlns:a16="http://schemas.microsoft.com/office/drawing/2014/main" id="{EBECFDE4-0A3B-49A7-B4B4-07B8F04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-290">
            <a:extLst xmlns:a="http://schemas.openxmlformats.org/drawingml/2006/main">
              <a:ext uri="{FF2B5EF4-FFF2-40B4-BE49-F238E27FC236}">
                <a16:creationId xmlns:a16="http://schemas.microsoft.com/office/drawing/2014/main" id="{7A2868F4-291E-4080-867D-0839019B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HF F1 .489/.249/.317/.313 • KAUH mF1 .227</a:t>
            </a:r>
          </a:p>
        </p:txBody>
      </p:sp>
      <p:sp>
        <p:nvSpPr>
          <p:cNvPr id="31" name="text-291">
            <a:extLst xmlns:a="http://schemas.openxmlformats.org/drawingml/2006/main">
              <a:ext uri="{FF2B5EF4-FFF2-40B4-BE49-F238E27FC236}">
                <a16:creationId xmlns:a16="http://schemas.microsoft.com/office/drawing/2014/main" id="{DE390181-2706-40C6-9368-B30BDF9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P3 — PANNs</a:t>
            </a:r>
          </a:p>
        </p:txBody>
      </p:sp>
      <p:sp>
        <p:nvSpPr>
          <p:cNvPr id="32" name="shape-292">
            <a:extLst xmlns:a="http://schemas.openxmlformats.org/drawingml/2006/main">
              <a:ext uri="{FF2B5EF4-FFF2-40B4-BE49-F238E27FC236}">
                <a16:creationId xmlns:a16="http://schemas.microsoft.com/office/drawing/2014/main" id="{D0FA8F29-C403-4DC1-9A04-C8A23C1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-294">
            <a:extLst xmlns:a="http://schemas.openxmlformats.org/drawingml/2006/main">
              <a:ext uri="{FF2B5EF4-FFF2-40B4-BE49-F238E27FC236}">
                <a16:creationId xmlns:a16="http://schemas.microsoft.com/office/drawing/2014/main" id="{60ECC004-3957-479A-AE11-D37AA6A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291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Full 86,250 • val-selected 39,675</a:t>
            </a:r>
          </a:p>
        </p:txBody>
      </p:sp>
      <p:sp>
        <p:nvSpPr>
          <p:cNvPr id="35" name="shape-295">
            <a:extLst xmlns:a="http://schemas.openxmlformats.org/drawingml/2006/main">
              <a:ext uri="{FF2B5EF4-FFF2-40B4-BE49-F238E27FC236}">
                <a16:creationId xmlns:a16="http://schemas.microsoft.com/office/drawing/2014/main" id="{478997B6-6B46-4ED0-A23A-9405AA2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-297">
            <a:extLst xmlns:a="http://schemas.openxmlformats.org/drawingml/2006/main">
              <a:ext uri="{FF2B5EF4-FFF2-40B4-BE49-F238E27FC236}">
                <a16:creationId xmlns:a16="http://schemas.microsoft.com/office/drawing/2014/main" id="{6D36D5E8-5E7B-405D-B112-C280D2C8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Gate A complete • terminal pending • no result</a:t>
            </a:r>
          </a:p>
        </p:txBody>
      </p:sp>
      <p:sp>
        <p:nvSpPr>
          <p:cNvPr id="38" name="shape-298">
            <a:extLst xmlns:a="http://schemas.openxmlformats.org/drawingml/2006/main">
              <a:ext uri="{FF2B5EF4-FFF2-40B4-BE49-F238E27FC236}">
                <a16:creationId xmlns:a16="http://schemas.microsoft.com/office/drawing/2014/main" id="{67ED8B1F-14E1-4B6B-9B45-9CCC4F8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91175"/>
            <a:ext cx="923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-299">
            <a:extLst xmlns:a="http://schemas.openxmlformats.org/drawingml/2006/main">
              <a:ext uri="{FF2B5EF4-FFF2-40B4-BE49-F238E27FC236}">
                <a16:creationId xmlns:a16="http://schemas.microsoft.com/office/drawing/2014/main" id="{D431CB1B-1DFC-475E-B051-688E3B0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8763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Native-task metrics only. KAUH is fold0 terminal only. P3 outer/test remains untouched.</a:t>
            </a:r>
          </a:p>
        </p:txBody>
      </p:sp>
    </p:spTree>
    <p:extLst>
      <p:ext uri="{BB962C8B-B14F-4D97-AF65-F5344CB8AC3E}">
        <p14:creationId xmlns:p14="http://schemas.microsoft.com/office/powerpoint/2010/main" val="570611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hape-353">
            <a:extLst xmlns:a="http://schemas.openxmlformats.org/drawingml/2006/main">
              <a:ext uri="{FF2B5EF4-FFF2-40B4-BE49-F238E27FC236}">
                <a16:creationId xmlns:a16="http://schemas.microsoft.com/office/drawing/2014/main" id="{B70D24EA-5DF4-430B-B253-CCBFFE4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354">
            <a:extLst xmlns:a="http://schemas.openxmlformats.org/drawingml/2006/main">
              <a:ext uri="{FF2B5EF4-FFF2-40B4-BE49-F238E27FC236}">
                <a16:creationId xmlns:a16="http://schemas.microsoft.com/office/drawing/2014/main" id="{D8BD92F3-B49C-4AC0-96CC-17A1CCA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355">
            <a:extLst xmlns:a="http://schemas.openxmlformats.org/drawingml/2006/main">
              <a:ext uri="{FF2B5EF4-FFF2-40B4-BE49-F238E27FC236}">
                <a16:creationId xmlns:a16="http://schemas.microsoft.com/office/drawing/2014/main" id="{D79434F2-A428-495C-9375-53C4216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356">
            <a:extLst xmlns:a="http://schemas.openxmlformats.org/drawingml/2006/main">
              <a:ext uri="{FF2B5EF4-FFF2-40B4-BE49-F238E27FC236}">
                <a16:creationId xmlns:a16="http://schemas.microsoft.com/office/drawing/2014/main" id="{8DF35403-02C8-4DAB-A53C-5B0DECD2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357">
            <a:extLst xmlns:a="http://schemas.openxmlformats.org/drawingml/2006/main">
              <a:ext uri="{FF2B5EF4-FFF2-40B4-BE49-F238E27FC236}">
                <a16:creationId xmlns:a16="http://schemas.microsoft.com/office/drawing/2014/main" id="{3F2EACB0-BD07-4248-AAD9-AE07E98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Shared-window architecture reference — current status on Slide 9</a:t>
            </a:r>
          </a:p>
        </p:txBody>
      </p:sp>
      <p:sp>
        <p:nvSpPr>
          <p:cNvPr id="6" name="shape-358">
            <a:extLst xmlns:a="http://schemas.openxmlformats.org/drawingml/2006/main">
              <a:ext uri="{FF2B5EF4-FFF2-40B4-BE49-F238E27FC236}">
                <a16:creationId xmlns:a16="http://schemas.microsoft.com/office/drawing/2014/main" id="{57B4CE01-9F3B-4C25-BF6A-882FD7F9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359">
            <a:extLst xmlns:a="http://schemas.openxmlformats.org/drawingml/2006/main">
              <a:ext uri="{FF2B5EF4-FFF2-40B4-BE49-F238E27FC236}">
                <a16:creationId xmlns:a16="http://schemas.microsoft.com/office/drawing/2014/main" id="{901E7962-E288-4286-B4C2-A6C39C90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9" name="text-361">
            <a:extLst xmlns:a="http://schemas.openxmlformats.org/drawingml/2006/main">
              <a:ext uri="{FF2B5EF4-FFF2-40B4-BE49-F238E27FC236}">
                <a16:creationId xmlns:a16="http://schemas.microsoft.com/office/drawing/2014/main" id="{D389B363-D30E-440C-9773-D2ABF951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3474b138b4822"/>
          <a:srcRect xmlns:a="http://schemas.openxmlformats.org/drawingml/2006/main" l="70" t="0" r="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095375"/>
            <a:ext cx="1143000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297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hape-52">
            <a:extLst xmlns:a="http://schemas.openxmlformats.org/drawingml/2006/main">
              <a:ext uri="{FF2B5EF4-FFF2-40B4-BE49-F238E27FC236}">
                <a16:creationId xmlns:a16="http://schemas.microsoft.com/office/drawing/2014/main" id="{3169A00F-5CFB-4608-B972-714938F1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53">
            <a:extLst xmlns:a="http://schemas.openxmlformats.org/drawingml/2006/main">
              <a:ext uri="{FF2B5EF4-FFF2-40B4-BE49-F238E27FC236}">
                <a16:creationId xmlns:a16="http://schemas.microsoft.com/office/drawing/2014/main" id="{6A39DD27-EF5E-4B16-A200-9E10A4A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54">
            <a:extLst xmlns:a="http://schemas.openxmlformats.org/drawingml/2006/main">
              <a:ext uri="{FF2B5EF4-FFF2-40B4-BE49-F238E27FC236}">
                <a16:creationId xmlns:a16="http://schemas.microsoft.com/office/drawing/2014/main" id="{803FD3EF-B4BB-44A0-B4C6-E50466F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55">
            <a:extLst xmlns:a="http://schemas.openxmlformats.org/drawingml/2006/main">
              <a:ext uri="{FF2B5EF4-FFF2-40B4-BE49-F238E27FC236}">
                <a16:creationId xmlns:a16="http://schemas.microsoft.com/office/drawing/2014/main" id="{56808B2F-45B9-4163-BF1E-4B0AAB7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FEE713C6-4075-4CAA-BC8F-51FED97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Clinical input can sharpen the next protocol</a:t>
            </a:r>
          </a:p>
        </p:txBody>
      </p:sp>
      <p:sp>
        <p:nvSpPr>
          <p:cNvPr id="6" name="shape-57">
            <a:extLst xmlns:a="http://schemas.openxmlformats.org/drawingml/2006/main">
              <a:ext uri="{FF2B5EF4-FFF2-40B4-BE49-F238E27FC236}">
                <a16:creationId xmlns:a16="http://schemas.microsoft.com/office/drawing/2014/main" id="{7AA0B0CA-4C81-447C-B5D6-AC4BEEB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7FE19050-5463-44C7-9986-E64E9101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9" name="text-60">
            <a:extLst xmlns:a="http://schemas.openxmlformats.org/drawingml/2006/main">
              <a:ext uri="{FF2B5EF4-FFF2-40B4-BE49-F238E27FC236}">
                <a16:creationId xmlns:a16="http://schemas.microsoft.com/office/drawing/2014/main" id="{E4259D79-AF39-46DF-AE7E-540DAE1C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0" name="shape-61">
            <a:extLst xmlns:a="http://schemas.openxmlformats.org/drawingml/2006/main">
              <a:ext uri="{FF2B5EF4-FFF2-40B4-BE49-F238E27FC236}">
                <a16:creationId xmlns:a16="http://schemas.microsoft.com/office/drawing/2014/main" id="{16D7C212-A081-44DC-9F26-5FAE3DFD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-62">
            <a:extLst xmlns:a="http://schemas.openxmlformats.org/drawingml/2006/main">
              <a:ext uri="{FF2B5EF4-FFF2-40B4-BE49-F238E27FC236}">
                <a16:creationId xmlns:a16="http://schemas.microsoft.com/office/drawing/2014/main" id="{7D13D573-F459-4E5A-AC94-A39BF251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-63">
            <a:extLst xmlns:a="http://schemas.openxmlformats.org/drawingml/2006/main">
              <a:ext uri="{FF2B5EF4-FFF2-40B4-BE49-F238E27FC236}">
                <a16:creationId xmlns:a16="http://schemas.microsoft.com/office/drawing/2014/main" id="{97A07375-79D4-482D-8E1D-9BFB57F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Event definitions</a:t>
            </a:r>
          </a:p>
        </p:txBody>
      </p:sp>
      <p:sp>
        <p:nvSpPr>
          <p:cNvPr id="13" name="text-64">
            <a:extLst xmlns:a="http://schemas.openxmlformats.org/drawingml/2006/main">
              <a:ext uri="{FF2B5EF4-FFF2-40B4-BE49-F238E27FC236}">
                <a16:creationId xmlns:a16="http://schemas.microsoft.com/office/drawing/2014/main" id="{D0E1E951-28F4-4381-A82B-E1B3E452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What counts as</a:t>
            </a:r>
          </a:p>
        </p:txBody>
      </p:sp>
      <p:sp>
        <p:nvSpPr>
          <p:cNvPr id="14" name="text-65">
            <a:extLst xmlns:a="http://schemas.openxmlformats.org/drawingml/2006/main">
              <a:ext uri="{FF2B5EF4-FFF2-40B4-BE49-F238E27FC236}">
                <a16:creationId xmlns:a16="http://schemas.microsoft.com/office/drawing/2014/main" id="{7B60D25E-86F6-4F07-AA1E-1F7FF02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a meaningful event?</a:t>
            </a:r>
          </a:p>
        </p:txBody>
      </p:sp>
      <p:sp>
        <p:nvSpPr>
          <p:cNvPr id="15" name="text-66">
            <a:extLst xmlns:a="http://schemas.openxmlformats.org/drawingml/2006/main">
              <a:ext uri="{FF2B5EF4-FFF2-40B4-BE49-F238E27FC236}">
                <a16:creationId xmlns:a16="http://schemas.microsoft.com/office/drawing/2014/main" id="{0906DEB5-4C43-43B4-9D6C-F5578A6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Boundary rules for
clinical review</a:t>
            </a:r>
          </a:p>
        </p:txBody>
      </p:sp>
      <p:sp>
        <p:nvSpPr>
          <p:cNvPr id="16" name="shape-67">
            <a:extLst xmlns:a="http://schemas.openxmlformats.org/drawingml/2006/main">
              <a:ext uri="{FF2B5EF4-FFF2-40B4-BE49-F238E27FC236}">
                <a16:creationId xmlns:a16="http://schemas.microsoft.com/office/drawing/2014/main" id="{53A423EF-E28B-413D-9822-7572815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-68">
            <a:extLst xmlns:a="http://schemas.openxmlformats.org/drawingml/2006/main">
              <a:ext uri="{FF2B5EF4-FFF2-40B4-BE49-F238E27FC236}">
                <a16:creationId xmlns:a16="http://schemas.microsoft.com/office/drawing/2014/main" id="{9AC41352-D9DC-46FA-A939-839F7387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-69">
            <a:extLst xmlns:a="http://schemas.openxmlformats.org/drawingml/2006/main">
              <a:ext uri="{FF2B5EF4-FFF2-40B4-BE49-F238E27FC236}">
                <a16:creationId xmlns:a16="http://schemas.microsoft.com/office/drawing/2014/main" id="{4EEE2EFB-83C9-4A2F-ADED-49789A8B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Useful temporal scales</a:t>
            </a:r>
          </a:p>
        </p:txBody>
      </p:sp>
      <p:sp>
        <p:nvSpPr>
          <p:cNvPr id="19" name="text-70">
            <a:extLst xmlns:a="http://schemas.openxmlformats.org/drawingml/2006/main">
              <a:ext uri="{FF2B5EF4-FFF2-40B4-BE49-F238E27FC236}">
                <a16:creationId xmlns:a16="http://schemas.microsoft.com/office/drawing/2014/main" id="{CD974E03-9934-4D29-914E-D371C5C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Which durations</a:t>
            </a:r>
          </a:p>
        </p:txBody>
      </p:sp>
      <p:sp>
        <p:nvSpPr>
          <p:cNvPr id="20" name="text-71">
            <a:extLst xmlns:a="http://schemas.openxmlformats.org/drawingml/2006/main">
              <a:ext uri="{FF2B5EF4-FFF2-40B4-BE49-F238E27FC236}">
                <a16:creationId xmlns:a16="http://schemas.microsoft.com/office/drawing/2014/main" id="{0933769F-4793-49DF-B4EA-4E012097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matter for decisions?</a:t>
            </a:r>
          </a:p>
        </p:txBody>
      </p:sp>
      <p:sp>
        <p:nvSpPr>
          <p:cNvPr id="21" name="text-72">
            <a:extLst xmlns:a="http://schemas.openxmlformats.org/drawingml/2006/main">
              <a:ext uri="{FF2B5EF4-FFF2-40B4-BE49-F238E27FC236}">
                <a16:creationId xmlns:a16="http://schemas.microsoft.com/office/drawing/2014/main" id="{CB8D881F-5132-4A1B-AE64-3AA75B2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Windows, intervals,
and event context</a:t>
            </a:r>
          </a:p>
        </p:txBody>
      </p:sp>
      <p:sp>
        <p:nvSpPr>
          <p:cNvPr id="22" name="shape-73">
            <a:extLst xmlns:a="http://schemas.openxmlformats.org/drawingml/2006/main">
              <a:ext uri="{FF2B5EF4-FFF2-40B4-BE49-F238E27FC236}">
                <a16:creationId xmlns:a16="http://schemas.microsoft.com/office/drawing/2014/main" id="{E125AD91-F1A9-49F1-B9E5-6C29DE4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-74">
            <a:extLst xmlns:a="http://schemas.openxmlformats.org/drawingml/2006/main">
              <a:ext uri="{FF2B5EF4-FFF2-40B4-BE49-F238E27FC236}">
                <a16:creationId xmlns:a16="http://schemas.microsoft.com/office/drawing/2014/main" id="{746D91EE-81B6-442B-AE18-65F9956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2F55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-75">
            <a:extLst xmlns:a="http://schemas.openxmlformats.org/drawingml/2006/main">
              <a:ext uri="{FF2B5EF4-FFF2-40B4-BE49-F238E27FC236}">
                <a16:creationId xmlns:a16="http://schemas.microsoft.com/office/drawing/2014/main" id="{F43D226D-8970-453E-AB4F-D499F486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687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Ambiguous or overlapping events</a:t>
            </a:r>
          </a:p>
        </p:txBody>
      </p:sp>
      <p:sp>
        <p:nvSpPr>
          <p:cNvPr id="25" name="text-76">
            <a:extLst xmlns:a="http://schemas.openxmlformats.org/drawingml/2006/main">
              <a:ext uri="{FF2B5EF4-FFF2-40B4-BE49-F238E27FC236}">
                <a16:creationId xmlns:a16="http://schemas.microsoft.com/office/drawing/2014/main" id="{879F305A-35EF-4C06-9C9B-B494C16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Which overlaps are</a:t>
            </a:r>
          </a:p>
        </p:txBody>
      </p:sp>
      <p:sp>
        <p:nvSpPr>
          <p:cNvPr id="26" name="text-77">
            <a:extLst xmlns:a="http://schemas.openxmlformats.org/drawingml/2006/main">
              <a:ext uri="{FF2B5EF4-FFF2-40B4-BE49-F238E27FC236}">
                <a16:creationId xmlns:a16="http://schemas.microsoft.com/office/drawing/2014/main" id="{ACE5FF2F-EC41-44B2-9541-203C55CE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clinically distinct?</a:t>
            </a:r>
          </a:p>
        </p:txBody>
      </p:sp>
      <p:sp>
        <p:nvSpPr>
          <p:cNvPr id="27" name="text-78">
            <a:extLst xmlns:a="http://schemas.openxmlformats.org/drawingml/2006/main">
              <a:ext uri="{FF2B5EF4-FFF2-40B4-BE49-F238E27FC236}">
                <a16:creationId xmlns:a16="http://schemas.microsoft.com/office/drawing/2014/main" id="{06D62F42-F1EB-472D-9EBD-CB8EF77A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Do not force unclear</a:t>
            </a:r>
          </a:p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labels into negatives</a:t>
            </a:r>
          </a:p>
        </p:txBody>
      </p:sp>
      <p:sp>
        <p:nvSpPr>
          <p:cNvPr id="28" name="shape-79">
            <a:extLst xmlns:a="http://schemas.openxmlformats.org/drawingml/2006/main">
              <a:ext uri="{FF2B5EF4-FFF2-40B4-BE49-F238E27FC236}">
                <a16:creationId xmlns:a16="http://schemas.microsoft.com/office/drawing/2014/main" id="{CC259467-2E49-4FF5-9F55-8BB4973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619375" cy="2905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-80">
            <a:extLst xmlns:a="http://schemas.openxmlformats.org/drawingml/2006/main">
              <a:ext uri="{FF2B5EF4-FFF2-40B4-BE49-F238E27FC236}">
                <a16:creationId xmlns:a16="http://schemas.microsoft.com/office/drawing/2014/main" id="{2C8A72BF-C4DF-44C9-BEA7-0FDDE98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619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solidFill>
              <a:srgbClr val="D977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-81">
            <a:extLst xmlns:a="http://schemas.openxmlformats.org/drawingml/2006/main">
              <a:ext uri="{FF2B5EF4-FFF2-40B4-BE49-F238E27FC236}">
                <a16:creationId xmlns:a16="http://schemas.microsoft.com/office/drawing/2014/main" id="{60428E19-1B26-4667-A681-381BD9B5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6210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5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Meaningful error trade-offs</a:t>
            </a:r>
          </a:p>
        </p:txBody>
      </p:sp>
      <p:sp>
        <p:nvSpPr>
          <p:cNvPr id="31" name="text-82">
            <a:extLst xmlns:a="http://schemas.openxmlformats.org/drawingml/2006/main">
              <a:ext uri="{FF2B5EF4-FFF2-40B4-BE49-F238E27FC236}">
                <a16:creationId xmlns:a16="http://schemas.microsoft.com/office/drawing/2014/main" id="{B0B1E298-663F-4C52-81E1-F4D813ED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23145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t>Which errors are</a:t>
            </a:r>
          </a:p>
        </p:txBody>
      </p:sp>
      <p:sp>
        <p:nvSpPr>
          <p:cNvPr id="32" name="text-83">
            <a:extLst xmlns:a="http://schemas.openxmlformats.org/drawingml/2006/main">
              <a:ext uri="{FF2B5EF4-FFF2-40B4-BE49-F238E27FC236}">
                <a16:creationId xmlns:a16="http://schemas.microsoft.com/office/drawing/2014/main" id="{67147221-9EDC-426A-91FD-4114D50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47950"/>
            <a:ext cx="23145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most consequential?</a:t>
            </a:r>
          </a:p>
        </p:txBody>
      </p:sp>
      <p:sp>
        <p:nvSpPr>
          <p:cNvPr id="33" name="text-84">
            <a:extLst xmlns:a="http://schemas.openxmlformats.org/drawingml/2006/main">
              <a:ext uri="{FF2B5EF4-FFF2-40B4-BE49-F238E27FC236}">
                <a16:creationId xmlns:a16="http://schemas.microsoft.com/office/drawing/2014/main" id="{FC9F81C4-6136-4230-A499-C2F9D7D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238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Prioritize review</a:t>
            </a:r>
          </a:p>
          <a:p xmlns:a="http://schemas.openxmlformats.org/drawingml/2006/main">
            <a:pPr algn="ctr">
              <a:buNone/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criteria, not a score</a:t>
            </a:r>
          </a:p>
        </p:txBody>
      </p:sp>
      <p:sp>
        <p:nvSpPr>
          <p:cNvPr id="34" name="shape-85">
            <a:extLst xmlns:a="http://schemas.openxmlformats.org/drawingml/2006/main">
              <a:ext uri="{FF2B5EF4-FFF2-40B4-BE49-F238E27FC236}">
                <a16:creationId xmlns:a16="http://schemas.microsoft.com/office/drawing/2014/main" id="{95DE0FC3-07AC-442C-A84C-743B4FC6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0191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-86">
            <a:extLst xmlns:a="http://schemas.openxmlformats.org/drawingml/2006/main">
              <a:ext uri="{FF2B5EF4-FFF2-40B4-BE49-F238E27FC236}">
                <a16:creationId xmlns:a16="http://schemas.microsoft.com/office/drawing/2014/main" id="{07ABC0EF-ACD0-4AC6-86CB-62FBFDD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962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Clinical input requested; no clinical efficacy claim.</a:t>
            </a:r>
          </a:p>
        </p:txBody>
      </p:sp>
      <p:sp>
        <p:nvSpPr>
          <p:cNvPr id="36" name="text-87">
            <a:extLst xmlns:a="http://schemas.openxmlformats.org/drawingml/2006/main">
              <a:ext uri="{FF2B5EF4-FFF2-40B4-BE49-F238E27FC236}">
                <a16:creationId xmlns:a16="http://schemas.microsoft.com/office/drawing/2014/main" id="{7D35DD3C-3CC8-405A-AC6F-CF4E954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Please help define event boundaries and clinically useful temporal scales.</a:t>
            </a:r>
          </a:p>
        </p:txBody>
      </p:sp>
      <p:sp>
        <p:nvSpPr>
          <p:cNvPr id="37" name="text-88">
            <a:extLst xmlns:a="http://schemas.openxmlformats.org/drawingml/2006/main">
              <a:ext uri="{FF2B5EF4-FFF2-40B4-BE49-F238E27FC236}">
                <a16:creationId xmlns:a16="http://schemas.microsoft.com/office/drawing/2014/main" id="{D66C9FA7-F64D-40A0-955E-7EA3B2E6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52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This input will refine the next protocol—not reinterpret current results.</a:t>
            </a:r>
          </a:p>
        </p:txBody>
      </p:sp>
    </p:spTree>
    <p:extLst>
      <p:ext uri="{BB962C8B-B14F-4D97-AF65-F5344CB8AC3E}">
        <p14:creationId xmlns:p14="http://schemas.microsoft.com/office/powerpoint/2010/main" val="19418798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-176">
            <a:extLst xmlns:a="http://schemas.openxmlformats.org/drawingml/2006/main">
              <a:ext uri="{FF2B5EF4-FFF2-40B4-BE49-F238E27FC236}">
                <a16:creationId xmlns:a16="http://schemas.microsoft.com/office/drawing/2014/main" id="{C4334301-C9C6-4BEB-9CD6-26151954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177">
            <a:extLst xmlns:a="http://schemas.openxmlformats.org/drawingml/2006/main">
              <a:ext uri="{FF2B5EF4-FFF2-40B4-BE49-F238E27FC236}">
                <a16:creationId xmlns:a16="http://schemas.microsoft.com/office/drawing/2014/main" id="{AF1DCDD6-4AC0-463D-8748-A95A59C2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178">
            <a:extLst xmlns:a="http://schemas.openxmlformats.org/drawingml/2006/main">
              <a:ext uri="{FF2B5EF4-FFF2-40B4-BE49-F238E27FC236}">
                <a16:creationId xmlns:a16="http://schemas.microsoft.com/office/drawing/2014/main" id="{F7E1F0BD-336C-4419-954D-191D9E2E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179">
            <a:extLst xmlns:a="http://schemas.openxmlformats.org/drawingml/2006/main">
              <a:ext uri="{FF2B5EF4-FFF2-40B4-BE49-F238E27FC236}">
                <a16:creationId xmlns:a16="http://schemas.microsoft.com/office/drawing/2014/main" id="{7AD4BEF4-15CA-4973-BEFB-530AC66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80">
            <a:extLst xmlns:a="http://schemas.openxmlformats.org/drawingml/2006/main">
              <a:ext uri="{FF2B5EF4-FFF2-40B4-BE49-F238E27FC236}">
                <a16:creationId xmlns:a16="http://schemas.microsoft.com/office/drawing/2014/main" id="{92684EB0-FC53-4A0C-96D5-242B96CA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Appendix — Historical exploratory diagnostics: source alignment</a:t>
            </a:r>
          </a:p>
        </p:txBody>
      </p:sp>
      <p:sp>
        <p:nvSpPr>
          <p:cNvPr id="6" name="shape-181">
            <a:extLst xmlns:a="http://schemas.openxmlformats.org/drawingml/2006/main">
              <a:ext uri="{FF2B5EF4-FFF2-40B4-BE49-F238E27FC236}">
                <a16:creationId xmlns:a16="http://schemas.microsoft.com/office/drawing/2014/main" id="{28D2C673-FA37-4821-98FE-F84BA3A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182">
            <a:extLst xmlns:a="http://schemas.openxmlformats.org/drawingml/2006/main">
              <a:ext uri="{FF2B5EF4-FFF2-40B4-BE49-F238E27FC236}">
                <a16:creationId xmlns:a16="http://schemas.microsoft.com/office/drawing/2014/main" id="{1EA28289-7A89-4FE8-99F1-366CFC1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9" name="text-184">
            <a:extLst xmlns:a="http://schemas.openxmlformats.org/drawingml/2006/main">
              <a:ext uri="{FF2B5EF4-FFF2-40B4-BE49-F238E27FC236}">
                <a16:creationId xmlns:a16="http://schemas.microsoft.com/office/drawing/2014/main" id="{322B0377-118A-4500-A341-1D46088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shape-186">
            <a:extLst xmlns:a="http://schemas.openxmlformats.org/drawingml/2006/main">
              <a:ext uri="{FF2B5EF4-FFF2-40B4-BE49-F238E27FC236}">
                <a16:creationId xmlns:a16="http://schemas.microsoft.com/office/drawing/2014/main" id="{01378088-A91E-4874-B160-3AAFFC1C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-187">
            <a:extLst xmlns:a="http://schemas.openxmlformats.org/drawingml/2006/main">
              <a:ext uri="{FF2B5EF4-FFF2-40B4-BE49-F238E27FC236}">
                <a16:creationId xmlns:a16="http://schemas.microsoft.com/office/drawing/2014/main" id="{16FDF8B3-06DB-47B5-866D-8F6356C8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2047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3" name="text-188">
            <a:extLst xmlns:a="http://schemas.openxmlformats.org/drawingml/2006/main">
              <a:ext uri="{FF2B5EF4-FFF2-40B4-BE49-F238E27FC236}">
                <a16:creationId xmlns:a16="http://schemas.microsoft.com/office/drawing/2014/main" id="{909E4EC8-CBE7-4D9C-B721-B71165BF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047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62.1708</a:t>
            </a:r>
          </a:p>
        </p:txBody>
      </p:sp>
      <p:sp>
        <p:nvSpPr>
          <p:cNvPr id="14" name="text-189">
            <a:extLst xmlns:a="http://schemas.openxmlformats.org/drawingml/2006/main">
              <a:ext uri="{FF2B5EF4-FFF2-40B4-BE49-F238E27FC236}">
                <a16:creationId xmlns:a16="http://schemas.microsoft.com/office/drawing/2014/main" id="{7A5FA1ED-4C69-4841-A3E5-63DB31B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47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author: 62.17</a:t>
            </a:r>
          </a:p>
        </p:txBody>
      </p:sp>
      <p:sp>
        <p:nvSpPr>
          <p:cNvPr id="15" name="shape-190">
            <a:extLst xmlns:a="http://schemas.openxmlformats.org/drawingml/2006/main">
              <a:ext uri="{FF2B5EF4-FFF2-40B4-BE49-F238E27FC236}">
                <a16:creationId xmlns:a16="http://schemas.microsoft.com/office/drawing/2014/main" id="{07FA8F5D-DEBD-4E81-9834-CC81ED57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562AF596-B572-44C6-844E-AC2F0CF4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95425"/>
            <a:ext cx="2047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17" name="text-192">
            <a:extLst xmlns:a="http://schemas.openxmlformats.org/drawingml/2006/main">
              <a:ext uri="{FF2B5EF4-FFF2-40B4-BE49-F238E27FC236}">
                <a16:creationId xmlns:a16="http://schemas.microsoft.com/office/drawing/2014/main" id="{A58B7933-140E-443D-8B92-B0F0367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47850"/>
            <a:ext cx="2047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64.143</a:t>
            </a:r>
          </a:p>
        </p:txBody>
      </p:sp>
      <p:sp>
        <p:nvSpPr>
          <p:cNvPr id="18" name="text-193">
            <a:extLst xmlns:a="http://schemas.openxmlformats.org/drawingml/2006/main">
              <a:ext uri="{FF2B5EF4-FFF2-40B4-BE49-F238E27FC236}">
                <a16:creationId xmlns:a16="http://schemas.microsoft.com/office/drawing/2014/main" id="{98A609DD-EB84-4BD6-86E0-7B9FA6B1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62200"/>
            <a:ext cx="2047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paper: 64.84 ± 0.60</a:t>
            </a:r>
          </a:p>
        </p:txBody>
      </p:sp>
      <p:sp>
        <p:nvSpPr>
          <p:cNvPr id="19" name="shape-194">
            <a:extLst xmlns:a="http://schemas.openxmlformats.org/drawingml/2006/main">
              <a:ext uri="{FF2B5EF4-FFF2-40B4-BE49-F238E27FC236}">
                <a16:creationId xmlns:a16="http://schemas.microsoft.com/office/drawing/2014/main" id="{47644C9D-A6F5-4A78-882F-F8BEECA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3350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9525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195">
            <a:extLst xmlns:a="http://schemas.openxmlformats.org/drawingml/2006/main">
              <a:ext uri="{FF2B5EF4-FFF2-40B4-BE49-F238E27FC236}">
                <a16:creationId xmlns:a16="http://schemas.microsoft.com/office/drawing/2014/main" id="{C5882B5D-AC81-4766-8C6B-54F6C35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95425"/>
            <a:ext cx="2047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21" name="text-196">
            <a:extLst xmlns:a="http://schemas.openxmlformats.org/drawingml/2006/main">
              <a:ext uri="{FF2B5EF4-FFF2-40B4-BE49-F238E27FC236}">
                <a16:creationId xmlns:a16="http://schemas.microsoft.com/office/drawing/2014/main" id="{DA8BD6AF-C242-4687-B4C9-C43DEA36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204787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60.984</a:t>
            </a:r>
          </a:p>
        </p:txBody>
      </p:sp>
      <p:sp>
        <p:nvSpPr>
          <p:cNvPr id="22" name="text-197">
            <a:extLst xmlns:a="http://schemas.openxmlformats.org/drawingml/2006/main">
              <a:ext uri="{FF2B5EF4-FFF2-40B4-BE49-F238E27FC236}">
                <a16:creationId xmlns:a16="http://schemas.microsoft.com/office/drawing/2014/main" id="{BC8E5413-24FB-4E31-8DFE-94747CF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047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paper: 61.71 ± 1.61</a:t>
            </a:r>
          </a:p>
        </p:txBody>
      </p:sp>
      <p:sp>
        <p:nvSpPr>
          <p:cNvPr id="26" name="shape-201">
            <a:extLst xmlns:a="http://schemas.openxmlformats.org/drawingml/2006/main">
              <a:ext uri="{FF2B5EF4-FFF2-40B4-BE49-F238E27FC236}">
                <a16:creationId xmlns:a16="http://schemas.microsoft.com/office/drawing/2014/main" id="{309A9734-0320-4C2C-A9AF-BE24694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02">
            <a:extLst xmlns:a="http://schemas.openxmlformats.org/drawingml/2006/main">
              <a:ext uri="{FF2B5EF4-FFF2-40B4-BE49-F238E27FC236}">
                <a16:creationId xmlns:a16="http://schemas.microsoft.com/office/drawing/2014/main" id="{32B2F388-C855-4AAF-BDA8-5BE6640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8" name="text-203">
            <a:extLst xmlns:a="http://schemas.openxmlformats.org/drawingml/2006/main">
              <a:ext uri="{FF2B5EF4-FFF2-40B4-BE49-F238E27FC236}">
                <a16:creationId xmlns:a16="http://schemas.microsoft.com/office/drawing/2014/main" id="{77016477-50FC-4816-8B8C-B42E00E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Source alignment</a:t>
            </a:r>
          </a:p>
        </p:txBody>
      </p:sp>
      <p:sp>
        <p:nvSpPr>
          <p:cNvPr id="29" name="text-204">
            <a:extLst xmlns:a="http://schemas.openxmlformats.org/drawingml/2006/main">
              <a:ext uri="{FF2B5EF4-FFF2-40B4-BE49-F238E27FC236}">
                <a16:creationId xmlns:a16="http://schemas.microsoft.com/office/drawing/2014/main" id="{45784873-232A-42B1-8416-39EF6759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30" name="text-205">
            <a:extLst xmlns:a="http://schemas.openxmlformats.org/drawingml/2006/main">
              <a:ext uri="{FF2B5EF4-FFF2-40B4-BE49-F238E27FC236}">
                <a16:creationId xmlns:a16="http://schemas.microsoft.com/office/drawing/2014/main" id="{484939B8-B6F4-4BD9-80FC-DF079B25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9100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1" name="shape-206">
            <a:extLst xmlns:a="http://schemas.openxmlformats.org/drawingml/2006/main">
              <a:ext uri="{FF2B5EF4-FFF2-40B4-BE49-F238E27FC236}">
                <a16:creationId xmlns:a16="http://schemas.microsoft.com/office/drawing/2014/main" id="{8CB37720-199A-47B6-ACFF-10EE7D0B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-207">
            <a:extLst xmlns:a="http://schemas.openxmlformats.org/drawingml/2006/main">
              <a:ext uri="{FF2B5EF4-FFF2-40B4-BE49-F238E27FC236}">
                <a16:creationId xmlns:a16="http://schemas.microsoft.com/office/drawing/2014/main" id="{CE5CD8DF-06A0-4EB6-858D-FC4068C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33" name="text-208">
            <a:extLst xmlns:a="http://schemas.openxmlformats.org/drawingml/2006/main">
              <a:ext uri="{FF2B5EF4-FFF2-40B4-BE49-F238E27FC236}">
                <a16:creationId xmlns:a16="http://schemas.microsoft.com/office/drawing/2014/main" id="{B093AC5E-E203-4822-A36D-D58533A8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source-head transfer</a:t>
            </a:r>
          </a:p>
        </p:txBody>
      </p:sp>
      <p:sp>
        <p:nvSpPr>
          <p:cNvPr id="34" name="text-209">
            <a:extLst xmlns:a="http://schemas.openxmlformats.org/drawingml/2006/main">
              <a:ext uri="{FF2B5EF4-FFF2-40B4-BE49-F238E27FC236}">
                <a16:creationId xmlns:a16="http://schemas.microsoft.com/office/drawing/2014/main" id="{EDD9E085-FA90-4BBC-BBCC-4BEED8DB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35" name="text-210">
            <a:extLst xmlns:a="http://schemas.openxmlformats.org/drawingml/2006/main">
              <a:ext uri="{FF2B5EF4-FFF2-40B4-BE49-F238E27FC236}">
                <a16:creationId xmlns:a16="http://schemas.microsoft.com/office/drawing/2014/main" id="{91D6FE77-F056-49E6-A67B-AA04C0F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9100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6" name="shape-211">
            <a:extLst xmlns:a="http://schemas.openxmlformats.org/drawingml/2006/main">
              <a:ext uri="{FF2B5EF4-FFF2-40B4-BE49-F238E27FC236}">
                <a16:creationId xmlns:a16="http://schemas.microsoft.com/office/drawing/2014/main" id="{DFE7D656-B007-4A7A-A1EC-74239501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-212">
            <a:extLst xmlns:a="http://schemas.openxmlformats.org/drawingml/2006/main">
              <a:ext uri="{FF2B5EF4-FFF2-40B4-BE49-F238E27FC236}">
                <a16:creationId xmlns:a16="http://schemas.microsoft.com/office/drawing/2014/main" id="{F614BA0A-776F-4399-BA90-B252D36F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8" name="text-213">
            <a:extLst xmlns:a="http://schemas.openxmlformats.org/drawingml/2006/main">
              <a:ext uri="{FF2B5EF4-FFF2-40B4-BE49-F238E27FC236}">
                <a16:creationId xmlns:a16="http://schemas.microsoft.com/office/drawing/2014/main" id="{1CA7E4E0-C8DB-4E94-A9BB-98D449D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Frozen encoder + target head</a:t>
            </a:r>
          </a:p>
        </p:txBody>
      </p:sp>
      <p:sp>
        <p:nvSpPr>
          <p:cNvPr id="39" name="text-214">
            <a:extLst xmlns:a="http://schemas.openxmlformats.org/drawingml/2006/main">
              <a:ext uri="{FF2B5EF4-FFF2-40B4-BE49-F238E27FC236}">
                <a16:creationId xmlns:a16="http://schemas.microsoft.com/office/drawing/2014/main" id="{E01F5D87-51B6-44AF-B7CF-A7D7A88C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40" name="text-215">
            <a:extLst xmlns:a="http://schemas.openxmlformats.org/drawingml/2006/main">
              <a:ext uri="{FF2B5EF4-FFF2-40B4-BE49-F238E27FC236}">
                <a16:creationId xmlns:a16="http://schemas.microsoft.com/office/drawing/2014/main" id="{574276BA-C443-4B2D-83F7-12F5D740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91000"/>
            <a:ext cx="323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41" name="shape-216">
            <a:extLst xmlns:a="http://schemas.openxmlformats.org/drawingml/2006/main">
              <a:ext uri="{FF2B5EF4-FFF2-40B4-BE49-F238E27FC236}">
                <a16:creationId xmlns:a16="http://schemas.microsoft.com/office/drawing/2014/main" id="{D932476F-202F-4BBE-BB1B-A522BEB0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-217">
            <a:extLst xmlns:a="http://schemas.openxmlformats.org/drawingml/2006/main">
              <a:ext uri="{FF2B5EF4-FFF2-40B4-BE49-F238E27FC236}">
                <a16:creationId xmlns:a16="http://schemas.microsoft.com/office/drawing/2014/main" id="{5ABE82B9-D897-48FE-B3BD-C2B397F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43" name="text-218">
            <a:extLst xmlns:a="http://schemas.openxmlformats.org/drawingml/2006/main">
              <a:ext uri="{FF2B5EF4-FFF2-40B4-BE49-F238E27FC236}">
                <a16:creationId xmlns:a16="http://schemas.microsoft.com/office/drawing/2014/main" id="{B32AF134-5740-4665-B9E4-A22F1980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1952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Rare-event multi-dataset learning</a:t>
            </a:r>
          </a:p>
        </p:txBody>
      </p:sp>
      <p:sp>
        <p:nvSpPr>
          <p:cNvPr id="44" name="text-219">
            <a:extLst xmlns:a="http://schemas.openxmlformats.org/drawingml/2006/main">
              <a:ext uri="{FF2B5EF4-FFF2-40B4-BE49-F238E27FC236}">
                <a16:creationId xmlns:a16="http://schemas.microsoft.com/office/drawing/2014/main" id="{B304E67D-CB0B-4F16-AAD6-4965609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1952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Historical exploratory diagnostic</a:t>
            </a:r>
          </a:p>
        </p:txBody>
      </p:sp>
    </p:spTree>
    <p:extLst>
      <p:ext uri="{BB962C8B-B14F-4D97-AF65-F5344CB8AC3E}">
        <p14:creationId xmlns:p14="http://schemas.microsoft.com/office/powerpoint/2010/main" val="4058531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-221">
            <a:extLst xmlns:a="http://schemas.openxmlformats.org/drawingml/2006/main">
              <a:ext uri="{FF2B5EF4-FFF2-40B4-BE49-F238E27FC236}">
                <a16:creationId xmlns:a16="http://schemas.microsoft.com/office/drawing/2014/main" id="{C0466101-7E22-459E-9F50-418D3A29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222">
            <a:extLst xmlns:a="http://schemas.openxmlformats.org/drawingml/2006/main">
              <a:ext uri="{FF2B5EF4-FFF2-40B4-BE49-F238E27FC236}">
                <a16:creationId xmlns:a16="http://schemas.microsoft.com/office/drawing/2014/main" id="{B7971645-AB7C-46C9-8026-4E350D97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223">
            <a:extLst xmlns:a="http://schemas.openxmlformats.org/drawingml/2006/main">
              <a:ext uri="{FF2B5EF4-FFF2-40B4-BE49-F238E27FC236}">
                <a16:creationId xmlns:a16="http://schemas.microsoft.com/office/drawing/2014/main" id="{396C0AB0-C630-4A22-9FDE-566EF31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224">
            <a:extLst xmlns:a="http://schemas.openxmlformats.org/drawingml/2006/main">
              <a:ext uri="{FF2B5EF4-FFF2-40B4-BE49-F238E27FC236}">
                <a16:creationId xmlns:a16="http://schemas.microsoft.com/office/drawing/2014/main" id="{93F17E4A-17B7-4171-93D2-58DB9FCC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225">
            <a:extLst xmlns:a="http://schemas.openxmlformats.org/drawingml/2006/main">
              <a:ext uri="{FF2B5EF4-FFF2-40B4-BE49-F238E27FC236}">
                <a16:creationId xmlns:a16="http://schemas.microsoft.com/office/drawing/2014/main" id="{C0612BC7-0760-4795-9828-A734D38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Appendix — Historical exploratory diagnostic: direct source-head transfer</a:t>
            </a:r>
          </a:p>
        </p:txBody>
      </p:sp>
      <p:sp>
        <p:nvSpPr>
          <p:cNvPr id="6" name="shape-226">
            <a:extLst xmlns:a="http://schemas.openxmlformats.org/drawingml/2006/main">
              <a:ext uri="{FF2B5EF4-FFF2-40B4-BE49-F238E27FC236}">
                <a16:creationId xmlns:a16="http://schemas.microsoft.com/office/drawing/2014/main" id="{4C90ED4A-21DF-4EB3-A6AB-A25066FF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227">
            <a:extLst xmlns:a="http://schemas.openxmlformats.org/drawingml/2006/main">
              <a:ext uri="{FF2B5EF4-FFF2-40B4-BE49-F238E27FC236}">
                <a16:creationId xmlns:a16="http://schemas.microsoft.com/office/drawing/2014/main" id="{D0C06994-BFDA-4F0D-9893-5DD839B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9" name="text-229">
            <a:extLst xmlns:a="http://schemas.openxmlformats.org/drawingml/2006/main">
              <a:ext uri="{FF2B5EF4-FFF2-40B4-BE49-F238E27FC236}">
                <a16:creationId xmlns:a16="http://schemas.microsoft.com/office/drawing/2014/main" id="{7058AC3E-89B9-47E9-9BC7-84DEA730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text-231">
            <a:extLst xmlns:a="http://schemas.openxmlformats.org/drawingml/2006/main">
              <a:ext uri="{FF2B5EF4-FFF2-40B4-BE49-F238E27FC236}">
                <a16:creationId xmlns:a16="http://schemas.microsoft.com/office/drawing/2014/main" id="{E3D7960A-073E-4B89-9F2D-46AFAE7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Same 1,429 SPRSound inter events</a:t>
            </a:r>
          </a:p>
        </p:txBody>
      </p:sp>
      <p:sp>
        <p:nvSpPr>
          <p:cNvPr id="12" name="shape-232">
            <a:extLst xmlns:a="http://schemas.openxmlformats.org/drawingml/2006/main">
              <a:ext uri="{FF2B5EF4-FFF2-40B4-BE49-F238E27FC236}">
                <a16:creationId xmlns:a16="http://schemas.microsoft.com/office/drawing/2014/main" id="{5FBDE83B-A414-448A-8E1B-90A590FC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171575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233">
            <a:extLst xmlns:a="http://schemas.openxmlformats.org/drawingml/2006/main">
              <a:ext uri="{FF2B5EF4-FFF2-40B4-BE49-F238E27FC236}">
                <a16:creationId xmlns:a16="http://schemas.microsoft.com/office/drawing/2014/main" id="{78E38286-B11A-4B6E-AB8E-B4104A52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219200"/>
            <a:ext cx="2562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HISTORICAL • ZERO-TARGET-TUNING</a:t>
            </a:r>
          </a:p>
        </p:txBody>
      </p:sp>
      <p:sp>
        <p:nvSpPr>
          <p:cNvPr id="14" name="text-234">
            <a:extLst xmlns:a="http://schemas.openxmlformats.org/drawingml/2006/main">
              <a:ext uri="{FF2B5EF4-FFF2-40B4-BE49-F238E27FC236}">
                <a16:creationId xmlns:a16="http://schemas.microsoft.com/office/drawing/2014/main" id="{CC7239EF-E2A2-4659-8BDA-7FFEB2E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66875"/>
            <a:ext cx="2286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Binary AS</a:t>
            </a:r>
          </a:p>
        </p:txBody>
      </p:sp>
      <p:sp>
        <p:nvSpPr>
          <p:cNvPr id="15" name="text-235">
            <a:extLst xmlns:a="http://schemas.openxmlformats.org/drawingml/2006/main">
              <a:ext uri="{FF2B5EF4-FFF2-40B4-BE49-F238E27FC236}">
                <a16:creationId xmlns:a16="http://schemas.microsoft.com/office/drawing/2014/main" id="{224E2CB0-47BE-4482-A55B-9BD1EB48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66875"/>
            <a:ext cx="2762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Narrow-four diagnostic</a:t>
            </a:r>
          </a:p>
        </p:txBody>
      </p:sp>
      <p:sp>
        <p:nvSpPr>
          <p:cNvPr id="16" name="shape-236">
            <a:extLst xmlns:a="http://schemas.openxmlformats.org/drawingml/2006/main">
              <a:ext uri="{FF2B5EF4-FFF2-40B4-BE49-F238E27FC236}">
                <a16:creationId xmlns:a16="http://schemas.microsoft.com/office/drawing/2014/main" id="{C02FBED7-BB5D-4BFD-9220-55D991D7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D9"/>
          </a:solidFill>
          <a:ln xmlns:a="http://schemas.openxmlformats.org/drawingml/2006/main" w="0">
            <a:solidFill>
              <a:srgbClr val="D8D5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-237">
            <a:extLst xmlns:a="http://schemas.openxmlformats.org/drawingml/2006/main">
              <a:ext uri="{FF2B5EF4-FFF2-40B4-BE49-F238E27FC236}">
                <a16:creationId xmlns:a16="http://schemas.microsoft.com/office/drawing/2014/main" id="{06E27D6B-2659-4FD3-AE68-1377DFA7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527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8" name="shape-238">
            <a:extLst xmlns:a="http://schemas.openxmlformats.org/drawingml/2006/main">
              <a:ext uri="{FF2B5EF4-FFF2-40B4-BE49-F238E27FC236}">
                <a16:creationId xmlns:a16="http://schemas.microsoft.com/office/drawing/2014/main" id="{53951860-CDE0-4181-8137-59054B2C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-239">
            <a:extLst xmlns:a="http://schemas.openxmlformats.org/drawingml/2006/main">
              <a:ext uri="{FF2B5EF4-FFF2-40B4-BE49-F238E27FC236}">
                <a16:creationId xmlns:a16="http://schemas.microsoft.com/office/drawing/2014/main" id="{FD52DFC1-B238-4855-AE2C-148CA019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233613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240">
            <a:extLst xmlns:a="http://schemas.openxmlformats.org/drawingml/2006/main">
              <a:ext uri="{FF2B5EF4-FFF2-40B4-BE49-F238E27FC236}">
                <a16:creationId xmlns:a16="http://schemas.microsoft.com/office/drawing/2014/main" id="{26322B32-133A-406B-8B6F-2CE0584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59.38</a:t>
            </a:r>
          </a:p>
        </p:txBody>
      </p:sp>
      <p:sp>
        <p:nvSpPr>
          <p:cNvPr id="21" name="shape-241">
            <a:extLst xmlns:a="http://schemas.openxmlformats.org/drawingml/2006/main">
              <a:ext uri="{FF2B5EF4-FFF2-40B4-BE49-F238E27FC236}">
                <a16:creationId xmlns:a16="http://schemas.microsoft.com/office/drawing/2014/main" id="{E15A36C6-107B-41D1-AD8D-58B82F1E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-242">
            <a:extLst xmlns:a="http://schemas.openxmlformats.org/drawingml/2006/main">
              <a:ext uri="{FF2B5EF4-FFF2-40B4-BE49-F238E27FC236}">
                <a16:creationId xmlns:a16="http://schemas.microsoft.com/office/drawing/2014/main" id="{50193EF0-D205-4643-B683-1F318E57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73844" cy="476250"/>
          </a:xfrm>
          <a:prstGeom xmlns:a="http://schemas.openxmlformats.org/drawingml/2006/main" prst="roundRect">
            <a:avLst>
              <a:gd name="adj" fmla="val 27826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-243">
            <a:extLst xmlns:a="http://schemas.openxmlformats.org/drawingml/2006/main">
              <a:ext uri="{FF2B5EF4-FFF2-40B4-BE49-F238E27FC236}">
                <a16:creationId xmlns:a16="http://schemas.microsoft.com/office/drawing/2014/main" id="{0EB09A34-B902-4ECC-9909-3335E546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51.15</a:t>
            </a:r>
          </a:p>
        </p:txBody>
      </p:sp>
      <p:sp>
        <p:nvSpPr>
          <p:cNvPr id="24" name="text-244">
            <a:extLst xmlns:a="http://schemas.openxmlformats.org/drawingml/2006/main">
              <a:ext uri="{FF2B5EF4-FFF2-40B4-BE49-F238E27FC236}">
                <a16:creationId xmlns:a16="http://schemas.microsoft.com/office/drawing/2014/main" id="{D1F50853-82F0-4EB3-89ED-6FB6130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25" name="shape-245">
            <a:extLst xmlns:a="http://schemas.openxmlformats.org/drawingml/2006/main">
              <a:ext uri="{FF2B5EF4-FFF2-40B4-BE49-F238E27FC236}">
                <a16:creationId xmlns:a16="http://schemas.microsoft.com/office/drawing/2014/main" id="{D35294A2-D876-4686-AD5E-877CAB65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-246">
            <a:extLst xmlns:a="http://schemas.openxmlformats.org/drawingml/2006/main">
              <a:ext uri="{FF2B5EF4-FFF2-40B4-BE49-F238E27FC236}">
                <a16:creationId xmlns:a16="http://schemas.microsoft.com/office/drawing/2014/main" id="{6B716165-D006-446B-A209-7666371B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1385888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47">
            <a:extLst xmlns:a="http://schemas.openxmlformats.org/drawingml/2006/main">
              <a:ext uri="{FF2B5EF4-FFF2-40B4-BE49-F238E27FC236}">
                <a16:creationId xmlns:a16="http://schemas.microsoft.com/office/drawing/2014/main" id="{CE8A7095-9164-4B00-925B-CB49D57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55.82</a:t>
            </a:r>
          </a:p>
        </p:txBody>
      </p:sp>
      <p:sp>
        <p:nvSpPr>
          <p:cNvPr id="28" name="shape-248">
            <a:extLst xmlns:a="http://schemas.openxmlformats.org/drawingml/2006/main">
              <a:ext uri="{FF2B5EF4-FFF2-40B4-BE49-F238E27FC236}">
                <a16:creationId xmlns:a16="http://schemas.microsoft.com/office/drawing/2014/main" id="{5C1F74A0-D5FE-424D-A73E-9C34A140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-249">
            <a:extLst xmlns:a="http://schemas.openxmlformats.org/drawingml/2006/main">
              <a:ext uri="{FF2B5EF4-FFF2-40B4-BE49-F238E27FC236}">
                <a16:creationId xmlns:a16="http://schemas.microsoft.com/office/drawing/2014/main" id="{3E1879CB-EE72-4E59-B82A-3707437C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283369" cy="476250"/>
          </a:xfrm>
          <a:prstGeom xmlns:a="http://schemas.openxmlformats.org/drawingml/2006/main" prst="roundRect">
            <a:avLst>
              <a:gd name="adj" fmla="val 26891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-250">
            <a:extLst xmlns:a="http://schemas.openxmlformats.org/drawingml/2006/main">
              <a:ext uri="{FF2B5EF4-FFF2-40B4-BE49-F238E27FC236}">
                <a16:creationId xmlns:a16="http://schemas.microsoft.com/office/drawing/2014/main" id="{E2AE765D-92FD-4176-87C9-B7D15780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71875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51.19</a:t>
            </a:r>
          </a:p>
        </p:txBody>
      </p:sp>
      <p:sp>
        <p:nvSpPr>
          <p:cNvPr id="31" name="text-251">
            <a:extLst xmlns:a="http://schemas.openxmlformats.org/drawingml/2006/main">
              <a:ext uri="{FF2B5EF4-FFF2-40B4-BE49-F238E27FC236}">
                <a16:creationId xmlns:a16="http://schemas.microsoft.com/office/drawing/2014/main" id="{119C08D1-9C6C-433F-A592-6A02CE28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32" name="shape-252">
            <a:extLst xmlns:a="http://schemas.openxmlformats.org/drawingml/2006/main">
              <a:ext uri="{FF2B5EF4-FFF2-40B4-BE49-F238E27FC236}">
                <a16:creationId xmlns:a16="http://schemas.microsoft.com/office/drawing/2014/main" id="{116A3369-1EF3-40BF-8A1B-051499B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-253">
            <a:extLst xmlns:a="http://schemas.openxmlformats.org/drawingml/2006/main">
              <a:ext uri="{FF2B5EF4-FFF2-40B4-BE49-F238E27FC236}">
                <a16:creationId xmlns:a16="http://schemas.microsoft.com/office/drawing/2014/main" id="{695911E5-A6A3-4CAB-A008-DE47D53F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376487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2F55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-254">
            <a:extLst xmlns:a="http://schemas.openxmlformats.org/drawingml/2006/main">
              <a:ext uri="{FF2B5EF4-FFF2-40B4-BE49-F238E27FC236}">
                <a16:creationId xmlns:a16="http://schemas.microsoft.com/office/drawing/2014/main" id="{ADF2674C-F291-41A2-B33C-10661DF2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59.98</a:t>
            </a:r>
          </a:p>
        </p:txBody>
      </p:sp>
      <p:sp>
        <p:nvSpPr>
          <p:cNvPr id="35" name="shape-255">
            <a:extLst xmlns:a="http://schemas.openxmlformats.org/drawingml/2006/main">
              <a:ext uri="{FF2B5EF4-FFF2-40B4-BE49-F238E27FC236}">
                <a16:creationId xmlns:a16="http://schemas.microsoft.com/office/drawing/2014/main" id="{CA3ED014-A271-43B4-8CC4-7ECE77CC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-256">
            <a:extLst xmlns:a="http://schemas.openxmlformats.org/drawingml/2006/main">
              <a:ext uri="{FF2B5EF4-FFF2-40B4-BE49-F238E27FC236}">
                <a16:creationId xmlns:a16="http://schemas.microsoft.com/office/drawing/2014/main" id="{7E5A6040-F510-46EB-9E4E-11721E63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2857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2F55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-257">
            <a:extLst xmlns:a="http://schemas.openxmlformats.org/drawingml/2006/main">
              <a:ext uri="{FF2B5EF4-FFF2-40B4-BE49-F238E27FC236}">
                <a16:creationId xmlns:a16="http://schemas.microsoft.com/office/drawing/2014/main" id="{AC0A349A-7898-4C34-9CC6-9902B09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50.08</a:t>
            </a:r>
          </a:p>
        </p:txBody>
      </p:sp>
      <p:sp>
        <p:nvSpPr>
          <p:cNvPr id="38" name="text-258">
            <a:extLst xmlns:a="http://schemas.openxmlformats.org/drawingml/2006/main">
              <a:ext uri="{FF2B5EF4-FFF2-40B4-BE49-F238E27FC236}">
                <a16:creationId xmlns:a16="http://schemas.microsoft.com/office/drawing/2014/main" id="{869849B6-E85C-46D6-AC7F-B4B8E6EC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7212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Better</a:t>
            </a:r>
            <a:r>
              <a:t> </a:t>
            </a:r>
            <a:r>
              <a:t>than random guess</a:t>
            </a:r>
            <a:r>
              <a:t></a:t>
            </a:r>
            <a:endParaRPr/>
          </a:p>
        </p:txBody>
      </p:sp>
      <p:sp>
        <p:nvSpPr>
          <p:cNvPr id="39" name="shape-259">
            <a:extLst xmlns:a="http://schemas.openxmlformats.org/drawingml/2006/main">
              <a:ext uri="{FF2B5EF4-FFF2-40B4-BE49-F238E27FC236}">
                <a16:creationId xmlns:a16="http://schemas.microsoft.com/office/drawing/2014/main" id="{F24AF397-DB86-44AC-A98C-BBDD5AA8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00675"/>
            <a:ext cx="4381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-260">
            <a:extLst xmlns:a="http://schemas.openxmlformats.org/drawingml/2006/main">
              <a:ext uri="{FF2B5EF4-FFF2-40B4-BE49-F238E27FC236}">
                <a16:creationId xmlns:a16="http://schemas.microsoft.com/office/drawing/2014/main" id="{EA772732-2F5E-4925-9D6F-9DE4AAA2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95925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Historical protocol only; not current P1/P2 evidence.</a:t>
            </a:r>
          </a:p>
        </p:txBody>
      </p:sp>
    </p:spTree>
    <p:extLst>
      <p:ext uri="{BB962C8B-B14F-4D97-AF65-F5344CB8AC3E}">
        <p14:creationId xmlns:p14="http://schemas.microsoft.com/office/powerpoint/2010/main" val="6193799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hape-261">
            <a:extLst xmlns:a="http://schemas.openxmlformats.org/drawingml/2006/main">
              <a:ext uri="{FF2B5EF4-FFF2-40B4-BE49-F238E27FC236}">
                <a16:creationId xmlns:a16="http://schemas.microsoft.com/office/drawing/2014/main" id="{CAF3F6B9-5074-4A8D-95A2-A540D73B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262">
            <a:extLst xmlns:a="http://schemas.openxmlformats.org/drawingml/2006/main">
              <a:ext uri="{FF2B5EF4-FFF2-40B4-BE49-F238E27FC236}">
                <a16:creationId xmlns:a16="http://schemas.microsoft.com/office/drawing/2014/main" id="{3C89DB51-7587-41CC-9549-44F06A6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263">
            <a:extLst xmlns:a="http://schemas.openxmlformats.org/drawingml/2006/main">
              <a:ext uri="{FF2B5EF4-FFF2-40B4-BE49-F238E27FC236}">
                <a16:creationId xmlns:a16="http://schemas.microsoft.com/office/drawing/2014/main" id="{57F8B121-7F1F-4F6E-9545-40EF950D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264">
            <a:extLst xmlns:a="http://schemas.openxmlformats.org/drawingml/2006/main">
              <a:ext uri="{FF2B5EF4-FFF2-40B4-BE49-F238E27FC236}">
                <a16:creationId xmlns:a16="http://schemas.microsoft.com/office/drawing/2014/main" id="{12400139-BC21-4AC2-9788-5A9D6D41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265">
            <a:extLst xmlns:a="http://schemas.openxmlformats.org/drawingml/2006/main">
              <a:ext uri="{FF2B5EF4-FFF2-40B4-BE49-F238E27FC236}">
                <a16:creationId xmlns:a16="http://schemas.microsoft.com/office/drawing/2014/main" id="{564177AD-490B-45FA-AD84-93EC707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Appendix — Historical target-supervised adaptation</a:t>
            </a:r>
          </a:p>
        </p:txBody>
      </p:sp>
      <p:sp>
        <p:nvSpPr>
          <p:cNvPr id="6" name="shape-266">
            <a:extLst xmlns:a="http://schemas.openxmlformats.org/drawingml/2006/main">
              <a:ext uri="{FF2B5EF4-FFF2-40B4-BE49-F238E27FC236}">
                <a16:creationId xmlns:a16="http://schemas.microsoft.com/office/drawing/2014/main" id="{A64C64C3-34C1-4562-9A9B-3E055FF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267">
            <a:extLst xmlns:a="http://schemas.openxmlformats.org/drawingml/2006/main">
              <a:ext uri="{FF2B5EF4-FFF2-40B4-BE49-F238E27FC236}">
                <a16:creationId xmlns:a16="http://schemas.microsoft.com/office/drawing/2014/main" id="{1ACA49B5-9EA7-4362-981F-AA399F77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9" name="text-269">
            <a:extLst xmlns:a="http://schemas.openxmlformats.org/drawingml/2006/main">
              <a:ext uri="{FF2B5EF4-FFF2-40B4-BE49-F238E27FC236}">
                <a16:creationId xmlns:a16="http://schemas.microsoft.com/office/drawing/2014/main" id="{4C7C8CA3-1A1D-4392-8D55-6C537F8D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text-271">
            <a:extLst xmlns:a="http://schemas.openxmlformats.org/drawingml/2006/main">
              <a:ext uri="{FF2B5EF4-FFF2-40B4-BE49-F238E27FC236}">
                <a16:creationId xmlns:a16="http://schemas.microsoft.com/office/drawing/2014/main" id="{A2CEA69F-79AA-4539-976C-75EAF75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Historical protocol — target labels were used</a:t>
            </a:r>
          </a:p>
        </p:txBody>
      </p:sp>
      <p:sp>
        <p:nvSpPr>
          <p:cNvPr id="12" name="shape-272">
            <a:extLst xmlns:a="http://schemas.openxmlformats.org/drawingml/2006/main">
              <a:ext uri="{FF2B5EF4-FFF2-40B4-BE49-F238E27FC236}">
                <a16:creationId xmlns:a16="http://schemas.microsoft.com/office/drawing/2014/main" id="{C80BB86B-5F56-4AAE-A524-C95CB187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62050"/>
            <a:ext cx="2333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273">
            <a:extLst xmlns:a="http://schemas.openxmlformats.org/drawingml/2006/main">
              <a:ext uri="{FF2B5EF4-FFF2-40B4-BE49-F238E27FC236}">
                <a16:creationId xmlns:a16="http://schemas.microsoft.com/office/drawing/2014/main" id="{1F1FB595-5A03-43B2-8091-F6B4EA7B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209675"/>
            <a:ext cx="2181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ENCODER FROZEN</a:t>
            </a:r>
          </a:p>
        </p:txBody>
      </p:sp>
      <p:sp>
        <p:nvSpPr>
          <p:cNvPr id="14" name="text-274">
            <a:extLst xmlns:a="http://schemas.openxmlformats.org/drawingml/2006/main">
              <a:ext uri="{FF2B5EF4-FFF2-40B4-BE49-F238E27FC236}">
                <a16:creationId xmlns:a16="http://schemas.microsoft.com/office/drawing/2014/main" id="{0E8E05BC-3424-4E7B-BA58-8CA8CD5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5" name="text-275">
            <a:extLst xmlns:a="http://schemas.openxmlformats.org/drawingml/2006/main">
              <a:ext uri="{FF2B5EF4-FFF2-40B4-BE49-F238E27FC236}">
                <a16:creationId xmlns:a16="http://schemas.microsoft.com/office/drawing/2014/main" id="{FD3573C1-9D0B-41A1-A601-FCA0B0BB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28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50</a:t>
            </a:r>
          </a:p>
        </p:txBody>
      </p:sp>
      <p:sp>
        <p:nvSpPr>
          <p:cNvPr id="16" name="text-276">
            <a:extLst xmlns:a="http://schemas.openxmlformats.org/drawingml/2006/main">
              <a:ext uri="{FF2B5EF4-FFF2-40B4-BE49-F238E27FC236}">
                <a16:creationId xmlns:a16="http://schemas.microsoft.com/office/drawing/2014/main" id="{3399B04F-A82F-4FF6-B50D-7061E564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668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100</a:t>
            </a:r>
          </a:p>
        </p:txBody>
      </p:sp>
      <p:sp>
        <p:nvSpPr>
          <p:cNvPr id="17" name="text-277">
            <a:extLst xmlns:a="http://schemas.openxmlformats.org/drawingml/2006/main">
              <a:ext uri="{FF2B5EF4-FFF2-40B4-BE49-F238E27FC236}">
                <a16:creationId xmlns:a16="http://schemas.microsoft.com/office/drawing/2014/main" id="{25994B49-598F-448F-8BA2-AE21B0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8" name="shape-278">
            <a:extLst xmlns:a="http://schemas.openxmlformats.org/drawingml/2006/main">
              <a:ext uri="{FF2B5EF4-FFF2-40B4-BE49-F238E27FC236}">
                <a16:creationId xmlns:a16="http://schemas.microsoft.com/office/drawing/2014/main" id="{2CBC54F4-64B0-474C-BCED-DB4A10D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-279">
            <a:extLst xmlns:a="http://schemas.openxmlformats.org/drawingml/2006/main">
              <a:ext uri="{FF2B5EF4-FFF2-40B4-BE49-F238E27FC236}">
                <a16:creationId xmlns:a16="http://schemas.microsoft.com/office/drawing/2014/main" id="{65A1E069-3EB5-4C83-B543-5C04FBA7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4750994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65DA3"/>
          </a:solidFill>
          <a:ln xmlns:a="http://schemas.openxmlformats.org/drawingml/2006/main" w="0">
            <a:solidFill>
              <a:srgbClr val="765D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-280">
            <a:extLst xmlns:a="http://schemas.openxmlformats.org/drawingml/2006/main">
              <a:ext uri="{FF2B5EF4-FFF2-40B4-BE49-F238E27FC236}">
                <a16:creationId xmlns:a16="http://schemas.microsoft.com/office/drawing/2014/main" id="{59EB73A2-2BEE-4C38-B28E-BE931244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head  59.38</a:t>
            </a:r>
          </a:p>
        </p:txBody>
      </p:sp>
      <p:sp>
        <p:nvSpPr>
          <p:cNvPr id="21" name="shape-281">
            <a:extLst xmlns:a="http://schemas.openxmlformats.org/drawingml/2006/main">
              <a:ext uri="{FF2B5EF4-FFF2-40B4-BE49-F238E27FC236}">
                <a16:creationId xmlns:a16="http://schemas.microsoft.com/office/drawing/2014/main" id="{8C71E7D9-A90F-4D55-A3BF-F447DC06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-282">
            <a:extLst xmlns:a="http://schemas.openxmlformats.org/drawingml/2006/main">
              <a:ext uri="{FF2B5EF4-FFF2-40B4-BE49-F238E27FC236}">
                <a16:creationId xmlns:a16="http://schemas.microsoft.com/office/drawing/2014/main" id="{0E29C507-FD61-4758-9160-3E0A88C4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7015277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-283">
            <a:extLst xmlns:a="http://schemas.openxmlformats.org/drawingml/2006/main">
              <a:ext uri="{FF2B5EF4-FFF2-40B4-BE49-F238E27FC236}">
                <a16:creationId xmlns:a16="http://schemas.microsoft.com/office/drawing/2014/main" id="{7FCFFA61-7EB1-47D6-B4CC-6FFEEEAB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 head  87.68</a:t>
            </a:r>
          </a:p>
        </p:txBody>
      </p:sp>
      <p:sp>
        <p:nvSpPr>
          <p:cNvPr id="24" name="text-284">
            <a:extLst xmlns:a="http://schemas.openxmlformats.org/drawingml/2006/main">
              <a:ext uri="{FF2B5EF4-FFF2-40B4-BE49-F238E27FC236}">
                <a16:creationId xmlns:a16="http://schemas.microsoft.com/office/drawing/2014/main" id="{EE0415FD-ABDB-47E4-A7DC-F32AD143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25" name="shape-285">
            <a:extLst xmlns:a="http://schemas.openxmlformats.org/drawingml/2006/main">
              <a:ext uri="{FF2B5EF4-FFF2-40B4-BE49-F238E27FC236}">
                <a16:creationId xmlns:a16="http://schemas.microsoft.com/office/drawing/2014/main" id="{C8A2BB62-B88D-4702-A247-4A549A4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-286">
            <a:extLst xmlns:a="http://schemas.openxmlformats.org/drawingml/2006/main">
              <a:ext uri="{FF2B5EF4-FFF2-40B4-BE49-F238E27FC236}">
                <a16:creationId xmlns:a16="http://schemas.microsoft.com/office/drawing/2014/main" id="{FAC99405-ED5E-4CFC-8CB1-24A2CCBB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4466158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65DA3"/>
          </a:solidFill>
          <a:ln xmlns:a="http://schemas.openxmlformats.org/drawingml/2006/main" w="0">
            <a:solidFill>
              <a:srgbClr val="765D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-287">
            <a:extLst xmlns:a="http://schemas.openxmlformats.org/drawingml/2006/main">
              <a:ext uri="{FF2B5EF4-FFF2-40B4-BE49-F238E27FC236}">
                <a16:creationId xmlns:a16="http://schemas.microsoft.com/office/drawing/2014/main" id="{5F1AD0A0-3767-4557-ABC4-14A1CEF4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861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head  55.82</a:t>
            </a:r>
          </a:p>
        </p:txBody>
      </p:sp>
      <p:sp>
        <p:nvSpPr>
          <p:cNvPr id="28" name="shape-288">
            <a:extLst xmlns:a="http://schemas.openxmlformats.org/drawingml/2006/main">
              <a:ext uri="{FF2B5EF4-FFF2-40B4-BE49-F238E27FC236}">
                <a16:creationId xmlns:a16="http://schemas.microsoft.com/office/drawing/2014/main" id="{EBECFDE4-0A3B-49A7-B4B4-07B8F04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-289">
            <a:extLst xmlns:a="http://schemas.openxmlformats.org/drawingml/2006/main">
              <a:ext uri="{FF2B5EF4-FFF2-40B4-BE49-F238E27FC236}">
                <a16:creationId xmlns:a16="http://schemas.microsoft.com/office/drawing/2014/main" id="{84C60E7E-B700-41D9-BA94-39EEC54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744043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-290">
            <a:extLst xmlns:a="http://schemas.openxmlformats.org/drawingml/2006/main">
              <a:ext uri="{FF2B5EF4-FFF2-40B4-BE49-F238E27FC236}">
                <a16:creationId xmlns:a16="http://schemas.microsoft.com/office/drawing/2014/main" id="{7A2868F4-291E-4080-867D-0839019B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 head  84.29</a:t>
            </a:r>
          </a:p>
        </p:txBody>
      </p:sp>
      <p:sp>
        <p:nvSpPr>
          <p:cNvPr id="31" name="text-291">
            <a:extLst xmlns:a="http://schemas.openxmlformats.org/drawingml/2006/main">
              <a:ext uri="{FF2B5EF4-FFF2-40B4-BE49-F238E27FC236}">
                <a16:creationId xmlns:a16="http://schemas.microsoft.com/office/drawing/2014/main" id="{DE390181-2706-40C6-9368-B30BDF9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32" name="shape-292">
            <a:extLst xmlns:a="http://schemas.openxmlformats.org/drawingml/2006/main">
              <a:ext uri="{FF2B5EF4-FFF2-40B4-BE49-F238E27FC236}">
                <a16:creationId xmlns:a16="http://schemas.microsoft.com/office/drawing/2014/main" id="{D0FA8F29-C403-4DC1-9A04-C8A23C1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-293">
            <a:extLst xmlns:a="http://schemas.openxmlformats.org/drawingml/2006/main">
              <a:ext uri="{FF2B5EF4-FFF2-40B4-BE49-F238E27FC236}">
                <a16:creationId xmlns:a16="http://schemas.microsoft.com/office/drawing/2014/main" id="{1004F58F-328C-4E76-97D5-568605B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479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65DA3"/>
          </a:solidFill>
          <a:ln xmlns:a="http://schemas.openxmlformats.org/drawingml/2006/main" w="0">
            <a:solidFill>
              <a:srgbClr val="765D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-294">
            <a:extLst xmlns:a="http://schemas.openxmlformats.org/drawingml/2006/main">
              <a:ext uri="{FF2B5EF4-FFF2-40B4-BE49-F238E27FC236}">
                <a16:creationId xmlns:a16="http://schemas.microsoft.com/office/drawing/2014/main" id="{60ECC004-3957-479A-AE11-D37AA6A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291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head  59.98</a:t>
            </a:r>
          </a:p>
        </p:txBody>
      </p:sp>
      <p:sp>
        <p:nvSpPr>
          <p:cNvPr id="35" name="shape-295">
            <a:extLst xmlns:a="http://schemas.openxmlformats.org/drawingml/2006/main">
              <a:ext uri="{FF2B5EF4-FFF2-40B4-BE49-F238E27FC236}">
                <a16:creationId xmlns:a16="http://schemas.microsoft.com/office/drawing/2014/main" id="{478997B6-6B46-4ED0-A23A-9405AA2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8001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1F2"/>
          </a:solidFill>
          <a:ln xmlns:a="http://schemas.openxmlformats.org/drawingml/2006/main" w="0">
            <a:solidFill>
              <a:srgbClr val="F2F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-296">
            <a:extLst xmlns:a="http://schemas.openxmlformats.org/drawingml/2006/main">
              <a:ext uri="{FF2B5EF4-FFF2-40B4-BE49-F238E27FC236}">
                <a16:creationId xmlns:a16="http://schemas.microsoft.com/office/drawing/2014/main" id="{07A86A5F-D91A-48F8-AD8B-347D632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7252907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solidFill>
              <a:srgbClr val="2F55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-297">
            <a:extLst xmlns:a="http://schemas.openxmlformats.org/drawingml/2006/main">
              <a:ext uri="{FF2B5EF4-FFF2-40B4-BE49-F238E27FC236}">
                <a16:creationId xmlns:a16="http://schemas.microsoft.com/office/drawing/2014/main" id="{6D36D5E8-5E7B-405D-B112-C280D2C8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 head  90.65</a:t>
            </a:r>
          </a:p>
        </p:txBody>
      </p:sp>
      <p:sp>
        <p:nvSpPr>
          <p:cNvPr id="38" name="shape-298">
            <a:extLst xmlns:a="http://schemas.openxmlformats.org/drawingml/2006/main">
              <a:ext uri="{FF2B5EF4-FFF2-40B4-BE49-F238E27FC236}">
                <a16:creationId xmlns:a16="http://schemas.microsoft.com/office/drawing/2014/main" id="{67ED8B1F-14E1-4B6B-9B45-9CCC4F8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91175"/>
            <a:ext cx="923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-299">
            <a:extLst xmlns:a="http://schemas.openxmlformats.org/drawingml/2006/main">
              <a:ext uri="{FF2B5EF4-FFF2-40B4-BE49-F238E27FC236}">
                <a16:creationId xmlns:a16="http://schemas.microsoft.com/office/drawing/2014/main" id="{D431CB1B-1DFC-475E-B051-688E3B0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8763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Target-supervised adaptation only; not zero-shot or shared-window training evidence.</a:t>
            </a:r>
          </a:p>
        </p:txBody>
      </p:sp>
    </p:spTree>
    <p:extLst>
      <p:ext uri="{BB962C8B-B14F-4D97-AF65-F5344CB8AC3E}">
        <p14:creationId xmlns:p14="http://schemas.microsoft.com/office/powerpoint/2010/main" val="5706117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hape-300">
            <a:extLst xmlns:a="http://schemas.openxmlformats.org/drawingml/2006/main">
              <a:ext uri="{FF2B5EF4-FFF2-40B4-BE49-F238E27FC236}">
                <a16:creationId xmlns:a16="http://schemas.microsoft.com/office/drawing/2014/main" id="{CD51AE03-2606-43E9-953E-81CF482D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hape-301">
            <a:extLst xmlns:a="http://schemas.openxmlformats.org/drawingml/2006/main">
              <a:ext uri="{FF2B5EF4-FFF2-40B4-BE49-F238E27FC236}">
                <a16:creationId xmlns:a16="http://schemas.microsoft.com/office/drawing/2014/main" id="{2136227B-FFDA-44F3-85A9-A5949844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-302">
            <a:extLst xmlns:a="http://schemas.openxmlformats.org/drawingml/2006/main">
              <a:ext uri="{FF2B5EF4-FFF2-40B4-BE49-F238E27FC236}">
                <a16:creationId xmlns:a16="http://schemas.microsoft.com/office/drawing/2014/main" id="{AC3876DE-664D-4F18-B013-08EA7315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109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-303">
            <a:extLst xmlns:a="http://schemas.openxmlformats.org/drawingml/2006/main">
              <a:ext uri="{FF2B5EF4-FFF2-40B4-BE49-F238E27FC236}">
                <a16:creationId xmlns:a16="http://schemas.microsoft.com/office/drawing/2014/main" id="{02D7C78F-2D60-4275-8EC7-CDC03240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76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353"/>
          </a:solidFill>
          <a:ln xmlns:a="http://schemas.openxmlformats.org/drawingml/2006/main" w="0">
            <a:solidFill>
              <a:srgbClr val="3213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304">
            <a:extLst xmlns:a="http://schemas.openxmlformats.org/drawingml/2006/main">
              <a:ext uri="{FF2B5EF4-FFF2-40B4-BE49-F238E27FC236}">
                <a16:creationId xmlns:a16="http://schemas.microsoft.com/office/drawing/2014/main" id="{180477FE-C0BF-413F-8C8A-5964F503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38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Appendix — Historical exploratory diagnostic: minority failure</a:t>
            </a:r>
          </a:p>
        </p:txBody>
      </p:sp>
      <p:sp>
        <p:nvSpPr>
          <p:cNvPr id="6" name="shape-305">
            <a:extLst xmlns:a="http://schemas.openxmlformats.org/drawingml/2006/main">
              <a:ext uri="{FF2B5EF4-FFF2-40B4-BE49-F238E27FC236}">
                <a16:creationId xmlns:a16="http://schemas.microsoft.com/office/drawing/2014/main" id="{877C48A2-297E-4E80-AA7D-CE0AF192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960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EE"/>
          </a:solidFill>
          <a:ln xmlns:a="http://schemas.openxmlformats.org/drawingml/2006/main" w="0">
            <a:solidFill>
              <a:srgbClr val="E4E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-306">
            <a:extLst xmlns:a="http://schemas.openxmlformats.org/drawingml/2006/main">
              <a:ext uri="{FF2B5EF4-FFF2-40B4-BE49-F238E27FC236}">
                <a16:creationId xmlns:a16="http://schemas.microsoft.com/office/drawing/2014/main" id="{6C148FBE-05AF-4325-AA0D-8C40BF2B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389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9" name="text-308">
            <a:extLst xmlns:a="http://schemas.openxmlformats.org/drawingml/2006/main">
              <a:ext uri="{FF2B5EF4-FFF2-40B4-BE49-F238E27FC236}">
                <a16:creationId xmlns:a16="http://schemas.microsoft.com/office/drawing/2014/main" id="{294DB1F3-3DAE-4726-BB6B-0FCA819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2238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text-310">
            <a:extLst xmlns:a="http://schemas.openxmlformats.org/drawingml/2006/main">
              <a:ext uri="{FF2B5EF4-FFF2-40B4-BE49-F238E27FC236}">
                <a16:creationId xmlns:a16="http://schemas.microsoft.com/office/drawing/2014/main" id="{5CADB731-A532-446F-B2AF-E53F3995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Historical aggregate metrics</a:t>
            </a:r>
          </a:p>
        </p:txBody>
      </p:sp>
      <p:sp>
        <p:nvSpPr>
          <p:cNvPr id="12" name="text-311">
            <a:extLst xmlns:a="http://schemas.openxmlformats.org/drawingml/2006/main">
              <a:ext uri="{FF2B5EF4-FFF2-40B4-BE49-F238E27FC236}">
                <a16:creationId xmlns:a16="http://schemas.microsoft.com/office/drawing/2014/main" id="{CB5A2267-4BA2-4843-8986-C5BA946F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90625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SPRSound inter support</a:t>
            </a:r>
          </a:p>
        </p:txBody>
      </p:sp>
      <p:sp>
        <p:nvSpPr>
          <p:cNvPr id="13" name="shape-312">
            <a:extLst xmlns:a="http://schemas.openxmlformats.org/drawingml/2006/main">
              <a:ext uri="{FF2B5EF4-FFF2-40B4-BE49-F238E27FC236}">
                <a16:creationId xmlns:a16="http://schemas.microsoft.com/office/drawing/2014/main" id="{288A0B36-6AFA-4946-B259-86759D0F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561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313">
            <a:extLst xmlns:a="http://schemas.openxmlformats.org/drawingml/2006/main">
              <a:ext uri="{FF2B5EF4-FFF2-40B4-BE49-F238E27FC236}">
                <a16:creationId xmlns:a16="http://schemas.microsoft.com/office/drawing/2014/main" id="{E0774E37-F47F-426B-A9EC-93BBD211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5" name="text-314">
            <a:extLst xmlns:a="http://schemas.openxmlformats.org/drawingml/2006/main">
              <a:ext uri="{FF2B5EF4-FFF2-40B4-BE49-F238E27FC236}">
                <a16:creationId xmlns:a16="http://schemas.microsoft.com/office/drawing/2014/main" id="{17080A14-338E-4370-82BF-2CF91F8E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288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Official Score</a:t>
            </a:r>
          </a:p>
        </p:txBody>
      </p:sp>
      <p:sp>
        <p:nvSpPr>
          <p:cNvPr id="16" name="text-315">
            <a:extLst xmlns:a="http://schemas.openxmlformats.org/drawingml/2006/main">
              <a:ext uri="{FF2B5EF4-FFF2-40B4-BE49-F238E27FC236}">
                <a16:creationId xmlns:a16="http://schemas.microsoft.com/office/drawing/2014/main" id="{55A6D7C2-E3DC-4880-B4AC-9A8474AE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1455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82.37</a:t>
            </a:r>
          </a:p>
        </p:txBody>
      </p:sp>
      <p:sp>
        <p:nvSpPr>
          <p:cNvPr id="17" name="text-316">
            <a:extLst xmlns:a="http://schemas.openxmlformats.org/drawingml/2006/main">
              <a:ext uri="{FF2B5EF4-FFF2-40B4-BE49-F238E27FC236}">
                <a16:creationId xmlns:a16="http://schemas.microsoft.com/office/drawing/2014/main" id="{0771B40E-9E2D-49C8-89F7-EB97E54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288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Macro-F1</a:t>
            </a:r>
          </a:p>
        </p:txBody>
      </p:sp>
      <p:sp>
        <p:nvSpPr>
          <p:cNvPr id="18" name="text-317">
            <a:extLst xmlns:a="http://schemas.openxmlformats.org/drawingml/2006/main">
              <a:ext uri="{FF2B5EF4-FFF2-40B4-BE49-F238E27FC236}">
                <a16:creationId xmlns:a16="http://schemas.microsoft.com/office/drawing/2014/main" id="{92E3CD67-CCD1-48C9-9F9F-0BFF8CF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14550"/>
            <a:ext cx="95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0.362</a:t>
            </a:r>
          </a:p>
        </p:txBody>
      </p:sp>
      <p:sp>
        <p:nvSpPr>
          <p:cNvPr id="19" name="text-318">
            <a:extLst xmlns:a="http://schemas.openxmlformats.org/drawingml/2006/main">
              <a:ext uri="{FF2B5EF4-FFF2-40B4-BE49-F238E27FC236}">
                <a16:creationId xmlns:a16="http://schemas.microsoft.com/office/drawing/2014/main" id="{C045A460-19CC-466A-9121-58BC4CDC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288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UAR</a:t>
            </a:r>
          </a:p>
        </p:txBody>
      </p:sp>
      <p:sp>
        <p:nvSpPr>
          <p:cNvPr id="20" name="text-319">
            <a:extLst xmlns:a="http://schemas.openxmlformats.org/drawingml/2006/main">
              <a:ext uri="{FF2B5EF4-FFF2-40B4-BE49-F238E27FC236}">
                <a16:creationId xmlns:a16="http://schemas.microsoft.com/office/drawing/2014/main" id="{7F13B726-25C6-4B4D-956F-0486A1F1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145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0.351</a:t>
            </a:r>
          </a:p>
        </p:txBody>
      </p:sp>
      <p:sp>
        <p:nvSpPr>
          <p:cNvPr id="21" name="shape-320">
            <a:extLst xmlns:a="http://schemas.openxmlformats.org/drawingml/2006/main">
              <a:ext uri="{FF2B5EF4-FFF2-40B4-BE49-F238E27FC236}">
                <a16:creationId xmlns:a16="http://schemas.microsoft.com/office/drawing/2014/main" id="{B32E1A99-A22E-487A-A5ED-CCDA97D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561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-321">
            <a:extLst xmlns:a="http://schemas.openxmlformats.org/drawingml/2006/main">
              <a:ext uri="{FF2B5EF4-FFF2-40B4-BE49-F238E27FC236}">
                <a16:creationId xmlns:a16="http://schemas.microsoft.com/office/drawing/2014/main" id="{6657BDFB-AB76-4AFF-B4EB-BA0A607E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23" name="text-322">
            <a:extLst xmlns:a="http://schemas.openxmlformats.org/drawingml/2006/main">
              <a:ext uri="{FF2B5EF4-FFF2-40B4-BE49-F238E27FC236}">
                <a16:creationId xmlns:a16="http://schemas.microsoft.com/office/drawing/2014/main" id="{109B490E-A474-43AF-BA19-89623CD6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670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Official Score</a:t>
            </a:r>
          </a:p>
        </p:txBody>
      </p:sp>
      <p:sp>
        <p:nvSpPr>
          <p:cNvPr id="24" name="text-323">
            <a:extLst xmlns:a="http://schemas.openxmlformats.org/drawingml/2006/main">
              <a:ext uri="{FF2B5EF4-FFF2-40B4-BE49-F238E27FC236}">
                <a16:creationId xmlns:a16="http://schemas.microsoft.com/office/drawing/2014/main" id="{1C8BF55D-7C6F-47E1-898E-6D5FA2E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528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75.77</a:t>
            </a:r>
          </a:p>
        </p:txBody>
      </p:sp>
      <p:sp>
        <p:nvSpPr>
          <p:cNvPr id="25" name="text-324">
            <a:extLst xmlns:a="http://schemas.openxmlformats.org/drawingml/2006/main">
              <a:ext uri="{FF2B5EF4-FFF2-40B4-BE49-F238E27FC236}">
                <a16:creationId xmlns:a16="http://schemas.microsoft.com/office/drawing/2014/main" id="{2B237B26-A7FD-4B98-8469-05E8AAE3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670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Macro-F1</a:t>
            </a:r>
          </a:p>
        </p:txBody>
      </p:sp>
      <p:sp>
        <p:nvSpPr>
          <p:cNvPr id="26" name="text-325">
            <a:extLst xmlns:a="http://schemas.openxmlformats.org/drawingml/2006/main">
              <a:ext uri="{FF2B5EF4-FFF2-40B4-BE49-F238E27FC236}">
                <a16:creationId xmlns:a16="http://schemas.microsoft.com/office/drawing/2014/main" id="{896DC8DD-51F2-47C6-A15D-93AE4BB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95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0.387</a:t>
            </a:r>
          </a:p>
        </p:txBody>
      </p:sp>
      <p:sp>
        <p:nvSpPr>
          <p:cNvPr id="27" name="text-326">
            <a:extLst xmlns:a="http://schemas.openxmlformats.org/drawingml/2006/main">
              <a:ext uri="{FF2B5EF4-FFF2-40B4-BE49-F238E27FC236}">
                <a16:creationId xmlns:a16="http://schemas.microsoft.com/office/drawing/2014/main" id="{781798E9-867F-4719-BEA7-AD63DCB7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670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UAR</a:t>
            </a:r>
          </a:p>
        </p:txBody>
      </p:sp>
      <p:sp>
        <p:nvSpPr>
          <p:cNvPr id="28" name="text-327">
            <a:extLst xmlns:a="http://schemas.openxmlformats.org/drawingml/2006/main">
              <a:ext uri="{FF2B5EF4-FFF2-40B4-BE49-F238E27FC236}">
                <a16:creationId xmlns:a16="http://schemas.microsoft.com/office/drawing/2014/main" id="{FB4C92B9-17E6-49F9-A3D4-733A6D7E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5280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0.279</a:t>
            </a:r>
          </a:p>
        </p:txBody>
      </p:sp>
      <p:sp>
        <p:nvSpPr>
          <p:cNvPr id="29" name="shape-328">
            <a:extLst xmlns:a="http://schemas.openxmlformats.org/drawingml/2006/main">
              <a:ext uri="{FF2B5EF4-FFF2-40B4-BE49-F238E27FC236}">
                <a16:creationId xmlns:a16="http://schemas.microsoft.com/office/drawing/2014/main" id="{09A9D3FD-6B60-4408-BE8A-5A7BAA7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561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1F8"/>
          </a:solidFill>
          <a:ln xmlns:a="http://schemas.openxmlformats.org/drawingml/2006/main" w="0">
            <a:solidFill>
              <a:srgbClr val="F4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-329">
            <a:extLst xmlns:a="http://schemas.openxmlformats.org/drawingml/2006/main">
              <a:ext uri="{FF2B5EF4-FFF2-40B4-BE49-F238E27FC236}">
                <a16:creationId xmlns:a16="http://schemas.microsoft.com/office/drawing/2014/main" id="{19497AAA-90EB-46A3-9B77-7AE35693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31" name="text-330">
            <a:extLst xmlns:a="http://schemas.openxmlformats.org/drawingml/2006/main">
              <a:ext uri="{FF2B5EF4-FFF2-40B4-BE49-F238E27FC236}">
                <a16:creationId xmlns:a16="http://schemas.microsoft.com/office/drawing/2014/main" id="{7DAA25A8-E195-421C-8141-C95B8377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053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Official Score</a:t>
            </a:r>
          </a:p>
        </p:txBody>
      </p:sp>
      <p:sp>
        <p:nvSpPr>
          <p:cNvPr id="32" name="text-331">
            <a:extLst xmlns:a="http://schemas.openxmlformats.org/drawingml/2006/main">
              <a:ext uri="{FF2B5EF4-FFF2-40B4-BE49-F238E27FC236}">
                <a16:creationId xmlns:a16="http://schemas.microsoft.com/office/drawing/2014/main" id="{123F2F0D-D34E-46CB-89B5-67F8FE9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9105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84.41</a:t>
            </a:r>
          </a:p>
        </p:txBody>
      </p:sp>
      <p:sp>
        <p:nvSpPr>
          <p:cNvPr id="33" name="text-332">
            <a:extLst xmlns:a="http://schemas.openxmlformats.org/drawingml/2006/main">
              <a:ext uri="{FF2B5EF4-FFF2-40B4-BE49-F238E27FC236}">
                <a16:creationId xmlns:a16="http://schemas.microsoft.com/office/drawing/2014/main" id="{EBFB21B6-4E57-4514-9EB8-554D534B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053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Macro-F1</a:t>
            </a:r>
          </a:p>
        </p:txBody>
      </p:sp>
      <p:sp>
        <p:nvSpPr>
          <p:cNvPr id="34" name="text-333">
            <a:extLst xmlns:a="http://schemas.openxmlformats.org/drawingml/2006/main">
              <a:ext uri="{FF2B5EF4-FFF2-40B4-BE49-F238E27FC236}">
                <a16:creationId xmlns:a16="http://schemas.microsoft.com/office/drawing/2014/main" id="{4461FC84-FBD3-469C-88F5-0CF9555A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91050"/>
            <a:ext cx="95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0.372</a:t>
            </a:r>
          </a:p>
        </p:txBody>
      </p:sp>
      <p:sp>
        <p:nvSpPr>
          <p:cNvPr id="35" name="text-334">
            <a:extLst xmlns:a="http://schemas.openxmlformats.org/drawingml/2006/main">
              <a:ext uri="{FF2B5EF4-FFF2-40B4-BE49-F238E27FC236}">
                <a16:creationId xmlns:a16="http://schemas.microsoft.com/office/drawing/2014/main" id="{C9070E7E-0228-4119-A3FB-C14C9B55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053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UAR</a:t>
            </a:r>
          </a:p>
        </p:txBody>
      </p:sp>
      <p:sp>
        <p:nvSpPr>
          <p:cNvPr id="36" name="text-335">
            <a:extLst xmlns:a="http://schemas.openxmlformats.org/drawingml/2006/main">
              <a:ext uri="{FF2B5EF4-FFF2-40B4-BE49-F238E27FC236}">
                <a16:creationId xmlns:a16="http://schemas.microsoft.com/office/drawing/2014/main" id="{D3399E6A-BA95-40EA-A47F-FB504AD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910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0.351</a:t>
            </a:r>
          </a:p>
        </p:txBody>
      </p:sp>
      <p:sp>
        <p:nvSpPr>
          <p:cNvPr id="37" name="text-336">
            <a:extLst xmlns:a="http://schemas.openxmlformats.org/drawingml/2006/main">
              <a:ext uri="{FF2B5EF4-FFF2-40B4-BE49-F238E27FC236}">
                <a16:creationId xmlns:a16="http://schemas.microsoft.com/office/drawing/2014/main" id="{7E0480EC-6664-4C27-9012-133AFE90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1571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Normal</a:t>
            </a:r>
          </a:p>
        </p:txBody>
      </p:sp>
      <p:sp>
        <p:nvSpPr>
          <p:cNvPr id="38" name="shape-337">
            <a:extLst xmlns:a="http://schemas.openxmlformats.org/drawingml/2006/main">
              <a:ext uri="{FF2B5EF4-FFF2-40B4-BE49-F238E27FC236}">
                <a16:creationId xmlns:a16="http://schemas.microsoft.com/office/drawing/2014/main" id="{9FBA974F-F9E8-4687-8FBF-8F249355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04975"/>
            <a:ext cx="36195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-338">
            <a:extLst xmlns:a="http://schemas.openxmlformats.org/drawingml/2006/main">
              <a:ext uri="{FF2B5EF4-FFF2-40B4-BE49-F238E27FC236}">
                <a16:creationId xmlns:a16="http://schemas.microsoft.com/office/drawing/2014/main" id="{4C7521F5-8BA7-4740-AEAB-0F55ADE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716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1040</a:t>
            </a:r>
          </a:p>
        </p:txBody>
      </p:sp>
      <p:sp>
        <p:nvSpPr>
          <p:cNvPr id="40" name="text-339">
            <a:extLst xmlns:a="http://schemas.openxmlformats.org/drawingml/2006/main">
              <a:ext uri="{FF2B5EF4-FFF2-40B4-BE49-F238E27FC236}">
                <a16:creationId xmlns:a16="http://schemas.microsoft.com/office/drawing/2014/main" id="{75754E3C-0CCF-4B0E-81FC-10B8E404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86025"/>
            <a:ext cx="1571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</a:t>
            </a:r>
          </a:p>
        </p:txBody>
      </p:sp>
      <p:sp>
        <p:nvSpPr>
          <p:cNvPr id="41" name="shape-340">
            <a:extLst xmlns:a="http://schemas.openxmlformats.org/drawingml/2006/main">
              <a:ext uri="{FF2B5EF4-FFF2-40B4-BE49-F238E27FC236}">
                <a16:creationId xmlns:a16="http://schemas.microsoft.com/office/drawing/2014/main" id="{28DAFF97-F4DA-4CB0-B064-B8A77B4B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38400"/>
            <a:ext cx="2981679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B7189"/>
          </a:solidFill>
          <a:ln xmlns:a="http://schemas.openxmlformats.org/drawingml/2006/main" w="0">
            <a:solidFill>
              <a:srgbClr val="0B71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-341">
            <a:extLst xmlns:a="http://schemas.openxmlformats.org/drawingml/2006/main">
              <a:ext uri="{FF2B5EF4-FFF2-40B4-BE49-F238E27FC236}">
                <a16:creationId xmlns:a16="http://schemas.microsoft.com/office/drawing/2014/main" id="{864B26A6-A784-400C-897D-2787C7B8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8602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305</a:t>
            </a:r>
          </a:p>
        </p:txBody>
      </p:sp>
      <p:sp>
        <p:nvSpPr>
          <p:cNvPr id="43" name="text-342">
            <a:extLst xmlns:a="http://schemas.openxmlformats.org/drawingml/2006/main">
              <a:ext uri="{FF2B5EF4-FFF2-40B4-BE49-F238E27FC236}">
                <a16:creationId xmlns:a16="http://schemas.microsoft.com/office/drawing/2014/main" id="{3E7A2D11-3852-47F7-B6B5-6009F6D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1571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Fine crackle</a:t>
            </a:r>
          </a:p>
        </p:txBody>
      </p:sp>
      <p:sp>
        <p:nvSpPr>
          <p:cNvPr id="44" name="shape-343">
            <a:extLst xmlns:a="http://schemas.openxmlformats.org/drawingml/2006/main">
              <a:ext uri="{FF2B5EF4-FFF2-40B4-BE49-F238E27FC236}">
                <a16:creationId xmlns:a16="http://schemas.microsoft.com/office/drawing/2014/main" id="{8C23F8DC-1267-4EA4-94FE-0E5D21FA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703" y="3133725"/>
            <a:ext cx="2289271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765DA3"/>
          </a:solidFill>
          <a:ln xmlns:a="http://schemas.openxmlformats.org/drawingml/2006/main" w="0">
            <a:solidFill>
              <a:srgbClr val="765D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-344">
            <a:extLst xmlns:a="http://schemas.openxmlformats.org/drawingml/2006/main">
              <a:ext uri="{FF2B5EF4-FFF2-40B4-BE49-F238E27FC236}">
                <a16:creationId xmlns:a16="http://schemas.microsoft.com/office/drawing/2014/main" id="{2CB45617-21B8-4045-B580-7BC251D6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004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80</a:t>
            </a:r>
          </a:p>
        </p:txBody>
      </p:sp>
      <p:sp>
        <p:nvSpPr>
          <p:cNvPr id="46" name="text-345">
            <a:extLst xmlns:a="http://schemas.openxmlformats.org/drawingml/2006/main">
              <a:ext uri="{FF2B5EF4-FFF2-40B4-BE49-F238E27FC236}">
                <a16:creationId xmlns:a16="http://schemas.microsoft.com/office/drawing/2014/main" id="{9C02C814-FC52-4E6D-8D82-EDF56856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4775"/>
            <a:ext cx="1571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Coarse crackle</a:t>
            </a:r>
          </a:p>
        </p:txBody>
      </p:sp>
      <p:sp>
        <p:nvSpPr>
          <p:cNvPr id="47" name="shape-346">
            <a:extLst xmlns:a="http://schemas.openxmlformats.org/drawingml/2006/main">
              <a:ext uri="{FF2B5EF4-FFF2-40B4-BE49-F238E27FC236}">
                <a16:creationId xmlns:a16="http://schemas.microsoft.com/office/drawing/2014/main" id="{89F0CF32-9CF9-4DBC-91B3-698098B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6623" y="3830574"/>
            <a:ext cx="722184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A83E4B"/>
          </a:solidFill>
          <a:ln xmlns:a="http://schemas.openxmlformats.org/drawingml/2006/main" w="0">
            <a:solidFill>
              <a:srgbClr val="A83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-347">
            <a:extLst xmlns:a="http://schemas.openxmlformats.org/drawingml/2006/main">
              <a:ext uri="{FF2B5EF4-FFF2-40B4-BE49-F238E27FC236}">
                <a16:creationId xmlns:a16="http://schemas.microsoft.com/office/drawing/2014/main" id="{9C9A9C11-E44D-4698-ACFD-1A70F147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1477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49" name="text-348">
            <a:extLst xmlns:a="http://schemas.openxmlformats.org/drawingml/2006/main">
              <a:ext uri="{FF2B5EF4-FFF2-40B4-BE49-F238E27FC236}">
                <a16:creationId xmlns:a16="http://schemas.microsoft.com/office/drawing/2014/main" id="{70D33AEE-EF93-4A60-AB46-6FA1B61E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1571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 + crackle</a:t>
            </a:r>
          </a:p>
        </p:txBody>
      </p:sp>
      <p:sp>
        <p:nvSpPr>
          <p:cNvPr id="50" name="shape-349">
            <a:extLst xmlns:a="http://schemas.openxmlformats.org/drawingml/2006/main">
              <a:ext uri="{FF2B5EF4-FFF2-40B4-BE49-F238E27FC236}">
                <a16:creationId xmlns:a16="http://schemas.microsoft.com/office/drawing/2014/main" id="{DE7E6AE1-658B-4706-912A-3F804562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433" y="4526089"/>
            <a:ext cx="361092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A83E4B"/>
          </a:solidFill>
          <a:ln xmlns:a="http://schemas.openxmlformats.org/drawingml/2006/main" w="0">
            <a:solidFill>
              <a:srgbClr val="A83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-350">
            <a:extLst xmlns:a="http://schemas.openxmlformats.org/drawingml/2006/main">
              <a:ext uri="{FF2B5EF4-FFF2-40B4-BE49-F238E27FC236}">
                <a16:creationId xmlns:a16="http://schemas.microsoft.com/office/drawing/2014/main" id="{45D9AB4C-DACA-4493-B0C0-79BCED17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291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52" name="shape-351">
            <a:extLst xmlns:a="http://schemas.openxmlformats.org/drawingml/2006/main">
              <a:ext uri="{FF2B5EF4-FFF2-40B4-BE49-F238E27FC236}">
                <a16:creationId xmlns:a16="http://schemas.microsoft.com/office/drawing/2014/main" id="{0A17CDEB-3EE9-41BE-8703-F28B126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E2A84"/>
          </a:solidFill>
          <a:ln xmlns:a="http://schemas.openxmlformats.org/drawingml/2006/main" w="0">
            <a:solidFill>
              <a:srgbClr val="4E2A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ext-352">
            <a:extLst xmlns:a="http://schemas.openxmlformats.org/drawingml/2006/main">
              <a:ext uri="{FF2B5EF4-FFF2-40B4-BE49-F238E27FC236}">
                <a16:creationId xmlns:a16="http://schemas.microsoft.com/office/drawing/2014/main" id="{DA430F51-2CAC-4C48-90D7-6A236C1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534025"/>
            <a:ext cx="4381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Historical tail-failure observation; not a current method conclusion.</a:t>
            </a:r>
          </a:p>
        </p:txBody>
      </p:sp>
    </p:spTree>
    <p:extLst>
      <p:ext uri="{BB962C8B-B14F-4D97-AF65-F5344CB8AC3E}">
        <p14:creationId xmlns:p14="http://schemas.microsoft.com/office/powerpoint/2010/main" val="1232707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2026-08-13T19:44:41.0470000Z</dcterms:created>
  <dcterms:modified xsi:type="dcterms:W3CDTF">2026-08-13T19:44:41.0470000Z</dcterms:modified>
</coreProperties>
</file>