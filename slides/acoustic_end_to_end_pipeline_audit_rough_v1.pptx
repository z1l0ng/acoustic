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1aa1e5dbb5427f" /><Relationship Type="http://schemas.openxmlformats.org/officeDocument/2006/relationships/extended-properties" Target="/docProps/app.xml" Id="R8e48285eacb04823" /><Relationship Type="http://schemas.openxmlformats.org/officeDocument/2006/relationships/officeDocument" Target="/ppt/presentation.xml" Id="R49a6f5c51a4e41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1de8d9e00946d1"/>
  </p:sldMasterIdLst>
  <p:notesMasterIdLst>
    <p:notesMasterId xmlns:r="http://schemas.openxmlformats.org/officeDocument/2006/relationships" r:id="Ra1af366ff5774177"/>
  </p:notesMasterIdLst>
  <p:sldIdLst>
    <p:sldId xmlns:r="http://schemas.openxmlformats.org/officeDocument/2006/relationships" id="256" r:id="R47b38a6abe9c4199"/>
    <p:sldId xmlns:r="http://schemas.openxmlformats.org/officeDocument/2006/relationships" id="257" r:id="Ra38a9f0eddfc44f2"/>
    <p:sldId xmlns:r="http://schemas.openxmlformats.org/officeDocument/2006/relationships" id="258" r:id="R875f8efba89d4918"/>
    <p:sldId xmlns:r="http://schemas.openxmlformats.org/officeDocument/2006/relationships" id="259" r:id="Re3bd279d43214d55"/>
    <p:sldId xmlns:r="http://schemas.openxmlformats.org/officeDocument/2006/relationships" id="260" r:id="R97ea1ad140ae4997"/>
    <p:sldId xmlns:r="http://schemas.openxmlformats.org/officeDocument/2006/relationships" id="261" r:id="Rce5d90ec7ff94508"/>
    <p:sldId xmlns:r="http://schemas.openxmlformats.org/officeDocument/2006/relationships" id="262" r:id="R83ea3058057240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502c1cebf0c4ab4" /><Relationship Type="http://schemas.openxmlformats.org/officeDocument/2006/relationships/slideMaster" Target="/ppt/slideMasters/slideMaster1.xml" Id="R5f1de8d9e00946d1" /><Relationship Type="http://schemas.openxmlformats.org/officeDocument/2006/relationships/notesMaster" Target="/ppt/notesMasters/notesMaster1.xml" Id="Ra1af366ff5774177" /><Relationship Type="http://schemas.openxmlformats.org/officeDocument/2006/relationships/presProps" Target="/ppt/presProps.xml" Id="R481fb615de6341c7" /><Relationship Type="http://schemas.openxmlformats.org/officeDocument/2006/relationships/tableStyles" Target="/ppt/tableStyles.xml" Id="Rdd5be11911e4476c" /><Relationship Type="http://schemas.openxmlformats.org/officeDocument/2006/relationships/slide" Target="/ppt/slides/slide1.xml" Id="R47b38a6abe9c4199" /><Relationship Type="http://schemas.openxmlformats.org/officeDocument/2006/relationships/slide" Target="/ppt/slides/slide2.xml" Id="Ra38a9f0eddfc44f2" /><Relationship Type="http://schemas.openxmlformats.org/officeDocument/2006/relationships/slide" Target="/ppt/slides/slide3.xml" Id="R875f8efba89d4918" /><Relationship Type="http://schemas.openxmlformats.org/officeDocument/2006/relationships/slide" Target="/ppt/slides/slide4.xml" Id="Re3bd279d43214d55" /><Relationship Type="http://schemas.openxmlformats.org/officeDocument/2006/relationships/slide" Target="/ppt/slides/slide5.xml" Id="R97ea1ad140ae4997" /><Relationship Type="http://schemas.openxmlformats.org/officeDocument/2006/relationships/slide" Target="/ppt/slides/slide6.xml" Id="Rce5d90ec7ff94508" /><Relationship Type="http://schemas.openxmlformats.org/officeDocument/2006/relationships/slide" Target="/ppt/slides/slide7.xml" Id="R83ea3058057240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79f3e7d81244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8558b3344c494c" /><Relationship Type="http://schemas.openxmlformats.org/officeDocument/2006/relationships/notesMaster" Target="/ppt/notesMasters/notesMaster1.xml" Id="R85397fd865a844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f74915c1774d5c" /><Relationship Type="http://schemas.openxmlformats.org/officeDocument/2006/relationships/notesMaster" Target="/ppt/notesMasters/notesMaster1.xml" Id="Rf0997668da1644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04005539f54fd6" /><Relationship Type="http://schemas.openxmlformats.org/officeDocument/2006/relationships/notesMaster" Target="/ppt/notesMasters/notesMaster1.xml" Id="R26235ed0686f43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934acc21214dce" /><Relationship Type="http://schemas.openxmlformats.org/officeDocument/2006/relationships/notesMaster" Target="/ppt/notesMasters/notesMaster1.xml" Id="R629c7d7ac56940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d28d58dfa640ec" /><Relationship Type="http://schemas.openxmlformats.org/officeDocument/2006/relationships/notesMaster" Target="/ppt/notesMasters/notesMaster1.xml" Id="R8a0c920b4f994e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41b57bb79e4892" /><Relationship Type="http://schemas.openxmlformats.org/officeDocument/2006/relationships/notesMaster" Target="/ppt/notesMasters/notesMaster1.xml" Id="R4dea12cdbbc444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49e3838cebd474a" /><Relationship Type="http://schemas.openxmlformats.org/officeDocument/2006/relationships/notesMaster" Target="/ppt/notesMasters/notesMaster1.xml" Id="Rcb79c7d182e249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https://app.notion.com/p/3ab309efda2981f7a7ceeed39832700c</a:t>
            </a:r>
          </a:p>
          <a:p xmlns:a="http://schemas.openxmlformats.org/drawingml/2006/main">
            <a:r>
              <a:t>- /Users/zilongzeng/Research/Acoustic/docs/datasets/four_dataset_task_contract_review_2026-07-28.md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/Users/zilongzeng/Research/Acoustic/experiments/icbhi_sprsound_shared_encoder_native_heads.yaml</a:t>
            </a:r>
          </a:p>
          <a:p xmlns:a="http://schemas.openxmlformats.org/drawingml/2006/main">
            <a:r>
              <a:t>- /Users/zilongzeng/Research/Acoustic/baseline/shared_encoder_native_heads/protocol.py</a:t>
            </a:r>
          </a:p>
          <a:p xmlns:a="http://schemas.openxmlformats.org/drawingml/2006/main">
            <a:r>
              <a:t>- /Users/zilongzeng/Research/Acoustic/baseline/shared_encoder_native_heads/protocol.json</a:t>
            </a:r>
          </a:p>
          <a:p xmlns:a="http://schemas.openxmlformats.org/drawingml/2006/main">
            <a:r>
              <a:t>- /Users/zilongzeng/Research/Acoustic/baseline/shared_encoder_native_heads/README.md</a:t>
            </a:r>
          </a:p>
          <a:p xmlns:a="http://schemas.openxmlformats.org/drawingml/2006/main">
            <a:r>
              <a:t>- /Users/zilongzeng/Research/Acoustic/.cache/icbhi_sprsound_shared_encoder_native_heads/source/repo/models/ast.py</a:t>
            </a:r>
          </a:p>
          <a:p xmlns:a="http://schemas.openxmlformats.org/drawingml/2006/main">
            <a:r>
              <a:t>- /Users/zilongzeng/Research/Acoustic/result/icbhi_sprsound_shared_encoder_native_heads/protocol_and_data_receipt.json</a:t>
            </a:r>
          </a:p>
          <a:p xmlns:a="http://schemas.openxmlformats.org/drawingml/2006/main">
            <a:r>
              <a:t>- /Users/zilongzeng/Research/Acoustic/result/icbhi_sprsound_shared_encoder_native_heads/smoke_receipt.json</a:t>
            </a:r>
          </a:p>
          <a:p xmlns:a="http://schemas.openxmlformats.org/drawingml/2006/main">
            <a:r>
              <a:t>- /Users/zilongzeng/Research/Acoustic/result/icbhi_sprsound_shared_encoder_native_heads/profile_receipt.json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/Users/zilongzeng/Research/Acoustic/result/four_dataset_representation_attribution/hf_proxy_fixed_v2/comparison/encoder_selection.json</a:t>
            </a:r>
          </a:p>
          <a:p xmlns:a="http://schemas.openxmlformats.org/drawingml/2006/main">
            <a:r>
              <a:t>- /Users/zilongzeng/Research/Acoustic/result/four_dataset_representation_attribution/hf_proxy_fixed_v2/data_receipt.json</a:t>
            </a:r>
          </a:p>
          <a:p xmlns:a="http://schemas.openxmlformats.org/drawingml/2006/main">
            <a:r>
              <a:t>- /Users/zilongzeng/Research/Acoustic/baseline/shared_compatible_head_harmonization/protocol.json</a:t>
            </a:r>
          </a:p>
          <a:p xmlns:a="http://schemas.openxmlformats.org/drawingml/2006/main">
            <a:r>
              <a:t>- /Users/zilongzeng/Research/Acoustic/result/four_dataset_shared_compatible_head_harmonization/hf_proxy_fixed_v2/verification.json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/Users/zilongzeng/Research/Acoustic/docs/datasets/four_dataset_task_contract_draft_2026-07-28.json</a:t>
            </a:r>
          </a:p>
          <a:p xmlns:a="http://schemas.openxmlformats.org/drawingml/2006/main">
            <a:r>
              <a:t>- /Users/zilongzeng/Research/Acoustic/docs/datasets/four_dataset_task_contract_review_2026-07-28.md</a:t>
            </a:r>
          </a:p>
          <a:p xmlns:a="http://schemas.openxmlformats.org/drawingml/2006/main">
            <a:r>
              <a:t>- https://app.notion.com/p/3ab309efda2981f7a7ceeed39832700c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/Users/zilongzeng/Research/Acoustic/docs/datasets/four_dataset_task_contract_review_2026-07-28.md</a:t>
            </a:r>
          </a:p>
          <a:p xmlns:a="http://schemas.openxmlformats.org/drawingml/2006/main">
            <a:r>
              <a:t>- /Users/zilongzeng/Research/Acoustic/result/four_dataset_representation_attribution/hf_proxy_fixed_v2/comparison/encoder_selection.json</a:t>
            </a:r>
          </a:p>
          <a:p xmlns:a="http://schemas.openxmlformats.org/drawingml/2006/main">
            <a:r>
              <a:t>- https://app.notion.com/p/3ab309efda2981f7a7ceeed39832700c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/Users/zilongzeng/Research/Acoustic/result/four_dataset_representation_attribution/hf_proxy_fixed_v2/comparison/encoder_selection.json</a:t>
            </a:r>
          </a:p>
          <a:p xmlns:a="http://schemas.openxmlformats.org/drawingml/2006/main">
            <a:r>
              <a:t>- /Users/zilongzeng/Research/Acoustic/result/four_dataset_shared_compatible_head_harmonization/hf_proxy_fixed_v2/harmonization_decision.json</a:t>
            </a:r>
          </a:p>
          <a:p xmlns:a="http://schemas.openxmlformats.org/drawingml/2006/main">
            <a:r>
              <a:t>- /Users/zilongzeng/Research/Acoustic/result/four_dataset_support_aware_crt/decision.json</a:t>
            </a:r>
          </a:p>
          <a:p xmlns:a="http://schemas.openxmlformats.org/drawingml/2006/main">
            <a:r>
              <a:t>- /Users/zilongzeng/Research/Acoustic/result/four_dataset_shortcut_diagnostic/decision.json</a:t>
            </a:r>
          </a:p>
          <a:p xmlns:a="http://schemas.openxmlformats.org/drawingml/2006/main">
            <a:r>
              <a:t>- /Users/zilongzeng/Research/Acoustic/result/four_dataset_event_sensitive_pooling/decision.json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https://app.notion.com/p/3ab309efda2981f7a7ceeed39832700c</a:t>
            </a:r>
          </a:p>
          <a:p xmlns:a="http://schemas.openxmlformats.org/drawingml/2006/main">
            <a:r>
              <a:t>- /Users/zilongzeng/Research/Acoustic/docs/datasets/four_dataset_task_contract_review_2026-07-28.md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ffccc2617348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b3c4ffaead4ba2" /><Relationship Type="http://schemas.openxmlformats.org/officeDocument/2006/relationships/slideLayout" Target="/ppt/slideLayouts/slideLayout1.xml" Id="R3f26b603110b45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26b603110b45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2ee5356558480d" /><Relationship Type="http://schemas.openxmlformats.org/officeDocument/2006/relationships/notesSlide" Target="/ppt/notesSlides/notesSlide1.xml" Id="R7cad579765e84b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08b4f7bdb64158" /><Relationship Type="http://schemas.openxmlformats.org/officeDocument/2006/relationships/notesSlide" Target="/ppt/notesSlides/notesSlide2.xml" Id="R86e06c5f56124a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2dc255f23b4a5b" /><Relationship Type="http://schemas.openxmlformats.org/officeDocument/2006/relationships/notesSlide" Target="/ppt/notesSlides/notesSlide3.xml" Id="Reb95142181974f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36eb3455aa4f33" /><Relationship Type="http://schemas.openxmlformats.org/officeDocument/2006/relationships/notesSlide" Target="/ppt/notesSlides/notesSlide4.xml" Id="R3328374f04784b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857f71e6da4a8f" /><Relationship Type="http://schemas.openxmlformats.org/officeDocument/2006/relationships/notesSlide" Target="/ppt/notesSlides/notesSlide5.xml" Id="R5e1b1594416f47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5acf8005f048ff" /><Relationship Type="http://schemas.openxmlformats.org/officeDocument/2006/relationships/notesSlide" Target="/ppt/notesSlides/notesSlide6.xml" Id="R089887ca65864f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8a72482dd44996" /><Relationship Type="http://schemas.openxmlformats.org/officeDocument/2006/relationships/notesSlide" Target="/ppt/notesSlides/notesSlide7.xml" Id="Rc265886aaa814f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FA0C08-A4C1-48CE-A754-8197A7B9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How to audit this rough-cut pipeline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A0C40AE-31F7-44F8-9C58-10216530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B7A"/>
                </a:solidFill>
              </a:defRPr>
            </a:pPr>
            <a:r>
              <a:rPr sz="1275" b="0">
                <a:solidFill>
                  <a:srgbClr val="5F6B7A"/>
                </a:solidFill>
              </a:rPr>
              <a:t>Keep the executable baseline, completed frozen diagnostics, target system, and architecture candidates separate.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26C12A8-652A-4663-9E81-BD626CDA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F2D7F"/>
            </a:solidFill>
            <a:prstDash val="solid"/>
          </a:ln>
        </p:spPr>
      </p:sp>
      <p:sp>
        <p:nvSpPr>
          <p:cNvPr id="4" name="gate-arrow-0">
            <a:extLst xmlns:a="http://schemas.openxmlformats.org/drawingml/2006/main">
              <a:ext uri="{FF2B5EF4-FFF2-40B4-BE49-F238E27FC236}">
                <a16:creationId xmlns:a16="http://schemas.microsoft.com/office/drawing/2014/main" id="{5B7B0C69-E48C-45D0-8FBF-9878D776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00325"/>
            <a:ext cx="13335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ate-arrow-1">
            <a:extLst xmlns:a="http://schemas.openxmlformats.org/drawingml/2006/main">
              <a:ext uri="{FF2B5EF4-FFF2-40B4-BE49-F238E27FC236}">
                <a16:creationId xmlns:a16="http://schemas.microsoft.com/office/drawing/2014/main" id="{97245E88-92A1-4A43-BAF7-4943E78F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33725"/>
            <a:ext cx="13335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ate-arrow-2">
            <a:extLst xmlns:a="http://schemas.openxmlformats.org/drawingml/2006/main">
              <a:ext uri="{FF2B5EF4-FFF2-40B4-BE49-F238E27FC236}">
                <a16:creationId xmlns:a16="http://schemas.microsoft.com/office/drawing/2014/main" id="{45EB9C68-306F-4AF9-828D-2937D1EB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67125"/>
            <a:ext cx="13335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ate-arrow-3">
            <a:extLst xmlns:a="http://schemas.openxmlformats.org/drawingml/2006/main">
              <a:ext uri="{FF2B5EF4-FFF2-40B4-BE49-F238E27FC236}">
                <a16:creationId xmlns:a16="http://schemas.microsoft.com/office/drawing/2014/main" id="{19A88C8D-665F-4BA8-9FC9-7E6370FA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00525"/>
            <a:ext cx="13335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ate-arrow-4">
            <a:extLst xmlns:a="http://schemas.openxmlformats.org/drawingml/2006/main">
              <a:ext uri="{FF2B5EF4-FFF2-40B4-BE49-F238E27FC236}">
                <a16:creationId xmlns:a16="http://schemas.microsoft.com/office/drawing/2014/main" id="{E78A1DA3-F59A-4E46-8F77-59F6C6F3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733925"/>
            <a:ext cx="13335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ixed-contracts-frame">
            <a:extLst xmlns:a="http://schemas.openxmlformats.org/drawingml/2006/main">
              <a:ext uri="{FF2B5EF4-FFF2-40B4-BE49-F238E27FC236}">
                <a16:creationId xmlns:a16="http://schemas.microsoft.com/office/drawing/2014/main" id="{ADFC9060-8561-4023-8A95-BFD2E192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2857500" cy="4095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4F2D7F"/>
            </a:solidFill>
            <a:prstDash val="solid"/>
          </a:ln>
        </p:spPr>
      </p:sp>
      <p:sp>
        <p:nvSpPr>
          <p:cNvPr id="10" name="fixed-contracts-title">
            <a:extLst xmlns:a="http://schemas.openxmlformats.org/drawingml/2006/main">
              <a:ext uri="{FF2B5EF4-FFF2-40B4-BE49-F238E27FC236}">
                <a16:creationId xmlns:a16="http://schemas.microsoft.com/office/drawing/2014/main" id="{0B0DE4F7-0188-4AEE-9A75-ED545DF8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F2D7F"/>
                </a:solidFill>
              </a:defRPr>
            </a:pPr>
            <a:r>
              <a:rPr sz="1650" b="1">
                <a:solidFill>
                  <a:srgbClr val="4F2D7F"/>
                </a:solidFill>
              </a:rPr>
              <a:t>READING RULES</a:t>
            </a:r>
          </a:p>
        </p:txBody>
      </p:sp>
      <p:sp>
        <p:nvSpPr>
          <p:cNvPr id="11" name="fixed-contracts-category">
            <a:extLst xmlns:a="http://schemas.openxmlformats.org/drawingml/2006/main">
              <a:ext uri="{FF2B5EF4-FFF2-40B4-BE49-F238E27FC236}">
                <a16:creationId xmlns:a16="http://schemas.microsoft.com/office/drawing/2014/main" id="{CD400F5C-EE94-464F-9CB2-94448D9E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F6B7A"/>
                </a:solidFill>
              </a:defRPr>
            </a:pPr>
            <a:r>
              <a:rPr sz="975" b="1">
                <a:solidFill>
                  <a:srgbClr val="5F6B7A"/>
                </a:solidFill>
              </a:rPr>
              <a:t>EVIDENCE OBJECTS</a:t>
            </a:r>
          </a:p>
        </p:txBody>
      </p:sp>
      <p:sp>
        <p:nvSpPr>
          <p:cNvPr id="12" name="fixed-dot-0">
            <a:extLst xmlns:a="http://schemas.openxmlformats.org/drawingml/2006/main">
              <a:ext uri="{FF2B5EF4-FFF2-40B4-BE49-F238E27FC236}">
                <a16:creationId xmlns:a16="http://schemas.microsoft.com/office/drawing/2014/main" id="{F541C0B2-4362-4932-BDEC-D1F27862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3" name="fixed-item-0">
            <a:extLst xmlns:a="http://schemas.openxmlformats.org/drawingml/2006/main">
              <a:ext uri="{FF2B5EF4-FFF2-40B4-BE49-F238E27FC236}">
                <a16:creationId xmlns:a16="http://schemas.microsoft.com/office/drawing/2014/main" id="{B12BF81E-D524-46C4-854B-6FACC4ED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Figure A = two-dataset executable path</a:t>
            </a:r>
          </a:p>
        </p:txBody>
      </p:sp>
      <p:sp>
        <p:nvSpPr>
          <p:cNvPr id="14" name="fixed-dot-1">
            <a:extLst xmlns:a="http://schemas.openxmlformats.org/drawingml/2006/main">
              <a:ext uri="{FF2B5EF4-FFF2-40B4-BE49-F238E27FC236}">
                <a16:creationId xmlns:a16="http://schemas.microsoft.com/office/drawing/2014/main" id="{DD3A938F-74E4-432A-9319-366E6716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5" name="fixed-item-1">
            <a:extLst xmlns:a="http://schemas.openxmlformats.org/drawingml/2006/main">
              <a:ext uri="{FF2B5EF4-FFF2-40B4-BE49-F238E27FC236}">
                <a16:creationId xmlns:a16="http://schemas.microsoft.com/office/drawing/2014/main" id="{30BCDE26-A070-4C65-A633-4D3CF140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Diagnostic track = frozen features</a:t>
            </a:r>
          </a:p>
        </p:txBody>
      </p:sp>
      <p:sp>
        <p:nvSpPr>
          <p:cNvPr id="16" name="fixed-dot-2">
            <a:extLst xmlns:a="http://schemas.openxmlformats.org/drawingml/2006/main">
              <a:ext uri="{FF2B5EF4-FFF2-40B4-BE49-F238E27FC236}">
                <a16:creationId xmlns:a16="http://schemas.microsoft.com/office/drawing/2014/main" id="{6A30A46D-A586-47BA-B815-98AF8E4E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7" name="fixed-item-2">
            <a:extLst xmlns:a="http://schemas.openxmlformats.org/drawingml/2006/main">
              <a:ext uri="{FF2B5EF4-FFF2-40B4-BE49-F238E27FC236}">
                <a16:creationId xmlns:a16="http://schemas.microsoft.com/office/drawing/2014/main" id="{31BACF5F-4CDF-4B7A-A175-8B861094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956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Figure B = target four-dataset contract</a:t>
            </a:r>
          </a:p>
        </p:txBody>
      </p:sp>
      <p:sp>
        <p:nvSpPr>
          <p:cNvPr id="18" name="fixed-dot-3">
            <a:extLst xmlns:a="http://schemas.openxmlformats.org/drawingml/2006/main">
              <a:ext uri="{FF2B5EF4-FFF2-40B4-BE49-F238E27FC236}">
                <a16:creationId xmlns:a16="http://schemas.microsoft.com/office/drawing/2014/main" id="{A0E52D35-A1E3-4BA1-A505-CB0312BA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9" name="fixed-item-3">
            <a:extLst xmlns:a="http://schemas.openxmlformats.org/drawingml/2006/main">
              <a:ext uri="{FF2B5EF4-FFF2-40B4-BE49-F238E27FC236}">
                <a16:creationId xmlns:a16="http://schemas.microsoft.com/office/drawing/2014/main" id="{15909418-52A8-495C-9817-D2539869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00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Figure C = unapproved candidates</a:t>
            </a:r>
          </a:p>
        </p:txBody>
      </p:sp>
      <p:sp>
        <p:nvSpPr>
          <p:cNvPr id="20" name="fixed-dot-4">
            <a:extLst xmlns:a="http://schemas.openxmlformats.org/drawingml/2006/main">
              <a:ext uri="{FF2B5EF4-FFF2-40B4-BE49-F238E27FC236}">
                <a16:creationId xmlns:a16="http://schemas.microsoft.com/office/drawing/2014/main" id="{8DBD3642-5654-414B-A2D9-2211E5E1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1" name="fixed-item-4">
            <a:extLst xmlns:a="http://schemas.openxmlformats.org/drawingml/2006/main">
              <a:ext uri="{FF2B5EF4-FFF2-40B4-BE49-F238E27FC236}">
                <a16:creationId xmlns:a16="http://schemas.microsoft.com/office/drawing/2014/main" id="{A4EBFAD7-2A4B-48C7-83C1-8C172EB7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243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Control plane is not an audio sequence</a:t>
            </a:r>
          </a:p>
        </p:txBody>
      </p:sp>
      <p:sp>
        <p:nvSpPr>
          <p:cNvPr id="22" name="interpretation-box">
            <a:extLst xmlns:a="http://schemas.openxmlformats.org/drawingml/2006/main">
              <a:ext uri="{FF2B5EF4-FFF2-40B4-BE49-F238E27FC236}">
                <a16:creationId xmlns:a16="http://schemas.microsoft.com/office/drawing/2014/main" id="{2B7999C3-E35B-4212-9E1A-A1378CCC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38700"/>
            <a:ext cx="2438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1430">
            <a:solidFill>
              <a:srgbClr val="C45A16"/>
            </a:solidFill>
            <a:prstDash val="solid"/>
          </a:ln>
        </p:spPr>
      </p:sp>
      <p:sp>
        <p:nvSpPr>
          <p:cNvPr id="23" name="interpretation-label">
            <a:extLst xmlns:a="http://schemas.openxmlformats.org/drawingml/2006/main">
              <a:ext uri="{FF2B5EF4-FFF2-40B4-BE49-F238E27FC236}">
                <a16:creationId xmlns:a16="http://schemas.microsoft.com/office/drawing/2014/main" id="{B9225B3F-E8CC-48A4-BE4D-7E72DA29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2209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45A16"/>
                </a:solidFill>
              </a:defRPr>
            </a:pPr>
            <a:r>
              <a:rPr sz="900" b="1">
                <a:solidFill>
                  <a:srgbClr val="C45A16"/>
                </a:solidFill>
              </a:rPr>
              <a:t>CLAIM RULE</a:t>
            </a:r>
          </a:p>
        </p:txBody>
      </p:sp>
      <p:sp>
        <p:nvSpPr>
          <p:cNvPr id="24" name="interpretation-body">
            <a:extLst xmlns:a="http://schemas.openxmlformats.org/drawingml/2006/main">
              <a:ext uri="{FF2B5EF4-FFF2-40B4-BE49-F238E27FC236}">
                <a16:creationId xmlns:a16="http://schemas.microsoft.com/office/drawing/2014/main" id="{1961DAE4-3E71-437A-AADB-BFFE1853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57775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Smoke/profile ≠ performance; target-label adaptation ≠ zero-shot.</a:t>
            </a:r>
          </a:p>
        </p:txBody>
      </p:sp>
      <p:sp>
        <p:nvSpPr>
          <p:cNvPr id="25" name="architecture-frame">
            <a:extLst xmlns:a="http://schemas.openxmlformats.org/drawingml/2006/main">
              <a:ext uri="{FF2B5EF4-FFF2-40B4-BE49-F238E27FC236}">
                <a16:creationId xmlns:a16="http://schemas.microsoft.com/office/drawing/2014/main" id="{2D8B1346-A598-431B-A306-DFA3600F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428750"/>
            <a:ext cx="43815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1D4ED8"/>
            </a:solidFill>
            <a:prstDash val="dash"/>
          </a:ln>
        </p:spPr>
      </p:sp>
      <p:sp>
        <p:nvSpPr>
          <p:cNvPr id="26" name="architecture-title">
            <a:extLst xmlns:a="http://schemas.openxmlformats.org/drawingml/2006/main">
              <a:ext uri="{FF2B5EF4-FFF2-40B4-BE49-F238E27FC236}">
                <a16:creationId xmlns:a16="http://schemas.microsoft.com/office/drawing/2014/main" id="{E5B1E00B-9351-4AF4-BE54-EAE41DD2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619250"/>
            <a:ext cx="396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D4ED8"/>
                </a:solidFill>
              </a:defRPr>
            </a:pPr>
            <a:r>
              <a:rPr sz="1650" b="1">
                <a:solidFill>
                  <a:srgbClr val="1D4ED8"/>
                </a:solidFill>
              </a:rPr>
              <a:t>STATUS LAYERS</a:t>
            </a:r>
          </a:p>
        </p:txBody>
      </p:sp>
      <p:sp>
        <p:nvSpPr>
          <p:cNvPr id="27" name="architecture-category">
            <a:extLst xmlns:a="http://schemas.openxmlformats.org/drawingml/2006/main">
              <a:ext uri="{FF2B5EF4-FFF2-40B4-BE49-F238E27FC236}">
                <a16:creationId xmlns:a16="http://schemas.microsoft.com/office/drawing/2014/main" id="{0771A49B-4ECB-4D1A-8755-0AA9C83E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943100"/>
            <a:ext cx="396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F6B7A"/>
                </a:solidFill>
              </a:defRPr>
            </a:pPr>
            <a:r>
              <a:rPr sz="975" b="1">
                <a:solidFill>
                  <a:srgbClr val="5F6B7A"/>
                </a:solidFill>
              </a:rPr>
              <a:t>DO NOT COLLAPSE</a:t>
            </a:r>
          </a:p>
        </p:txBody>
      </p:sp>
      <p:sp>
        <p:nvSpPr>
          <p:cNvPr id="28" name="architecture-a-box">
            <a:extLst xmlns:a="http://schemas.openxmlformats.org/drawingml/2006/main">
              <a:ext uri="{FF2B5EF4-FFF2-40B4-BE49-F238E27FC236}">
                <a16:creationId xmlns:a16="http://schemas.microsoft.com/office/drawing/2014/main" id="{72ADFBF9-28A4-49B0-8C8A-62D186F9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90750"/>
            <a:ext cx="3810000" cy="1095375"/>
          </a:xfrm>
          <a:prstGeom xmlns:a="http://schemas.openxmlformats.org/drawingml/2006/main" prst="roundRect">
            <a:avLst>
              <a:gd name="adj" fmla="val 1217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</p:sp>
      <p:sp>
        <p:nvSpPr>
          <p:cNvPr id="29" name="architecture-a-title">
            <a:extLst xmlns:a="http://schemas.openxmlformats.org/drawingml/2006/main">
              <a:ext uri="{FF2B5EF4-FFF2-40B4-BE49-F238E27FC236}">
                <a16:creationId xmlns:a16="http://schemas.microsoft.com/office/drawing/2014/main" id="{E99E26BD-7503-4063-99FC-C5DB3D6B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24100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D4ED8"/>
                </a:solidFill>
              </a:defRPr>
            </a:pPr>
            <a:r>
              <a:rPr sz="1425" b="1">
                <a:solidFill>
                  <a:srgbClr val="1D4ED8"/>
                </a:solidFill>
              </a:rPr>
              <a:t>Completed now</a:t>
            </a:r>
          </a:p>
        </p:txBody>
      </p:sp>
      <p:sp>
        <p:nvSpPr>
          <p:cNvPr id="30" name="architecture-a-body">
            <a:extLst xmlns:a="http://schemas.openxmlformats.org/drawingml/2006/main">
              <a:ext uri="{FF2B5EF4-FFF2-40B4-BE49-F238E27FC236}">
                <a16:creationId xmlns:a16="http://schemas.microsoft.com/office/drawing/2014/main" id="{BC6F217E-1B77-413A-B150-7C23F65B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667000"/>
            <a:ext cx="3505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Figure A + frozen diagnostic track + ER01–ER05 evidence receipts.</a:t>
            </a:r>
          </a:p>
        </p:txBody>
      </p:sp>
      <p:sp>
        <p:nvSpPr>
          <p:cNvPr id="31" name="architecture-b-box">
            <a:extLst xmlns:a="http://schemas.openxmlformats.org/drawingml/2006/main">
              <a:ext uri="{FF2B5EF4-FFF2-40B4-BE49-F238E27FC236}">
                <a16:creationId xmlns:a16="http://schemas.microsoft.com/office/drawing/2014/main" id="{30467B50-649F-42B6-A3E7-72CA3729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76625"/>
            <a:ext cx="381000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3EEFA"/>
          </a:solidFill>
          <a:ln xmlns:a="http://schemas.openxmlformats.org/drawingml/2006/main" w="14288">
            <a:solidFill>
              <a:srgbClr val="4F2D7F"/>
            </a:solidFill>
            <a:prstDash val="solid"/>
          </a:ln>
        </p:spPr>
      </p:sp>
      <p:sp>
        <p:nvSpPr>
          <p:cNvPr id="32" name="architecture-b-title">
            <a:extLst xmlns:a="http://schemas.openxmlformats.org/drawingml/2006/main">
              <a:ext uri="{FF2B5EF4-FFF2-40B4-BE49-F238E27FC236}">
                <a16:creationId xmlns:a16="http://schemas.microsoft.com/office/drawing/2014/main" id="{61317E27-B621-4747-898B-BDC24A3B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609975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4F2D7F"/>
                </a:solidFill>
              </a:defRPr>
            </a:pPr>
            <a:r>
              <a:rPr sz="1425" b="1">
                <a:solidFill>
                  <a:srgbClr val="4F2D7F"/>
                </a:solidFill>
              </a:rPr>
              <a:t>Proposed / HOLD</a:t>
            </a:r>
          </a:p>
        </p:txBody>
      </p:sp>
      <p:sp>
        <p:nvSpPr>
          <p:cNvPr id="33" name="architecture-b-body">
            <a:extLst xmlns:a="http://schemas.openxmlformats.org/drawingml/2006/main">
              <a:ext uri="{FF2B5EF4-FFF2-40B4-BE49-F238E27FC236}">
                <a16:creationId xmlns:a16="http://schemas.microsoft.com/office/drawing/2014/main" id="{A9205212-BFC2-4979-B5FB-C36E135C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952875"/>
            <a:ext cx="350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Figure B interfaces + Figure C general/specific/router/MoE alternatives.</a:t>
            </a:r>
          </a:p>
        </p:txBody>
      </p:sp>
      <p:sp>
        <p:nvSpPr>
          <p:cNvPr id="34" name="architecture-risk-box">
            <a:extLst xmlns:a="http://schemas.openxmlformats.org/drawingml/2006/main">
              <a:ext uri="{FF2B5EF4-FFF2-40B4-BE49-F238E27FC236}">
                <a16:creationId xmlns:a16="http://schemas.microsoft.com/office/drawing/2014/main" id="{733F3526-F806-4B56-89C5-36F9D940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81550"/>
            <a:ext cx="38100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14288">
            <a:solidFill>
              <a:srgbClr val="B4233B"/>
            </a:solidFill>
            <a:prstDash val="solid"/>
          </a:ln>
        </p:spPr>
      </p:sp>
      <p:sp>
        <p:nvSpPr>
          <p:cNvPr id="35" name="architecture-risk-title">
            <a:extLst xmlns:a="http://schemas.openxmlformats.org/drawingml/2006/main">
              <a:ext uri="{FF2B5EF4-FFF2-40B4-BE49-F238E27FC236}">
                <a16:creationId xmlns:a16="http://schemas.microsoft.com/office/drawing/2014/main" id="{CC65ACC3-921D-4882-9DAD-1C5893FF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848225"/>
            <a:ext cx="3505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B4233B"/>
                </a:solidFill>
              </a:defRPr>
            </a:pPr>
            <a:r>
              <a:rPr sz="1200" b="1">
                <a:solidFill>
                  <a:srgbClr val="B4233B"/>
                </a:solidFill>
              </a:rPr>
              <a:t>Causal boundary</a:t>
            </a:r>
          </a:p>
        </p:txBody>
      </p:sp>
      <p:sp>
        <p:nvSpPr>
          <p:cNvPr id="36" name="architecture-risk-body">
            <a:extLst xmlns:a="http://schemas.openxmlformats.org/drawingml/2006/main">
              <a:ext uri="{FF2B5EF4-FFF2-40B4-BE49-F238E27FC236}">
                <a16:creationId xmlns:a16="http://schemas.microsoft.com/office/drawing/2014/main" id="{A3F79AAC-54F7-4DBC-8A8D-0745A317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076825"/>
            <a:ext cx="3505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F6B7A"/>
                </a:solidFill>
              </a:defRPr>
            </a:pPr>
            <a:r>
              <a:rPr sz="1050" b="0">
                <a:solidFill>
                  <a:srgbClr val="5F6B7A"/>
                </a:solidFill>
              </a:rPr>
              <a:t>Dataset-ID access does not prove use of a pathology shortcut.</a:t>
            </a:r>
          </a:p>
        </p:txBody>
      </p:sp>
      <p:sp>
        <p:nvSpPr>
          <p:cNvPr id="37" name="gates-frame">
            <a:extLst xmlns:a="http://schemas.openxmlformats.org/drawingml/2006/main">
              <a:ext uri="{FF2B5EF4-FFF2-40B4-BE49-F238E27FC236}">
                <a16:creationId xmlns:a16="http://schemas.microsoft.com/office/drawing/2014/main" id="{95127F2E-CEE3-47BA-83D6-C260477E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28750"/>
            <a:ext cx="3400425" cy="4095750"/>
          </a:xfrm>
          <a:prstGeom xmlns:a="http://schemas.openxmlformats.org/drawingml/2006/main" prst="roundRect">
            <a:avLst>
              <a:gd name="adj" fmla="val 448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2F855A"/>
            </a:solidFill>
            <a:prstDash val="solid"/>
          </a:ln>
        </p:spPr>
      </p:sp>
      <p:sp>
        <p:nvSpPr>
          <p:cNvPr id="38" name="gates-title">
            <a:extLst xmlns:a="http://schemas.openxmlformats.org/drawingml/2006/main">
              <a:ext uri="{FF2B5EF4-FFF2-40B4-BE49-F238E27FC236}">
                <a16:creationId xmlns:a16="http://schemas.microsoft.com/office/drawing/2014/main" id="{179FE9FB-6ED7-46BB-B713-01709F57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619250"/>
            <a:ext cx="2981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F855A"/>
                </a:solidFill>
              </a:defRPr>
            </a:pPr>
            <a:r>
              <a:rPr sz="1650" b="1">
                <a:solidFill>
                  <a:srgbClr val="2F855A"/>
                </a:solidFill>
              </a:rPr>
              <a:t>AUDIT ORDER</a:t>
            </a:r>
          </a:p>
        </p:txBody>
      </p:sp>
      <p:sp>
        <p:nvSpPr>
          <p:cNvPr id="39" name="gates-category">
            <a:extLst xmlns:a="http://schemas.openxmlformats.org/drawingml/2006/main">
              <a:ext uri="{FF2B5EF4-FFF2-40B4-BE49-F238E27FC236}">
                <a16:creationId xmlns:a16="http://schemas.microsoft.com/office/drawing/2014/main" id="{07359247-1002-4853-8A4D-DB122DAF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943100"/>
            <a:ext cx="2981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F6B7A"/>
                </a:solidFill>
              </a:defRPr>
            </a:pPr>
            <a:r>
              <a:rPr sz="975" b="1">
                <a:solidFill>
                  <a:srgbClr val="5F6B7A"/>
                </a:solidFill>
              </a:rPr>
              <a:t>SLIDE-BY-SLIDE</a:t>
            </a:r>
          </a:p>
        </p:txBody>
      </p:sp>
      <p:sp>
        <p:nvSpPr>
          <p:cNvPr id="40" name="gate-badge-G0">
            <a:extLst xmlns:a="http://schemas.openxmlformats.org/drawingml/2006/main">
              <a:ext uri="{FF2B5EF4-FFF2-40B4-BE49-F238E27FC236}">
                <a16:creationId xmlns:a16="http://schemas.microsoft.com/office/drawing/2014/main" id="{D9B853A3-B8C8-48D7-A3D4-3AA54E1F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4762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41" name="gate-label-G0">
            <a:extLst xmlns:a="http://schemas.openxmlformats.org/drawingml/2006/main">
              <a:ext uri="{FF2B5EF4-FFF2-40B4-BE49-F238E27FC236}">
                <a16:creationId xmlns:a16="http://schemas.microsoft.com/office/drawing/2014/main" id="{3B9E045D-F013-43B4-90F1-E1DDE4D6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907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Current executable baseline</a:t>
            </a:r>
          </a:p>
        </p:txBody>
      </p:sp>
      <p:sp>
        <p:nvSpPr>
          <p:cNvPr id="42" name="gate-badge-G1">
            <a:extLst xmlns:a="http://schemas.openxmlformats.org/drawingml/2006/main">
              <a:ext uri="{FF2B5EF4-FFF2-40B4-BE49-F238E27FC236}">
                <a16:creationId xmlns:a16="http://schemas.microsoft.com/office/drawing/2014/main" id="{4D21DBAC-D9B1-47EA-820B-1F7F2233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4762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43" name="gate-label-G1">
            <a:extLst xmlns:a="http://schemas.openxmlformats.org/drawingml/2006/main">
              <a:ext uri="{FF2B5EF4-FFF2-40B4-BE49-F238E27FC236}">
                <a16:creationId xmlns:a16="http://schemas.microsoft.com/office/drawing/2014/main" id="{58A7078D-E956-4A29-81A7-AFC91CE0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241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Frozen diagnostic track</a:t>
            </a:r>
          </a:p>
        </p:txBody>
      </p:sp>
      <p:sp>
        <p:nvSpPr>
          <p:cNvPr id="44" name="gate-badge-G2">
            <a:extLst xmlns:a="http://schemas.openxmlformats.org/drawingml/2006/main">
              <a:ext uri="{FF2B5EF4-FFF2-40B4-BE49-F238E27FC236}">
                <a16:creationId xmlns:a16="http://schemas.microsoft.com/office/drawing/2014/main" id="{274B41B7-610F-4BA7-BBB2-BAF53D0E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4762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45" name="gate-label-G2">
            <a:extLst xmlns:a="http://schemas.openxmlformats.org/drawingml/2006/main">
              <a:ext uri="{FF2B5EF4-FFF2-40B4-BE49-F238E27FC236}">
                <a16:creationId xmlns:a16="http://schemas.microsoft.com/office/drawing/2014/main" id="{42EFDBF7-315F-4697-841A-C3411F8C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575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Target four-dataset system</a:t>
            </a:r>
          </a:p>
        </p:txBody>
      </p:sp>
      <p:sp>
        <p:nvSpPr>
          <p:cNvPr id="46" name="gate-badge-G3">
            <a:extLst xmlns:a="http://schemas.openxmlformats.org/drawingml/2006/main">
              <a:ext uri="{FF2B5EF4-FFF2-40B4-BE49-F238E27FC236}">
                <a16:creationId xmlns:a16="http://schemas.microsoft.com/office/drawing/2014/main" id="{1B98C37C-A1E2-4D4D-953E-CFE9D767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90950"/>
            <a:ext cx="4762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47" name="gate-label-G3">
            <a:extLst xmlns:a="http://schemas.openxmlformats.org/drawingml/2006/main">
              <a:ext uri="{FF2B5EF4-FFF2-40B4-BE49-F238E27FC236}">
                <a16:creationId xmlns:a16="http://schemas.microsoft.com/office/drawing/2014/main" id="{20937CB3-A4E5-49F3-B574-2E1F933C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909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Architecture alternatives</a:t>
            </a:r>
          </a:p>
        </p:txBody>
      </p:sp>
      <p:sp>
        <p:nvSpPr>
          <p:cNvPr id="48" name="gate-badge-G4">
            <a:extLst xmlns:a="http://schemas.openxmlformats.org/drawingml/2006/main">
              <a:ext uri="{FF2B5EF4-FFF2-40B4-BE49-F238E27FC236}">
                <a16:creationId xmlns:a16="http://schemas.microsoft.com/office/drawing/2014/main" id="{18E9A6DC-EAA2-4F4D-9EA1-AF304424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24350"/>
            <a:ext cx="4762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ER</a:t>
            </a:r>
          </a:p>
        </p:txBody>
      </p:sp>
      <p:sp>
        <p:nvSpPr>
          <p:cNvPr id="49" name="gate-label-G4">
            <a:extLst xmlns:a="http://schemas.openxmlformats.org/drawingml/2006/main">
              <a:ext uri="{FF2B5EF4-FFF2-40B4-BE49-F238E27FC236}">
                <a16:creationId xmlns:a16="http://schemas.microsoft.com/office/drawing/2014/main" id="{05DEEF6B-EDF1-4736-9778-5F6E7D9D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3243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Evidence registry</a:t>
            </a:r>
          </a:p>
        </p:txBody>
      </p:sp>
      <p:sp>
        <p:nvSpPr>
          <p:cNvPr id="50" name="gate-badge-G5">
            <a:extLst xmlns:a="http://schemas.openxmlformats.org/drawingml/2006/main">
              <a:ext uri="{FF2B5EF4-FFF2-40B4-BE49-F238E27FC236}">
                <a16:creationId xmlns:a16="http://schemas.microsoft.com/office/drawing/2014/main" id="{992A8472-3979-4000-9D39-429C48A6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4762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51" name="gate-label-G5">
            <a:extLst xmlns:a="http://schemas.openxmlformats.org/drawingml/2006/main">
              <a:ext uri="{FF2B5EF4-FFF2-40B4-BE49-F238E27FC236}">
                <a16:creationId xmlns:a16="http://schemas.microsoft.com/office/drawing/2014/main" id="{345537C5-68E0-4C84-B92F-3CEDCD2B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8577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Open decisions</a:t>
            </a:r>
          </a:p>
        </p:txBody>
      </p:sp>
      <p:sp>
        <p:nvSpPr>
          <p:cNvPr id="52" name="freeze-rule-box">
            <a:extLst xmlns:a="http://schemas.openxmlformats.org/drawingml/2006/main">
              <a:ext uri="{FF2B5EF4-FFF2-40B4-BE49-F238E27FC236}">
                <a16:creationId xmlns:a16="http://schemas.microsoft.com/office/drawing/2014/main" id="{DD4CEC6C-D92B-4D8C-A6BD-A827A573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127760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4288">
            <a:solidFill>
              <a:srgbClr val="2F855A"/>
            </a:solidFill>
            <a:prstDash val="solid"/>
          </a:ln>
        </p:spPr>
      </p:sp>
      <p:sp>
        <p:nvSpPr>
          <p:cNvPr id="53" name="freeze-rule-title">
            <a:extLst xmlns:a="http://schemas.openxmlformats.org/drawingml/2006/main">
              <a:ext uri="{FF2B5EF4-FFF2-40B4-BE49-F238E27FC236}">
                <a16:creationId xmlns:a16="http://schemas.microsoft.com/office/drawing/2014/main" id="{6E135C5B-3F7B-44B2-A708-8D20B9BB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855A"/>
                </a:solidFill>
              </a:defRPr>
            </a:pPr>
            <a:r>
              <a:rPr sz="1350" b="1">
                <a:solidFill>
                  <a:srgbClr val="2F855A"/>
                </a:solidFill>
              </a:rPr>
              <a:t>DECK PURPOSE</a:t>
            </a:r>
          </a:p>
        </p:txBody>
      </p:sp>
      <p:sp>
        <p:nvSpPr>
          <p:cNvPr id="54" name="freeze-rule-body">
            <a:extLst xmlns:a="http://schemas.openxmlformats.org/drawingml/2006/main">
              <a:ext uri="{FF2B5EF4-FFF2-40B4-BE49-F238E27FC236}">
                <a16:creationId xmlns:a16="http://schemas.microsoft.com/office/drawing/2014/main" id="{28B4CE40-FB72-4D93-8023-18D234E8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B7A"/>
                </a:solidFill>
              </a:defRPr>
            </a:pPr>
            <a:r>
              <a:rPr sz="1125" b="0">
                <a:solidFill>
                  <a:srgbClr val="5F6B7A"/>
                </a:solidFill>
              </a:rPr>
              <a:t>Make every box auditable before Inkscape; this deck does not freeze an architecture or upgrade any evidence claim.</a:t>
            </a:r>
          </a:p>
        </p:txBody>
      </p:sp>
      <p:sp>
        <p:nvSpPr>
          <p:cNvPr id="55" name="footer-2">
            <a:extLst xmlns:a="http://schemas.openxmlformats.org/drawingml/2006/main">
              <a:ext uri="{FF2B5EF4-FFF2-40B4-BE49-F238E27FC236}">
                <a16:creationId xmlns:a16="http://schemas.microsoft.com/office/drawing/2014/main" id="{AE17900E-FEA8-417C-83A1-E5565DE5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Acoustic E2E pipeline  •  audit rough cut v1  •  1/7</a:t>
            </a:r>
          </a:p>
        </p:txBody>
      </p:sp>
    </p:spTree>
    <p:extLst>
      <p:ext uri="{BB962C8B-B14F-4D97-AF65-F5344CB8AC3E}">
        <p14:creationId xmlns:p14="http://schemas.microsoft.com/office/powerpoint/2010/main" val="3081825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A65DEC-C9C3-4B8F-A1F9-5394C9F1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Figure A — Current executable AST baseline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91B6F83-6ED6-4946-A285-82F60221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B7A"/>
                </a:solidFill>
              </a:defRPr>
            </a:pPr>
            <a:r>
              <a:rPr sz="1275" b="0">
                <a:solidFill>
                  <a:srgbClr val="5F6B7A"/>
                </a:solidFill>
              </a:rPr>
              <a:t>Engineering-verified protocol, smoke, and profile only; no formal performance result.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8858207-27C9-4036-8D1A-8455DAE1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F2D7F"/>
            </a:solidFill>
            <a:prstDash val="solid"/>
          </a:ln>
        </p:spPr>
      </p:sp>
      <p:sp>
        <p:nvSpPr>
          <p:cNvPr id="4" name="arrow-sources-adapter">
            <a:extLst xmlns:a="http://schemas.openxmlformats.org/drawingml/2006/main">
              <a:ext uri="{FF2B5EF4-FFF2-40B4-BE49-F238E27FC236}">
                <a16:creationId xmlns:a16="http://schemas.microsoft.com/office/drawing/2014/main" id="{5B351789-5091-4821-B61C-5553BB1B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05150"/>
            <a:ext cx="2857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rrow-adapter-representation">
            <a:extLst xmlns:a="http://schemas.openxmlformats.org/drawingml/2006/main">
              <a:ext uri="{FF2B5EF4-FFF2-40B4-BE49-F238E27FC236}">
                <a16:creationId xmlns:a16="http://schemas.microsoft.com/office/drawing/2014/main" id="{4709BF1F-6387-4EA2-8654-40C99CB1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05150"/>
            <a:ext cx="33337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rrow-representation-heads">
            <a:extLst xmlns:a="http://schemas.openxmlformats.org/drawingml/2006/main">
              <a:ext uri="{FF2B5EF4-FFF2-40B4-BE49-F238E27FC236}">
                <a16:creationId xmlns:a16="http://schemas.microsoft.com/office/drawing/2014/main" id="{684077DF-0F1F-4949-BA96-96F6C796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05150"/>
            <a:ext cx="33337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row-heads-objective">
            <a:extLst xmlns:a="http://schemas.openxmlformats.org/drawingml/2006/main">
              <a:ext uri="{FF2B5EF4-FFF2-40B4-BE49-F238E27FC236}">
                <a16:creationId xmlns:a16="http://schemas.microsoft.com/office/drawing/2014/main" id="{4049C598-8188-4B23-948F-9D4BBF6D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105150"/>
            <a:ext cx="33337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ources-label">
            <a:extLst xmlns:a="http://schemas.openxmlformats.org/drawingml/2006/main">
              <a:ext uri="{FF2B5EF4-FFF2-40B4-BE49-F238E27FC236}">
                <a16:creationId xmlns:a16="http://schemas.microsoft.com/office/drawing/2014/main" id="{1D4B4EA6-E52B-49BD-A29A-191C5568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76350"/>
            <a:ext cx="1476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5F6B7A"/>
                </a:solidFill>
              </a:defRPr>
            </a:pPr>
            <a:r>
              <a:rPr sz="1125" b="1">
                <a:solidFill>
                  <a:srgbClr val="5F6B7A"/>
                </a:solidFill>
              </a:rPr>
              <a:t>ACTIVE INPUTS</a:t>
            </a:r>
          </a:p>
        </p:txBody>
      </p:sp>
      <p:sp>
        <p:nvSpPr>
          <p:cNvPr id="9" name="source-icbhi">
            <a:extLst xmlns:a="http://schemas.openxmlformats.org/drawingml/2006/main">
              <a:ext uri="{FF2B5EF4-FFF2-40B4-BE49-F238E27FC236}">
                <a16:creationId xmlns:a16="http://schemas.microsoft.com/office/drawing/2014/main" id="{4712DC49-8BC0-424D-91EA-1E314D6B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00300"/>
            <a:ext cx="14287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F2D7F"/>
          </a:solidFill>
          <a:ln xmlns:a="http://schemas.openxmlformats.org/drawingml/2006/main" w="9525">
            <a:solidFill>
              <a:srgbClr val="4F2D7F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ICBHI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cycle clips</a:t>
            </a:r>
          </a:p>
        </p:txBody>
      </p:sp>
      <p:sp>
        <p:nvSpPr>
          <p:cNvPr id="10" name="source-sprsound">
            <a:extLst xmlns:a="http://schemas.openxmlformats.org/drawingml/2006/main">
              <a:ext uri="{FF2B5EF4-FFF2-40B4-BE49-F238E27FC236}">
                <a16:creationId xmlns:a16="http://schemas.microsoft.com/office/drawing/2014/main" id="{B7FD087A-5EEF-4613-926B-464E3622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57550"/>
            <a:ext cx="14287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9525">
            <a:solidFill>
              <a:srgbClr val="087F8C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SPRSound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inter + intra events</a:t>
            </a:r>
          </a:p>
        </p:txBody>
      </p:sp>
      <p:sp>
        <p:nvSpPr>
          <p:cNvPr id="13" name="adapter-box">
            <a:extLst xmlns:a="http://schemas.openxmlformats.org/drawingml/2006/main">
              <a:ext uri="{FF2B5EF4-FFF2-40B4-BE49-F238E27FC236}">
                <a16:creationId xmlns:a16="http://schemas.microsoft.com/office/drawing/2014/main" id="{25B27F31-6220-4D3D-B899-67E71F8B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657350"/>
            <a:ext cx="1905000" cy="280035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4288">
            <a:solidFill>
              <a:srgbClr val="4F2D7F"/>
            </a:solidFill>
            <a:prstDash val="solid"/>
          </a:ln>
        </p:spPr>
      </p:sp>
      <p:sp>
        <p:nvSpPr>
          <p:cNvPr id="14" name="adapter-title">
            <a:extLst xmlns:a="http://schemas.openxmlformats.org/drawingml/2006/main">
              <a:ext uri="{FF2B5EF4-FFF2-40B4-BE49-F238E27FC236}">
                <a16:creationId xmlns:a16="http://schemas.microsoft.com/office/drawing/2014/main" id="{37494E27-3774-45A8-BC15-8C84012F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907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F2D7F"/>
                </a:solidFill>
              </a:defRPr>
            </a:pPr>
            <a:r>
              <a:rPr sz="1350" b="1">
                <a:solidFill>
                  <a:srgbClr val="4F2D7F"/>
                </a:solidFill>
              </a:rPr>
              <a:t>LEGACY ADAPTER</a:t>
            </a:r>
          </a:p>
        </p:txBody>
      </p:sp>
      <p:sp>
        <p:nvSpPr>
          <p:cNvPr id="15" name="adapter-body">
            <a:extLst xmlns:a="http://schemas.openxmlformats.org/drawingml/2006/main">
              <a:ext uri="{FF2B5EF4-FFF2-40B4-BE49-F238E27FC236}">
                <a16:creationId xmlns:a16="http://schemas.microsoft.com/office/drawing/2014/main" id="{C904F620-EFA3-4AEF-9276-046E6B47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133600"/>
            <a:ext cx="16002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1  16 kHz mono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2  Fixed 8 s waveform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repeat / truncate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3  128-bin fbank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 [B,1,798,128]</a:t>
            </a:r>
          </a:p>
        </p:txBody>
      </p:sp>
      <p:sp>
        <p:nvSpPr>
          <p:cNvPr id="16" name="representation-zone">
            <a:extLst xmlns:a="http://schemas.openxmlformats.org/drawingml/2006/main">
              <a:ext uri="{FF2B5EF4-FFF2-40B4-BE49-F238E27FC236}">
                <a16:creationId xmlns:a16="http://schemas.microsoft.com/office/drawing/2014/main" id="{AA389197-55CF-40F8-B332-E3E379BC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447800"/>
            <a:ext cx="2952750" cy="323850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1D4ED8"/>
            </a:solidFill>
            <a:prstDash val="dash"/>
          </a:ln>
        </p:spPr>
      </p:sp>
      <p:sp>
        <p:nvSpPr>
          <p:cNvPr id="17" name="representation-title">
            <a:extLst xmlns:a="http://schemas.openxmlformats.org/drawingml/2006/main">
              <a:ext uri="{FF2B5EF4-FFF2-40B4-BE49-F238E27FC236}">
                <a16:creationId xmlns:a16="http://schemas.microsoft.com/office/drawing/2014/main" id="{CE0C7C66-295A-4D5C-AE12-ADCEA3F0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60020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D4ED8"/>
                </a:solidFill>
              </a:defRPr>
            </a:pPr>
            <a:r>
              <a:rPr sz="1350" b="1">
                <a:solidFill>
                  <a:srgbClr val="1D4ED8"/>
                </a:solidFill>
              </a:rPr>
              <a:t>CURRENT SHARED ENCODER — VERIFIED IN CODE</a:t>
            </a:r>
          </a:p>
        </p:txBody>
      </p:sp>
      <p:sp>
        <p:nvSpPr>
          <p:cNvPr id="18" name="repr-baseline-box">
            <a:extLst xmlns:a="http://schemas.openxmlformats.org/drawingml/2006/main">
              <a:ext uri="{FF2B5EF4-FFF2-40B4-BE49-F238E27FC236}">
                <a16:creationId xmlns:a16="http://schemas.microsoft.com/office/drawing/2014/main" id="{5BCB9D19-EF97-45A9-99C4-4F27CB85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00250"/>
            <a:ext cx="247650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19" name="repr-baseline-title">
            <a:extLst xmlns:a="http://schemas.openxmlformats.org/drawingml/2006/main">
              <a:ext uri="{FF2B5EF4-FFF2-40B4-BE49-F238E27FC236}">
                <a16:creationId xmlns:a16="http://schemas.microsoft.com/office/drawing/2014/main" id="{FE0EB95D-BCCC-4CA6-B8B6-3D02B718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66925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AST base384</a:t>
            </a:r>
          </a:p>
        </p:txBody>
      </p:sp>
      <p:sp>
        <p:nvSpPr>
          <p:cNvPr id="20" name="repr-baseline-body">
            <a:extLst xmlns:a="http://schemas.openxmlformats.org/drawingml/2006/main">
              <a:ext uri="{FF2B5EF4-FFF2-40B4-BE49-F238E27FC236}">
                <a16:creationId xmlns:a16="http://schemas.microsoft.com/office/drawing/2014/main" id="{E33EF3FB-7B2B-4DB9-829D-04A4ADA2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95525"/>
            <a:ext cx="2171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12 blocks • 12 heads • D=768</a:t>
            </a:r>
          </a:p>
        </p:txBody>
      </p:sp>
      <p:sp>
        <p:nvSpPr>
          <p:cNvPr id="21" name="repr-candidate-a-box">
            <a:extLst xmlns:a="http://schemas.openxmlformats.org/drawingml/2006/main">
              <a:ext uri="{FF2B5EF4-FFF2-40B4-BE49-F238E27FC236}">
                <a16:creationId xmlns:a16="http://schemas.microsoft.com/office/drawing/2014/main" id="{8E514C82-F473-4467-A42C-AD869B0E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38450"/>
            <a:ext cx="24765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</p:sp>
      <p:sp>
        <p:nvSpPr>
          <p:cNvPr id="22" name="repr-candidate-a-title">
            <a:extLst xmlns:a="http://schemas.openxmlformats.org/drawingml/2006/main">
              <a:ext uri="{FF2B5EF4-FFF2-40B4-BE49-F238E27FC236}">
                <a16:creationId xmlns:a16="http://schemas.microsoft.com/office/drawing/2014/main" id="{2F84DE29-0BD7-4469-975A-056B717B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905125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D4ED8"/>
                </a:solidFill>
              </a:defRPr>
            </a:pPr>
            <a:r>
              <a:rPr sz="1275" b="1">
                <a:solidFill>
                  <a:srgbClr val="1D4ED8"/>
                </a:solidFill>
              </a:rPr>
              <a:t>Patch tokens</a:t>
            </a:r>
          </a:p>
        </p:txBody>
      </p:sp>
      <p:sp>
        <p:nvSpPr>
          <p:cNvPr id="23" name="repr-candidate-a-body">
            <a:extLst xmlns:a="http://schemas.openxmlformats.org/drawingml/2006/main">
              <a:ext uri="{FF2B5EF4-FFF2-40B4-BE49-F238E27FC236}">
                <a16:creationId xmlns:a16="http://schemas.microsoft.com/office/drawing/2014/main" id="{0A3813E6-7B61-4B3C-8221-70888FFF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33725"/>
            <a:ext cx="2171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12×79 patches + CLS/DIST = 950</a:t>
            </a:r>
          </a:p>
        </p:txBody>
      </p:sp>
      <p:sp>
        <p:nvSpPr>
          <p:cNvPr id="24" name="repr-candidate-b-box">
            <a:extLst xmlns:a="http://schemas.openxmlformats.org/drawingml/2006/main">
              <a:ext uri="{FF2B5EF4-FFF2-40B4-BE49-F238E27FC236}">
                <a16:creationId xmlns:a16="http://schemas.microsoft.com/office/drawing/2014/main" id="{8D6AAD7A-55D2-453D-A252-70B2F493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52850"/>
            <a:ext cx="24765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3EEFA"/>
          </a:solidFill>
          <a:ln xmlns:a="http://schemas.openxmlformats.org/drawingml/2006/main" w="14288">
            <a:solidFill>
              <a:srgbClr val="4F2D7F"/>
            </a:solidFill>
            <a:prstDash val="solid"/>
          </a:ln>
        </p:spPr>
      </p:sp>
      <p:sp>
        <p:nvSpPr>
          <p:cNvPr id="25" name="repr-candidate-b-title">
            <a:extLst xmlns:a="http://schemas.openxmlformats.org/drawingml/2006/main">
              <a:ext uri="{FF2B5EF4-FFF2-40B4-BE49-F238E27FC236}">
                <a16:creationId xmlns:a16="http://schemas.microsoft.com/office/drawing/2014/main" id="{391A4DEF-DC92-4DA8-A890-51972DEA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19525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F2D7F"/>
                </a:solidFill>
              </a:defRPr>
            </a:pPr>
            <a:r>
              <a:rPr sz="1275" b="1">
                <a:solidFill>
                  <a:srgbClr val="4F2D7F"/>
                </a:solidFill>
              </a:rPr>
              <a:t>Pooled output</a:t>
            </a:r>
          </a:p>
        </p:txBody>
      </p:sp>
      <p:sp>
        <p:nvSpPr>
          <p:cNvPr id="26" name="repr-candidate-b-body">
            <a:extLst xmlns:a="http://schemas.openxmlformats.org/drawingml/2006/main">
              <a:ext uri="{FF2B5EF4-FFF2-40B4-BE49-F238E27FC236}">
                <a16:creationId xmlns:a16="http://schemas.microsoft.com/office/drawing/2014/main" id="{DDC6B61D-126F-4916-8A03-813F01C9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48125"/>
            <a:ext cx="2171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(CLS + DIST)/2 → z [B,768]</a:t>
            </a:r>
          </a:p>
        </p:txBody>
      </p:sp>
      <p:sp>
        <p:nvSpPr>
          <p:cNvPr id="27" name="shared-heads-box">
            <a:extLst xmlns:a="http://schemas.openxmlformats.org/drawingml/2006/main">
              <a:ext uri="{FF2B5EF4-FFF2-40B4-BE49-F238E27FC236}">
                <a16:creationId xmlns:a16="http://schemas.microsoft.com/office/drawing/2014/main" id="{F9671544-0DA8-4AE3-A75D-4BF97BE3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14500"/>
            <a:ext cx="2143125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9F7F8"/>
          </a:solidFill>
          <a:ln xmlns:a="http://schemas.openxmlformats.org/drawingml/2006/main" w="14288">
            <a:solidFill>
              <a:srgbClr val="087F8C"/>
            </a:solidFill>
            <a:prstDash val="solid"/>
          </a:ln>
        </p:spPr>
      </p:sp>
      <p:sp>
        <p:nvSpPr>
          <p:cNvPr id="28" name="shared-heads-title">
            <a:extLst xmlns:a="http://schemas.openxmlformats.org/drawingml/2006/main">
              <a:ext uri="{FF2B5EF4-FFF2-40B4-BE49-F238E27FC236}">
                <a16:creationId xmlns:a16="http://schemas.microsoft.com/office/drawing/2014/main" id="{7E274DAC-045A-4BBF-AD72-814D2A83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47850"/>
            <a:ext cx="1838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87F8C"/>
                </a:solidFill>
              </a:defRPr>
            </a:pPr>
            <a:r>
              <a:rPr sz="1350" b="1">
                <a:solidFill>
                  <a:srgbClr val="087F8C"/>
                </a:solidFill>
              </a:rPr>
              <a:t>ICBHI NATIVE HEAD</a:t>
            </a:r>
          </a:p>
        </p:txBody>
      </p:sp>
      <p:sp>
        <p:nvSpPr>
          <p:cNvPr id="29" name="shared-heads-body">
            <a:extLst xmlns:a="http://schemas.openxmlformats.org/drawingml/2006/main">
              <a:ext uri="{FF2B5EF4-FFF2-40B4-BE49-F238E27FC236}">
                <a16:creationId xmlns:a16="http://schemas.microsoft.com/office/drawing/2014/main" id="{D67155C8-1783-4684-A63C-C9FE0EDB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90750"/>
            <a:ext cx="18383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cycle-level flat4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normal • crackle • wheeze • both</a:t>
            </a:r>
          </a:p>
        </p:txBody>
      </p:sp>
      <p:sp>
        <p:nvSpPr>
          <p:cNvPr id="30" name="native-heads-box">
            <a:extLst xmlns:a="http://schemas.openxmlformats.org/drawingml/2006/main">
              <a:ext uri="{FF2B5EF4-FFF2-40B4-BE49-F238E27FC236}">
                <a16:creationId xmlns:a16="http://schemas.microsoft.com/office/drawing/2014/main" id="{FABA2266-428E-4B13-8212-2D03E2D8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33750"/>
            <a:ext cx="2143125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4288">
            <a:solidFill>
              <a:srgbClr val="C45A16"/>
            </a:solidFill>
            <a:prstDash val="solid"/>
          </a:ln>
        </p:spPr>
      </p:sp>
      <p:sp>
        <p:nvSpPr>
          <p:cNvPr id="31" name="native-heads-title">
            <a:extLst xmlns:a="http://schemas.openxmlformats.org/drawingml/2006/main">
              <a:ext uri="{FF2B5EF4-FFF2-40B4-BE49-F238E27FC236}">
                <a16:creationId xmlns:a16="http://schemas.microsoft.com/office/drawing/2014/main" id="{89D7873D-8805-4424-B953-9745285A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67100"/>
            <a:ext cx="1838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45A16"/>
                </a:solidFill>
              </a:defRPr>
            </a:pPr>
            <a:r>
              <a:rPr sz="1350" b="1">
                <a:solidFill>
                  <a:srgbClr val="C45A16"/>
                </a:solidFill>
              </a:rPr>
              <a:t>SPRSOUND NATIVE HEADS</a:t>
            </a:r>
          </a:p>
        </p:txBody>
      </p:sp>
      <p:sp>
        <p:nvSpPr>
          <p:cNvPr id="32" name="native-heads-body">
            <a:extLst xmlns:a="http://schemas.openxmlformats.org/drawingml/2006/main">
              <a:ext uri="{FF2B5EF4-FFF2-40B4-BE49-F238E27FC236}">
                <a16:creationId xmlns:a16="http://schemas.microsoft.com/office/drawing/2014/main" id="{061FABE9-9AC6-48BD-8E82-3271F627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10000"/>
            <a:ext cx="18383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event binary + event seven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inter / intra kept distinct</a:t>
            </a:r>
          </a:p>
        </p:txBody>
      </p:sp>
      <p:sp>
        <p:nvSpPr>
          <p:cNvPr id="33" name="training-objective-box">
            <a:extLst xmlns:a="http://schemas.openxmlformats.org/drawingml/2006/main">
              <a:ext uri="{FF2B5EF4-FFF2-40B4-BE49-F238E27FC236}">
                <a16:creationId xmlns:a16="http://schemas.microsoft.com/office/drawing/2014/main" id="{52D41143-BE90-4F83-B5B4-58B8AD54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714500"/>
            <a:ext cx="1714500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EEFA"/>
          </a:solidFill>
          <a:ln xmlns:a="http://schemas.openxmlformats.org/drawingml/2006/main" w="14288">
            <a:solidFill>
              <a:srgbClr val="4F2D7F"/>
            </a:solidFill>
            <a:prstDash val="solid"/>
          </a:ln>
        </p:spPr>
      </p:sp>
      <p:sp>
        <p:nvSpPr>
          <p:cNvPr id="34" name="training-objective-title">
            <a:extLst xmlns:a="http://schemas.openxmlformats.org/drawingml/2006/main">
              <a:ext uri="{FF2B5EF4-FFF2-40B4-BE49-F238E27FC236}">
                <a16:creationId xmlns:a16="http://schemas.microsoft.com/office/drawing/2014/main" id="{670E0A6F-6F4E-4292-AD12-B3318B29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8478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F2D7F"/>
                </a:solidFill>
              </a:defRPr>
            </a:pPr>
            <a:r>
              <a:rPr sz="1350" b="1">
                <a:solidFill>
                  <a:srgbClr val="4F2D7F"/>
                </a:solidFill>
              </a:rPr>
              <a:t>TRAINING ONLY</a:t>
            </a:r>
          </a:p>
        </p:txBody>
      </p:sp>
      <p:sp>
        <p:nvSpPr>
          <p:cNvPr id="35" name="training-objective-body">
            <a:extLst xmlns:a="http://schemas.openxmlformats.org/drawingml/2006/main">
              <a:ext uri="{FF2B5EF4-FFF2-40B4-BE49-F238E27FC236}">
                <a16:creationId xmlns:a16="http://schemas.microsoft.com/office/drawing/2014/main" id="{3F55B08F-A1D8-4D26-8C35-3CFF294D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190750"/>
            <a:ext cx="1409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routed unweighted CE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source-proportional sampling</a:t>
            </a:r>
          </a:p>
        </p:txBody>
      </p:sp>
      <p:sp>
        <p:nvSpPr>
          <p:cNvPr id="36" name="evaluation-box">
            <a:extLst xmlns:a="http://schemas.openxmlformats.org/drawingml/2006/main">
              <a:ext uri="{FF2B5EF4-FFF2-40B4-BE49-F238E27FC236}">
                <a16:creationId xmlns:a16="http://schemas.microsoft.com/office/drawing/2014/main" id="{7FD30500-6C1E-404E-A982-18936760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333750"/>
            <a:ext cx="1714500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4288">
            <a:solidFill>
              <a:srgbClr val="2F855A"/>
            </a:solidFill>
            <a:prstDash val="solid"/>
          </a:ln>
        </p:spPr>
      </p:sp>
      <p:sp>
        <p:nvSpPr>
          <p:cNvPr id="37" name="evaluation-title">
            <a:extLst xmlns:a="http://schemas.openxmlformats.org/drawingml/2006/main">
              <a:ext uri="{FF2B5EF4-FFF2-40B4-BE49-F238E27FC236}">
                <a16:creationId xmlns:a16="http://schemas.microsoft.com/office/drawing/2014/main" id="{DC9A26FF-DA08-4001-B26B-69DF9E36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46710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855A"/>
                </a:solidFill>
              </a:defRPr>
            </a:pPr>
            <a:r>
              <a:rPr sz="1350" b="1">
                <a:solidFill>
                  <a:srgbClr val="2F855A"/>
                </a:solidFill>
              </a:rPr>
              <a:t>CURRENT RECEIPTS</a:t>
            </a:r>
          </a:p>
        </p:txBody>
      </p:sp>
      <p:sp>
        <p:nvSpPr>
          <p:cNvPr id="38" name="evaluation-body">
            <a:extLst xmlns:a="http://schemas.openxmlformats.org/drawingml/2006/main">
              <a:ext uri="{FF2B5EF4-FFF2-40B4-BE49-F238E27FC236}">
                <a16:creationId xmlns:a16="http://schemas.microsoft.com/office/drawing/2014/main" id="{7FBB7E25-5069-4A6C-9387-6B704741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810000"/>
            <a:ext cx="1409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B7A"/>
                </a:solidFill>
              </a:defRPr>
            </a:pPr>
            <a:r>
              <a:rPr sz="1125" b="0">
                <a:solidFill>
                  <a:srgbClr val="5F6B7A"/>
                </a:solidFill>
              </a:rPr>
              <a:t>protocol ✓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F6B7A"/>
                </a:solidFill>
              </a:defRPr>
            </a:pPr>
            <a:r>
              <a:rPr sz="1125" b="0">
                <a:solidFill>
                  <a:srgbClr val="5F6B7A"/>
                </a:solidFill>
              </a:rPr>
              <a:t>smoke ✓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F6B7A"/>
                </a:solidFill>
              </a:defRPr>
            </a:pPr>
            <a:r>
              <a:rPr sz="1125" b="0">
                <a:solidFill>
                  <a:srgbClr val="5F6B7A"/>
                </a:solidFill>
              </a:rPr>
              <a:t>profile ✓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F6B7A"/>
                </a:solidFill>
              </a:defRPr>
            </a:pPr>
            <a:r>
              <a:rPr sz="1125" b="0">
                <a:solidFill>
                  <a:srgbClr val="5F6B7A"/>
                </a:solidFill>
              </a:rPr>
              <a:t>performance —</a:t>
            </a:r>
          </a:p>
        </p:txBody>
      </p:sp>
      <p:sp>
        <p:nvSpPr>
          <p:cNvPr id="39" name="control-lane-label">
            <a:extLst xmlns:a="http://schemas.openxmlformats.org/drawingml/2006/main">
              <a:ext uri="{FF2B5EF4-FFF2-40B4-BE49-F238E27FC236}">
                <a16:creationId xmlns:a16="http://schemas.microsoft.com/office/drawing/2014/main" id="{1A88FBDD-7252-4145-A1E1-EDA8D61A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33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B7A"/>
                </a:solidFill>
              </a:defRPr>
            </a:pPr>
            <a:r>
              <a:rPr sz="1200" b="1">
                <a:solidFill>
                  <a:srgbClr val="5F6B7A"/>
                </a:solidFill>
              </a:rPr>
              <a:t>EXECUTION CONTROLS AND CLAIM BOUNDARY</a:t>
            </a:r>
          </a:p>
        </p:txBody>
      </p:sp>
      <p:sp>
        <p:nvSpPr>
          <p:cNvPr id="40" name="control-source-box">
            <a:extLst xmlns:a="http://schemas.openxmlformats.org/drawingml/2006/main">
              <a:ext uri="{FF2B5EF4-FFF2-40B4-BE49-F238E27FC236}">
                <a16:creationId xmlns:a16="http://schemas.microsoft.com/office/drawing/2014/main" id="{4E12F059-6350-4101-9052-270D92E6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57800"/>
            <a:ext cx="238125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3EEFA"/>
          </a:solidFill>
          <a:ln xmlns:a="http://schemas.openxmlformats.org/drawingml/2006/main" w="14288">
            <a:solidFill>
              <a:srgbClr val="4F2D7F"/>
            </a:solidFill>
            <a:prstDash val="solid"/>
          </a:ln>
        </p:spPr>
      </p:sp>
      <p:sp>
        <p:nvSpPr>
          <p:cNvPr id="41" name="control-source-title">
            <a:extLst xmlns:a="http://schemas.openxmlformats.org/drawingml/2006/main">
              <a:ext uri="{FF2B5EF4-FFF2-40B4-BE49-F238E27FC236}">
                <a16:creationId xmlns:a16="http://schemas.microsoft.com/office/drawing/2014/main" id="{B8E7A843-055A-4AED-8885-D83D8975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F2D7F"/>
                </a:solidFill>
              </a:defRPr>
            </a:pPr>
            <a:r>
              <a:rPr sz="1275" b="1">
                <a:solidFill>
                  <a:srgbClr val="4F2D7F"/>
                </a:solidFill>
              </a:rPr>
              <a:t>PREPROCESSING</a:t>
            </a:r>
          </a:p>
        </p:txBody>
      </p:sp>
      <p:sp>
        <p:nvSpPr>
          <p:cNvPr id="42" name="control-source-body">
            <a:extLst xmlns:a="http://schemas.openxmlformats.org/drawingml/2006/main">
              <a:ext uri="{FF2B5EF4-FFF2-40B4-BE49-F238E27FC236}">
                <a16:creationId xmlns:a16="http://schemas.microsoft.com/office/drawing/2014/main" id="{DA601A82-CC50-49E4-982B-45D2AB66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3405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fixed 8 s • no padding mask</a:t>
            </a:r>
          </a:p>
        </p:txBody>
      </p:sp>
      <p:sp>
        <p:nvSpPr>
          <p:cNvPr id="43" name="control-tail-box">
            <a:extLst xmlns:a="http://schemas.openxmlformats.org/drawingml/2006/main">
              <a:ext uri="{FF2B5EF4-FFF2-40B4-BE49-F238E27FC236}">
                <a16:creationId xmlns:a16="http://schemas.microsoft.com/office/drawing/2014/main" id="{049B9161-10C0-4220-99A4-8088E6C0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57800"/>
            <a:ext cx="238125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14288">
            <a:solidFill>
              <a:srgbClr val="B4233B"/>
            </a:solidFill>
            <a:prstDash val="solid"/>
          </a:ln>
        </p:spPr>
      </p:sp>
      <p:sp>
        <p:nvSpPr>
          <p:cNvPr id="44" name="control-tail-title">
            <a:extLst xmlns:a="http://schemas.openxmlformats.org/drawingml/2006/main">
              <a:ext uri="{FF2B5EF4-FFF2-40B4-BE49-F238E27FC236}">
                <a16:creationId xmlns:a16="http://schemas.microsoft.com/office/drawing/2014/main" id="{D35BF276-64BC-4642-B788-1FFF0483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3911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4233B"/>
                </a:solidFill>
              </a:defRPr>
            </a:pPr>
            <a:r>
              <a:rPr sz="1275" b="1">
                <a:solidFill>
                  <a:srgbClr val="B4233B"/>
                </a:solidFill>
              </a:rPr>
              <a:t>SAMPLING</a:t>
            </a:r>
          </a:p>
        </p:txBody>
      </p:sp>
      <p:sp>
        <p:nvSpPr>
          <p:cNvPr id="45" name="control-tail-body">
            <a:extLst xmlns:a="http://schemas.openxmlformats.org/drawingml/2006/main">
              <a:ext uri="{FF2B5EF4-FFF2-40B4-BE49-F238E27FC236}">
                <a16:creationId xmlns:a16="http://schemas.microsoft.com/office/drawing/2014/main" id="{67F9FA1C-45DC-4FCF-B05F-C2B952AE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73405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source-proportional; not dataset-balanced</a:t>
            </a:r>
          </a:p>
        </p:txBody>
      </p:sp>
      <p:sp>
        <p:nvSpPr>
          <p:cNvPr id="46" name="control-shortcut-box">
            <a:extLst xmlns:a="http://schemas.openxmlformats.org/drawingml/2006/main">
              <a:ext uri="{FF2B5EF4-FFF2-40B4-BE49-F238E27FC236}">
                <a16:creationId xmlns:a16="http://schemas.microsoft.com/office/drawing/2014/main" id="{B1995C46-7396-40C7-992E-34FD5675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57800"/>
            <a:ext cx="24765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</p:sp>
      <p:sp>
        <p:nvSpPr>
          <p:cNvPr id="47" name="control-shortcut-title">
            <a:extLst xmlns:a="http://schemas.openxmlformats.org/drawingml/2006/main">
              <a:ext uri="{FF2B5EF4-FFF2-40B4-BE49-F238E27FC236}">
                <a16:creationId xmlns:a16="http://schemas.microsoft.com/office/drawing/2014/main" id="{CE8396B0-411A-4CC2-AF10-657120D1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39115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D4ED8"/>
                </a:solidFill>
              </a:defRPr>
            </a:pPr>
            <a:r>
              <a:rPr sz="1275" b="1">
                <a:solidFill>
                  <a:srgbClr val="1D4ED8"/>
                </a:solidFill>
              </a:rPr>
              <a:t>POSITION GRID</a:t>
            </a:r>
          </a:p>
        </p:txBody>
      </p:sp>
      <p:sp>
        <p:nvSpPr>
          <p:cNvPr id="48" name="control-shortcut-body">
            <a:extLst xmlns:a="http://schemas.openxmlformats.org/drawingml/2006/main">
              <a:ext uri="{FF2B5EF4-FFF2-40B4-BE49-F238E27FC236}">
                <a16:creationId xmlns:a16="http://schemas.microsoft.com/office/drawing/2014/main" id="{380D6975-16CB-4F4F-8D05-7D8F4079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73405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12×101 source → center-crop time to 79</a:t>
            </a:r>
          </a:p>
        </p:txBody>
      </p:sp>
      <p:sp>
        <p:nvSpPr>
          <p:cNvPr id="49" name="control-claim-box">
            <a:extLst xmlns:a="http://schemas.openxmlformats.org/drawingml/2006/main">
              <a:ext uri="{FF2B5EF4-FFF2-40B4-BE49-F238E27FC236}">
                <a16:creationId xmlns:a16="http://schemas.microsoft.com/office/drawing/2014/main" id="{683DBD47-F7CF-481A-949C-9EBAC51B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57800"/>
            <a:ext cx="36195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4288">
            <a:solidFill>
              <a:srgbClr val="2F855A"/>
            </a:solidFill>
            <a:prstDash val="solid"/>
          </a:ln>
        </p:spPr>
      </p:sp>
      <p:sp>
        <p:nvSpPr>
          <p:cNvPr id="50" name="control-claim-title">
            <a:extLst xmlns:a="http://schemas.openxmlformats.org/drawingml/2006/main">
              <a:ext uri="{FF2B5EF4-FFF2-40B4-BE49-F238E27FC236}">
                <a16:creationId xmlns:a16="http://schemas.microsoft.com/office/drawing/2014/main" id="{31B7F83C-0417-4ADE-8C3A-FD30F32B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391150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855A"/>
                </a:solidFill>
              </a:defRPr>
            </a:pPr>
            <a:r>
              <a:rPr sz="1275" b="1">
                <a:solidFill>
                  <a:srgbClr val="2F855A"/>
                </a:solidFill>
              </a:rPr>
              <a:t>CLAIM BOUNDARY</a:t>
            </a:r>
          </a:p>
        </p:txBody>
      </p:sp>
      <p:sp>
        <p:nvSpPr>
          <p:cNvPr id="51" name="control-claim-body">
            <a:extLst xmlns:a="http://schemas.openxmlformats.org/drawingml/2006/main">
              <a:ext uri="{FF2B5EF4-FFF2-40B4-BE49-F238E27FC236}">
                <a16:creationId xmlns:a16="http://schemas.microsoft.com/office/drawing/2014/main" id="{EB7CAA28-A8F0-4B29-A5DD-0433A17E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734050"/>
            <a:ext cx="331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Executable engineering path only • no accuracy claim</a:t>
            </a:r>
          </a:p>
        </p:txBody>
      </p:sp>
      <p:sp>
        <p:nvSpPr>
          <p:cNvPr id="52" name="footer-1">
            <a:extLst xmlns:a="http://schemas.openxmlformats.org/drawingml/2006/main">
              <a:ext uri="{FF2B5EF4-FFF2-40B4-BE49-F238E27FC236}">
                <a16:creationId xmlns:a16="http://schemas.microsoft.com/office/drawing/2014/main" id="{E86A6631-BC32-4953-91D2-F88A3AC6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Acoustic E2E pipeline  •  audit rough cut v1  •  2/7</a:t>
            </a:r>
          </a:p>
        </p:txBody>
      </p:sp>
    </p:spTree>
    <p:extLst>
      <p:ext uri="{BB962C8B-B14F-4D97-AF65-F5344CB8AC3E}">
        <p14:creationId xmlns:p14="http://schemas.microsoft.com/office/powerpoint/2010/main" val="9993266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A65DEC-C9C3-4B8F-A1F9-5394C9F1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Completed frozen-feature diagnostic track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91B6F83-6ED6-4946-A285-82F60221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B7A"/>
                </a:solidFill>
              </a:defRPr>
            </a:pPr>
            <a:r>
              <a:rPr sz="1275" b="0">
                <a:solidFill>
                  <a:srgbClr val="5F6B7A"/>
                </a:solidFill>
              </a:rPr>
              <a:t>Four datasets share one diagnostic harness; supervision remains task-native and target-supervised.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8858207-27C9-4036-8D1A-8455DAE1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F2D7F"/>
            </a:solidFill>
            <a:prstDash val="solid"/>
          </a:ln>
        </p:spPr>
      </p:sp>
      <p:sp>
        <p:nvSpPr>
          <p:cNvPr id="4" name="arrow-sources-adapter">
            <a:extLst xmlns:a="http://schemas.openxmlformats.org/drawingml/2006/main">
              <a:ext uri="{FF2B5EF4-FFF2-40B4-BE49-F238E27FC236}">
                <a16:creationId xmlns:a16="http://schemas.microsoft.com/office/drawing/2014/main" id="{5B351789-5091-4821-B61C-5553BB1B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05150"/>
            <a:ext cx="2857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rrow-adapter-representation">
            <a:extLst xmlns:a="http://schemas.openxmlformats.org/drawingml/2006/main">
              <a:ext uri="{FF2B5EF4-FFF2-40B4-BE49-F238E27FC236}">
                <a16:creationId xmlns:a16="http://schemas.microsoft.com/office/drawing/2014/main" id="{4709BF1F-6387-4EA2-8654-40C99CB1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05150"/>
            <a:ext cx="33337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rrow-representation-heads">
            <a:extLst xmlns:a="http://schemas.openxmlformats.org/drawingml/2006/main">
              <a:ext uri="{FF2B5EF4-FFF2-40B4-BE49-F238E27FC236}">
                <a16:creationId xmlns:a16="http://schemas.microsoft.com/office/drawing/2014/main" id="{684077DF-0F1F-4949-BA96-96F6C796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05150"/>
            <a:ext cx="33337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row-heads-objective">
            <a:extLst xmlns:a="http://schemas.openxmlformats.org/drawingml/2006/main">
              <a:ext uri="{FF2B5EF4-FFF2-40B4-BE49-F238E27FC236}">
                <a16:creationId xmlns:a16="http://schemas.microsoft.com/office/drawing/2014/main" id="{4049C598-8188-4B23-948F-9D4BBF6D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105150"/>
            <a:ext cx="33337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ources-label">
            <a:extLst xmlns:a="http://schemas.openxmlformats.org/drawingml/2006/main">
              <a:ext uri="{FF2B5EF4-FFF2-40B4-BE49-F238E27FC236}">
                <a16:creationId xmlns:a16="http://schemas.microsoft.com/office/drawing/2014/main" id="{1D4B4EA6-E52B-49BD-A29A-191C5568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76350"/>
            <a:ext cx="1476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5F6B7A"/>
                </a:solidFill>
              </a:defRPr>
            </a:pPr>
            <a:r>
              <a:rPr sz="1125" b="1">
                <a:solidFill>
                  <a:srgbClr val="5F6B7A"/>
                </a:solidFill>
              </a:rPr>
              <a:t>DIAGNOSTIC UNITS</a:t>
            </a:r>
          </a:p>
        </p:txBody>
      </p:sp>
      <p:sp>
        <p:nvSpPr>
          <p:cNvPr id="9" name="source-icbhi">
            <a:extLst xmlns:a="http://schemas.openxmlformats.org/drawingml/2006/main">
              <a:ext uri="{FF2B5EF4-FFF2-40B4-BE49-F238E27FC236}">
                <a16:creationId xmlns:a16="http://schemas.microsoft.com/office/drawing/2014/main" id="{4712DC49-8BC0-424D-91EA-1E314D6B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57350"/>
            <a:ext cx="14287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F2D7F"/>
          </a:solidFill>
          <a:ln xmlns:a="http://schemas.openxmlformats.org/drawingml/2006/main" w="9525">
            <a:solidFill>
              <a:srgbClr val="4F2D7F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ICBHI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flat4 cycles</a:t>
            </a:r>
          </a:p>
        </p:txBody>
      </p:sp>
      <p:sp>
        <p:nvSpPr>
          <p:cNvPr id="10" name="source-sprsound">
            <a:extLst xmlns:a="http://schemas.openxmlformats.org/drawingml/2006/main">
              <a:ext uri="{FF2B5EF4-FFF2-40B4-BE49-F238E27FC236}">
                <a16:creationId xmlns:a16="http://schemas.microsoft.com/office/drawing/2014/main" id="{B7FD087A-5EEF-4613-926B-464E3622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00300"/>
            <a:ext cx="14287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9525">
            <a:solidFill>
              <a:srgbClr val="087F8C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SPRSound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binary + seven events</a:t>
            </a:r>
          </a:p>
        </p:txBody>
      </p:sp>
      <p:sp>
        <p:nvSpPr>
          <p:cNvPr id="11" name="source-hf_lung">
            <a:extLst xmlns:a="http://schemas.openxmlformats.org/drawingml/2006/main">
              <a:ext uri="{FF2B5EF4-FFF2-40B4-BE49-F238E27FC236}">
                <a16:creationId xmlns:a16="http://schemas.microsoft.com/office/drawing/2014/main" id="{CC7CAE31-1EFD-4D23-B792-C8041EE5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143250"/>
            <a:ext cx="14287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774AE"/>
          </a:solidFill>
          <a:ln xmlns:a="http://schemas.openxmlformats.org/drawingml/2006/main" w="9525">
            <a:solidFill>
              <a:srgbClr val="2774AE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HF_Lung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phase + adv presence</a:t>
            </a:r>
          </a:p>
        </p:txBody>
      </p:sp>
      <p:sp>
        <p:nvSpPr>
          <p:cNvPr id="12" name="source-kauh">
            <a:extLst xmlns:a="http://schemas.openxmlformats.org/drawingml/2006/main">
              <a:ext uri="{FF2B5EF4-FFF2-40B4-BE49-F238E27FC236}">
                <a16:creationId xmlns:a16="http://schemas.microsoft.com/office/drawing/2014/main" id="{CE2A88AD-DACD-47E3-B53A-2A8770D4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86200"/>
            <a:ext cx="14287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45A16"/>
          </a:solidFill>
          <a:ln xmlns:a="http://schemas.openxmlformats.org/drawingml/2006/main" w="9525">
            <a:solidFill>
              <a:srgbClr val="C45A16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KAUH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raw9 recordings</a:t>
            </a:r>
          </a:p>
        </p:txBody>
      </p:sp>
      <p:sp>
        <p:nvSpPr>
          <p:cNvPr id="13" name="adapter-box">
            <a:extLst xmlns:a="http://schemas.openxmlformats.org/drawingml/2006/main">
              <a:ext uri="{FF2B5EF4-FFF2-40B4-BE49-F238E27FC236}">
                <a16:creationId xmlns:a16="http://schemas.microsoft.com/office/drawing/2014/main" id="{25B27F31-6220-4D3D-B899-67E71F8B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657350"/>
            <a:ext cx="1905000" cy="280035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4288">
            <a:solidFill>
              <a:srgbClr val="4F2D7F"/>
            </a:solidFill>
            <a:prstDash val="solid"/>
          </a:ln>
        </p:spPr>
      </p:sp>
      <p:sp>
        <p:nvSpPr>
          <p:cNvPr id="14" name="adapter-title">
            <a:extLst xmlns:a="http://schemas.openxmlformats.org/drawingml/2006/main">
              <a:ext uri="{FF2B5EF4-FFF2-40B4-BE49-F238E27FC236}">
                <a16:creationId xmlns:a16="http://schemas.microsoft.com/office/drawing/2014/main" id="{37494E27-3774-45A8-BC15-8C84012F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907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F2D7F"/>
                </a:solidFill>
              </a:defRPr>
            </a:pPr>
            <a:r>
              <a:rPr sz="1350" b="1">
                <a:solidFill>
                  <a:srgbClr val="4F2D7F"/>
                </a:solidFill>
              </a:rPr>
              <a:t>FROZEN INPUT ALIGNMENT</a:t>
            </a:r>
          </a:p>
        </p:txBody>
      </p:sp>
      <p:sp>
        <p:nvSpPr>
          <p:cNvPr id="15" name="adapter-body">
            <a:extLst xmlns:a="http://schemas.openxmlformats.org/drawingml/2006/main">
              <a:ext uri="{FF2B5EF4-FFF2-40B4-BE49-F238E27FC236}">
                <a16:creationId xmlns:a16="http://schemas.microsoft.com/office/drawing/2014/main" id="{C904F620-EFA3-4AEF-9276-046E6B47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133600"/>
            <a:ext cx="16002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1  Native prediction units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2  Author-length 5 s windows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HF = 3×5 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3  Frozen cache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 [N,768]</a:t>
            </a:r>
          </a:p>
        </p:txBody>
      </p:sp>
      <p:sp>
        <p:nvSpPr>
          <p:cNvPr id="16" name="representation-zone">
            <a:extLst xmlns:a="http://schemas.openxmlformats.org/drawingml/2006/main">
              <a:ext uri="{FF2B5EF4-FFF2-40B4-BE49-F238E27FC236}">
                <a16:creationId xmlns:a16="http://schemas.microsoft.com/office/drawing/2014/main" id="{AA389197-55CF-40F8-B332-E3E379BC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447800"/>
            <a:ext cx="2952750" cy="323850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1D4ED8"/>
            </a:solidFill>
            <a:prstDash val="dash"/>
          </a:ln>
        </p:spPr>
      </p:sp>
      <p:sp>
        <p:nvSpPr>
          <p:cNvPr id="17" name="representation-title">
            <a:extLst xmlns:a="http://schemas.openxmlformats.org/drawingml/2006/main">
              <a:ext uri="{FF2B5EF4-FFF2-40B4-BE49-F238E27FC236}">
                <a16:creationId xmlns:a16="http://schemas.microsoft.com/office/drawing/2014/main" id="{CE0C7C66-295A-4D5C-AE12-ADCEA3F0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60020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D4ED8"/>
                </a:solidFill>
              </a:defRPr>
            </a:pPr>
            <a:r>
              <a:rPr sz="1350" b="1">
                <a:solidFill>
                  <a:srgbClr val="1D4ED8"/>
                </a:solidFill>
              </a:rPr>
              <a:t>REPRESENTATION ATTRIBUTION — COMPLETED</a:t>
            </a:r>
          </a:p>
        </p:txBody>
      </p:sp>
      <p:sp>
        <p:nvSpPr>
          <p:cNvPr id="18" name="repr-baseline-box">
            <a:extLst xmlns:a="http://schemas.openxmlformats.org/drawingml/2006/main">
              <a:ext uri="{FF2B5EF4-FFF2-40B4-BE49-F238E27FC236}">
                <a16:creationId xmlns:a16="http://schemas.microsoft.com/office/drawing/2014/main" id="{5BCB9D19-EF97-45A9-99C4-4F27CB85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00250"/>
            <a:ext cx="247650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19" name="repr-baseline-title">
            <a:extLst xmlns:a="http://schemas.openxmlformats.org/drawingml/2006/main">
              <a:ext uri="{FF2B5EF4-FFF2-40B4-BE49-F238E27FC236}">
                <a16:creationId xmlns:a16="http://schemas.microsoft.com/office/drawing/2014/main" id="{FE0EB95D-BCCC-4CA6-B8B6-3D02B718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66925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R0  PAFA</a:t>
            </a:r>
          </a:p>
        </p:txBody>
      </p:sp>
      <p:sp>
        <p:nvSpPr>
          <p:cNvPr id="20" name="repr-baseline-body">
            <a:extLst xmlns:a="http://schemas.openxmlformats.org/drawingml/2006/main">
              <a:ext uri="{FF2B5EF4-FFF2-40B4-BE49-F238E27FC236}">
                <a16:creationId xmlns:a16="http://schemas.microsoft.com/office/drawing/2014/main" id="{E33EF3FB-7B2B-4DB9-829D-04A4ADA2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95525"/>
            <a:ext cx="2171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ICBHI-task encoder • retained by rule</a:t>
            </a:r>
          </a:p>
        </p:txBody>
      </p:sp>
      <p:sp>
        <p:nvSpPr>
          <p:cNvPr id="21" name="repr-candidate-a-box">
            <a:extLst xmlns:a="http://schemas.openxmlformats.org/drawingml/2006/main">
              <a:ext uri="{FF2B5EF4-FFF2-40B4-BE49-F238E27FC236}">
                <a16:creationId xmlns:a16="http://schemas.microsoft.com/office/drawing/2014/main" id="{8E514C82-F473-4467-A42C-AD869B0E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38450"/>
            <a:ext cx="24765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</p:sp>
      <p:sp>
        <p:nvSpPr>
          <p:cNvPr id="22" name="repr-candidate-a-title">
            <a:extLst xmlns:a="http://schemas.openxmlformats.org/drawingml/2006/main">
              <a:ext uri="{FF2B5EF4-FFF2-40B4-BE49-F238E27FC236}">
                <a16:creationId xmlns:a16="http://schemas.microsoft.com/office/drawing/2014/main" id="{2F84DE29-0BD7-4469-975A-056B717B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905125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D4ED8"/>
                </a:solidFill>
              </a:defRPr>
            </a:pPr>
            <a:r>
              <a:rPr sz="1275" b="1">
                <a:solidFill>
                  <a:srgbClr val="1D4ED8"/>
                </a:solidFill>
              </a:rPr>
              <a:t>R1  BEATs</a:t>
            </a:r>
          </a:p>
        </p:txBody>
      </p:sp>
      <p:sp>
        <p:nvSpPr>
          <p:cNvPr id="23" name="repr-candidate-a-body">
            <a:extLst xmlns:a="http://schemas.openxmlformats.org/drawingml/2006/main">
              <a:ext uri="{FF2B5EF4-FFF2-40B4-BE49-F238E27FC236}">
                <a16:creationId xmlns:a16="http://schemas.microsoft.com/office/drawing/2014/main" id="{0A3813E6-7B61-4B3C-8221-70888FFF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33725"/>
            <a:ext cx="2171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AudioSet-only representation</a:t>
            </a:r>
          </a:p>
        </p:txBody>
      </p:sp>
      <p:sp>
        <p:nvSpPr>
          <p:cNvPr id="24" name="repr-candidate-b-box">
            <a:extLst xmlns:a="http://schemas.openxmlformats.org/drawingml/2006/main">
              <a:ext uri="{FF2B5EF4-FFF2-40B4-BE49-F238E27FC236}">
                <a16:creationId xmlns:a16="http://schemas.microsoft.com/office/drawing/2014/main" id="{8D6AAD7A-55D2-453D-A252-70B2F493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52850"/>
            <a:ext cx="24765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3EEFA"/>
          </a:solidFill>
          <a:ln xmlns:a="http://schemas.openxmlformats.org/drawingml/2006/main" w="14288">
            <a:solidFill>
              <a:srgbClr val="4F2D7F"/>
            </a:solidFill>
            <a:prstDash val="solid"/>
          </a:ln>
        </p:spPr>
      </p:sp>
      <p:sp>
        <p:nvSpPr>
          <p:cNvPr id="25" name="repr-candidate-b-title">
            <a:extLst xmlns:a="http://schemas.openxmlformats.org/drawingml/2006/main">
              <a:ext uri="{FF2B5EF4-FFF2-40B4-BE49-F238E27FC236}">
                <a16:creationId xmlns:a16="http://schemas.microsoft.com/office/drawing/2014/main" id="{391A4DEF-DC92-4DA8-A890-51972DEA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19525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F2D7F"/>
                </a:solidFill>
              </a:defRPr>
            </a:pPr>
            <a:r>
              <a:rPr sz="1275" b="1">
                <a:solidFill>
                  <a:srgbClr val="4F2D7F"/>
                </a:solidFill>
              </a:rPr>
              <a:t>R2  Random init</a:t>
            </a:r>
          </a:p>
        </p:txBody>
      </p:sp>
      <p:sp>
        <p:nvSpPr>
          <p:cNvPr id="26" name="repr-candidate-b-body">
            <a:extLst xmlns:a="http://schemas.openxmlformats.org/drawingml/2006/main">
              <a:ext uri="{FF2B5EF4-FFF2-40B4-BE49-F238E27FC236}">
                <a16:creationId xmlns:a16="http://schemas.microsoft.com/office/drawing/2014/main" id="{DDC6B61D-126F-4916-8A03-813F01C9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48125"/>
            <a:ext cx="2171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sanity floor • ineligible for selection</a:t>
            </a:r>
          </a:p>
        </p:txBody>
      </p:sp>
      <p:sp>
        <p:nvSpPr>
          <p:cNvPr id="27" name="shared-heads-box">
            <a:extLst xmlns:a="http://schemas.openxmlformats.org/drawingml/2006/main">
              <a:ext uri="{FF2B5EF4-FFF2-40B4-BE49-F238E27FC236}">
                <a16:creationId xmlns:a16="http://schemas.microsoft.com/office/drawing/2014/main" id="{F9671544-0DA8-4AE3-A75D-4BF97BE3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14500"/>
            <a:ext cx="2143125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9F7F8"/>
          </a:solidFill>
          <a:ln xmlns:a="http://schemas.openxmlformats.org/drawingml/2006/main" w="14288">
            <a:solidFill>
              <a:srgbClr val="087F8C"/>
            </a:solidFill>
            <a:prstDash val="solid"/>
          </a:ln>
        </p:spPr>
      </p:sp>
      <p:sp>
        <p:nvSpPr>
          <p:cNvPr id="28" name="shared-heads-title">
            <a:extLst xmlns:a="http://schemas.openxmlformats.org/drawingml/2006/main">
              <a:ext uri="{FF2B5EF4-FFF2-40B4-BE49-F238E27FC236}">
                <a16:creationId xmlns:a16="http://schemas.microsoft.com/office/drawing/2014/main" id="{7E274DAC-045A-4BBF-AD72-814D2A83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47850"/>
            <a:ext cx="1838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87F8C"/>
                </a:solidFill>
              </a:defRPr>
            </a:pPr>
            <a:r>
              <a:rPr sz="1350" b="1">
                <a:solidFill>
                  <a:srgbClr val="087F8C"/>
                </a:solidFill>
              </a:rPr>
              <a:t>D2 SHARED ADAPTER</a:t>
            </a:r>
          </a:p>
        </p:txBody>
      </p:sp>
      <p:sp>
        <p:nvSpPr>
          <p:cNvPr id="29" name="shared-heads-body">
            <a:extLst xmlns:a="http://schemas.openxmlformats.org/drawingml/2006/main">
              <a:ext uri="{FF2B5EF4-FFF2-40B4-BE49-F238E27FC236}">
                <a16:creationId xmlns:a16="http://schemas.microsoft.com/office/drawing/2014/main" id="{D67155C8-1783-4684-A63C-C9FE0EDB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90750"/>
            <a:ext cx="18383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same form for all tasks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768 → 256</a:t>
            </a:r>
          </a:p>
        </p:txBody>
      </p:sp>
      <p:sp>
        <p:nvSpPr>
          <p:cNvPr id="30" name="native-heads-box">
            <a:extLst xmlns:a="http://schemas.openxmlformats.org/drawingml/2006/main">
              <a:ext uri="{FF2B5EF4-FFF2-40B4-BE49-F238E27FC236}">
                <a16:creationId xmlns:a16="http://schemas.microsoft.com/office/drawing/2014/main" id="{FABA2266-428E-4B13-8212-2D03E2D8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33750"/>
            <a:ext cx="2143125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4288">
            <a:solidFill>
              <a:srgbClr val="C45A16"/>
            </a:solidFill>
            <a:prstDash val="solid"/>
          </a:ln>
        </p:spPr>
      </p:sp>
      <p:sp>
        <p:nvSpPr>
          <p:cNvPr id="31" name="native-heads-title">
            <a:extLst xmlns:a="http://schemas.openxmlformats.org/drawingml/2006/main">
              <a:ext uri="{FF2B5EF4-FFF2-40B4-BE49-F238E27FC236}">
                <a16:creationId xmlns:a16="http://schemas.microsoft.com/office/drawing/2014/main" id="{89D7873D-8805-4424-B953-9745285A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67100"/>
            <a:ext cx="1838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45A16"/>
                </a:solidFill>
              </a:defRPr>
            </a:pPr>
            <a:r>
              <a:rPr sz="1350" b="1">
                <a:solidFill>
                  <a:srgbClr val="C45A16"/>
                </a:solidFill>
              </a:rPr>
              <a:t>SIX NATIVE HEADS</a:t>
            </a:r>
          </a:p>
        </p:txBody>
      </p:sp>
      <p:sp>
        <p:nvSpPr>
          <p:cNvPr id="32" name="native-heads-body">
            <a:extLst xmlns:a="http://schemas.openxmlformats.org/drawingml/2006/main">
              <a:ext uri="{FF2B5EF4-FFF2-40B4-BE49-F238E27FC236}">
                <a16:creationId xmlns:a16="http://schemas.microsoft.com/office/drawing/2014/main" id="{061FABE9-9AC6-48BD-8E82-3271F627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10000"/>
            <a:ext cx="18383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ICBHI 1 • SPR 2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HF 2 • KAUH 1</a:t>
            </a:r>
          </a:p>
        </p:txBody>
      </p:sp>
      <p:sp>
        <p:nvSpPr>
          <p:cNvPr id="33" name="training-objective-box">
            <a:extLst xmlns:a="http://schemas.openxmlformats.org/drawingml/2006/main">
              <a:ext uri="{FF2B5EF4-FFF2-40B4-BE49-F238E27FC236}">
                <a16:creationId xmlns:a16="http://schemas.microsoft.com/office/drawing/2014/main" id="{52D41143-BE90-4F83-B5B4-58B8AD54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714500"/>
            <a:ext cx="1714500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EEFA"/>
          </a:solidFill>
          <a:ln xmlns:a="http://schemas.openxmlformats.org/drawingml/2006/main" w="14288">
            <a:solidFill>
              <a:srgbClr val="4F2D7F"/>
            </a:solidFill>
            <a:prstDash val="solid"/>
          </a:ln>
        </p:spPr>
      </p:sp>
      <p:sp>
        <p:nvSpPr>
          <p:cNvPr id="34" name="training-objective-title">
            <a:extLst xmlns:a="http://schemas.openxmlformats.org/drawingml/2006/main">
              <a:ext uri="{FF2B5EF4-FFF2-40B4-BE49-F238E27FC236}">
                <a16:creationId xmlns:a16="http://schemas.microsoft.com/office/drawing/2014/main" id="{670E0A6F-6F4E-4292-AD12-B3318B29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8478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F2D7F"/>
                </a:solidFill>
              </a:defRPr>
            </a:pPr>
            <a:r>
              <a:rPr sz="1350" b="1">
                <a:solidFill>
                  <a:srgbClr val="4F2D7F"/>
                </a:solidFill>
              </a:rPr>
              <a:t>TARGET-SUPERVISED</a:t>
            </a:r>
          </a:p>
        </p:txBody>
      </p:sp>
      <p:sp>
        <p:nvSpPr>
          <p:cNvPr id="35" name="training-objective-body">
            <a:extLst xmlns:a="http://schemas.openxmlformats.org/drawingml/2006/main">
              <a:ext uri="{FF2B5EF4-FFF2-40B4-BE49-F238E27FC236}">
                <a16:creationId xmlns:a16="http://schemas.microsoft.com/office/drawing/2014/main" id="{3F55B08F-A1D8-4D26-8C35-3CFF294D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190750"/>
            <a:ext cx="1409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dataset-balanced updates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5 epochs • encoder frozen</a:t>
            </a:r>
          </a:p>
        </p:txBody>
      </p:sp>
      <p:sp>
        <p:nvSpPr>
          <p:cNvPr id="36" name="evaluation-box">
            <a:extLst xmlns:a="http://schemas.openxmlformats.org/drawingml/2006/main">
              <a:ext uri="{FF2B5EF4-FFF2-40B4-BE49-F238E27FC236}">
                <a16:creationId xmlns:a16="http://schemas.microsoft.com/office/drawing/2014/main" id="{7FD30500-6C1E-404E-A982-18936760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333750"/>
            <a:ext cx="1714500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4288">
            <a:solidFill>
              <a:srgbClr val="2F855A"/>
            </a:solidFill>
            <a:prstDash val="solid"/>
          </a:ln>
        </p:spPr>
      </p:sp>
      <p:sp>
        <p:nvSpPr>
          <p:cNvPr id="37" name="evaluation-title">
            <a:extLst xmlns:a="http://schemas.openxmlformats.org/drawingml/2006/main">
              <a:ext uri="{FF2B5EF4-FFF2-40B4-BE49-F238E27FC236}">
                <a16:creationId xmlns:a16="http://schemas.microsoft.com/office/drawing/2014/main" id="{DC9A26FF-DA08-4001-B26B-69DF9E36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46710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855A"/>
                </a:solidFill>
              </a:defRPr>
            </a:pPr>
            <a:r>
              <a:rPr sz="1350" b="1">
                <a:solidFill>
                  <a:srgbClr val="2F855A"/>
                </a:solidFill>
              </a:rPr>
              <a:t>NATIVE METRICS</a:t>
            </a:r>
          </a:p>
        </p:txBody>
      </p:sp>
      <p:sp>
        <p:nvSpPr>
          <p:cNvPr id="38" name="evaluation-body">
            <a:extLst xmlns:a="http://schemas.openxmlformats.org/drawingml/2006/main">
              <a:ext uri="{FF2B5EF4-FFF2-40B4-BE49-F238E27FC236}">
                <a16:creationId xmlns:a16="http://schemas.microsoft.com/office/drawing/2014/main" id="{7FBB7E25-5069-4A6C-9387-6B704741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810000"/>
            <a:ext cx="1409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B7A"/>
                </a:solidFill>
              </a:defRPr>
            </a:pPr>
            <a:r>
              <a:rPr sz="1125" b="0">
                <a:solidFill>
                  <a:srgbClr val="5F6B7A"/>
                </a:solidFill>
              </a:rPr>
              <a:t>per dataset/task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F6B7A"/>
                </a:solidFill>
              </a:defRPr>
            </a:pPr>
            <a:r>
              <a:rPr sz="1125" b="0">
                <a:solidFill>
                  <a:srgbClr val="5F6B7A"/>
                </a:solidFill>
              </a:rPr>
              <a:t>5 folds where defined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F6B7A"/>
                </a:solidFill>
              </a:defRPr>
            </a:pPr>
            <a:r>
              <a:rPr sz="1125" b="0">
                <a:solidFill>
                  <a:srgbClr val="5F6B7A"/>
                </a:solidFill>
              </a:rPr>
              <a:t>no pooled score</a:t>
            </a:r>
          </a:p>
        </p:txBody>
      </p:sp>
      <p:sp>
        <p:nvSpPr>
          <p:cNvPr id="39" name="control-lane-label">
            <a:extLst xmlns:a="http://schemas.openxmlformats.org/drawingml/2006/main">
              <a:ext uri="{FF2B5EF4-FFF2-40B4-BE49-F238E27FC236}">
                <a16:creationId xmlns:a16="http://schemas.microsoft.com/office/drawing/2014/main" id="{1A88FBDD-7252-4145-A1E1-EDA8D61A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33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B7A"/>
                </a:solidFill>
              </a:defRPr>
            </a:pPr>
            <a:r>
              <a:rPr sz="1200" b="1">
                <a:solidFill>
                  <a:srgbClr val="5F6B7A"/>
                </a:solidFill>
              </a:rPr>
              <a:t>DIAGNOSTIC CONTROLS AND CLAIM BOUNDARY</a:t>
            </a:r>
          </a:p>
        </p:txBody>
      </p:sp>
      <p:sp>
        <p:nvSpPr>
          <p:cNvPr id="40" name="control-source-box">
            <a:extLst xmlns:a="http://schemas.openxmlformats.org/drawingml/2006/main">
              <a:ext uri="{FF2B5EF4-FFF2-40B4-BE49-F238E27FC236}">
                <a16:creationId xmlns:a16="http://schemas.microsoft.com/office/drawing/2014/main" id="{4E12F059-6350-4101-9052-270D92E6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57800"/>
            <a:ext cx="238125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3EEFA"/>
          </a:solidFill>
          <a:ln xmlns:a="http://schemas.openxmlformats.org/drawingml/2006/main" w="14288">
            <a:solidFill>
              <a:srgbClr val="4F2D7F"/>
            </a:solidFill>
            <a:prstDash val="solid"/>
          </a:ln>
        </p:spPr>
      </p:sp>
      <p:sp>
        <p:nvSpPr>
          <p:cNvPr id="41" name="control-source-title">
            <a:extLst xmlns:a="http://schemas.openxmlformats.org/drawingml/2006/main">
              <a:ext uri="{FF2B5EF4-FFF2-40B4-BE49-F238E27FC236}">
                <a16:creationId xmlns:a16="http://schemas.microsoft.com/office/drawing/2014/main" id="{B8E7A843-055A-4AED-8885-D83D8975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F2D7F"/>
                </a:solidFill>
              </a:defRPr>
            </a:pPr>
            <a:r>
              <a:rPr sz="1275" b="1">
                <a:solidFill>
                  <a:srgbClr val="4F2D7F"/>
                </a:solidFill>
              </a:rPr>
              <a:t>INPUT ALIGNMENT</a:t>
            </a:r>
          </a:p>
        </p:txBody>
      </p:sp>
      <p:sp>
        <p:nvSpPr>
          <p:cNvPr id="42" name="control-source-body">
            <a:extLst xmlns:a="http://schemas.openxmlformats.org/drawingml/2006/main">
              <a:ext uri="{FF2B5EF4-FFF2-40B4-BE49-F238E27FC236}">
                <a16:creationId xmlns:a16="http://schemas.microsoft.com/office/drawing/2014/main" id="{DA601A82-CC50-49E4-982B-45D2AB66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3405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HF = 3×5 s; recording window means</a:t>
            </a:r>
          </a:p>
        </p:txBody>
      </p:sp>
      <p:sp>
        <p:nvSpPr>
          <p:cNvPr id="43" name="control-tail-box">
            <a:extLst xmlns:a="http://schemas.openxmlformats.org/drawingml/2006/main">
              <a:ext uri="{FF2B5EF4-FFF2-40B4-BE49-F238E27FC236}">
                <a16:creationId xmlns:a16="http://schemas.microsoft.com/office/drawing/2014/main" id="{049B9161-10C0-4220-99A4-8088E6C0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57800"/>
            <a:ext cx="238125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14288">
            <a:solidFill>
              <a:srgbClr val="B4233B"/>
            </a:solidFill>
            <a:prstDash val="solid"/>
          </a:ln>
        </p:spPr>
      </p:sp>
      <p:sp>
        <p:nvSpPr>
          <p:cNvPr id="44" name="control-tail-title">
            <a:extLst xmlns:a="http://schemas.openxmlformats.org/drawingml/2006/main">
              <a:ext uri="{FF2B5EF4-FFF2-40B4-BE49-F238E27FC236}">
                <a16:creationId xmlns:a16="http://schemas.microsoft.com/office/drawing/2014/main" id="{D35BF276-64BC-4642-B788-1FFF0483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3911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4233B"/>
                </a:solidFill>
              </a:defRPr>
            </a:pPr>
            <a:r>
              <a:rPr sz="1275" b="1">
                <a:solidFill>
                  <a:srgbClr val="B4233B"/>
                </a:solidFill>
              </a:rPr>
              <a:t>SPLITS</a:t>
            </a:r>
          </a:p>
        </p:txBody>
      </p:sp>
      <p:sp>
        <p:nvSpPr>
          <p:cNvPr id="45" name="control-tail-body">
            <a:extLst xmlns:a="http://schemas.openxmlformats.org/drawingml/2006/main">
              <a:ext uri="{FF2B5EF4-FFF2-40B4-BE49-F238E27FC236}">
                <a16:creationId xmlns:a16="http://schemas.microsoft.com/office/drawing/2014/main" id="{67F9FA1C-45DC-4FCF-B05F-C2B952AE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73405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source-aware; KAUH patient-grouped OOF</a:t>
            </a:r>
          </a:p>
        </p:txBody>
      </p:sp>
      <p:sp>
        <p:nvSpPr>
          <p:cNvPr id="46" name="control-shortcut-box">
            <a:extLst xmlns:a="http://schemas.openxmlformats.org/drawingml/2006/main">
              <a:ext uri="{FF2B5EF4-FFF2-40B4-BE49-F238E27FC236}">
                <a16:creationId xmlns:a16="http://schemas.microsoft.com/office/drawing/2014/main" id="{B1995C46-7396-40C7-992E-34FD5675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57800"/>
            <a:ext cx="24765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</p:sp>
      <p:sp>
        <p:nvSpPr>
          <p:cNvPr id="47" name="control-shortcut-title">
            <a:extLst xmlns:a="http://schemas.openxmlformats.org/drawingml/2006/main">
              <a:ext uri="{FF2B5EF4-FFF2-40B4-BE49-F238E27FC236}">
                <a16:creationId xmlns:a16="http://schemas.microsoft.com/office/drawing/2014/main" id="{CE8396B0-411A-4CC2-AF10-657120D1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39115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D4ED8"/>
                </a:solidFill>
              </a:defRPr>
            </a:pPr>
            <a:r>
              <a:rPr sz="1275" b="1">
                <a:solidFill>
                  <a:srgbClr val="1D4ED8"/>
                </a:solidFill>
              </a:rPr>
              <a:t>SELECTION</a:t>
            </a:r>
          </a:p>
        </p:txBody>
      </p:sp>
      <p:sp>
        <p:nvSpPr>
          <p:cNvPr id="48" name="control-shortcut-body">
            <a:extLst xmlns:a="http://schemas.openxmlformats.org/drawingml/2006/main">
              <a:ext uri="{FF2B5EF4-FFF2-40B4-BE49-F238E27FC236}">
                <a16:creationId xmlns:a16="http://schemas.microsoft.com/office/drawing/2014/main" id="{380D6975-16CB-4F4F-8D05-7D8F4079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73405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PAFA wins 2 • loses 1 • R0 retained</a:t>
            </a:r>
          </a:p>
        </p:txBody>
      </p:sp>
      <p:sp>
        <p:nvSpPr>
          <p:cNvPr id="49" name="control-claim-box">
            <a:extLst xmlns:a="http://schemas.openxmlformats.org/drawingml/2006/main">
              <a:ext uri="{FF2B5EF4-FFF2-40B4-BE49-F238E27FC236}">
                <a16:creationId xmlns:a16="http://schemas.microsoft.com/office/drawing/2014/main" id="{683DBD47-F7CF-481A-949C-9EBAC51B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57800"/>
            <a:ext cx="36195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4288">
            <a:solidFill>
              <a:srgbClr val="2F855A"/>
            </a:solidFill>
            <a:prstDash val="solid"/>
          </a:ln>
        </p:spPr>
      </p:sp>
      <p:sp>
        <p:nvSpPr>
          <p:cNvPr id="50" name="control-claim-title">
            <a:extLst xmlns:a="http://schemas.openxmlformats.org/drawingml/2006/main">
              <a:ext uri="{FF2B5EF4-FFF2-40B4-BE49-F238E27FC236}">
                <a16:creationId xmlns:a16="http://schemas.microsoft.com/office/drawing/2014/main" id="{31B7F83C-0417-4ADE-8C3A-FD30F32B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391150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855A"/>
                </a:solidFill>
              </a:defRPr>
            </a:pPr>
            <a:r>
              <a:rPr sz="1275" b="1">
                <a:solidFill>
                  <a:srgbClr val="2F855A"/>
                </a:solidFill>
              </a:rPr>
              <a:t>CLAIM BOUNDARY</a:t>
            </a:r>
          </a:p>
        </p:txBody>
      </p:sp>
      <p:sp>
        <p:nvSpPr>
          <p:cNvPr id="51" name="control-claim-body">
            <a:extLst xmlns:a="http://schemas.openxmlformats.org/drawingml/2006/main">
              <a:ext uri="{FF2B5EF4-FFF2-40B4-BE49-F238E27FC236}">
                <a16:creationId xmlns:a16="http://schemas.microsoft.com/office/drawing/2014/main" id="{EB7CAA28-A8F0-4B29-A5DD-0433A17E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734050"/>
            <a:ext cx="331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Frozen-feature diagnostic • single seed • no full encoder</a:t>
            </a:r>
          </a:p>
        </p:txBody>
      </p:sp>
      <p:sp>
        <p:nvSpPr>
          <p:cNvPr id="52" name="footer-1">
            <a:extLst xmlns:a="http://schemas.openxmlformats.org/drawingml/2006/main">
              <a:ext uri="{FF2B5EF4-FFF2-40B4-BE49-F238E27FC236}">
                <a16:creationId xmlns:a16="http://schemas.microsoft.com/office/drawing/2014/main" id="{E86A6631-BC32-4953-91D2-F88A3AC6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Acoustic E2E pipeline  •  audit rough cut v1  •  3/7</a:t>
            </a:r>
          </a:p>
        </p:txBody>
      </p:sp>
    </p:spTree>
    <p:extLst>
      <p:ext uri="{BB962C8B-B14F-4D97-AF65-F5344CB8AC3E}">
        <p14:creationId xmlns:p14="http://schemas.microsoft.com/office/powerpoint/2010/main" val="9993266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A65DEC-C9C3-4B8F-A1F9-5394C9F1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Figure B — Target four-dataset system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91B6F83-6ED6-4946-A285-82F60221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B7A"/>
                </a:solidFill>
              </a:defRPr>
            </a:pPr>
            <a:r>
              <a:rPr sz="1275" b="0">
                <a:solidFill>
                  <a:srgbClr val="5F6B7A"/>
                </a:solidFill>
              </a:rPr>
              <a:t>Approved target contract; not yet an executable four-dataset training path.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8858207-27C9-4036-8D1A-8455DAE1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F2D7F"/>
            </a:solidFill>
            <a:prstDash val="solid"/>
          </a:ln>
        </p:spPr>
      </p:sp>
      <p:sp>
        <p:nvSpPr>
          <p:cNvPr id="4" name="arrow-sources-adapter">
            <a:extLst xmlns:a="http://schemas.openxmlformats.org/drawingml/2006/main">
              <a:ext uri="{FF2B5EF4-FFF2-40B4-BE49-F238E27FC236}">
                <a16:creationId xmlns:a16="http://schemas.microsoft.com/office/drawing/2014/main" id="{5B351789-5091-4821-B61C-5553BB1B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05150"/>
            <a:ext cx="2857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rrow-adapter-representation">
            <a:extLst xmlns:a="http://schemas.openxmlformats.org/drawingml/2006/main">
              <a:ext uri="{FF2B5EF4-FFF2-40B4-BE49-F238E27FC236}">
                <a16:creationId xmlns:a16="http://schemas.microsoft.com/office/drawing/2014/main" id="{4709BF1F-6387-4EA2-8654-40C99CB1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05150"/>
            <a:ext cx="33337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rrow-representation-heads">
            <a:extLst xmlns:a="http://schemas.openxmlformats.org/drawingml/2006/main">
              <a:ext uri="{FF2B5EF4-FFF2-40B4-BE49-F238E27FC236}">
                <a16:creationId xmlns:a16="http://schemas.microsoft.com/office/drawing/2014/main" id="{684077DF-0F1F-4949-BA96-96F6C796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05150"/>
            <a:ext cx="33337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row-heads-objective">
            <a:extLst xmlns:a="http://schemas.openxmlformats.org/drawingml/2006/main">
              <a:ext uri="{FF2B5EF4-FFF2-40B4-BE49-F238E27FC236}">
                <a16:creationId xmlns:a16="http://schemas.microsoft.com/office/drawing/2014/main" id="{4049C598-8188-4B23-948F-9D4BBF6D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105150"/>
            <a:ext cx="333375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ources-label">
            <a:extLst xmlns:a="http://schemas.openxmlformats.org/drawingml/2006/main">
              <a:ext uri="{FF2B5EF4-FFF2-40B4-BE49-F238E27FC236}">
                <a16:creationId xmlns:a16="http://schemas.microsoft.com/office/drawing/2014/main" id="{1D4B4EA6-E52B-49BD-A29A-191C5568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76350"/>
            <a:ext cx="1476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5F6B7A"/>
                </a:solidFill>
              </a:defRPr>
            </a:pPr>
            <a:r>
              <a:rPr sz="1125" b="1">
                <a:solidFill>
                  <a:srgbClr val="5F6B7A"/>
                </a:solidFill>
              </a:rPr>
              <a:t>PROJECT INPUTS</a:t>
            </a:r>
          </a:p>
        </p:txBody>
      </p:sp>
      <p:sp>
        <p:nvSpPr>
          <p:cNvPr id="9" name="source-icbhi">
            <a:extLst xmlns:a="http://schemas.openxmlformats.org/drawingml/2006/main">
              <a:ext uri="{FF2B5EF4-FFF2-40B4-BE49-F238E27FC236}">
                <a16:creationId xmlns:a16="http://schemas.microsoft.com/office/drawing/2014/main" id="{4712DC49-8BC0-424D-91EA-1E314D6B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57350"/>
            <a:ext cx="14287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F2D7F"/>
          </a:solidFill>
          <a:ln xmlns:a="http://schemas.openxmlformats.org/drawingml/2006/main" w="9525">
            <a:solidFill>
              <a:srgbClr val="4F2D7F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ICBHI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6,898 cycles</a:t>
            </a:r>
          </a:p>
        </p:txBody>
      </p:sp>
      <p:sp>
        <p:nvSpPr>
          <p:cNvPr id="10" name="source-sprsound">
            <a:extLst xmlns:a="http://schemas.openxmlformats.org/drawingml/2006/main">
              <a:ext uri="{FF2B5EF4-FFF2-40B4-BE49-F238E27FC236}">
                <a16:creationId xmlns:a16="http://schemas.microsoft.com/office/drawing/2014/main" id="{B7FD087A-5EEF-4613-926B-464E3622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00300"/>
            <a:ext cx="14287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9525">
            <a:solidFill>
              <a:srgbClr val="087F8C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SPRSound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9,089 events</a:t>
            </a:r>
          </a:p>
        </p:txBody>
      </p:sp>
      <p:sp>
        <p:nvSpPr>
          <p:cNvPr id="11" name="source-hf_lung">
            <a:extLst xmlns:a="http://schemas.openxmlformats.org/drawingml/2006/main">
              <a:ext uri="{FF2B5EF4-FFF2-40B4-BE49-F238E27FC236}">
                <a16:creationId xmlns:a16="http://schemas.microsoft.com/office/drawing/2014/main" id="{CC7CAE31-1EFD-4D23-B792-C8041EE5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143250"/>
            <a:ext cx="14287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774AE"/>
          </a:solidFill>
          <a:ln xmlns:a="http://schemas.openxmlformats.org/drawingml/2006/main" w="9525">
            <a:solidFill>
              <a:srgbClr val="2774AE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HF_Lung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9,765 × 15 s</a:t>
            </a:r>
          </a:p>
        </p:txBody>
      </p:sp>
      <p:sp>
        <p:nvSpPr>
          <p:cNvPr id="12" name="source-kauh">
            <a:extLst xmlns:a="http://schemas.openxmlformats.org/drawingml/2006/main">
              <a:ext uri="{FF2B5EF4-FFF2-40B4-BE49-F238E27FC236}">
                <a16:creationId xmlns:a16="http://schemas.microsoft.com/office/drawing/2014/main" id="{CE2A88AD-DACD-47E3-B53A-2A8770D4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86200"/>
            <a:ext cx="14287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45A16"/>
          </a:solidFill>
          <a:ln xmlns:a="http://schemas.openxmlformats.org/drawingml/2006/main" w="9525">
            <a:solidFill>
              <a:srgbClr val="C45A16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KAUH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336 / 112 pt</a:t>
            </a:r>
          </a:p>
        </p:txBody>
      </p:sp>
      <p:sp>
        <p:nvSpPr>
          <p:cNvPr id="13" name="adapter-box">
            <a:extLst xmlns:a="http://schemas.openxmlformats.org/drawingml/2006/main">
              <a:ext uri="{FF2B5EF4-FFF2-40B4-BE49-F238E27FC236}">
                <a16:creationId xmlns:a16="http://schemas.microsoft.com/office/drawing/2014/main" id="{25B27F31-6220-4D3D-B899-67E71F8B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657350"/>
            <a:ext cx="1905000" cy="280035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4288">
            <a:solidFill>
              <a:srgbClr val="4F2D7F"/>
            </a:solidFill>
            <a:prstDash val="solid"/>
          </a:ln>
        </p:spPr>
      </p:sp>
      <p:sp>
        <p:nvSpPr>
          <p:cNvPr id="14" name="adapter-title">
            <a:extLst xmlns:a="http://schemas.openxmlformats.org/drawingml/2006/main">
              <a:ext uri="{FF2B5EF4-FFF2-40B4-BE49-F238E27FC236}">
                <a16:creationId xmlns:a16="http://schemas.microsoft.com/office/drawing/2014/main" id="{37494E27-3774-45A8-BC15-8C84012F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79070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F2D7F"/>
                </a:solidFill>
              </a:defRPr>
            </a:pPr>
            <a:r>
              <a:rPr sz="1350" b="1">
                <a:solidFill>
                  <a:srgbClr val="4F2D7F"/>
                </a:solidFill>
              </a:rPr>
              <a:t>CANONICAL INPUT</a:t>
            </a:r>
          </a:p>
        </p:txBody>
      </p:sp>
      <p:sp>
        <p:nvSpPr>
          <p:cNvPr id="15" name="adapter-body">
            <a:extLst xmlns:a="http://schemas.openxmlformats.org/drawingml/2006/main">
              <a:ext uri="{FF2B5EF4-FFF2-40B4-BE49-F238E27FC236}">
                <a16:creationId xmlns:a16="http://schemas.microsoft.com/office/drawing/2014/main" id="{C904F620-EFA3-4AEF-9276-046E6B47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133600"/>
            <a:ext cx="16002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1  Dataset parser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2  Native unit + lineage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cycle • event • record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3  Capabilities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labels • masks • time</a:t>
            </a:r>
          </a:p>
        </p:txBody>
      </p:sp>
      <p:sp>
        <p:nvSpPr>
          <p:cNvPr id="16" name="representation-zone">
            <a:extLst xmlns:a="http://schemas.openxmlformats.org/drawingml/2006/main">
              <a:ext uri="{FF2B5EF4-FFF2-40B4-BE49-F238E27FC236}">
                <a16:creationId xmlns:a16="http://schemas.microsoft.com/office/drawing/2014/main" id="{AA389197-55CF-40F8-B332-E3E379BC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447800"/>
            <a:ext cx="2952750" cy="323850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1D4ED8"/>
            </a:solidFill>
            <a:prstDash val="dash"/>
          </a:ln>
        </p:spPr>
      </p:sp>
      <p:sp>
        <p:nvSpPr>
          <p:cNvPr id="17" name="representation-title">
            <a:extLst xmlns:a="http://schemas.openxmlformats.org/drawingml/2006/main">
              <a:ext uri="{FF2B5EF4-FFF2-40B4-BE49-F238E27FC236}">
                <a16:creationId xmlns:a16="http://schemas.microsoft.com/office/drawing/2014/main" id="{CE0C7C66-295A-4D5C-AE12-ADCEA3F0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60020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D4ED8"/>
                </a:solidFill>
              </a:defRPr>
            </a:pPr>
            <a:r>
              <a:rPr sz="1350" b="1">
                <a:solidFill>
                  <a:srgbClr val="1D4ED8"/>
                </a:solidFill>
              </a:rPr>
              <a:t>PROPOSED BACKBONE INTERFACE</a:t>
            </a:r>
          </a:p>
        </p:txBody>
      </p:sp>
      <p:sp>
        <p:nvSpPr>
          <p:cNvPr id="18" name="repr-baseline-box">
            <a:extLst xmlns:a="http://schemas.openxmlformats.org/drawingml/2006/main">
              <a:ext uri="{FF2B5EF4-FFF2-40B4-BE49-F238E27FC236}">
                <a16:creationId xmlns:a16="http://schemas.microsoft.com/office/drawing/2014/main" id="{5BCB9D19-EF97-45A9-99C4-4F27CB85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00250"/>
            <a:ext cx="247650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BD5E1"/>
            </a:solidFill>
            <a:prstDash val="solid"/>
          </a:ln>
        </p:spPr>
      </p:sp>
      <p:sp>
        <p:nvSpPr>
          <p:cNvPr id="19" name="repr-baseline-title">
            <a:extLst xmlns:a="http://schemas.openxmlformats.org/drawingml/2006/main">
              <a:ext uri="{FF2B5EF4-FFF2-40B4-BE49-F238E27FC236}">
                <a16:creationId xmlns:a16="http://schemas.microsoft.com/office/drawing/2014/main" id="{FE0EB95D-BCCC-4CA6-B8B6-3D02B718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66925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Base contract</a:t>
            </a:r>
          </a:p>
        </p:txBody>
      </p:sp>
      <p:sp>
        <p:nvSpPr>
          <p:cNvPr id="20" name="repr-baseline-body">
            <a:extLst xmlns:a="http://schemas.openxmlformats.org/drawingml/2006/main">
              <a:ext uri="{FF2B5EF4-FFF2-40B4-BE49-F238E27FC236}">
                <a16:creationId xmlns:a16="http://schemas.microsoft.com/office/drawing/2014/main" id="{E33EF3FB-7B2B-4DB9-829D-04A4ADA2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95525"/>
            <a:ext cx="2171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pooled z [B,D]</a:t>
            </a:r>
          </a:p>
        </p:txBody>
      </p:sp>
      <p:sp>
        <p:nvSpPr>
          <p:cNvPr id="21" name="repr-candidate-a-box">
            <a:extLst xmlns:a="http://schemas.openxmlformats.org/drawingml/2006/main">
              <a:ext uri="{FF2B5EF4-FFF2-40B4-BE49-F238E27FC236}">
                <a16:creationId xmlns:a16="http://schemas.microsoft.com/office/drawing/2014/main" id="{8E514C82-F473-4467-A42C-AD869B0E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38450"/>
            <a:ext cx="24765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</p:sp>
      <p:sp>
        <p:nvSpPr>
          <p:cNvPr id="22" name="repr-candidate-a-title">
            <a:extLst xmlns:a="http://schemas.openxmlformats.org/drawingml/2006/main">
              <a:ext uri="{FF2B5EF4-FFF2-40B4-BE49-F238E27FC236}">
                <a16:creationId xmlns:a16="http://schemas.microsoft.com/office/drawing/2014/main" id="{2F84DE29-0BD7-4469-975A-056B717B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905125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D4ED8"/>
                </a:solidFill>
              </a:defRPr>
            </a:pPr>
            <a:r>
              <a:rPr sz="1275" b="1">
                <a:solidFill>
                  <a:srgbClr val="1D4ED8"/>
                </a:solidFill>
              </a:rPr>
              <a:t>Temporal capability</a:t>
            </a:r>
          </a:p>
        </p:txBody>
      </p:sp>
      <p:sp>
        <p:nvSpPr>
          <p:cNvPr id="23" name="repr-candidate-a-body">
            <a:extLst xmlns:a="http://schemas.openxmlformats.org/drawingml/2006/main">
              <a:ext uri="{FF2B5EF4-FFF2-40B4-BE49-F238E27FC236}">
                <a16:creationId xmlns:a16="http://schemas.microsoft.com/office/drawing/2014/main" id="{0A3813E6-7B61-4B3C-8221-70888FFF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33725"/>
            <a:ext cx="2171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tokens [B,L,D]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token_mask [B,L]</a:t>
            </a:r>
          </a:p>
        </p:txBody>
      </p:sp>
      <p:sp>
        <p:nvSpPr>
          <p:cNvPr id="24" name="repr-candidate-b-box">
            <a:extLst xmlns:a="http://schemas.openxmlformats.org/drawingml/2006/main">
              <a:ext uri="{FF2B5EF4-FFF2-40B4-BE49-F238E27FC236}">
                <a16:creationId xmlns:a16="http://schemas.microsoft.com/office/drawing/2014/main" id="{8D6AAD7A-55D2-453D-A252-70B2F493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52850"/>
            <a:ext cx="24765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3EEFA"/>
          </a:solidFill>
          <a:ln xmlns:a="http://schemas.openxmlformats.org/drawingml/2006/main" w="14288">
            <a:solidFill>
              <a:srgbClr val="4F2D7F"/>
            </a:solidFill>
            <a:prstDash val="solid"/>
          </a:ln>
        </p:spPr>
      </p:sp>
      <p:sp>
        <p:nvSpPr>
          <p:cNvPr id="25" name="repr-candidate-b-title">
            <a:extLst xmlns:a="http://schemas.openxmlformats.org/drawingml/2006/main">
              <a:ext uri="{FF2B5EF4-FFF2-40B4-BE49-F238E27FC236}">
                <a16:creationId xmlns:a16="http://schemas.microsoft.com/office/drawing/2014/main" id="{391A4DEF-DC92-4DA8-A890-51972DEA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819525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F2D7F"/>
                </a:solidFill>
              </a:defRPr>
            </a:pPr>
            <a:r>
              <a:rPr sz="1275" b="1">
                <a:solidFill>
                  <a:srgbClr val="4F2D7F"/>
                </a:solidFill>
              </a:rPr>
              <a:t>Alignment capability</a:t>
            </a:r>
          </a:p>
        </p:txBody>
      </p:sp>
      <p:sp>
        <p:nvSpPr>
          <p:cNvPr id="26" name="repr-candidate-b-body">
            <a:extLst xmlns:a="http://schemas.openxmlformats.org/drawingml/2006/main">
              <a:ext uri="{FF2B5EF4-FFF2-40B4-BE49-F238E27FC236}">
                <a16:creationId xmlns:a16="http://schemas.microsoft.com/office/drawing/2014/main" id="{DDC6B61D-126F-4916-8A03-813F01C9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48125"/>
            <a:ext cx="2171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time_map [B,L,2]</a:t>
            </a:r>
          </a:p>
        </p:txBody>
      </p:sp>
      <p:sp>
        <p:nvSpPr>
          <p:cNvPr id="27" name="shared-heads-box">
            <a:extLst xmlns:a="http://schemas.openxmlformats.org/drawingml/2006/main">
              <a:ext uri="{FF2B5EF4-FFF2-40B4-BE49-F238E27FC236}">
                <a16:creationId xmlns:a16="http://schemas.microsoft.com/office/drawing/2014/main" id="{F9671544-0DA8-4AE3-A75D-4BF97BE3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14500"/>
            <a:ext cx="2143125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9F7F8"/>
          </a:solidFill>
          <a:ln xmlns:a="http://schemas.openxmlformats.org/drawingml/2006/main" w="14288">
            <a:solidFill>
              <a:srgbClr val="087F8C"/>
            </a:solidFill>
            <a:prstDash val="solid"/>
          </a:ln>
        </p:spPr>
      </p:sp>
      <p:sp>
        <p:nvSpPr>
          <p:cNvPr id="28" name="shared-heads-title">
            <a:extLst xmlns:a="http://schemas.openxmlformats.org/drawingml/2006/main">
              <a:ext uri="{FF2B5EF4-FFF2-40B4-BE49-F238E27FC236}">
                <a16:creationId xmlns:a16="http://schemas.microsoft.com/office/drawing/2014/main" id="{7E274DAC-045A-4BBF-AD72-814D2A83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47850"/>
            <a:ext cx="1838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87F8C"/>
                </a:solidFill>
              </a:defRPr>
            </a:pPr>
            <a:r>
              <a:rPr sz="1350" b="1">
                <a:solidFill>
                  <a:srgbClr val="087F8C"/>
                </a:solidFill>
              </a:rPr>
              <a:t>SHARED HEADS</a:t>
            </a:r>
          </a:p>
        </p:txBody>
      </p:sp>
      <p:sp>
        <p:nvSpPr>
          <p:cNvPr id="29" name="shared-heads-body">
            <a:extLst xmlns:a="http://schemas.openxmlformats.org/drawingml/2006/main">
              <a:ext uri="{FF2B5EF4-FFF2-40B4-BE49-F238E27FC236}">
                <a16:creationId xmlns:a16="http://schemas.microsoft.com/office/drawing/2014/main" id="{D67155C8-1783-4684-A63C-C9FE0EDB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90750"/>
            <a:ext cx="18383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binary • narrow4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ICBHI + SPR only</a:t>
            </a:r>
          </a:p>
        </p:txBody>
      </p:sp>
      <p:sp>
        <p:nvSpPr>
          <p:cNvPr id="30" name="native-heads-box">
            <a:extLst xmlns:a="http://schemas.openxmlformats.org/drawingml/2006/main">
              <a:ext uri="{FF2B5EF4-FFF2-40B4-BE49-F238E27FC236}">
                <a16:creationId xmlns:a16="http://schemas.microsoft.com/office/drawing/2014/main" id="{FABA2266-428E-4B13-8212-2D03E2D8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33750"/>
            <a:ext cx="2143125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4288">
            <a:solidFill>
              <a:srgbClr val="C45A16"/>
            </a:solidFill>
            <a:prstDash val="solid"/>
          </a:ln>
        </p:spPr>
      </p:sp>
      <p:sp>
        <p:nvSpPr>
          <p:cNvPr id="31" name="native-heads-title">
            <a:extLst xmlns:a="http://schemas.openxmlformats.org/drawingml/2006/main">
              <a:ext uri="{FF2B5EF4-FFF2-40B4-BE49-F238E27FC236}">
                <a16:creationId xmlns:a16="http://schemas.microsoft.com/office/drawing/2014/main" id="{89D7873D-8805-4424-B953-9745285A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67100"/>
            <a:ext cx="1838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45A16"/>
                </a:solidFill>
              </a:defRPr>
            </a:pPr>
            <a:r>
              <a:rPr sz="1350" b="1">
                <a:solidFill>
                  <a:srgbClr val="C45A16"/>
                </a:solidFill>
              </a:rPr>
              <a:t>NATIVE HEADS</a:t>
            </a:r>
          </a:p>
        </p:txBody>
      </p:sp>
      <p:sp>
        <p:nvSpPr>
          <p:cNvPr id="32" name="native-heads-body">
            <a:extLst xmlns:a="http://schemas.openxmlformats.org/drawingml/2006/main">
              <a:ext uri="{FF2B5EF4-FFF2-40B4-BE49-F238E27FC236}">
                <a16:creationId xmlns:a16="http://schemas.microsoft.com/office/drawing/2014/main" id="{061FABE9-9AC6-48BD-8E82-3271F627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10000"/>
            <a:ext cx="18383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ICBHI flat4 • SPR seven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HF temporal = HOLD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KAUH raw9</a:t>
            </a:r>
          </a:p>
        </p:txBody>
      </p:sp>
      <p:sp>
        <p:nvSpPr>
          <p:cNvPr id="33" name="training-objective-box">
            <a:extLst xmlns:a="http://schemas.openxmlformats.org/drawingml/2006/main">
              <a:ext uri="{FF2B5EF4-FFF2-40B4-BE49-F238E27FC236}">
                <a16:creationId xmlns:a16="http://schemas.microsoft.com/office/drawing/2014/main" id="{52D41143-BE90-4F83-B5B4-58B8AD54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714500"/>
            <a:ext cx="1714500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EEFA"/>
          </a:solidFill>
          <a:ln xmlns:a="http://schemas.openxmlformats.org/drawingml/2006/main" w="14288">
            <a:solidFill>
              <a:srgbClr val="4F2D7F"/>
            </a:solidFill>
            <a:prstDash val="solid"/>
          </a:ln>
        </p:spPr>
      </p:sp>
      <p:sp>
        <p:nvSpPr>
          <p:cNvPr id="34" name="training-objective-title">
            <a:extLst xmlns:a="http://schemas.openxmlformats.org/drawingml/2006/main">
              <a:ext uri="{FF2B5EF4-FFF2-40B4-BE49-F238E27FC236}">
                <a16:creationId xmlns:a16="http://schemas.microsoft.com/office/drawing/2014/main" id="{670E0A6F-6F4E-4292-AD12-B3318B29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84785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F2D7F"/>
                </a:solidFill>
              </a:defRPr>
            </a:pPr>
            <a:r>
              <a:rPr sz="1350" b="1">
                <a:solidFill>
                  <a:srgbClr val="4F2D7F"/>
                </a:solidFill>
              </a:rPr>
              <a:t>MASKED LOSS</a:t>
            </a:r>
          </a:p>
        </p:txBody>
      </p:sp>
      <p:sp>
        <p:nvSpPr>
          <p:cNvPr id="35" name="training-objective-body">
            <a:extLst xmlns:a="http://schemas.openxmlformats.org/drawingml/2006/main">
              <a:ext uri="{FF2B5EF4-FFF2-40B4-BE49-F238E27FC236}">
                <a16:creationId xmlns:a16="http://schemas.microsoft.com/office/drawing/2014/main" id="{3F55B08F-A1D8-4D26-8C35-3CFF294D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190750"/>
            <a:ext cx="1409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invalid labels masked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source / class control</a:t>
            </a:r>
          </a:p>
        </p:txBody>
      </p:sp>
      <p:sp>
        <p:nvSpPr>
          <p:cNvPr id="36" name="evaluation-box">
            <a:extLst xmlns:a="http://schemas.openxmlformats.org/drawingml/2006/main">
              <a:ext uri="{FF2B5EF4-FFF2-40B4-BE49-F238E27FC236}">
                <a16:creationId xmlns:a16="http://schemas.microsoft.com/office/drawing/2014/main" id="{7FD30500-6C1E-404E-A982-18936760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333750"/>
            <a:ext cx="1714500" cy="1333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4288">
            <a:solidFill>
              <a:srgbClr val="2F855A"/>
            </a:solidFill>
            <a:prstDash val="solid"/>
          </a:ln>
        </p:spPr>
      </p:sp>
      <p:sp>
        <p:nvSpPr>
          <p:cNvPr id="37" name="evaluation-title">
            <a:extLst xmlns:a="http://schemas.openxmlformats.org/drawingml/2006/main">
              <a:ext uri="{FF2B5EF4-FFF2-40B4-BE49-F238E27FC236}">
                <a16:creationId xmlns:a16="http://schemas.microsoft.com/office/drawing/2014/main" id="{DC9A26FF-DA08-4001-B26B-69DF9E36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46710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855A"/>
                </a:solidFill>
              </a:defRPr>
            </a:pPr>
            <a:r>
              <a:rPr sz="1350" b="1">
                <a:solidFill>
                  <a:srgbClr val="2F855A"/>
                </a:solidFill>
              </a:rPr>
              <a:t>EVALUATION</a:t>
            </a:r>
          </a:p>
        </p:txBody>
      </p:sp>
      <p:sp>
        <p:nvSpPr>
          <p:cNvPr id="38" name="evaluation-body">
            <a:extLst xmlns:a="http://schemas.openxmlformats.org/drawingml/2006/main">
              <a:ext uri="{FF2B5EF4-FFF2-40B4-BE49-F238E27FC236}">
                <a16:creationId xmlns:a16="http://schemas.microsoft.com/office/drawing/2014/main" id="{7FBB7E25-5069-4A6C-9387-6B704741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810000"/>
            <a:ext cx="1409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B7A"/>
                </a:solidFill>
              </a:defRPr>
            </a:pPr>
            <a:r>
              <a:rPr sz="1125" b="0">
                <a:solidFill>
                  <a:srgbClr val="5F6B7A"/>
                </a:solidFill>
              </a:rPr>
              <a:t>per dataset/unit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F6B7A"/>
                </a:solidFill>
              </a:defRPr>
            </a:pPr>
            <a:r>
              <a:rPr sz="1125" b="0">
                <a:solidFill>
                  <a:srgbClr val="5F6B7A"/>
                </a:solidFill>
              </a:rPr>
              <a:t>LODO: current four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F6B7A"/>
                </a:solidFill>
              </a:defRPr>
            </a:pPr>
            <a:r>
              <a:rPr sz="1125" b="0">
                <a:solidFill>
                  <a:srgbClr val="5F6B7A"/>
                </a:solidFill>
              </a:rPr>
              <a:t>claim ledger</a:t>
            </a:r>
          </a:p>
        </p:txBody>
      </p:sp>
      <p:sp>
        <p:nvSpPr>
          <p:cNvPr id="39" name="control-lane-label">
            <a:extLst xmlns:a="http://schemas.openxmlformats.org/drawingml/2006/main">
              <a:ext uri="{FF2B5EF4-FFF2-40B4-BE49-F238E27FC236}">
                <a16:creationId xmlns:a16="http://schemas.microsoft.com/office/drawing/2014/main" id="{1A88FBDD-7252-4145-A1E1-EDA8D61A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933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B7A"/>
                </a:solidFill>
              </a:defRPr>
            </a:pPr>
            <a:r>
              <a:rPr sz="1200" b="1">
                <a:solidFill>
                  <a:srgbClr val="5F6B7A"/>
                </a:solidFill>
              </a:rPr>
              <a:t>CONTROL PLANE — NOT AUDIO FLOW</a:t>
            </a:r>
          </a:p>
        </p:txBody>
      </p:sp>
      <p:sp>
        <p:nvSpPr>
          <p:cNvPr id="40" name="control-source-box">
            <a:extLst xmlns:a="http://schemas.openxmlformats.org/drawingml/2006/main">
              <a:ext uri="{FF2B5EF4-FFF2-40B4-BE49-F238E27FC236}">
                <a16:creationId xmlns:a16="http://schemas.microsoft.com/office/drawing/2014/main" id="{4E12F059-6350-4101-9052-270D92E6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57800"/>
            <a:ext cx="238125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3EEFA"/>
          </a:solidFill>
          <a:ln xmlns:a="http://schemas.openxmlformats.org/drawingml/2006/main" w="14288">
            <a:solidFill>
              <a:srgbClr val="4F2D7F"/>
            </a:solidFill>
            <a:prstDash val="solid"/>
          </a:ln>
        </p:spPr>
      </p:sp>
      <p:sp>
        <p:nvSpPr>
          <p:cNvPr id="41" name="control-source-title">
            <a:extLst xmlns:a="http://schemas.openxmlformats.org/drawingml/2006/main">
              <a:ext uri="{FF2B5EF4-FFF2-40B4-BE49-F238E27FC236}">
                <a16:creationId xmlns:a16="http://schemas.microsoft.com/office/drawing/2014/main" id="{B8E7A843-055A-4AED-8885-D83D8975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4F2D7F"/>
                </a:solidFill>
              </a:defRPr>
            </a:pPr>
            <a:r>
              <a:rPr sz="1275" b="1">
                <a:solidFill>
                  <a:srgbClr val="4F2D7F"/>
                </a:solidFill>
              </a:rPr>
              <a:t>ELIGIBILITY</a:t>
            </a:r>
          </a:p>
        </p:txBody>
      </p:sp>
      <p:sp>
        <p:nvSpPr>
          <p:cNvPr id="42" name="control-source-body">
            <a:extLst xmlns:a="http://schemas.openxmlformats.org/drawingml/2006/main">
              <a:ext uri="{FF2B5EF4-FFF2-40B4-BE49-F238E27FC236}">
                <a16:creationId xmlns:a16="http://schemas.microsoft.com/office/drawing/2014/main" id="{DA601A82-CC50-49E4-982B-45D2AB66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3405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status codes → loss masks</a:t>
            </a:r>
          </a:p>
        </p:txBody>
      </p:sp>
      <p:sp>
        <p:nvSpPr>
          <p:cNvPr id="43" name="control-tail-box">
            <a:extLst xmlns:a="http://schemas.openxmlformats.org/drawingml/2006/main">
              <a:ext uri="{FF2B5EF4-FFF2-40B4-BE49-F238E27FC236}">
                <a16:creationId xmlns:a16="http://schemas.microsoft.com/office/drawing/2014/main" id="{049B9161-10C0-4220-99A4-8088E6C0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57800"/>
            <a:ext cx="238125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14288">
            <a:solidFill>
              <a:srgbClr val="B4233B"/>
            </a:solidFill>
            <a:prstDash val="solid"/>
          </a:ln>
        </p:spPr>
      </p:sp>
      <p:sp>
        <p:nvSpPr>
          <p:cNvPr id="44" name="control-tail-title">
            <a:extLst xmlns:a="http://schemas.openxmlformats.org/drawingml/2006/main">
              <a:ext uri="{FF2B5EF4-FFF2-40B4-BE49-F238E27FC236}">
                <a16:creationId xmlns:a16="http://schemas.microsoft.com/office/drawing/2014/main" id="{D35BF276-64BC-4642-B788-1FFF0483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3911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B4233B"/>
                </a:solidFill>
              </a:defRPr>
            </a:pPr>
            <a:r>
              <a:rPr sz="1275" b="1">
                <a:solidFill>
                  <a:srgbClr val="B4233B"/>
                </a:solidFill>
              </a:rPr>
              <a:t>SOURCE BALANCE</a:t>
            </a:r>
          </a:p>
        </p:txBody>
      </p:sp>
      <p:sp>
        <p:nvSpPr>
          <p:cNvPr id="45" name="control-tail-body">
            <a:extLst xmlns:a="http://schemas.openxmlformats.org/drawingml/2006/main">
              <a:ext uri="{FF2B5EF4-FFF2-40B4-BE49-F238E27FC236}">
                <a16:creationId xmlns:a16="http://schemas.microsoft.com/office/drawing/2014/main" id="{67F9FA1C-45DC-4FCF-B05F-C2B952AE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73405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dataset sampler or explicit weights</a:t>
            </a:r>
          </a:p>
        </p:txBody>
      </p:sp>
      <p:sp>
        <p:nvSpPr>
          <p:cNvPr id="46" name="control-shortcut-box">
            <a:extLst xmlns:a="http://schemas.openxmlformats.org/drawingml/2006/main">
              <a:ext uri="{FF2B5EF4-FFF2-40B4-BE49-F238E27FC236}">
                <a16:creationId xmlns:a16="http://schemas.microsoft.com/office/drawing/2014/main" id="{B1995C46-7396-40C7-992E-34FD5675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257800"/>
            <a:ext cx="24765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</p:sp>
      <p:sp>
        <p:nvSpPr>
          <p:cNvPr id="47" name="control-shortcut-title">
            <a:extLst xmlns:a="http://schemas.openxmlformats.org/drawingml/2006/main">
              <a:ext uri="{FF2B5EF4-FFF2-40B4-BE49-F238E27FC236}">
                <a16:creationId xmlns:a16="http://schemas.microsoft.com/office/drawing/2014/main" id="{CE8396B0-411A-4CC2-AF10-657120D1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391150"/>
            <a:ext cx="217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D4ED8"/>
                </a:solidFill>
              </a:defRPr>
            </a:pPr>
            <a:r>
              <a:rPr sz="1275" b="1">
                <a:solidFill>
                  <a:srgbClr val="1D4ED8"/>
                </a:solidFill>
              </a:rPr>
              <a:t>TAIL EVIDENCE</a:t>
            </a:r>
          </a:p>
        </p:txBody>
      </p:sp>
      <p:sp>
        <p:nvSpPr>
          <p:cNvPr id="48" name="control-shortcut-body">
            <a:extLst xmlns:a="http://schemas.openxmlformats.org/drawingml/2006/main">
              <a:ext uri="{FF2B5EF4-FFF2-40B4-BE49-F238E27FC236}">
                <a16:creationId xmlns:a16="http://schemas.microsoft.com/office/drawing/2014/main" id="{380D6975-16CB-4F4F-8D05-7D8F4079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73405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negative/inconclusive → registry</a:t>
            </a:r>
          </a:p>
        </p:txBody>
      </p:sp>
      <p:sp>
        <p:nvSpPr>
          <p:cNvPr id="49" name="control-claim-box">
            <a:extLst xmlns:a="http://schemas.openxmlformats.org/drawingml/2006/main">
              <a:ext uri="{FF2B5EF4-FFF2-40B4-BE49-F238E27FC236}">
                <a16:creationId xmlns:a16="http://schemas.microsoft.com/office/drawing/2014/main" id="{683DBD47-F7CF-481A-949C-9EBAC51B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57800"/>
            <a:ext cx="3619500" cy="95250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4288">
            <a:solidFill>
              <a:srgbClr val="2F855A"/>
            </a:solidFill>
            <a:prstDash val="solid"/>
          </a:ln>
        </p:spPr>
      </p:sp>
      <p:sp>
        <p:nvSpPr>
          <p:cNvPr id="50" name="control-claim-title">
            <a:extLst xmlns:a="http://schemas.openxmlformats.org/drawingml/2006/main">
              <a:ext uri="{FF2B5EF4-FFF2-40B4-BE49-F238E27FC236}">
                <a16:creationId xmlns:a16="http://schemas.microsoft.com/office/drawing/2014/main" id="{31B7F83C-0417-4ADE-8C3A-FD30F32B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391150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855A"/>
                </a:solidFill>
              </a:defRPr>
            </a:pPr>
            <a:r>
              <a:rPr sz="1275" b="1">
                <a:solidFill>
                  <a:srgbClr val="2F855A"/>
                </a:solidFill>
              </a:rPr>
              <a:t>CLAIM LEDGER</a:t>
            </a:r>
          </a:p>
        </p:txBody>
      </p:sp>
      <p:sp>
        <p:nvSpPr>
          <p:cNvPr id="51" name="control-claim-body">
            <a:extLst xmlns:a="http://schemas.openxmlformats.org/drawingml/2006/main">
              <a:ext uri="{FF2B5EF4-FFF2-40B4-BE49-F238E27FC236}">
                <a16:creationId xmlns:a16="http://schemas.microsoft.com/office/drawing/2014/main" id="{EB7CAA28-A8F0-4B29-A5DD-0433A17E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734050"/>
            <a:ext cx="331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protocol • split • labels • metric • support</a:t>
            </a:r>
          </a:p>
        </p:txBody>
      </p:sp>
      <p:sp>
        <p:nvSpPr>
          <p:cNvPr id="52" name="footer-1">
            <a:extLst xmlns:a="http://schemas.openxmlformats.org/drawingml/2006/main">
              <a:ext uri="{FF2B5EF4-FFF2-40B4-BE49-F238E27FC236}">
                <a16:creationId xmlns:a16="http://schemas.microsoft.com/office/drawing/2014/main" id="{E86A6631-BC32-4953-91D2-F88A3AC6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Acoustic E2E pipeline  •  audit rough cut v1  •  4/7</a:t>
            </a:r>
          </a:p>
        </p:txBody>
      </p:sp>
    </p:spTree>
    <p:extLst>
      <p:ext uri="{BB962C8B-B14F-4D97-AF65-F5344CB8AC3E}">
        <p14:creationId xmlns:p14="http://schemas.microsoft.com/office/powerpoint/2010/main" val="9993266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FA0C08-A4C1-48CE-A754-8197A7B9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Figure C — Architecture alternatives remain open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A0C40AE-31F7-44F8-9C58-10216530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B7A"/>
                </a:solidFill>
              </a:defRPr>
            </a:pPr>
            <a:r>
              <a:rPr sz="1275" b="0">
                <a:solidFill>
                  <a:srgbClr val="5F6B7A"/>
                </a:solidFill>
              </a:rPr>
              <a:t>Shared encoder, multiple encoders, and router/MoE are candidates—not the approved method.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26C12A8-652A-4663-9E81-BD626CDA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F2D7F"/>
            </a:solidFill>
            <a:prstDash val="solid"/>
          </a:ln>
        </p:spPr>
      </p:sp>
      <p:sp>
        <p:nvSpPr>
          <p:cNvPr id="4" name="gate-arrow-0">
            <a:extLst xmlns:a="http://schemas.openxmlformats.org/drawingml/2006/main">
              <a:ext uri="{FF2B5EF4-FFF2-40B4-BE49-F238E27FC236}">
                <a16:creationId xmlns:a16="http://schemas.microsoft.com/office/drawing/2014/main" id="{5B7B0C69-E48C-45D0-8FBF-9878D776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00325"/>
            <a:ext cx="13335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ate-arrow-1">
            <a:extLst xmlns:a="http://schemas.openxmlformats.org/drawingml/2006/main">
              <a:ext uri="{FF2B5EF4-FFF2-40B4-BE49-F238E27FC236}">
                <a16:creationId xmlns:a16="http://schemas.microsoft.com/office/drawing/2014/main" id="{97245E88-92A1-4A43-BAF7-4943E78F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33725"/>
            <a:ext cx="13335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ate-arrow-2">
            <a:extLst xmlns:a="http://schemas.openxmlformats.org/drawingml/2006/main">
              <a:ext uri="{FF2B5EF4-FFF2-40B4-BE49-F238E27FC236}">
                <a16:creationId xmlns:a16="http://schemas.microsoft.com/office/drawing/2014/main" id="{45EB9C68-306F-4AF9-828D-2937D1EB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67125"/>
            <a:ext cx="13335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ate-arrow-3">
            <a:extLst xmlns:a="http://schemas.openxmlformats.org/drawingml/2006/main">
              <a:ext uri="{FF2B5EF4-FFF2-40B4-BE49-F238E27FC236}">
                <a16:creationId xmlns:a16="http://schemas.microsoft.com/office/drawing/2014/main" id="{19A88C8D-665F-4BA8-9FC9-7E6370FA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00525"/>
            <a:ext cx="13335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ate-arrow-4">
            <a:extLst xmlns:a="http://schemas.openxmlformats.org/drawingml/2006/main">
              <a:ext uri="{FF2B5EF4-FFF2-40B4-BE49-F238E27FC236}">
                <a16:creationId xmlns:a16="http://schemas.microsoft.com/office/drawing/2014/main" id="{E78A1DA3-F59A-4E46-8F77-59F6C6F3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733925"/>
            <a:ext cx="13335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ixed-contracts-frame">
            <a:extLst xmlns:a="http://schemas.openxmlformats.org/drawingml/2006/main">
              <a:ext uri="{FF2B5EF4-FFF2-40B4-BE49-F238E27FC236}">
                <a16:creationId xmlns:a16="http://schemas.microsoft.com/office/drawing/2014/main" id="{ADFC9060-8561-4023-8A95-BFD2E192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2857500" cy="4095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4F2D7F"/>
            </a:solidFill>
            <a:prstDash val="solid"/>
          </a:ln>
        </p:spPr>
      </p:sp>
      <p:sp>
        <p:nvSpPr>
          <p:cNvPr id="10" name="fixed-contracts-title">
            <a:extLst xmlns:a="http://schemas.openxmlformats.org/drawingml/2006/main">
              <a:ext uri="{FF2B5EF4-FFF2-40B4-BE49-F238E27FC236}">
                <a16:creationId xmlns:a16="http://schemas.microsoft.com/office/drawing/2014/main" id="{0B0DE4F7-0188-4AEE-9A75-ED545DF8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F2D7F"/>
                </a:solidFill>
              </a:defRPr>
            </a:pPr>
            <a:r>
              <a:rPr sz="1650" b="1">
                <a:solidFill>
                  <a:srgbClr val="4F2D7F"/>
                </a:solidFill>
              </a:rPr>
              <a:t>CONTROLLED TEST</a:t>
            </a:r>
          </a:p>
        </p:txBody>
      </p:sp>
      <p:sp>
        <p:nvSpPr>
          <p:cNvPr id="11" name="fixed-contracts-category">
            <a:extLst xmlns:a="http://schemas.openxmlformats.org/drawingml/2006/main">
              <a:ext uri="{FF2B5EF4-FFF2-40B4-BE49-F238E27FC236}">
                <a16:creationId xmlns:a16="http://schemas.microsoft.com/office/drawing/2014/main" id="{CD400F5C-EE94-464F-9CB2-94448D9E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F6B7A"/>
                </a:solidFill>
              </a:defRPr>
            </a:pPr>
            <a:r>
              <a:rPr sz="975" b="1">
                <a:solidFill>
                  <a:srgbClr val="5F6B7A"/>
                </a:solidFill>
              </a:rPr>
              <a:t>FIXED ACROSS CANDIDATES</a:t>
            </a:r>
          </a:p>
        </p:txBody>
      </p:sp>
      <p:sp>
        <p:nvSpPr>
          <p:cNvPr id="12" name="fixed-dot-0">
            <a:extLst xmlns:a="http://schemas.openxmlformats.org/drawingml/2006/main">
              <a:ext uri="{FF2B5EF4-FFF2-40B4-BE49-F238E27FC236}">
                <a16:creationId xmlns:a16="http://schemas.microsoft.com/office/drawing/2014/main" id="{F541C0B2-4362-4932-BDEC-D1F27862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fixed-item-0">
            <a:extLst xmlns:a="http://schemas.openxmlformats.org/drawingml/2006/main">
              <a:ext uri="{FF2B5EF4-FFF2-40B4-BE49-F238E27FC236}">
                <a16:creationId xmlns:a16="http://schemas.microsoft.com/office/drawing/2014/main" id="{B12BF81E-D524-46C4-854B-6FACC4ED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Inputs and task contracts unchanged</a:t>
            </a:r>
          </a:p>
        </p:txBody>
      </p:sp>
      <p:sp>
        <p:nvSpPr>
          <p:cNvPr id="14" name="fixed-dot-1">
            <a:extLst xmlns:a="http://schemas.openxmlformats.org/drawingml/2006/main">
              <a:ext uri="{FF2B5EF4-FFF2-40B4-BE49-F238E27FC236}">
                <a16:creationId xmlns:a16="http://schemas.microsoft.com/office/drawing/2014/main" id="{DD3A938F-74E4-432A-9319-366E6716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5" name="fixed-item-1">
            <a:extLst xmlns:a="http://schemas.openxmlformats.org/drawingml/2006/main">
              <a:ext uri="{FF2B5EF4-FFF2-40B4-BE49-F238E27FC236}">
                <a16:creationId xmlns:a16="http://schemas.microsoft.com/office/drawing/2014/main" id="{30BCDE26-A070-4C65-A633-4D3CF140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Equal parameter and compute budget</a:t>
            </a:r>
          </a:p>
        </p:txBody>
      </p:sp>
      <p:sp>
        <p:nvSpPr>
          <p:cNvPr id="16" name="fixed-dot-2">
            <a:extLst xmlns:a="http://schemas.openxmlformats.org/drawingml/2006/main">
              <a:ext uri="{FF2B5EF4-FFF2-40B4-BE49-F238E27FC236}">
                <a16:creationId xmlns:a16="http://schemas.microsoft.com/office/drawing/2014/main" id="{6A30A46D-A586-47BA-B815-98AF8E4E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7" name="fixed-item-2">
            <a:extLst xmlns:a="http://schemas.openxmlformats.org/drawingml/2006/main">
              <a:ext uri="{FF2B5EF4-FFF2-40B4-BE49-F238E27FC236}">
                <a16:creationId xmlns:a16="http://schemas.microsoft.com/office/drawing/2014/main" id="{31BACF5F-4CDF-4B7A-A175-8B861094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956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Same splits, masks, and metrics</a:t>
            </a:r>
          </a:p>
        </p:txBody>
      </p:sp>
      <p:sp>
        <p:nvSpPr>
          <p:cNvPr id="18" name="fixed-dot-3">
            <a:extLst xmlns:a="http://schemas.openxmlformats.org/drawingml/2006/main">
              <a:ext uri="{FF2B5EF4-FFF2-40B4-BE49-F238E27FC236}">
                <a16:creationId xmlns:a16="http://schemas.microsoft.com/office/drawing/2014/main" id="{A0E52D35-A1E3-4BA1-A505-CB0312BA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9" name="fixed-item-3">
            <a:extLst xmlns:a="http://schemas.openxmlformats.org/drawingml/2006/main">
              <a:ext uri="{FF2B5EF4-FFF2-40B4-BE49-F238E27FC236}">
                <a16:creationId xmlns:a16="http://schemas.microsoft.com/office/drawing/2014/main" id="{15909418-52A8-495C-9817-D2539869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00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Same source and tail controls</a:t>
            </a:r>
          </a:p>
        </p:txBody>
      </p:sp>
      <p:sp>
        <p:nvSpPr>
          <p:cNvPr id="20" name="fixed-dot-4">
            <a:extLst xmlns:a="http://schemas.openxmlformats.org/drawingml/2006/main">
              <a:ext uri="{FF2B5EF4-FFF2-40B4-BE49-F238E27FC236}">
                <a16:creationId xmlns:a16="http://schemas.microsoft.com/office/drawing/2014/main" id="{8DBD3642-5654-414B-A2D9-2211E5E1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1" name="fixed-item-4">
            <a:extLst xmlns:a="http://schemas.openxmlformats.org/drawingml/2006/main">
              <a:ext uri="{FF2B5EF4-FFF2-40B4-BE49-F238E27FC236}">
                <a16:creationId xmlns:a16="http://schemas.microsoft.com/office/drawing/2014/main" id="{A4EBFAD7-2A4B-48C7-83C1-8C172EB7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243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No dataset-ID-only routing</a:t>
            </a:r>
          </a:p>
        </p:txBody>
      </p:sp>
      <p:sp>
        <p:nvSpPr>
          <p:cNvPr id="22" name="interpretation-box">
            <a:extLst xmlns:a="http://schemas.openxmlformats.org/drawingml/2006/main">
              <a:ext uri="{FF2B5EF4-FFF2-40B4-BE49-F238E27FC236}">
                <a16:creationId xmlns:a16="http://schemas.microsoft.com/office/drawing/2014/main" id="{2B7999C3-E35B-4212-9E1A-A1378CCC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38700"/>
            <a:ext cx="2438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1430">
            <a:solidFill>
              <a:srgbClr val="C45A16"/>
            </a:solidFill>
            <a:prstDash val="solid"/>
          </a:ln>
        </p:spPr>
      </p:sp>
      <p:sp>
        <p:nvSpPr>
          <p:cNvPr id="23" name="interpretation-label">
            <a:extLst xmlns:a="http://schemas.openxmlformats.org/drawingml/2006/main">
              <a:ext uri="{FF2B5EF4-FFF2-40B4-BE49-F238E27FC236}">
                <a16:creationId xmlns:a16="http://schemas.microsoft.com/office/drawing/2014/main" id="{B9225B3F-E8CC-48A4-BE4D-7E72DA29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2209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45A16"/>
                </a:solidFill>
              </a:defRPr>
            </a:pPr>
            <a:r>
              <a:rPr sz="900" b="1">
                <a:solidFill>
                  <a:srgbClr val="C45A16"/>
                </a:solidFill>
              </a:rPr>
              <a:t>CURRENT EVIDENCE</a:t>
            </a:r>
          </a:p>
        </p:txBody>
      </p:sp>
      <p:sp>
        <p:nvSpPr>
          <p:cNvPr id="24" name="interpretation-body">
            <a:extLst xmlns:a="http://schemas.openxmlformats.org/drawingml/2006/main">
              <a:ext uri="{FF2B5EF4-FFF2-40B4-BE49-F238E27FC236}">
                <a16:creationId xmlns:a16="http://schemas.microsoft.com/office/drawing/2014/main" id="{1961DAE4-3E71-437A-AADB-BFFE1853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57775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Frozen diagnostics do not select a full-encoder architecture.</a:t>
            </a:r>
          </a:p>
        </p:txBody>
      </p:sp>
      <p:sp>
        <p:nvSpPr>
          <p:cNvPr id="25" name="architecture-frame">
            <a:extLst xmlns:a="http://schemas.openxmlformats.org/drawingml/2006/main">
              <a:ext uri="{FF2B5EF4-FFF2-40B4-BE49-F238E27FC236}">
                <a16:creationId xmlns:a16="http://schemas.microsoft.com/office/drawing/2014/main" id="{2D8B1346-A598-431B-A306-DFA3600F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428750"/>
            <a:ext cx="43815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1D4ED8"/>
            </a:solidFill>
            <a:prstDash val="dash"/>
          </a:ln>
        </p:spPr>
      </p:sp>
      <p:sp>
        <p:nvSpPr>
          <p:cNvPr id="26" name="architecture-title">
            <a:extLst xmlns:a="http://schemas.openxmlformats.org/drawingml/2006/main">
              <a:ext uri="{FF2B5EF4-FFF2-40B4-BE49-F238E27FC236}">
                <a16:creationId xmlns:a16="http://schemas.microsoft.com/office/drawing/2014/main" id="{E5B1E00B-9351-4AF4-BE54-EAE41DD2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619250"/>
            <a:ext cx="396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D4ED8"/>
                </a:solidFill>
              </a:defRPr>
            </a:pPr>
            <a:r>
              <a:rPr sz="1650" b="1">
                <a:solidFill>
                  <a:srgbClr val="1D4ED8"/>
                </a:solidFill>
              </a:rPr>
              <a:t>OPEN ARCHITECTURE FORK</a:t>
            </a:r>
          </a:p>
        </p:txBody>
      </p:sp>
      <p:sp>
        <p:nvSpPr>
          <p:cNvPr id="27" name="architecture-category">
            <a:extLst xmlns:a="http://schemas.openxmlformats.org/drawingml/2006/main">
              <a:ext uri="{FF2B5EF4-FFF2-40B4-BE49-F238E27FC236}">
                <a16:creationId xmlns:a16="http://schemas.microsoft.com/office/drawing/2014/main" id="{0771A49B-4ECB-4D1A-8755-0AA9C83E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943100"/>
            <a:ext cx="396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F6B7A"/>
                </a:solidFill>
              </a:defRPr>
            </a:pPr>
            <a:r>
              <a:rPr sz="975" b="1">
                <a:solidFill>
                  <a:srgbClr val="5F6B7A"/>
                </a:solidFill>
              </a:rPr>
              <a:t>PROPOSED METHOD / HOLD</a:t>
            </a:r>
          </a:p>
        </p:txBody>
      </p:sp>
      <p:sp>
        <p:nvSpPr>
          <p:cNvPr id="28" name="architecture-a-box">
            <a:extLst xmlns:a="http://schemas.openxmlformats.org/drawingml/2006/main">
              <a:ext uri="{FF2B5EF4-FFF2-40B4-BE49-F238E27FC236}">
                <a16:creationId xmlns:a16="http://schemas.microsoft.com/office/drawing/2014/main" id="{72ADFBF9-28A4-49B0-8C8A-62D186F9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90750"/>
            <a:ext cx="3810000" cy="1095375"/>
          </a:xfrm>
          <a:prstGeom xmlns:a="http://schemas.openxmlformats.org/drawingml/2006/main" prst="roundRect">
            <a:avLst>
              <a:gd name="adj" fmla="val 1217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</p:sp>
      <p:sp>
        <p:nvSpPr>
          <p:cNvPr id="29" name="architecture-a-title">
            <a:extLst xmlns:a="http://schemas.openxmlformats.org/drawingml/2006/main">
              <a:ext uri="{FF2B5EF4-FFF2-40B4-BE49-F238E27FC236}">
                <a16:creationId xmlns:a16="http://schemas.microsoft.com/office/drawing/2014/main" id="{E99E26BD-7503-4063-99FC-C5DB3D6B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24100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D4ED8"/>
                </a:solidFill>
              </a:defRPr>
            </a:pPr>
            <a:r>
              <a:rPr sz="1425" b="1">
                <a:solidFill>
                  <a:srgbClr val="1D4ED8"/>
                </a:solidFill>
              </a:rPr>
              <a:t>Candidate A — shared encoder</a:t>
            </a:r>
          </a:p>
        </p:txBody>
      </p:sp>
      <p:sp>
        <p:nvSpPr>
          <p:cNvPr id="30" name="architecture-a-body">
            <a:extLst xmlns:a="http://schemas.openxmlformats.org/drawingml/2006/main">
              <a:ext uri="{FF2B5EF4-FFF2-40B4-BE49-F238E27FC236}">
                <a16:creationId xmlns:a16="http://schemas.microsoft.com/office/drawing/2014/main" id="{BC6F217E-1B77-413A-B150-7C23F65B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667000"/>
            <a:ext cx="3505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shared z → general representation + dataset-specific residual → fusion → eligible/native heads</a:t>
            </a:r>
          </a:p>
        </p:txBody>
      </p:sp>
      <p:sp>
        <p:nvSpPr>
          <p:cNvPr id="31" name="architecture-b-box">
            <a:extLst xmlns:a="http://schemas.openxmlformats.org/drawingml/2006/main">
              <a:ext uri="{FF2B5EF4-FFF2-40B4-BE49-F238E27FC236}">
                <a16:creationId xmlns:a16="http://schemas.microsoft.com/office/drawing/2014/main" id="{30467B50-649F-42B6-A3E7-72CA3729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76625"/>
            <a:ext cx="381000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3EEFA"/>
          </a:solidFill>
          <a:ln xmlns:a="http://schemas.openxmlformats.org/drawingml/2006/main" w="14288">
            <a:solidFill>
              <a:srgbClr val="4F2D7F"/>
            </a:solidFill>
            <a:prstDash val="solid"/>
          </a:ln>
        </p:spPr>
      </p:sp>
      <p:sp>
        <p:nvSpPr>
          <p:cNvPr id="32" name="architecture-b-title">
            <a:extLst xmlns:a="http://schemas.openxmlformats.org/drawingml/2006/main">
              <a:ext uri="{FF2B5EF4-FFF2-40B4-BE49-F238E27FC236}">
                <a16:creationId xmlns:a16="http://schemas.microsoft.com/office/drawing/2014/main" id="{61317E27-B621-4747-898B-BDC24A3B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609975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4F2D7F"/>
                </a:solidFill>
              </a:defRPr>
            </a:pPr>
            <a:r>
              <a:rPr sz="1425" b="1">
                <a:solidFill>
                  <a:srgbClr val="4F2D7F"/>
                </a:solidFill>
              </a:rPr>
              <a:t>Candidate B — specific encoders</a:t>
            </a:r>
          </a:p>
        </p:txBody>
      </p:sp>
      <p:sp>
        <p:nvSpPr>
          <p:cNvPr id="33" name="architecture-b-body">
            <a:extLst xmlns:a="http://schemas.openxmlformats.org/drawingml/2006/main">
              <a:ext uri="{FF2B5EF4-FFF2-40B4-BE49-F238E27FC236}">
                <a16:creationId xmlns:a16="http://schemas.microsoft.com/office/drawing/2014/main" id="{A9205212-BFC2-4979-B5FB-C36E135C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952875"/>
            <a:ext cx="350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dataset-specific encoders → soft router / fusion / MoE → eligible/native heads</a:t>
            </a:r>
          </a:p>
        </p:txBody>
      </p:sp>
      <p:sp>
        <p:nvSpPr>
          <p:cNvPr id="34" name="architecture-risk-box">
            <a:extLst xmlns:a="http://schemas.openxmlformats.org/drawingml/2006/main">
              <a:ext uri="{FF2B5EF4-FFF2-40B4-BE49-F238E27FC236}">
                <a16:creationId xmlns:a16="http://schemas.microsoft.com/office/drawing/2014/main" id="{733F3526-F806-4B56-89C5-36F9D940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81550"/>
            <a:ext cx="38100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14288">
            <a:solidFill>
              <a:srgbClr val="B4233B"/>
            </a:solidFill>
            <a:prstDash val="solid"/>
          </a:ln>
        </p:spPr>
      </p:sp>
      <p:sp>
        <p:nvSpPr>
          <p:cNvPr id="35" name="architecture-risk-title">
            <a:extLst xmlns:a="http://schemas.openxmlformats.org/drawingml/2006/main">
              <a:ext uri="{FF2B5EF4-FFF2-40B4-BE49-F238E27FC236}">
                <a16:creationId xmlns:a16="http://schemas.microsoft.com/office/drawing/2014/main" id="{CC65ACC3-921D-4882-9DAD-1C5893FF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848225"/>
            <a:ext cx="3505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B4233B"/>
                </a:solidFill>
              </a:defRPr>
            </a:pPr>
            <a:r>
              <a:rPr sz="1200" b="1">
                <a:solidFill>
                  <a:srgbClr val="B4233B"/>
                </a:solidFill>
              </a:rPr>
              <a:t>Status</a:t>
            </a:r>
          </a:p>
        </p:txBody>
      </p:sp>
      <p:sp>
        <p:nvSpPr>
          <p:cNvPr id="36" name="architecture-risk-body">
            <a:extLst xmlns:a="http://schemas.openxmlformats.org/drawingml/2006/main">
              <a:ext uri="{FF2B5EF4-FFF2-40B4-BE49-F238E27FC236}">
                <a16:creationId xmlns:a16="http://schemas.microsoft.com/office/drawing/2014/main" id="{A3F79AAC-54F7-4DBC-8A8D-0745A317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076825"/>
            <a:ext cx="3505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F6B7A"/>
                </a:solidFill>
              </a:defRPr>
            </a:pPr>
            <a:r>
              <a:rPr sz="1050" b="0">
                <a:solidFill>
                  <a:srgbClr val="5F6B7A"/>
                </a:solidFill>
              </a:rPr>
              <a:t>Both branches are unapproved; neither is a verified solution.</a:t>
            </a:r>
          </a:p>
        </p:txBody>
      </p:sp>
      <p:sp>
        <p:nvSpPr>
          <p:cNvPr id="37" name="gates-frame">
            <a:extLst xmlns:a="http://schemas.openxmlformats.org/drawingml/2006/main">
              <a:ext uri="{FF2B5EF4-FFF2-40B4-BE49-F238E27FC236}">
                <a16:creationId xmlns:a16="http://schemas.microsoft.com/office/drawing/2014/main" id="{95127F2E-CEE3-47BA-83D6-C260477E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28750"/>
            <a:ext cx="3400425" cy="4095750"/>
          </a:xfrm>
          <a:prstGeom xmlns:a="http://schemas.openxmlformats.org/drawingml/2006/main" prst="roundRect">
            <a:avLst>
              <a:gd name="adj" fmla="val 448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2F855A"/>
            </a:solidFill>
            <a:prstDash val="solid"/>
          </a:ln>
        </p:spPr>
      </p:sp>
      <p:sp>
        <p:nvSpPr>
          <p:cNvPr id="38" name="gates-title">
            <a:extLst xmlns:a="http://schemas.openxmlformats.org/drawingml/2006/main">
              <a:ext uri="{FF2B5EF4-FFF2-40B4-BE49-F238E27FC236}">
                <a16:creationId xmlns:a16="http://schemas.microsoft.com/office/drawing/2014/main" id="{179FE9FB-6ED7-46BB-B713-01709F57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619250"/>
            <a:ext cx="2981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F855A"/>
                </a:solidFill>
              </a:defRPr>
            </a:pPr>
            <a:r>
              <a:rPr sz="1650" b="1">
                <a:solidFill>
                  <a:srgbClr val="2F855A"/>
                </a:solidFill>
              </a:rPr>
              <a:t>DECISION GATES</a:t>
            </a:r>
          </a:p>
        </p:txBody>
      </p:sp>
      <p:sp>
        <p:nvSpPr>
          <p:cNvPr id="39" name="gates-category">
            <a:extLst xmlns:a="http://schemas.openxmlformats.org/drawingml/2006/main">
              <a:ext uri="{FF2B5EF4-FFF2-40B4-BE49-F238E27FC236}">
                <a16:creationId xmlns:a16="http://schemas.microsoft.com/office/drawing/2014/main" id="{07359247-1002-4853-8A4D-DB122DAF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943100"/>
            <a:ext cx="2981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F6B7A"/>
                </a:solidFill>
              </a:defRPr>
            </a:pPr>
            <a:r>
              <a:rPr sz="975" b="1">
                <a:solidFill>
                  <a:srgbClr val="5F6B7A"/>
                </a:solidFill>
              </a:rPr>
              <a:t>FUTURE PLAN</a:t>
            </a:r>
          </a:p>
        </p:txBody>
      </p:sp>
      <p:sp>
        <p:nvSpPr>
          <p:cNvPr id="40" name="gate-badge-G0">
            <a:extLst xmlns:a="http://schemas.openxmlformats.org/drawingml/2006/main">
              <a:ext uri="{FF2B5EF4-FFF2-40B4-BE49-F238E27FC236}">
                <a16:creationId xmlns:a16="http://schemas.microsoft.com/office/drawing/2014/main" id="{D9B853A3-B8C8-48D7-A3D4-3AA54E1F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4762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G0</a:t>
            </a:r>
          </a:p>
        </p:txBody>
      </p:sp>
      <p:sp>
        <p:nvSpPr>
          <p:cNvPr id="41" name="gate-label-G0">
            <a:extLst xmlns:a="http://schemas.openxmlformats.org/drawingml/2006/main">
              <a:ext uri="{FF2B5EF4-FFF2-40B4-BE49-F238E27FC236}">
                <a16:creationId xmlns:a16="http://schemas.microsoft.com/office/drawing/2014/main" id="{3B9E045D-F013-43B4-90F1-E1DDE4D6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907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Freeze target backbone interface</a:t>
            </a:r>
          </a:p>
        </p:txBody>
      </p:sp>
      <p:sp>
        <p:nvSpPr>
          <p:cNvPr id="42" name="gate-badge-G1">
            <a:extLst xmlns:a="http://schemas.openxmlformats.org/drawingml/2006/main">
              <a:ext uri="{FF2B5EF4-FFF2-40B4-BE49-F238E27FC236}">
                <a16:creationId xmlns:a16="http://schemas.microsoft.com/office/drawing/2014/main" id="{4D21DBAC-D9B1-47EA-820B-1F7F2233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4762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G1</a:t>
            </a:r>
          </a:p>
        </p:txBody>
      </p:sp>
      <p:sp>
        <p:nvSpPr>
          <p:cNvPr id="43" name="gate-label-G1">
            <a:extLst xmlns:a="http://schemas.openxmlformats.org/drawingml/2006/main">
              <a:ext uri="{FF2B5EF4-FFF2-40B4-BE49-F238E27FC236}">
                <a16:creationId xmlns:a16="http://schemas.microsoft.com/office/drawing/2014/main" id="{58A7078D-E956-4A29-81A7-AFC91CE0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241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Dense shared-encoder baseline</a:t>
            </a:r>
          </a:p>
        </p:txBody>
      </p:sp>
      <p:sp>
        <p:nvSpPr>
          <p:cNvPr id="44" name="gate-badge-G2">
            <a:extLst xmlns:a="http://schemas.openxmlformats.org/drawingml/2006/main">
              <a:ext uri="{FF2B5EF4-FFF2-40B4-BE49-F238E27FC236}">
                <a16:creationId xmlns:a16="http://schemas.microsoft.com/office/drawing/2014/main" id="{274B41B7-610F-4BA7-BBB2-BAF53D0E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4762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G2</a:t>
            </a:r>
          </a:p>
        </p:txBody>
      </p:sp>
      <p:sp>
        <p:nvSpPr>
          <p:cNvPr id="45" name="gate-label-G2">
            <a:extLst xmlns:a="http://schemas.openxmlformats.org/drawingml/2006/main">
              <a:ext uri="{FF2B5EF4-FFF2-40B4-BE49-F238E27FC236}">
                <a16:creationId xmlns:a16="http://schemas.microsoft.com/office/drawing/2014/main" id="{42EFDBF7-315F-4697-841A-C3411F8C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575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Independent-encoder control</a:t>
            </a:r>
          </a:p>
        </p:txBody>
      </p:sp>
      <p:sp>
        <p:nvSpPr>
          <p:cNvPr id="46" name="gate-badge-G3">
            <a:extLst xmlns:a="http://schemas.openxmlformats.org/drawingml/2006/main">
              <a:ext uri="{FF2B5EF4-FFF2-40B4-BE49-F238E27FC236}">
                <a16:creationId xmlns:a16="http://schemas.microsoft.com/office/drawing/2014/main" id="{1B98C37C-A1E2-4D4D-953E-CFE9D767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90950"/>
            <a:ext cx="4762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G3</a:t>
            </a:r>
          </a:p>
        </p:txBody>
      </p:sp>
      <p:sp>
        <p:nvSpPr>
          <p:cNvPr id="47" name="gate-label-G3">
            <a:extLst xmlns:a="http://schemas.openxmlformats.org/drawingml/2006/main">
              <a:ext uri="{FF2B5EF4-FFF2-40B4-BE49-F238E27FC236}">
                <a16:creationId xmlns:a16="http://schemas.microsoft.com/office/drawing/2014/main" id="{20937CB3-A4E5-49F3-B574-2E1F933C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909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Equal-parameter A vs B</a:t>
            </a:r>
          </a:p>
        </p:txBody>
      </p:sp>
      <p:sp>
        <p:nvSpPr>
          <p:cNvPr id="48" name="gate-badge-G4">
            <a:extLst xmlns:a="http://schemas.openxmlformats.org/drawingml/2006/main">
              <a:ext uri="{FF2B5EF4-FFF2-40B4-BE49-F238E27FC236}">
                <a16:creationId xmlns:a16="http://schemas.microsoft.com/office/drawing/2014/main" id="{18E9A6DC-EAA2-4F4D-9EA1-AF304424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24350"/>
            <a:ext cx="4762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G4</a:t>
            </a:r>
          </a:p>
        </p:txBody>
      </p:sp>
      <p:sp>
        <p:nvSpPr>
          <p:cNvPr id="49" name="gate-label-G4">
            <a:extLst xmlns:a="http://schemas.openxmlformats.org/drawingml/2006/main">
              <a:ext uri="{FF2B5EF4-FFF2-40B4-BE49-F238E27FC236}">
                <a16:creationId xmlns:a16="http://schemas.microsoft.com/office/drawing/2014/main" id="{05DEEF6B-EDF1-4736-9778-5F6E7D9D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3243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Router attribution / collapse checks</a:t>
            </a:r>
          </a:p>
        </p:txBody>
      </p:sp>
      <p:sp>
        <p:nvSpPr>
          <p:cNvPr id="50" name="gate-badge-G5">
            <a:extLst xmlns:a="http://schemas.openxmlformats.org/drawingml/2006/main">
              <a:ext uri="{FF2B5EF4-FFF2-40B4-BE49-F238E27FC236}">
                <a16:creationId xmlns:a16="http://schemas.microsoft.com/office/drawing/2014/main" id="{992A8472-3979-4000-9D39-429C48A6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4762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G5</a:t>
            </a:r>
          </a:p>
        </p:txBody>
      </p:sp>
      <p:sp>
        <p:nvSpPr>
          <p:cNvPr id="51" name="gate-label-G5">
            <a:extLst xmlns:a="http://schemas.openxmlformats.org/drawingml/2006/main">
              <a:ext uri="{FF2B5EF4-FFF2-40B4-BE49-F238E27FC236}">
                <a16:creationId xmlns:a16="http://schemas.microsoft.com/office/drawing/2014/main" id="{345537C5-68E0-4C84-B92F-3CEDCD2B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8577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Select or stop; no default winner</a:t>
            </a:r>
          </a:p>
        </p:txBody>
      </p:sp>
      <p:sp>
        <p:nvSpPr>
          <p:cNvPr id="52" name="freeze-rule-box">
            <a:extLst xmlns:a="http://schemas.openxmlformats.org/drawingml/2006/main">
              <a:ext uri="{FF2B5EF4-FFF2-40B4-BE49-F238E27FC236}">
                <a16:creationId xmlns:a16="http://schemas.microsoft.com/office/drawing/2014/main" id="{DD4CEC6C-D92B-4D8C-A6BD-A827A573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127760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4288">
            <a:solidFill>
              <a:srgbClr val="2F855A"/>
            </a:solidFill>
            <a:prstDash val="solid"/>
          </a:ln>
        </p:spPr>
      </p:sp>
      <p:sp>
        <p:nvSpPr>
          <p:cNvPr id="53" name="freeze-rule-title">
            <a:extLst xmlns:a="http://schemas.openxmlformats.org/drawingml/2006/main">
              <a:ext uri="{FF2B5EF4-FFF2-40B4-BE49-F238E27FC236}">
                <a16:creationId xmlns:a16="http://schemas.microsoft.com/office/drawing/2014/main" id="{6E135C5B-3F7B-44B2-A708-8D20B9BB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855A"/>
                </a:solidFill>
              </a:defRPr>
            </a:pPr>
            <a:r>
              <a:rPr sz="1350" b="1">
                <a:solidFill>
                  <a:srgbClr val="2F855A"/>
                </a:solidFill>
              </a:rPr>
              <a:t>ARCHITECTURE FREEZE RULE</a:t>
            </a:r>
          </a:p>
        </p:txBody>
      </p:sp>
      <p:sp>
        <p:nvSpPr>
          <p:cNvPr id="54" name="freeze-rule-body">
            <a:extLst xmlns:a="http://schemas.openxmlformats.org/drawingml/2006/main">
              <a:ext uri="{FF2B5EF4-FFF2-40B4-BE49-F238E27FC236}">
                <a16:creationId xmlns:a16="http://schemas.microsoft.com/office/drawing/2014/main" id="{28B4CE40-FB72-4D93-8023-18D234E8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B7A"/>
                </a:solidFill>
              </a:defRPr>
            </a:pPr>
            <a:r>
              <a:rPr sz="1125" b="0">
                <a:solidFill>
                  <a:srgbClr val="5F6B7A"/>
                </a:solidFill>
              </a:rPr>
              <a:t>Promote only after controlled full-encoder evidence survives simpler baselines and per-dataset guardrails.</a:t>
            </a:r>
          </a:p>
        </p:txBody>
      </p:sp>
      <p:sp>
        <p:nvSpPr>
          <p:cNvPr id="55" name="footer-2">
            <a:extLst xmlns:a="http://schemas.openxmlformats.org/drawingml/2006/main">
              <a:ext uri="{FF2B5EF4-FFF2-40B4-BE49-F238E27FC236}">
                <a16:creationId xmlns:a16="http://schemas.microsoft.com/office/drawing/2014/main" id="{AE17900E-FEA8-417C-83A1-E5565DE5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Acoustic E2E pipeline  •  audit rough cut v1  •  5/7</a:t>
            </a:r>
          </a:p>
        </p:txBody>
      </p:sp>
    </p:spTree>
    <p:extLst>
      <p:ext uri="{BB962C8B-B14F-4D97-AF65-F5344CB8AC3E}">
        <p14:creationId xmlns:p14="http://schemas.microsoft.com/office/powerpoint/2010/main" val="3081825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FA0C08-A4C1-48CE-A754-8197A7B9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Evidence registry — completed diagnostics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A0C40AE-31F7-44F8-9C58-10216530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B7A"/>
                </a:solidFill>
              </a:defRPr>
            </a:pPr>
            <a:r>
              <a:rPr sz="1275" b="0">
                <a:solidFill>
                  <a:srgbClr val="5F6B7A"/>
                </a:solidFill>
              </a:rPr>
              <a:t>Negative and inconclusive outcomes guide decisions; they are not solution modules.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26C12A8-652A-4663-9E81-BD626CDA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F2D7F"/>
            </a:solidFill>
            <a:prstDash val="solid"/>
          </a:ln>
        </p:spPr>
      </p:sp>
      <p:sp>
        <p:nvSpPr>
          <p:cNvPr id="4" name="gate-arrow-0">
            <a:extLst xmlns:a="http://schemas.openxmlformats.org/drawingml/2006/main">
              <a:ext uri="{FF2B5EF4-FFF2-40B4-BE49-F238E27FC236}">
                <a16:creationId xmlns:a16="http://schemas.microsoft.com/office/drawing/2014/main" id="{5B7B0C69-E48C-45D0-8FBF-9878D776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00325"/>
            <a:ext cx="13335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ate-arrow-1">
            <a:extLst xmlns:a="http://schemas.openxmlformats.org/drawingml/2006/main">
              <a:ext uri="{FF2B5EF4-FFF2-40B4-BE49-F238E27FC236}">
                <a16:creationId xmlns:a16="http://schemas.microsoft.com/office/drawing/2014/main" id="{97245E88-92A1-4A43-BAF7-4943E78F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33725"/>
            <a:ext cx="13335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ate-arrow-2">
            <a:extLst xmlns:a="http://schemas.openxmlformats.org/drawingml/2006/main">
              <a:ext uri="{FF2B5EF4-FFF2-40B4-BE49-F238E27FC236}">
                <a16:creationId xmlns:a16="http://schemas.microsoft.com/office/drawing/2014/main" id="{45EB9C68-306F-4AF9-828D-2937D1EB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67125"/>
            <a:ext cx="13335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ate-arrow-3">
            <a:extLst xmlns:a="http://schemas.openxmlformats.org/drawingml/2006/main">
              <a:ext uri="{FF2B5EF4-FFF2-40B4-BE49-F238E27FC236}">
                <a16:creationId xmlns:a16="http://schemas.microsoft.com/office/drawing/2014/main" id="{19A88C8D-665F-4BA8-9FC9-7E6370FA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00525"/>
            <a:ext cx="13335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ate-arrow-4">
            <a:extLst xmlns:a="http://schemas.openxmlformats.org/drawingml/2006/main">
              <a:ext uri="{FF2B5EF4-FFF2-40B4-BE49-F238E27FC236}">
                <a16:creationId xmlns:a16="http://schemas.microsoft.com/office/drawing/2014/main" id="{E78A1DA3-F59A-4E46-8F77-59F6C6F3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733925"/>
            <a:ext cx="13335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ixed-contracts-frame">
            <a:extLst xmlns:a="http://schemas.openxmlformats.org/drawingml/2006/main">
              <a:ext uri="{FF2B5EF4-FFF2-40B4-BE49-F238E27FC236}">
                <a16:creationId xmlns:a16="http://schemas.microsoft.com/office/drawing/2014/main" id="{ADFC9060-8561-4023-8A95-BFD2E192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2857500" cy="4095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4F2D7F"/>
            </a:solidFill>
            <a:prstDash val="solid"/>
          </a:ln>
        </p:spPr>
      </p:sp>
      <p:sp>
        <p:nvSpPr>
          <p:cNvPr id="10" name="fixed-contracts-title">
            <a:extLst xmlns:a="http://schemas.openxmlformats.org/drawingml/2006/main">
              <a:ext uri="{FF2B5EF4-FFF2-40B4-BE49-F238E27FC236}">
                <a16:creationId xmlns:a16="http://schemas.microsoft.com/office/drawing/2014/main" id="{0B0DE4F7-0188-4AEE-9A75-ED545DF8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F2D7F"/>
                </a:solidFill>
              </a:defRPr>
            </a:pPr>
            <a:r>
              <a:rPr sz="1650" b="1">
                <a:solidFill>
                  <a:srgbClr val="4F2D7F"/>
                </a:solidFill>
              </a:rPr>
              <a:t>EVIDENCE LOG</a:t>
            </a:r>
          </a:p>
        </p:txBody>
      </p:sp>
      <p:sp>
        <p:nvSpPr>
          <p:cNvPr id="11" name="fixed-contracts-category">
            <a:extLst xmlns:a="http://schemas.openxmlformats.org/drawingml/2006/main">
              <a:ext uri="{FF2B5EF4-FFF2-40B4-BE49-F238E27FC236}">
                <a16:creationId xmlns:a16="http://schemas.microsoft.com/office/drawing/2014/main" id="{CD400F5C-EE94-464F-9CB2-94448D9E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F6B7A"/>
                </a:solidFill>
              </a:defRPr>
            </a:pPr>
            <a:r>
              <a:rPr sz="975" b="1">
                <a:solidFill>
                  <a:srgbClr val="5F6B7A"/>
                </a:solidFill>
              </a:rPr>
              <a:t>COMPLETED DIAGNOSTICS</a:t>
            </a:r>
          </a:p>
        </p:txBody>
      </p:sp>
      <p:sp>
        <p:nvSpPr>
          <p:cNvPr id="12" name="fixed-dot-0">
            <a:extLst xmlns:a="http://schemas.openxmlformats.org/drawingml/2006/main">
              <a:ext uri="{FF2B5EF4-FFF2-40B4-BE49-F238E27FC236}">
                <a16:creationId xmlns:a16="http://schemas.microsoft.com/office/drawing/2014/main" id="{F541C0B2-4362-4932-BDEC-D1F27862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fixed-item-0">
            <a:extLst xmlns:a="http://schemas.openxmlformats.org/drawingml/2006/main">
              <a:ext uri="{FF2B5EF4-FFF2-40B4-BE49-F238E27FC236}">
                <a16:creationId xmlns:a16="http://schemas.microsoft.com/office/drawing/2014/main" id="{B12BF81E-D524-46C4-854B-6FACC4ED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ER01  PAFA selected (bounded)</a:t>
            </a:r>
          </a:p>
        </p:txBody>
      </p:sp>
      <p:sp>
        <p:nvSpPr>
          <p:cNvPr id="14" name="fixed-dot-1">
            <a:extLst xmlns:a="http://schemas.openxmlformats.org/drawingml/2006/main">
              <a:ext uri="{FF2B5EF4-FFF2-40B4-BE49-F238E27FC236}">
                <a16:creationId xmlns:a16="http://schemas.microsoft.com/office/drawing/2014/main" id="{DD3A938F-74E4-432A-9319-366E6716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fixed-item-1">
            <a:extLst xmlns:a="http://schemas.openxmlformats.org/drawingml/2006/main">
              <a:ext uri="{FF2B5EF4-FFF2-40B4-BE49-F238E27FC236}">
                <a16:creationId xmlns:a16="http://schemas.microsoft.com/office/drawing/2014/main" id="{30BCDE26-A070-4C65-A633-4D3CF140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ER02  Shared head: 0 wins</a:t>
            </a:r>
          </a:p>
        </p:txBody>
      </p:sp>
      <p:sp>
        <p:nvSpPr>
          <p:cNvPr id="16" name="fixed-dot-2">
            <a:extLst xmlns:a="http://schemas.openxmlformats.org/drawingml/2006/main">
              <a:ext uri="{FF2B5EF4-FFF2-40B4-BE49-F238E27FC236}">
                <a16:creationId xmlns:a16="http://schemas.microsoft.com/office/drawing/2014/main" id="{6A30A46D-A586-47BA-B815-98AF8E4E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fixed-item-2">
            <a:extLst xmlns:a="http://schemas.openxmlformats.org/drawingml/2006/main">
              <a:ext uri="{FF2B5EF4-FFF2-40B4-BE49-F238E27FC236}">
                <a16:creationId xmlns:a16="http://schemas.microsoft.com/office/drawing/2014/main" id="{31BACF5F-4CDF-4B7A-A175-8B861094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956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ER03  cRT: guardrail fail</a:t>
            </a:r>
          </a:p>
        </p:txBody>
      </p:sp>
      <p:sp>
        <p:nvSpPr>
          <p:cNvPr id="18" name="fixed-dot-3">
            <a:extLst xmlns:a="http://schemas.openxmlformats.org/drawingml/2006/main">
              <a:ext uri="{FF2B5EF4-FFF2-40B4-BE49-F238E27FC236}">
                <a16:creationId xmlns:a16="http://schemas.microsoft.com/office/drawing/2014/main" id="{A0E52D35-A1E3-4BA1-A505-CB0312BA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fixed-item-3">
            <a:extLst xmlns:a="http://schemas.openxmlformats.org/drawingml/2006/main">
              <a:ext uri="{FF2B5EF4-FFF2-40B4-BE49-F238E27FC236}">
                <a16:creationId xmlns:a16="http://schemas.microsoft.com/office/drawing/2014/main" id="{15909418-52A8-495C-9817-D2539869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00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ER04  Shortcut: 0/2 votes</a:t>
            </a:r>
          </a:p>
        </p:txBody>
      </p:sp>
      <p:sp>
        <p:nvSpPr>
          <p:cNvPr id="20" name="fixed-dot-4">
            <a:extLst xmlns:a="http://schemas.openxmlformats.org/drawingml/2006/main">
              <a:ext uri="{FF2B5EF4-FFF2-40B4-BE49-F238E27FC236}">
                <a16:creationId xmlns:a16="http://schemas.microsoft.com/office/drawing/2014/main" id="{8DBD3642-5654-414B-A2D9-2211E5E1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fixed-item-4">
            <a:extLst xmlns:a="http://schemas.openxmlformats.org/drawingml/2006/main">
              <a:ext uri="{FF2B5EF4-FFF2-40B4-BE49-F238E27FC236}">
                <a16:creationId xmlns:a16="http://schemas.microsoft.com/office/drawing/2014/main" id="{A4EBFAD7-2A4B-48C7-83C1-8C172EB7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243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ER05  Event pooling: 0 wins</a:t>
            </a:r>
          </a:p>
        </p:txBody>
      </p:sp>
      <p:sp>
        <p:nvSpPr>
          <p:cNvPr id="22" name="interpretation-box">
            <a:extLst xmlns:a="http://schemas.openxmlformats.org/drawingml/2006/main">
              <a:ext uri="{FF2B5EF4-FFF2-40B4-BE49-F238E27FC236}">
                <a16:creationId xmlns:a16="http://schemas.microsoft.com/office/drawing/2014/main" id="{2B7999C3-E35B-4212-9E1A-A1378CCC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38700"/>
            <a:ext cx="2438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1430">
            <a:solidFill>
              <a:srgbClr val="C45A16"/>
            </a:solidFill>
            <a:prstDash val="solid"/>
          </a:ln>
        </p:spPr>
      </p:sp>
      <p:sp>
        <p:nvSpPr>
          <p:cNvPr id="23" name="interpretation-label">
            <a:extLst xmlns:a="http://schemas.openxmlformats.org/drawingml/2006/main">
              <a:ext uri="{FF2B5EF4-FFF2-40B4-BE49-F238E27FC236}">
                <a16:creationId xmlns:a16="http://schemas.microsoft.com/office/drawing/2014/main" id="{B9225B3F-E8CC-48A4-BE4D-7E72DA29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2209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45A16"/>
                </a:solidFill>
              </a:defRPr>
            </a:pPr>
            <a:r>
              <a:rPr sz="900" b="1">
                <a:solidFill>
                  <a:srgbClr val="C45A16"/>
                </a:solidFill>
              </a:rPr>
              <a:t>INTERPRETATION</a:t>
            </a:r>
          </a:p>
        </p:txBody>
      </p:sp>
      <p:sp>
        <p:nvSpPr>
          <p:cNvPr id="24" name="interpretation-body">
            <a:extLst xmlns:a="http://schemas.openxmlformats.org/drawingml/2006/main">
              <a:ext uri="{FF2B5EF4-FFF2-40B4-BE49-F238E27FC236}">
                <a16:creationId xmlns:a16="http://schemas.microsoft.com/office/drawing/2014/main" id="{1961DAE4-3E71-437A-AADB-BFFE1853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57775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Narrows search; does not validate a new method.</a:t>
            </a:r>
          </a:p>
        </p:txBody>
      </p:sp>
      <p:sp>
        <p:nvSpPr>
          <p:cNvPr id="25" name="architecture-frame">
            <a:extLst xmlns:a="http://schemas.openxmlformats.org/drawingml/2006/main">
              <a:ext uri="{FF2B5EF4-FFF2-40B4-BE49-F238E27FC236}">
                <a16:creationId xmlns:a16="http://schemas.microsoft.com/office/drawing/2014/main" id="{2D8B1346-A598-431B-A306-DFA3600F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428750"/>
            <a:ext cx="43815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1D4ED8"/>
            </a:solidFill>
            <a:prstDash val="dash"/>
          </a:ln>
        </p:spPr>
      </p:sp>
      <p:sp>
        <p:nvSpPr>
          <p:cNvPr id="26" name="architecture-title">
            <a:extLst xmlns:a="http://schemas.openxmlformats.org/drawingml/2006/main">
              <a:ext uri="{FF2B5EF4-FFF2-40B4-BE49-F238E27FC236}">
                <a16:creationId xmlns:a16="http://schemas.microsoft.com/office/drawing/2014/main" id="{E5B1E00B-9351-4AF4-BE54-EAE41DD2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619250"/>
            <a:ext cx="396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D4ED8"/>
                </a:solidFill>
              </a:defRPr>
            </a:pPr>
            <a:r>
              <a:rPr sz="1650" b="1">
                <a:solidFill>
                  <a:srgbClr val="1D4ED8"/>
                </a:solidFill>
              </a:rPr>
              <a:t>CLAIM LIMITS</a:t>
            </a:r>
          </a:p>
        </p:txBody>
      </p:sp>
      <p:sp>
        <p:nvSpPr>
          <p:cNvPr id="27" name="architecture-category">
            <a:extLst xmlns:a="http://schemas.openxmlformats.org/drawingml/2006/main">
              <a:ext uri="{FF2B5EF4-FFF2-40B4-BE49-F238E27FC236}">
                <a16:creationId xmlns:a16="http://schemas.microsoft.com/office/drawing/2014/main" id="{0771A49B-4ECB-4D1A-8755-0AA9C83E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943100"/>
            <a:ext cx="396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F6B7A"/>
                </a:solidFill>
              </a:defRPr>
            </a:pPr>
            <a:r>
              <a:rPr sz="975" b="1">
                <a:solidFill>
                  <a:srgbClr val="5F6B7A"/>
                </a:solidFill>
              </a:rPr>
              <a:t>DO NOT UPGRADE</a:t>
            </a:r>
          </a:p>
        </p:txBody>
      </p:sp>
      <p:sp>
        <p:nvSpPr>
          <p:cNvPr id="28" name="architecture-a-box">
            <a:extLst xmlns:a="http://schemas.openxmlformats.org/drawingml/2006/main">
              <a:ext uri="{FF2B5EF4-FFF2-40B4-BE49-F238E27FC236}">
                <a16:creationId xmlns:a16="http://schemas.microsoft.com/office/drawing/2014/main" id="{72ADFBF9-28A4-49B0-8C8A-62D186F9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90750"/>
            <a:ext cx="3810000" cy="1095375"/>
          </a:xfrm>
          <a:prstGeom xmlns:a="http://schemas.openxmlformats.org/drawingml/2006/main" prst="roundRect">
            <a:avLst>
              <a:gd name="adj" fmla="val 1217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</p:sp>
      <p:sp>
        <p:nvSpPr>
          <p:cNvPr id="29" name="architecture-a-title">
            <a:extLst xmlns:a="http://schemas.openxmlformats.org/drawingml/2006/main">
              <a:ext uri="{FF2B5EF4-FFF2-40B4-BE49-F238E27FC236}">
                <a16:creationId xmlns:a16="http://schemas.microsoft.com/office/drawing/2014/main" id="{E99E26BD-7503-4063-99FC-C5DB3D6B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24100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D4ED8"/>
                </a:solidFill>
              </a:defRPr>
            </a:pPr>
            <a:r>
              <a:rPr sz="1425" b="1">
                <a:solidFill>
                  <a:srgbClr val="1D4ED8"/>
                </a:solidFill>
              </a:rPr>
              <a:t>Frozen + target-supervised</a:t>
            </a:r>
          </a:p>
        </p:txBody>
      </p:sp>
      <p:sp>
        <p:nvSpPr>
          <p:cNvPr id="30" name="architecture-a-body">
            <a:extLst xmlns:a="http://schemas.openxmlformats.org/drawingml/2006/main">
              <a:ext uri="{FF2B5EF4-FFF2-40B4-BE49-F238E27FC236}">
                <a16:creationId xmlns:a16="http://schemas.microsoft.com/office/drawing/2014/main" id="{BC6F217E-1B77-413A-B150-7C23F65B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667000"/>
            <a:ext cx="3505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Single seed • R0 ICBHI-test-selected • no full encoder.</a:t>
            </a:r>
          </a:p>
        </p:txBody>
      </p:sp>
      <p:sp>
        <p:nvSpPr>
          <p:cNvPr id="31" name="architecture-b-box">
            <a:extLst xmlns:a="http://schemas.openxmlformats.org/drawingml/2006/main">
              <a:ext uri="{FF2B5EF4-FFF2-40B4-BE49-F238E27FC236}">
                <a16:creationId xmlns:a16="http://schemas.microsoft.com/office/drawing/2014/main" id="{30467B50-649F-42B6-A3E7-72CA3729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76625"/>
            <a:ext cx="381000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3EEFA"/>
          </a:solidFill>
          <a:ln xmlns:a="http://schemas.openxmlformats.org/drawingml/2006/main" w="14288">
            <a:solidFill>
              <a:srgbClr val="4F2D7F"/>
            </a:solidFill>
            <a:prstDash val="solid"/>
          </a:ln>
        </p:spPr>
      </p:sp>
      <p:sp>
        <p:nvSpPr>
          <p:cNvPr id="32" name="architecture-b-title">
            <a:extLst xmlns:a="http://schemas.openxmlformats.org/drawingml/2006/main">
              <a:ext uri="{FF2B5EF4-FFF2-40B4-BE49-F238E27FC236}">
                <a16:creationId xmlns:a16="http://schemas.microsoft.com/office/drawing/2014/main" id="{61317E27-B621-4747-898B-BDC24A3B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609975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4F2D7F"/>
                </a:solidFill>
              </a:defRPr>
            </a:pPr>
            <a:r>
              <a:rPr sz="1425" b="1">
                <a:solidFill>
                  <a:srgbClr val="4F2D7F"/>
                </a:solidFill>
              </a:rPr>
              <a:t>No pooled score</a:t>
            </a:r>
          </a:p>
        </p:txBody>
      </p:sp>
      <p:sp>
        <p:nvSpPr>
          <p:cNvPr id="33" name="architecture-b-body">
            <a:extLst xmlns:a="http://schemas.openxmlformats.org/drawingml/2006/main">
              <a:ext uri="{FF2B5EF4-FFF2-40B4-BE49-F238E27FC236}">
                <a16:creationId xmlns:a16="http://schemas.microsoft.com/office/drawing/2014/main" id="{A9205212-BFC2-4979-B5FB-C36E135C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952875"/>
            <a:ext cx="350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Native metrics + guardrails; HF gaps are not negatives.</a:t>
            </a:r>
          </a:p>
        </p:txBody>
      </p:sp>
      <p:sp>
        <p:nvSpPr>
          <p:cNvPr id="34" name="architecture-risk-box">
            <a:extLst xmlns:a="http://schemas.openxmlformats.org/drawingml/2006/main">
              <a:ext uri="{FF2B5EF4-FFF2-40B4-BE49-F238E27FC236}">
                <a16:creationId xmlns:a16="http://schemas.microsoft.com/office/drawing/2014/main" id="{733F3526-F806-4B56-89C5-36F9D940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81550"/>
            <a:ext cx="38100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14288">
            <a:solidFill>
              <a:srgbClr val="B4233B"/>
            </a:solidFill>
            <a:prstDash val="solid"/>
          </a:ln>
        </p:spPr>
      </p:sp>
      <p:sp>
        <p:nvSpPr>
          <p:cNvPr id="35" name="architecture-risk-title">
            <a:extLst xmlns:a="http://schemas.openxmlformats.org/drawingml/2006/main">
              <a:ext uri="{FF2B5EF4-FFF2-40B4-BE49-F238E27FC236}">
                <a16:creationId xmlns:a16="http://schemas.microsoft.com/office/drawing/2014/main" id="{CC65ACC3-921D-4882-9DAD-1C5893FF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848225"/>
            <a:ext cx="3505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B4233B"/>
                </a:solidFill>
              </a:defRPr>
            </a:pPr>
            <a:r>
              <a:rPr sz="1200" b="1">
                <a:solidFill>
                  <a:srgbClr val="B4233B"/>
                </a:solidFill>
              </a:rPr>
              <a:t>Causal limit</a:t>
            </a:r>
          </a:p>
        </p:txBody>
      </p:sp>
      <p:sp>
        <p:nvSpPr>
          <p:cNvPr id="36" name="architecture-risk-body">
            <a:extLst xmlns:a="http://schemas.openxmlformats.org/drawingml/2006/main">
              <a:ext uri="{FF2B5EF4-FFF2-40B4-BE49-F238E27FC236}">
                <a16:creationId xmlns:a16="http://schemas.microsoft.com/office/drawing/2014/main" id="{A3F79AAC-54F7-4DBC-8A8D-0745A317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076825"/>
            <a:ext cx="3505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F6B7A"/>
                </a:solidFill>
              </a:defRPr>
            </a:pPr>
            <a:r>
              <a:rPr sz="1050" b="0">
                <a:solidFill>
                  <a:srgbClr val="5F6B7A"/>
                </a:solidFill>
              </a:rPr>
              <a:t>Dataset-ID access ≠ proven shortcut use.</a:t>
            </a:r>
          </a:p>
        </p:txBody>
      </p:sp>
      <p:sp>
        <p:nvSpPr>
          <p:cNvPr id="37" name="gates-frame">
            <a:extLst xmlns:a="http://schemas.openxmlformats.org/drawingml/2006/main">
              <a:ext uri="{FF2B5EF4-FFF2-40B4-BE49-F238E27FC236}">
                <a16:creationId xmlns:a16="http://schemas.microsoft.com/office/drawing/2014/main" id="{95127F2E-CEE3-47BA-83D6-C260477E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28750"/>
            <a:ext cx="3400425" cy="4095750"/>
          </a:xfrm>
          <a:prstGeom xmlns:a="http://schemas.openxmlformats.org/drawingml/2006/main" prst="roundRect">
            <a:avLst>
              <a:gd name="adj" fmla="val 448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2F855A"/>
            </a:solidFill>
            <a:prstDash val="solid"/>
          </a:ln>
        </p:spPr>
      </p:sp>
      <p:sp>
        <p:nvSpPr>
          <p:cNvPr id="38" name="gates-title">
            <a:extLst xmlns:a="http://schemas.openxmlformats.org/drawingml/2006/main">
              <a:ext uri="{FF2B5EF4-FFF2-40B4-BE49-F238E27FC236}">
                <a16:creationId xmlns:a16="http://schemas.microsoft.com/office/drawing/2014/main" id="{179FE9FB-6ED7-46BB-B713-01709F57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619250"/>
            <a:ext cx="2981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F855A"/>
                </a:solidFill>
              </a:defRPr>
            </a:pPr>
            <a:r>
              <a:rPr sz="1650" b="1">
                <a:solidFill>
                  <a:srgbClr val="2F855A"/>
                </a:solidFill>
              </a:rPr>
              <a:t>STATUS</a:t>
            </a:r>
          </a:p>
        </p:txBody>
      </p:sp>
      <p:sp>
        <p:nvSpPr>
          <p:cNvPr id="39" name="gates-category">
            <a:extLst xmlns:a="http://schemas.openxmlformats.org/drawingml/2006/main">
              <a:ext uri="{FF2B5EF4-FFF2-40B4-BE49-F238E27FC236}">
                <a16:creationId xmlns:a16="http://schemas.microsoft.com/office/drawing/2014/main" id="{07359247-1002-4853-8A4D-DB122DAF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943100"/>
            <a:ext cx="2981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F6B7A"/>
                </a:solidFill>
              </a:defRPr>
            </a:pPr>
            <a:r>
              <a:rPr sz="975" b="1">
                <a:solidFill>
                  <a:srgbClr val="5F6B7A"/>
                </a:solidFill>
              </a:rPr>
              <a:t>REGISTRY STATUS</a:t>
            </a:r>
          </a:p>
        </p:txBody>
      </p:sp>
      <p:sp>
        <p:nvSpPr>
          <p:cNvPr id="40" name="gate-badge-G0">
            <a:extLst xmlns:a="http://schemas.openxmlformats.org/drawingml/2006/main">
              <a:ext uri="{FF2B5EF4-FFF2-40B4-BE49-F238E27FC236}">
                <a16:creationId xmlns:a16="http://schemas.microsoft.com/office/drawing/2014/main" id="{D9B853A3-B8C8-48D7-A3D4-3AA54E1F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4762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ER1</a:t>
            </a:r>
          </a:p>
        </p:txBody>
      </p:sp>
      <p:sp>
        <p:nvSpPr>
          <p:cNvPr id="41" name="gate-label-G0">
            <a:extLst xmlns:a="http://schemas.openxmlformats.org/drawingml/2006/main">
              <a:ext uri="{FF2B5EF4-FFF2-40B4-BE49-F238E27FC236}">
                <a16:creationId xmlns:a16="http://schemas.microsoft.com/office/drawing/2014/main" id="{3B9E045D-F013-43B4-90F1-E1DDE4D6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907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R0 PAFA selected (bounded)</a:t>
            </a:r>
          </a:p>
        </p:txBody>
      </p:sp>
      <p:sp>
        <p:nvSpPr>
          <p:cNvPr id="42" name="gate-badge-G1">
            <a:extLst xmlns:a="http://schemas.openxmlformats.org/drawingml/2006/main">
              <a:ext uri="{FF2B5EF4-FFF2-40B4-BE49-F238E27FC236}">
                <a16:creationId xmlns:a16="http://schemas.microsoft.com/office/drawing/2014/main" id="{4D21DBAC-D9B1-47EA-820B-1F7F2233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4762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ER2</a:t>
            </a:r>
          </a:p>
        </p:txBody>
      </p:sp>
      <p:sp>
        <p:nvSpPr>
          <p:cNvPr id="43" name="gate-label-G1">
            <a:extLst xmlns:a="http://schemas.openxmlformats.org/drawingml/2006/main">
              <a:ext uri="{FF2B5EF4-FFF2-40B4-BE49-F238E27FC236}">
                <a16:creationId xmlns:a16="http://schemas.microsoft.com/office/drawing/2014/main" id="{58A7078D-E956-4A29-81A7-AFC91CE0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241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HOLD / negative</a:t>
            </a:r>
          </a:p>
        </p:txBody>
      </p:sp>
      <p:sp>
        <p:nvSpPr>
          <p:cNvPr id="44" name="gate-badge-G2">
            <a:extLst xmlns:a="http://schemas.openxmlformats.org/drawingml/2006/main">
              <a:ext uri="{FF2B5EF4-FFF2-40B4-BE49-F238E27FC236}">
                <a16:creationId xmlns:a16="http://schemas.microsoft.com/office/drawing/2014/main" id="{274B41B7-610F-4BA7-BBB2-BAF53D0E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4762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ER3</a:t>
            </a:r>
          </a:p>
        </p:txBody>
      </p:sp>
      <p:sp>
        <p:nvSpPr>
          <p:cNvPr id="45" name="gate-label-G2">
            <a:extLst xmlns:a="http://schemas.openxmlformats.org/drawingml/2006/main">
              <a:ext uri="{FF2B5EF4-FFF2-40B4-BE49-F238E27FC236}">
                <a16:creationId xmlns:a16="http://schemas.microsoft.com/office/drawing/2014/main" id="{42EFDBF7-315F-4697-841A-C3411F8C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575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HOLD / negative</a:t>
            </a:r>
          </a:p>
        </p:txBody>
      </p:sp>
      <p:sp>
        <p:nvSpPr>
          <p:cNvPr id="46" name="gate-badge-G3">
            <a:extLst xmlns:a="http://schemas.openxmlformats.org/drawingml/2006/main">
              <a:ext uri="{FF2B5EF4-FFF2-40B4-BE49-F238E27FC236}">
                <a16:creationId xmlns:a16="http://schemas.microsoft.com/office/drawing/2014/main" id="{1B98C37C-A1E2-4D4D-953E-CFE9D767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90950"/>
            <a:ext cx="4762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ER4</a:t>
            </a:r>
          </a:p>
        </p:txBody>
      </p:sp>
      <p:sp>
        <p:nvSpPr>
          <p:cNvPr id="47" name="gate-label-G3">
            <a:extLst xmlns:a="http://schemas.openxmlformats.org/drawingml/2006/main">
              <a:ext uri="{FF2B5EF4-FFF2-40B4-BE49-F238E27FC236}">
                <a16:creationId xmlns:a16="http://schemas.microsoft.com/office/drawing/2014/main" id="{20937CB3-A4E5-49F3-B574-2E1F933C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909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Inconclusive / not supported</a:t>
            </a:r>
          </a:p>
        </p:txBody>
      </p:sp>
      <p:sp>
        <p:nvSpPr>
          <p:cNvPr id="48" name="gate-badge-G4">
            <a:extLst xmlns:a="http://schemas.openxmlformats.org/drawingml/2006/main">
              <a:ext uri="{FF2B5EF4-FFF2-40B4-BE49-F238E27FC236}">
                <a16:creationId xmlns:a16="http://schemas.microsoft.com/office/drawing/2014/main" id="{18E9A6DC-EAA2-4F4D-9EA1-AF304424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24350"/>
            <a:ext cx="4762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ER5</a:t>
            </a:r>
          </a:p>
        </p:txBody>
      </p:sp>
      <p:sp>
        <p:nvSpPr>
          <p:cNvPr id="49" name="gate-label-G4">
            <a:extLst xmlns:a="http://schemas.openxmlformats.org/drawingml/2006/main">
              <a:ext uri="{FF2B5EF4-FFF2-40B4-BE49-F238E27FC236}">
                <a16:creationId xmlns:a16="http://schemas.microsoft.com/office/drawing/2014/main" id="{05DEEF6B-EDF1-4736-9778-5F6E7D9D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3243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Inconclusive / not supported</a:t>
            </a:r>
          </a:p>
        </p:txBody>
      </p:sp>
      <p:sp>
        <p:nvSpPr>
          <p:cNvPr id="50" name="gate-badge-G5">
            <a:extLst xmlns:a="http://schemas.openxmlformats.org/drawingml/2006/main">
              <a:ext uri="{FF2B5EF4-FFF2-40B4-BE49-F238E27FC236}">
                <a16:creationId xmlns:a16="http://schemas.microsoft.com/office/drawing/2014/main" id="{992A8472-3979-4000-9D39-429C48A6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4762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51" name="gate-label-G5">
            <a:extLst xmlns:a="http://schemas.openxmlformats.org/drawingml/2006/main">
              <a:ext uri="{FF2B5EF4-FFF2-40B4-BE49-F238E27FC236}">
                <a16:creationId xmlns:a16="http://schemas.microsoft.com/office/drawing/2014/main" id="{345537C5-68E0-4C84-B92F-3CEDCD2B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8577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No full-encoder conclusion</a:t>
            </a:r>
          </a:p>
        </p:txBody>
      </p:sp>
      <p:sp>
        <p:nvSpPr>
          <p:cNvPr id="52" name="freeze-rule-box">
            <a:extLst xmlns:a="http://schemas.openxmlformats.org/drawingml/2006/main">
              <a:ext uri="{FF2B5EF4-FFF2-40B4-BE49-F238E27FC236}">
                <a16:creationId xmlns:a16="http://schemas.microsoft.com/office/drawing/2014/main" id="{DD4CEC6C-D92B-4D8C-A6BD-A827A573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127760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4288">
            <a:solidFill>
              <a:srgbClr val="2F855A"/>
            </a:solidFill>
            <a:prstDash val="solid"/>
          </a:ln>
        </p:spPr>
      </p:sp>
      <p:sp>
        <p:nvSpPr>
          <p:cNvPr id="53" name="freeze-rule-title">
            <a:extLst xmlns:a="http://schemas.openxmlformats.org/drawingml/2006/main">
              <a:ext uri="{FF2B5EF4-FFF2-40B4-BE49-F238E27FC236}">
                <a16:creationId xmlns:a16="http://schemas.microsoft.com/office/drawing/2014/main" id="{6E135C5B-3F7B-44B2-A708-8D20B9BB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855A"/>
                </a:solidFill>
              </a:defRPr>
            </a:pPr>
            <a:r>
              <a:rPr sz="1350" b="1">
                <a:solidFill>
                  <a:srgbClr val="2F855A"/>
                </a:solidFill>
              </a:rPr>
              <a:t>REGISTRY RULE</a:t>
            </a:r>
          </a:p>
        </p:txBody>
      </p:sp>
      <p:sp>
        <p:nvSpPr>
          <p:cNvPr id="54" name="freeze-rule-body">
            <a:extLst xmlns:a="http://schemas.openxmlformats.org/drawingml/2006/main">
              <a:ext uri="{FF2B5EF4-FFF2-40B4-BE49-F238E27FC236}">
                <a16:creationId xmlns:a16="http://schemas.microsoft.com/office/drawing/2014/main" id="{28B4CE40-FB72-4D93-8023-18D234E8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B7A"/>
                </a:solidFill>
              </a:defRPr>
            </a:pPr>
            <a:r>
              <a:rPr sz="1125" b="0">
                <a:solidFill>
                  <a:srgbClr val="5F6B7A"/>
                </a:solidFill>
              </a:rPr>
              <a:t>Link from the control plane; never draw these studies as forward audio modules.</a:t>
            </a:r>
          </a:p>
        </p:txBody>
      </p:sp>
      <p:sp>
        <p:nvSpPr>
          <p:cNvPr id="55" name="footer-2">
            <a:extLst xmlns:a="http://schemas.openxmlformats.org/drawingml/2006/main">
              <a:ext uri="{FF2B5EF4-FFF2-40B4-BE49-F238E27FC236}">
                <a16:creationId xmlns:a16="http://schemas.microsoft.com/office/drawing/2014/main" id="{AE17900E-FEA8-417C-83A1-E5565DE5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Acoustic E2E pipeline  •  audit rough cut v1  •  6/7</a:t>
            </a:r>
          </a:p>
        </p:txBody>
      </p:sp>
    </p:spTree>
    <p:extLst>
      <p:ext uri="{BB962C8B-B14F-4D97-AF65-F5344CB8AC3E}">
        <p14:creationId xmlns:p14="http://schemas.microsoft.com/office/powerpoint/2010/main" val="3081825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FA0C08-A4C1-48CE-A754-8197A7B9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What to approve before Inkscape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A0C40AE-31F7-44F8-9C58-10216530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B7A"/>
                </a:solidFill>
              </a:defRPr>
            </a:pPr>
            <a:r>
              <a:rPr sz="1275" b="0">
                <a:solidFill>
                  <a:srgbClr val="5F6B7A"/>
                </a:solidFill>
              </a:rPr>
              <a:t>Convert visual review into explicit freeze decisions; this PPT does not modify the Notion specification.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226C12A8-652A-4663-9E81-BD626CDA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F2D7F"/>
            </a:solidFill>
            <a:prstDash val="solid"/>
          </a:ln>
        </p:spPr>
      </p:sp>
      <p:sp>
        <p:nvSpPr>
          <p:cNvPr id="4" name="gate-arrow-0">
            <a:extLst xmlns:a="http://schemas.openxmlformats.org/drawingml/2006/main">
              <a:ext uri="{FF2B5EF4-FFF2-40B4-BE49-F238E27FC236}">
                <a16:creationId xmlns:a16="http://schemas.microsoft.com/office/drawing/2014/main" id="{5B7B0C69-E48C-45D0-8FBF-9878D776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00325"/>
            <a:ext cx="13335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ate-arrow-1">
            <a:extLst xmlns:a="http://schemas.openxmlformats.org/drawingml/2006/main">
              <a:ext uri="{FF2B5EF4-FFF2-40B4-BE49-F238E27FC236}">
                <a16:creationId xmlns:a16="http://schemas.microsoft.com/office/drawing/2014/main" id="{97245E88-92A1-4A43-BAF7-4943E78F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33725"/>
            <a:ext cx="13335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ate-arrow-2">
            <a:extLst xmlns:a="http://schemas.openxmlformats.org/drawingml/2006/main">
              <a:ext uri="{FF2B5EF4-FFF2-40B4-BE49-F238E27FC236}">
                <a16:creationId xmlns:a16="http://schemas.microsoft.com/office/drawing/2014/main" id="{45EB9C68-306F-4AF9-828D-2937D1EB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67125"/>
            <a:ext cx="13335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ate-arrow-3">
            <a:extLst xmlns:a="http://schemas.openxmlformats.org/drawingml/2006/main">
              <a:ext uri="{FF2B5EF4-FFF2-40B4-BE49-F238E27FC236}">
                <a16:creationId xmlns:a16="http://schemas.microsoft.com/office/drawing/2014/main" id="{19A88C8D-665F-4BA8-9FC9-7E6370FA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00525"/>
            <a:ext cx="13335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ate-arrow-4">
            <a:extLst xmlns:a="http://schemas.openxmlformats.org/drawingml/2006/main">
              <a:ext uri="{FF2B5EF4-FFF2-40B4-BE49-F238E27FC236}">
                <a16:creationId xmlns:a16="http://schemas.microsoft.com/office/drawing/2014/main" id="{E78A1DA3-F59A-4E46-8F77-59F6C6F3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733925"/>
            <a:ext cx="133350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ixed-contracts-frame">
            <a:extLst xmlns:a="http://schemas.openxmlformats.org/drawingml/2006/main">
              <a:ext uri="{FF2B5EF4-FFF2-40B4-BE49-F238E27FC236}">
                <a16:creationId xmlns:a16="http://schemas.microsoft.com/office/drawing/2014/main" id="{ADFC9060-8561-4023-8A95-BFD2E192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2857500" cy="4095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4F2D7F"/>
            </a:solidFill>
            <a:prstDash val="solid"/>
          </a:ln>
        </p:spPr>
      </p:sp>
      <p:sp>
        <p:nvSpPr>
          <p:cNvPr id="10" name="fixed-contracts-title">
            <a:extLst xmlns:a="http://schemas.openxmlformats.org/drawingml/2006/main">
              <a:ext uri="{FF2B5EF4-FFF2-40B4-BE49-F238E27FC236}">
                <a16:creationId xmlns:a16="http://schemas.microsoft.com/office/drawing/2014/main" id="{0B0DE4F7-0188-4AEE-9A75-ED545DF8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4F2D7F"/>
                </a:solidFill>
              </a:defRPr>
            </a:pPr>
            <a:r>
              <a:rPr sz="1650" b="1">
                <a:solidFill>
                  <a:srgbClr val="4F2D7F"/>
                </a:solidFill>
              </a:rPr>
              <a:t>READY TO FREEZE</a:t>
            </a:r>
          </a:p>
        </p:txBody>
      </p:sp>
      <p:sp>
        <p:nvSpPr>
          <p:cNvPr id="11" name="fixed-contracts-category">
            <a:extLst xmlns:a="http://schemas.openxmlformats.org/drawingml/2006/main">
              <a:ext uri="{FF2B5EF4-FFF2-40B4-BE49-F238E27FC236}">
                <a16:creationId xmlns:a16="http://schemas.microsoft.com/office/drawing/2014/main" id="{CD400F5C-EE94-464F-9CB2-94448D9E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2438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F6B7A"/>
                </a:solidFill>
              </a:defRPr>
            </a:pPr>
            <a:r>
              <a:rPr sz="975" b="1">
                <a:solidFill>
                  <a:srgbClr val="5F6B7A"/>
                </a:solidFill>
              </a:rPr>
              <a:t>SUPPORTED BY CURRENT CONTRACT</a:t>
            </a:r>
          </a:p>
        </p:txBody>
      </p:sp>
      <p:sp>
        <p:nvSpPr>
          <p:cNvPr id="12" name="fixed-dot-0">
            <a:extLst xmlns:a="http://schemas.openxmlformats.org/drawingml/2006/main">
              <a:ext uri="{FF2B5EF4-FFF2-40B4-BE49-F238E27FC236}">
                <a16:creationId xmlns:a16="http://schemas.microsoft.com/office/drawing/2014/main" id="{F541C0B2-4362-4932-BDEC-D1F27862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fixed-item-0">
            <a:extLst xmlns:a="http://schemas.openxmlformats.org/drawingml/2006/main">
              <a:ext uri="{FF2B5EF4-FFF2-40B4-BE49-F238E27FC236}">
                <a16:creationId xmlns:a16="http://schemas.microsoft.com/office/drawing/2014/main" id="{B12BF81E-D524-46C4-854B-6FACC4ED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Three topology figures stay separate</a:t>
            </a:r>
          </a:p>
        </p:txBody>
      </p:sp>
      <p:sp>
        <p:nvSpPr>
          <p:cNvPr id="14" name="fixed-dot-1">
            <a:extLst xmlns:a="http://schemas.openxmlformats.org/drawingml/2006/main">
              <a:ext uri="{FF2B5EF4-FFF2-40B4-BE49-F238E27FC236}">
                <a16:creationId xmlns:a16="http://schemas.microsoft.com/office/drawing/2014/main" id="{DD3A938F-74E4-432A-9319-366E6716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5" name="fixed-item-1">
            <a:extLst xmlns:a="http://schemas.openxmlformats.org/drawingml/2006/main">
              <a:ext uri="{FF2B5EF4-FFF2-40B4-BE49-F238E27FC236}">
                <a16:creationId xmlns:a16="http://schemas.microsoft.com/office/drawing/2014/main" id="{30BCDE26-A070-4C65-A633-4D3CF140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Figure A uses only ICBHI + SPR</a:t>
            </a:r>
          </a:p>
        </p:txBody>
      </p:sp>
      <p:sp>
        <p:nvSpPr>
          <p:cNvPr id="16" name="fixed-dot-2">
            <a:extLst xmlns:a="http://schemas.openxmlformats.org/drawingml/2006/main">
              <a:ext uri="{FF2B5EF4-FFF2-40B4-BE49-F238E27FC236}">
                <a16:creationId xmlns:a16="http://schemas.microsoft.com/office/drawing/2014/main" id="{6A30A46D-A586-47BA-B815-98AF8E4E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7" name="fixed-item-2">
            <a:extLst xmlns:a="http://schemas.openxmlformats.org/drawingml/2006/main">
              <a:ext uri="{FF2B5EF4-FFF2-40B4-BE49-F238E27FC236}">
                <a16:creationId xmlns:a16="http://schemas.microsoft.com/office/drawing/2014/main" id="{31BACF5F-4CDF-4B7A-A175-8B861094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956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Legacy and mask-aware paths stay separate</a:t>
            </a:r>
          </a:p>
        </p:txBody>
      </p:sp>
      <p:sp>
        <p:nvSpPr>
          <p:cNvPr id="18" name="fixed-dot-3">
            <a:extLst xmlns:a="http://schemas.openxmlformats.org/drawingml/2006/main">
              <a:ext uri="{FF2B5EF4-FFF2-40B4-BE49-F238E27FC236}">
                <a16:creationId xmlns:a16="http://schemas.microsoft.com/office/drawing/2014/main" id="{A0E52D35-A1E3-4BA1-A505-CB0312BA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9" name="fixed-item-3">
            <a:extLst xmlns:a="http://schemas.openxmlformats.org/drawingml/2006/main">
              <a:ext uri="{FF2B5EF4-FFF2-40B4-BE49-F238E27FC236}">
                <a16:creationId xmlns:a16="http://schemas.microsoft.com/office/drawing/2014/main" id="{15909418-52A8-495C-9817-D2539869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00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Control plane is not an audio module</a:t>
            </a:r>
          </a:p>
        </p:txBody>
      </p:sp>
      <p:sp>
        <p:nvSpPr>
          <p:cNvPr id="20" name="fixed-dot-4">
            <a:extLst xmlns:a="http://schemas.openxmlformats.org/drawingml/2006/main">
              <a:ext uri="{FF2B5EF4-FFF2-40B4-BE49-F238E27FC236}">
                <a16:creationId xmlns:a16="http://schemas.microsoft.com/office/drawing/2014/main" id="{8DBD3642-5654-414B-A2D9-2211E5E1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1" name="fixed-item-4">
            <a:extLst xmlns:a="http://schemas.openxmlformats.org/drawingml/2006/main">
              <a:ext uri="{FF2B5EF4-FFF2-40B4-BE49-F238E27FC236}">
                <a16:creationId xmlns:a16="http://schemas.microsoft.com/office/drawing/2014/main" id="{A4EBFAD7-2A4B-48C7-83C1-8C172EB7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243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New/private data remain out of scope</a:t>
            </a:r>
          </a:p>
        </p:txBody>
      </p:sp>
      <p:sp>
        <p:nvSpPr>
          <p:cNvPr id="22" name="interpretation-box">
            <a:extLst xmlns:a="http://schemas.openxmlformats.org/drawingml/2006/main">
              <a:ext uri="{FF2B5EF4-FFF2-40B4-BE49-F238E27FC236}">
                <a16:creationId xmlns:a16="http://schemas.microsoft.com/office/drawing/2014/main" id="{2B7999C3-E35B-4212-9E1A-A1378CCC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38700"/>
            <a:ext cx="2438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2E8"/>
          </a:solidFill>
          <a:ln xmlns:a="http://schemas.openxmlformats.org/drawingml/2006/main" w="11430">
            <a:solidFill>
              <a:srgbClr val="C45A16"/>
            </a:solidFill>
            <a:prstDash val="solid"/>
          </a:ln>
        </p:spPr>
      </p:sp>
      <p:sp>
        <p:nvSpPr>
          <p:cNvPr id="23" name="interpretation-label">
            <a:extLst xmlns:a="http://schemas.openxmlformats.org/drawingml/2006/main">
              <a:ext uri="{FF2B5EF4-FFF2-40B4-BE49-F238E27FC236}">
                <a16:creationId xmlns:a16="http://schemas.microsoft.com/office/drawing/2014/main" id="{B9225B3F-E8CC-48A4-BE4D-7E72DA29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2209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C45A16"/>
                </a:solidFill>
              </a:defRPr>
            </a:pPr>
            <a:r>
              <a:rPr sz="900" b="1">
                <a:solidFill>
                  <a:srgbClr val="C45A16"/>
                </a:solidFill>
              </a:rPr>
              <a:t>SCOPE</a:t>
            </a:r>
          </a:p>
        </p:txBody>
      </p:sp>
      <p:sp>
        <p:nvSpPr>
          <p:cNvPr id="24" name="interpretation-body">
            <a:extLst xmlns:a="http://schemas.openxmlformats.org/drawingml/2006/main">
              <a:ext uri="{FF2B5EF4-FFF2-40B4-BE49-F238E27FC236}">
                <a16:creationId xmlns:a16="http://schemas.microsoft.com/office/drawing/2014/main" id="{1961DAE4-3E71-437A-AADB-BFFE1853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57775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172033"/>
                </a:solidFill>
              </a:defRPr>
            </a:pPr>
            <a:r>
              <a:rPr sz="863" b="0">
                <a:solidFill>
                  <a:srgbClr val="172033"/>
                </a:solidFill>
              </a:rPr>
              <a:t>LODO means leaving out one of the current four datasets.</a:t>
            </a:r>
          </a:p>
        </p:txBody>
      </p:sp>
      <p:sp>
        <p:nvSpPr>
          <p:cNvPr id="25" name="architecture-frame">
            <a:extLst xmlns:a="http://schemas.openxmlformats.org/drawingml/2006/main">
              <a:ext uri="{FF2B5EF4-FFF2-40B4-BE49-F238E27FC236}">
                <a16:creationId xmlns:a16="http://schemas.microsoft.com/office/drawing/2014/main" id="{2D8B1346-A598-431B-A306-DFA3600F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428750"/>
            <a:ext cx="43815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1D4ED8"/>
            </a:solidFill>
            <a:prstDash val="dash"/>
          </a:ln>
        </p:spPr>
      </p:sp>
      <p:sp>
        <p:nvSpPr>
          <p:cNvPr id="26" name="architecture-title">
            <a:extLst xmlns:a="http://schemas.openxmlformats.org/drawingml/2006/main">
              <a:ext uri="{FF2B5EF4-FFF2-40B4-BE49-F238E27FC236}">
                <a16:creationId xmlns:a16="http://schemas.microsoft.com/office/drawing/2014/main" id="{E5B1E00B-9351-4AF4-BE54-EAE41DD2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619250"/>
            <a:ext cx="396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D4ED8"/>
                </a:solidFill>
              </a:defRPr>
            </a:pPr>
            <a:r>
              <a:rPr sz="1650" b="1">
                <a:solidFill>
                  <a:srgbClr val="1D4ED8"/>
                </a:solidFill>
              </a:rPr>
              <a:t>OPEN CONTENT DECISIONS</a:t>
            </a:r>
          </a:p>
        </p:txBody>
      </p:sp>
      <p:sp>
        <p:nvSpPr>
          <p:cNvPr id="27" name="architecture-category">
            <a:extLst xmlns:a="http://schemas.openxmlformats.org/drawingml/2006/main">
              <a:ext uri="{FF2B5EF4-FFF2-40B4-BE49-F238E27FC236}">
                <a16:creationId xmlns:a16="http://schemas.microsoft.com/office/drawing/2014/main" id="{0771A49B-4ECB-4D1A-8755-0AA9C83E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943100"/>
            <a:ext cx="396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F6B7A"/>
                </a:solidFill>
              </a:defRPr>
            </a:pPr>
            <a:r>
              <a:rPr sz="975" b="1">
                <a:solidFill>
                  <a:srgbClr val="5F6B7A"/>
                </a:solidFill>
              </a:rPr>
              <a:t>USER APPROVAL NEEDED</a:t>
            </a:r>
          </a:p>
        </p:txBody>
      </p:sp>
      <p:sp>
        <p:nvSpPr>
          <p:cNvPr id="28" name="architecture-a-box">
            <a:extLst xmlns:a="http://schemas.openxmlformats.org/drawingml/2006/main">
              <a:ext uri="{FF2B5EF4-FFF2-40B4-BE49-F238E27FC236}">
                <a16:creationId xmlns:a16="http://schemas.microsoft.com/office/drawing/2014/main" id="{72ADFBF9-28A4-49B0-8C8A-62D186F9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90750"/>
            <a:ext cx="3810000" cy="1095375"/>
          </a:xfrm>
          <a:prstGeom xmlns:a="http://schemas.openxmlformats.org/drawingml/2006/main" prst="roundRect">
            <a:avLst>
              <a:gd name="adj" fmla="val 12174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4288">
            <a:solidFill>
              <a:srgbClr val="1D4ED8"/>
            </a:solidFill>
            <a:prstDash val="solid"/>
          </a:ln>
        </p:spPr>
      </p:sp>
      <p:sp>
        <p:nvSpPr>
          <p:cNvPr id="29" name="architecture-a-title">
            <a:extLst xmlns:a="http://schemas.openxmlformats.org/drawingml/2006/main">
              <a:ext uri="{FF2B5EF4-FFF2-40B4-BE49-F238E27FC236}">
                <a16:creationId xmlns:a16="http://schemas.microsoft.com/office/drawing/2014/main" id="{E99E26BD-7503-4063-99FC-C5DB3D6B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24100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D4ED8"/>
                </a:solidFill>
              </a:defRPr>
            </a:pPr>
            <a:r>
              <a:rPr sz="1425" b="1">
                <a:solidFill>
                  <a:srgbClr val="1D4ED8"/>
                </a:solidFill>
              </a:rPr>
              <a:t>Decision 1 — Figure B backbone</a:t>
            </a:r>
          </a:p>
        </p:txBody>
      </p:sp>
      <p:sp>
        <p:nvSpPr>
          <p:cNvPr id="30" name="architecture-a-body">
            <a:extLst xmlns:a="http://schemas.openxmlformats.org/drawingml/2006/main">
              <a:ext uri="{FF2B5EF4-FFF2-40B4-BE49-F238E27FC236}">
                <a16:creationId xmlns:a16="http://schemas.microsoft.com/office/drawing/2014/main" id="{BC6F217E-1B77-413A-B150-7C23F65B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667000"/>
            <a:ext cx="35052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Keep layered pooled + temporal capability, or show pooled-only until tokens/masks exist?</a:t>
            </a:r>
          </a:p>
        </p:txBody>
      </p:sp>
      <p:sp>
        <p:nvSpPr>
          <p:cNvPr id="31" name="architecture-b-box">
            <a:extLst xmlns:a="http://schemas.openxmlformats.org/drawingml/2006/main">
              <a:ext uri="{FF2B5EF4-FFF2-40B4-BE49-F238E27FC236}">
                <a16:creationId xmlns:a16="http://schemas.microsoft.com/office/drawing/2014/main" id="{30467B50-649F-42B6-A3E7-72CA3729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76625"/>
            <a:ext cx="3810000" cy="11430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F3EEFA"/>
          </a:solidFill>
          <a:ln xmlns:a="http://schemas.openxmlformats.org/drawingml/2006/main" w="14288">
            <a:solidFill>
              <a:srgbClr val="4F2D7F"/>
            </a:solidFill>
            <a:prstDash val="solid"/>
          </a:ln>
        </p:spPr>
      </p:sp>
      <p:sp>
        <p:nvSpPr>
          <p:cNvPr id="32" name="architecture-b-title">
            <a:extLst xmlns:a="http://schemas.openxmlformats.org/drawingml/2006/main">
              <a:ext uri="{FF2B5EF4-FFF2-40B4-BE49-F238E27FC236}">
                <a16:creationId xmlns:a16="http://schemas.microsoft.com/office/drawing/2014/main" id="{61317E27-B621-4747-898B-BDC24A3B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609975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4F2D7F"/>
                </a:solidFill>
              </a:defRPr>
            </a:pPr>
            <a:r>
              <a:rPr sz="1425" b="1">
                <a:solidFill>
                  <a:srgbClr val="4F2D7F"/>
                </a:solidFill>
              </a:rPr>
              <a:t>Decision 2 — HF native path</a:t>
            </a:r>
          </a:p>
        </p:txBody>
      </p:sp>
      <p:sp>
        <p:nvSpPr>
          <p:cNvPr id="33" name="architecture-b-body">
            <a:extLst xmlns:a="http://schemas.openxmlformats.org/drawingml/2006/main">
              <a:ext uri="{FF2B5EF4-FFF2-40B4-BE49-F238E27FC236}">
                <a16:creationId xmlns:a16="http://schemas.microsoft.com/office/drawing/2014/main" id="{A9205212-BFC2-4979-B5FB-C36E135C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952875"/>
            <a:ext cx="350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Show fixed 15 s temporal task and verified 3×5 s diagnostic together, or split them?</a:t>
            </a:r>
          </a:p>
        </p:txBody>
      </p:sp>
      <p:sp>
        <p:nvSpPr>
          <p:cNvPr id="34" name="architecture-risk-box">
            <a:extLst xmlns:a="http://schemas.openxmlformats.org/drawingml/2006/main">
              <a:ext uri="{FF2B5EF4-FFF2-40B4-BE49-F238E27FC236}">
                <a16:creationId xmlns:a16="http://schemas.microsoft.com/office/drawing/2014/main" id="{733F3526-F806-4B56-89C5-36F9D940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81550"/>
            <a:ext cx="38100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14288">
            <a:solidFill>
              <a:srgbClr val="B4233B"/>
            </a:solidFill>
            <a:prstDash val="solid"/>
          </a:ln>
        </p:spPr>
      </p:sp>
      <p:sp>
        <p:nvSpPr>
          <p:cNvPr id="35" name="architecture-risk-title">
            <a:extLst xmlns:a="http://schemas.openxmlformats.org/drawingml/2006/main">
              <a:ext uri="{FF2B5EF4-FFF2-40B4-BE49-F238E27FC236}">
                <a16:creationId xmlns:a16="http://schemas.microsoft.com/office/drawing/2014/main" id="{CC65ACC3-921D-4882-9DAD-1C5893FF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848225"/>
            <a:ext cx="3505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B4233B"/>
                </a:solidFill>
              </a:defRPr>
            </a:pPr>
            <a:r>
              <a:rPr sz="1200" b="1">
                <a:solidFill>
                  <a:srgbClr val="B4233B"/>
                </a:solidFill>
              </a:rPr>
              <a:t>Decision 3 — evidence density</a:t>
            </a:r>
          </a:p>
        </p:txBody>
      </p:sp>
      <p:sp>
        <p:nvSpPr>
          <p:cNvPr id="36" name="architecture-risk-body">
            <a:extLst xmlns:a="http://schemas.openxmlformats.org/drawingml/2006/main">
              <a:ext uri="{FF2B5EF4-FFF2-40B4-BE49-F238E27FC236}">
                <a16:creationId xmlns:a16="http://schemas.microsoft.com/office/drawing/2014/main" id="{A3F79AAC-54F7-4DBC-8A8D-0745A317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076825"/>
            <a:ext cx="3505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F6B7A"/>
                </a:solidFill>
              </a:defRPr>
            </a:pPr>
            <a:r>
              <a:rPr sz="1050" b="0">
                <a:solidFill>
                  <a:srgbClr val="5F6B7A"/>
                </a:solidFill>
              </a:rPr>
              <a:t>Keep ER01–ER05 in the main deck, or move the registry to an appendix?</a:t>
            </a:r>
          </a:p>
        </p:txBody>
      </p:sp>
      <p:sp>
        <p:nvSpPr>
          <p:cNvPr id="37" name="gates-frame">
            <a:extLst xmlns:a="http://schemas.openxmlformats.org/drawingml/2006/main">
              <a:ext uri="{FF2B5EF4-FFF2-40B4-BE49-F238E27FC236}">
                <a16:creationId xmlns:a16="http://schemas.microsoft.com/office/drawing/2014/main" id="{95127F2E-CEE3-47BA-83D6-C260477E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28750"/>
            <a:ext cx="3400425" cy="4095750"/>
          </a:xfrm>
          <a:prstGeom xmlns:a="http://schemas.openxmlformats.org/drawingml/2006/main" prst="roundRect">
            <a:avLst>
              <a:gd name="adj" fmla="val 448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9050">
            <a:solidFill>
              <a:srgbClr val="2F855A"/>
            </a:solidFill>
            <a:prstDash val="solid"/>
          </a:ln>
        </p:spPr>
      </p:sp>
      <p:sp>
        <p:nvSpPr>
          <p:cNvPr id="38" name="gates-title">
            <a:extLst xmlns:a="http://schemas.openxmlformats.org/drawingml/2006/main">
              <a:ext uri="{FF2B5EF4-FFF2-40B4-BE49-F238E27FC236}">
                <a16:creationId xmlns:a16="http://schemas.microsoft.com/office/drawing/2014/main" id="{179FE9FB-6ED7-46BB-B713-01709F57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619250"/>
            <a:ext cx="2981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F855A"/>
                </a:solidFill>
              </a:defRPr>
            </a:pPr>
            <a:r>
              <a:rPr sz="1650" b="1">
                <a:solidFill>
                  <a:srgbClr val="2F855A"/>
                </a:solidFill>
              </a:rPr>
              <a:t>VISUAL AUDIT</a:t>
            </a:r>
          </a:p>
        </p:txBody>
      </p:sp>
      <p:sp>
        <p:nvSpPr>
          <p:cNvPr id="39" name="gates-category">
            <a:extLst xmlns:a="http://schemas.openxmlformats.org/drawingml/2006/main">
              <a:ext uri="{FF2B5EF4-FFF2-40B4-BE49-F238E27FC236}">
                <a16:creationId xmlns:a16="http://schemas.microsoft.com/office/drawing/2014/main" id="{07359247-1002-4853-8A4D-DB122DAF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943100"/>
            <a:ext cx="2981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F6B7A"/>
                </a:solidFill>
              </a:defRPr>
            </a:pPr>
            <a:r>
              <a:rPr sz="975" b="1">
                <a:solidFill>
                  <a:srgbClr val="5F6B7A"/>
                </a:solidFill>
              </a:rPr>
              <a:t>CHECK EACH PAGE</a:t>
            </a:r>
          </a:p>
        </p:txBody>
      </p:sp>
      <p:sp>
        <p:nvSpPr>
          <p:cNvPr id="40" name="gate-badge-G0">
            <a:extLst xmlns:a="http://schemas.openxmlformats.org/drawingml/2006/main">
              <a:ext uri="{FF2B5EF4-FFF2-40B4-BE49-F238E27FC236}">
                <a16:creationId xmlns:a16="http://schemas.microsoft.com/office/drawing/2014/main" id="{D9B853A3-B8C8-48D7-A3D4-3AA54E1F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4762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1" name="gate-label-G0">
            <a:extLst xmlns:a="http://schemas.openxmlformats.org/drawingml/2006/main">
              <a:ext uri="{FF2B5EF4-FFF2-40B4-BE49-F238E27FC236}">
                <a16:creationId xmlns:a16="http://schemas.microsoft.com/office/drawing/2014/main" id="{3B9E045D-F013-43B4-90F1-E1DDE4D6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907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Inputs and sample units correct</a:t>
            </a:r>
          </a:p>
        </p:txBody>
      </p:sp>
      <p:sp>
        <p:nvSpPr>
          <p:cNvPr id="42" name="gate-badge-G1">
            <a:extLst xmlns:a="http://schemas.openxmlformats.org/drawingml/2006/main">
              <a:ext uri="{FF2B5EF4-FFF2-40B4-BE49-F238E27FC236}">
                <a16:creationId xmlns:a16="http://schemas.microsoft.com/office/drawing/2014/main" id="{4D21DBAC-D9B1-47EA-820B-1F7F2233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4762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3" name="gate-label-G1">
            <a:extLst xmlns:a="http://schemas.openxmlformats.org/drawingml/2006/main">
              <a:ext uri="{FF2B5EF4-FFF2-40B4-BE49-F238E27FC236}">
                <a16:creationId xmlns:a16="http://schemas.microsoft.com/office/drawing/2014/main" id="{58A7078D-E956-4A29-81A7-AFC91CE0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241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Every tensor dimension explicit</a:t>
            </a:r>
          </a:p>
        </p:txBody>
      </p:sp>
      <p:sp>
        <p:nvSpPr>
          <p:cNvPr id="44" name="gate-badge-G2">
            <a:extLst xmlns:a="http://schemas.openxmlformats.org/drawingml/2006/main">
              <a:ext uri="{FF2B5EF4-FFF2-40B4-BE49-F238E27FC236}">
                <a16:creationId xmlns:a16="http://schemas.microsoft.com/office/drawing/2014/main" id="{274B41B7-610F-4BA7-BBB2-BAF53D0E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4762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5" name="gate-label-G2">
            <a:extLst xmlns:a="http://schemas.openxmlformats.org/drawingml/2006/main">
              <a:ext uri="{FF2B5EF4-FFF2-40B4-BE49-F238E27FC236}">
                <a16:creationId xmlns:a16="http://schemas.microsoft.com/office/drawing/2014/main" id="{42EFDBF7-315F-4697-841A-C3411F8C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575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Training vs inference paths distinct</a:t>
            </a:r>
          </a:p>
        </p:txBody>
      </p:sp>
      <p:sp>
        <p:nvSpPr>
          <p:cNvPr id="46" name="gate-badge-G3">
            <a:extLst xmlns:a="http://schemas.openxmlformats.org/drawingml/2006/main">
              <a:ext uri="{FF2B5EF4-FFF2-40B4-BE49-F238E27FC236}">
                <a16:creationId xmlns:a16="http://schemas.microsoft.com/office/drawing/2014/main" id="{1B98C37C-A1E2-4D4D-953E-CFE9D767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90950"/>
            <a:ext cx="4762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7" name="gate-label-G3">
            <a:extLst xmlns:a="http://schemas.openxmlformats.org/drawingml/2006/main">
              <a:ext uri="{FF2B5EF4-FFF2-40B4-BE49-F238E27FC236}">
                <a16:creationId xmlns:a16="http://schemas.microsoft.com/office/drawing/2014/main" id="{20937CB3-A4E5-49F3-B574-2E1F933C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909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Evidence status separated</a:t>
            </a:r>
          </a:p>
        </p:txBody>
      </p:sp>
      <p:sp>
        <p:nvSpPr>
          <p:cNvPr id="48" name="gate-badge-G4">
            <a:extLst xmlns:a="http://schemas.openxmlformats.org/drawingml/2006/main">
              <a:ext uri="{FF2B5EF4-FFF2-40B4-BE49-F238E27FC236}">
                <a16:creationId xmlns:a16="http://schemas.microsoft.com/office/drawing/2014/main" id="{18E9A6DC-EAA2-4F4D-9EA1-AF304424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24350"/>
            <a:ext cx="4762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9" name="gate-label-G4">
            <a:extLst xmlns:a="http://schemas.openxmlformats.org/drawingml/2006/main">
              <a:ext uri="{FF2B5EF4-FFF2-40B4-BE49-F238E27FC236}">
                <a16:creationId xmlns:a16="http://schemas.microsoft.com/office/drawing/2014/main" id="{05DEEF6B-EDF1-4736-9778-5F6E7D9D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3243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Negative results off main path</a:t>
            </a:r>
          </a:p>
        </p:txBody>
      </p:sp>
      <p:sp>
        <p:nvSpPr>
          <p:cNvPr id="50" name="gate-badge-G5">
            <a:extLst xmlns:a="http://schemas.openxmlformats.org/drawingml/2006/main">
              <a:ext uri="{FF2B5EF4-FFF2-40B4-BE49-F238E27FC236}">
                <a16:creationId xmlns:a16="http://schemas.microsoft.com/office/drawing/2014/main" id="{992A8472-3979-4000-9D39-429C48A6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57750"/>
            <a:ext cx="4762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2F855A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1" name="gate-label-G5">
            <a:extLst xmlns:a="http://schemas.openxmlformats.org/drawingml/2006/main">
              <a:ext uri="{FF2B5EF4-FFF2-40B4-BE49-F238E27FC236}">
                <a16:creationId xmlns:a16="http://schemas.microsoft.com/office/drawing/2014/main" id="{345537C5-68E0-4C84-B92F-3CEDCD2B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857750"/>
            <a:ext cx="2238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Density acceptable for final art</a:t>
            </a:r>
          </a:p>
        </p:txBody>
      </p:sp>
      <p:sp>
        <p:nvSpPr>
          <p:cNvPr id="52" name="freeze-rule-box">
            <a:extLst xmlns:a="http://schemas.openxmlformats.org/drawingml/2006/main">
              <a:ext uri="{FF2B5EF4-FFF2-40B4-BE49-F238E27FC236}">
                <a16:creationId xmlns:a16="http://schemas.microsoft.com/office/drawing/2014/main" id="{DD4CEC6C-D92B-4D8C-A6BD-A827A573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76900"/>
            <a:ext cx="1127760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4288">
            <a:solidFill>
              <a:srgbClr val="2F855A"/>
            </a:solidFill>
            <a:prstDash val="solid"/>
          </a:ln>
        </p:spPr>
      </p:sp>
      <p:sp>
        <p:nvSpPr>
          <p:cNvPr id="53" name="freeze-rule-title">
            <a:extLst xmlns:a="http://schemas.openxmlformats.org/drawingml/2006/main">
              <a:ext uri="{FF2B5EF4-FFF2-40B4-BE49-F238E27FC236}">
                <a16:creationId xmlns:a16="http://schemas.microsoft.com/office/drawing/2014/main" id="{6E135C5B-3F7B-44B2-A708-8D20B9BB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855A"/>
                </a:solidFill>
              </a:defRPr>
            </a:pPr>
            <a:r>
              <a:rPr sz="1350" b="1">
                <a:solidFill>
                  <a:srgbClr val="2F855A"/>
                </a:solidFill>
              </a:rPr>
              <a:t>NEXT GATE</a:t>
            </a:r>
          </a:p>
        </p:txBody>
      </p:sp>
      <p:sp>
        <p:nvSpPr>
          <p:cNvPr id="54" name="freeze-rule-body">
            <a:extLst xmlns:a="http://schemas.openxmlformats.org/drawingml/2006/main">
              <a:ext uri="{FF2B5EF4-FFF2-40B4-BE49-F238E27FC236}">
                <a16:creationId xmlns:a16="http://schemas.microsoft.com/office/drawing/2014/main" id="{28B4CE40-FB72-4D93-8023-18D234E8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B7A"/>
                </a:solidFill>
              </a:defRPr>
            </a:pPr>
            <a:r>
              <a:rPr sz="1125" b="0">
                <a:solidFill>
                  <a:srgbClr val="5F6B7A"/>
                </a:solidFill>
              </a:rPr>
              <a:t>After these decisions are approved, convert the topology to Inkscape and keep audit detail in Notion or an appendix.</a:t>
            </a:r>
          </a:p>
        </p:txBody>
      </p:sp>
      <p:sp>
        <p:nvSpPr>
          <p:cNvPr id="55" name="footer-2">
            <a:extLst xmlns:a="http://schemas.openxmlformats.org/drawingml/2006/main">
              <a:ext uri="{FF2B5EF4-FFF2-40B4-BE49-F238E27FC236}">
                <a16:creationId xmlns:a16="http://schemas.microsoft.com/office/drawing/2014/main" id="{AE17900E-FEA8-417C-83A1-E5565DE5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Acoustic E2E pipeline  •  audit rough cut v1  •  7/7</a:t>
            </a:r>
          </a:p>
        </p:txBody>
      </p:sp>
    </p:spTree>
    <p:extLst>
      <p:ext uri="{BB962C8B-B14F-4D97-AF65-F5344CB8AC3E}">
        <p14:creationId xmlns:p14="http://schemas.microsoft.com/office/powerpoint/2010/main" val="3081825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2026-07-29T19:47:13.6120000Z</dcterms:created>
  <dcterms:modified xsi:type="dcterms:W3CDTF">2026-07-29T19:47:13.6120000Z</dcterms:modified>
</coreProperties>
</file>