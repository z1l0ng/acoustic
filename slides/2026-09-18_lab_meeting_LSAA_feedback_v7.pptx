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2b9131b1b9a458a" /><Relationship Type="http://schemas.openxmlformats.org/officeDocument/2006/relationships/extended-properties" Target="/docProps/app.xml" Id="R618a2ce5d938497d" /><Relationship Type="http://schemas.openxmlformats.org/officeDocument/2006/relationships/officeDocument" Target="/ppt/presentation.xml" Id="Re2d37472f38545b6" /></Relationships>
</file>

<file path=ppt/presentation.xml><?xml version="1.0" encoding="utf-8"?>
<p:presentation xmlns:p="http://schemas.openxmlformats.org/presentationml/2006/main">
  <p:sldMasterIdLst>
    <p:sldMasterId xmlns:r="http://schemas.openxmlformats.org/officeDocument/2006/relationships" id="2147483648" r:id="R634dd89a7b0b476f"/>
  </p:sldMasterIdLst>
  <p:notesMasterIdLst>
    <p:notesMasterId xmlns:r="http://schemas.openxmlformats.org/officeDocument/2006/relationships" r:id="Rf7176ddbd54f47bb"/>
  </p:notesMasterIdLst>
  <p:sldIdLst>
    <p:sldId xmlns:r="http://schemas.openxmlformats.org/officeDocument/2006/relationships" id="256" r:id="Re23fe9c5f22c4394"/>
    <p:sldId xmlns:r="http://schemas.openxmlformats.org/officeDocument/2006/relationships" id="257" r:id="R967bd0be23ce4e81"/>
    <p:sldId xmlns:r="http://schemas.openxmlformats.org/officeDocument/2006/relationships" id="258" r:id="R589ea3e0b25a4da6"/>
    <p:sldId xmlns:r="http://schemas.openxmlformats.org/officeDocument/2006/relationships" id="259" r:id="Rac250d71a6f24e92"/>
    <p:sldId xmlns:r="http://schemas.openxmlformats.org/officeDocument/2006/relationships" id="260" r:id="Raacfffa8eac14f3f"/>
    <p:sldId xmlns:r="http://schemas.openxmlformats.org/officeDocument/2006/relationships" id="261" r:id="R9feedd5dc78e4047"/>
    <p:sldId xmlns:r="http://schemas.openxmlformats.org/officeDocument/2006/relationships" id="262" r:id="R6beb414e4a844d9c"/>
    <p:sldId xmlns:r="http://schemas.openxmlformats.org/officeDocument/2006/relationships" id="263" r:id="R93d13dd520f64bf7"/>
    <p:sldId xmlns:r="http://schemas.openxmlformats.org/officeDocument/2006/relationships" id="264" r:id="Rc8dd0b2d490a4293"/>
    <p:sldId xmlns:r="http://schemas.openxmlformats.org/officeDocument/2006/relationships" id="265" r:id="R764c631b8887464d"/>
    <p:sldId xmlns:r="http://schemas.openxmlformats.org/officeDocument/2006/relationships" id="266" r:id="R8ecb6db882ca4a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9b845e99744a56" /><Relationship Type="http://schemas.openxmlformats.org/officeDocument/2006/relationships/slideMaster" Target="/ppt/slideMasters/slideMaster1.xml" Id="R634dd89a7b0b476f" /><Relationship Type="http://schemas.openxmlformats.org/officeDocument/2006/relationships/notesMaster" Target="/ppt/notesMasters/notesMaster1.xml" Id="Rf7176ddbd54f47bb" /><Relationship Type="http://schemas.openxmlformats.org/officeDocument/2006/relationships/presProps" Target="/ppt/presProps.xml" Id="R4caed863db9a4623" /><Relationship Type="http://schemas.openxmlformats.org/officeDocument/2006/relationships/tableStyles" Target="/ppt/tableStyles.xml" Id="Rb8714642f8064062" /><Relationship Type="http://schemas.openxmlformats.org/officeDocument/2006/relationships/slide" Target="/ppt/slides/slide1.xml" Id="Re23fe9c5f22c4394" /><Relationship Type="http://schemas.openxmlformats.org/officeDocument/2006/relationships/slide" Target="/ppt/slides/slide2.xml" Id="R967bd0be23ce4e81" /><Relationship Type="http://schemas.openxmlformats.org/officeDocument/2006/relationships/slide" Target="/ppt/slides/slide3.xml" Id="R589ea3e0b25a4da6" /><Relationship Type="http://schemas.openxmlformats.org/officeDocument/2006/relationships/slide" Target="/ppt/slides/slide4.xml" Id="Rac250d71a6f24e92" /><Relationship Type="http://schemas.openxmlformats.org/officeDocument/2006/relationships/slide" Target="/ppt/slides/slide5.xml" Id="Raacfffa8eac14f3f" /><Relationship Type="http://schemas.openxmlformats.org/officeDocument/2006/relationships/slide" Target="/ppt/slides/slide6.xml" Id="R9feedd5dc78e4047" /><Relationship Type="http://schemas.openxmlformats.org/officeDocument/2006/relationships/slide" Target="/ppt/slides/slide7.xml" Id="R6beb414e4a844d9c" /><Relationship Type="http://schemas.openxmlformats.org/officeDocument/2006/relationships/slide" Target="/ppt/slides/slide8.xml" Id="R93d13dd520f64bf7" /><Relationship Type="http://schemas.openxmlformats.org/officeDocument/2006/relationships/slide" Target="/ppt/slides/slide9.xml" Id="Rc8dd0b2d490a4293" /><Relationship Type="http://schemas.openxmlformats.org/officeDocument/2006/relationships/slide" Target="/ppt/slides/slide10.xml" Id="R764c631b8887464d" /><Relationship Type="http://schemas.openxmlformats.org/officeDocument/2006/relationships/slide" Target="/ppt/slides/slide11.xml" Id="R8ecb6db882ca4a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30911d17d643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3c09c63c614f54" /><Relationship Type="http://schemas.openxmlformats.org/officeDocument/2006/relationships/notesMaster" Target="/ppt/notesMasters/notesMaster1.xml" Id="R07d20d9dfdc641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80ef893a894d41" /><Relationship Type="http://schemas.openxmlformats.org/officeDocument/2006/relationships/notesMaster" Target="/ppt/notesMasters/notesMaster1.xml" Id="R7c7c27ff771e4f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1a7974683b45cf" /><Relationship Type="http://schemas.openxmlformats.org/officeDocument/2006/relationships/notesMaster" Target="/ppt/notesMasters/notesMaster1.xml" Id="Rdcfe6338a6dd49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6367dea58f40fe" /><Relationship Type="http://schemas.openxmlformats.org/officeDocument/2006/relationships/notesMaster" Target="/ppt/notesMasters/notesMaster1.xml" Id="R2f90fd86edec4c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9e5faa0e8e4b8c" /><Relationship Type="http://schemas.openxmlformats.org/officeDocument/2006/relationships/notesMaster" Target="/ppt/notesMasters/notesMaster1.xml" Id="R18109399ffe240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293db7038841f6" /><Relationship Type="http://schemas.openxmlformats.org/officeDocument/2006/relationships/notesMaster" Target="/ppt/notesMasters/notesMaster1.xml" Id="Rf1071a8279dd46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8b08b51965415d" /><Relationship Type="http://schemas.openxmlformats.org/officeDocument/2006/relationships/notesMaster" Target="/ppt/notesMasters/notesMaster1.xml" Id="R5bd0c4ea4ac94c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6cb63d9c5a4214" /><Relationship Type="http://schemas.openxmlformats.org/officeDocument/2006/relationships/notesMaster" Target="/ppt/notesMasters/notesMaster1.xml" Id="R5228391f90664b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9c456602d943f9" /><Relationship Type="http://schemas.openxmlformats.org/officeDocument/2006/relationships/notesMaster" Target="/ppt/notesMasters/notesMaster1.xml" Id="R3c2d3d15c27d4e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8cc56b71704872" /><Relationship Type="http://schemas.openxmlformats.org/officeDocument/2006/relationships/notesMaster" Target="/ppt/notesMasters/notesMaster1.xml" Id="R3190a284fe5d4d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8f31e1f88e4f24" /><Relationship Type="http://schemas.openxmlformats.org/officeDocument/2006/relationships/notesMaster" Target="/ppt/notesMasters/notesMaster1.xml" Id="R32cb2bdb4b954f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a:t>
            </a:r>
          </a:p>
          <a:p xmlns:a="http://schemas.openxmlformats.org/drawingml/2006/main">
            <a:r>
              <a:t/>
            </a:r>
          </a:p>
          <a:p xmlns:a="http://schemas.openxmlformats.org/drawingml/2006/main">
            <a:r>
              <a:t>I want to use this meeting to test the paper's scientific framing before submission. The paper asks how we can reuse related respiratory sound annotations when the datasets disagree about the annotation unit, the label granularity, and the native prediction task. I will first establish that problem, then show the LSAA formulation and the current evidence. I am especially looking for feedback on how strongly the contribution should be stated, how to position the readout, and which matched comparison would be most valuable.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
            </a:r>
          </a:p>
          <a:p xmlns:a="http://schemas.openxmlformats.org/drawingml/2006/main">
            <a:r>
              <a:t>The paper uses four datasets, but they do not all play the same role. ICBHI cycles and SPRSound events are the core joint-training sources. HF Lung contributes an optional auxiliary C/W supervision condition and a separate transfer evaluation. KAUH is an external patient-level evaluation set. The important point is that the datasets contain related respiratory phenomena, while the annotation units and label vocabularies remain different. That is the setting in which a shared interface needs to preserve native tasks rather than pretend that all four sources define one common label space.</a:t>
            </a:r>
          </a:p>
          <a:p xmlns:a="http://schemas.openxmlformats.org/drawingml/2006/main">
            <a:r>
              <a:t/>
            </a:r>
          </a:p>
          <a:p xmlns:a="http://schemas.openxmlformats.org/drawingml/2006/main">
            <a:r>
              <a:t>Sources: Rocha et al., 2019, ICBHI; Zhang et al., 2022, SPRSound; Hsu et al., 2021, HF Lung V1; Fraiwan et al., 2021, KAUH.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a:t>
            </a:r>
          </a:p>
          <a:p xmlns:a="http://schemas.openxmlformats.org/drawingml/2006/main">
            <a:r>
              <a:t/>
            </a:r>
          </a:p>
          <a:p xmlns:a="http://schemas.openxmlformats.org/drawingml/2006/main">
            <a:r>
              <a:t>The specific mismatch is easiest to see with SPRSound and ICBHI. SPRSound has fine-grained crackle and wheeze annotations, but the native event task studied here only asks whether an event is Normal or Adventitious. ICBHI, by contrast, asks for a four-class cycle prediction. A shared binary target would reuse the data but discard distinctions that matter for ICBHI. A fully separate workflow would retain the labels but leave some supervision unused across tasks.</a:t>
            </a:r>
          </a:p>
          <a:p xmlns:a="http://schemas.openxmlformats.org/drawingml/2006/main">
            <a:r>
              <a:t/>
            </a:r>
          </a:p>
          <a:p xmlns:a="http://schemas.openxmlformats.org/drawingml/2006/main">
            <a:r>
              <a:t>This is not a claim that prior work ignored heterogeneous labels. SPRSound and LungMix use label alignment, and DCASE 2024 explicitly combines class mappings with masked supervision while retaining dataset-specific evaluation. The question here is narrower: can related sound attributes provide a trainable interface between cycle-level and event-level respiratory tasks without replacing either native task?</a:t>
            </a:r>
          </a:p>
          <a:p xmlns:a="http://schemas.openxmlformats.org/drawingml/2006/main">
            <a:r>
              <a:t/>
            </a:r>
          </a:p>
          <a:p xmlns:a="http://schemas.openxmlformats.org/drawingml/2006/main">
            <a:r>
              <a:t>Sources: Zhang et al., 2022, SPRSound; Ge et al., 2025, LungMix; Cornell et al., 2024, DCASE Task 4; Chua and Cheng, 2024, Multi-Breath; Jeong and Kim, 2026, PC-MCL.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a:t>
            </a:r>
          </a:p>
          <a:p xmlns:a="http://schemas.openxmlformats.org/drawingml/2006/main">
            <a:r>
              <a:t/>
            </a:r>
          </a:p>
          <a:p xmlns:a="http://schemas.openxmlformats.org/drawingml/2006/main">
            <a:r>
              <a:t>The formulation is annotation-aware. The model predicts a shared vector with abnormality, crackle, and wheeze probabilities. Each source supplies targets only for the attributes its labels actually support. The mask is essential because an unobserved crackle or wheeze label is not automatically a negative label.</a:t>
            </a:r>
          </a:p>
          <a:p xmlns:a="http://schemas.openxmlformats.org/drawingml/2006/main">
            <a:r>
              <a:t/>
            </a:r>
          </a:p>
          <a:p xmlns:a="http://schemas.openxmlformats.org/drawingml/2006/main">
            <a:r>
              <a:t>The same vector then feeds different readouts. For ICBHI, abnormality gates the four-class decision and the crackle and wheeze probabilities determine the abnormal subclass. For SPRSound, abnormality preserves the native binary task. HF and KAUH are fixed transfer readouts rather than new training targets in the main evaluation.</a:t>
            </a:r>
          </a:p>
          <a:p xmlns:a="http://schemas.openxmlformats.org/drawingml/2006/main">
            <a:r>
              <a:t/>
            </a:r>
          </a:p>
          <a:p xmlns:a="http://schemas.openxmlformats.org/drawingml/2006/main">
            <a:r>
              <a:t>The formulation therefore separates two questions: what acoustic supervision is shared, and what output each dataset asks the model to produce.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a:t>
            </a:r>
          </a:p>
          <a:p xmlns:a="http://schemas.openxmlformats.org/drawingml/2006/main">
            <a:r>
              <a:t/>
            </a:r>
          </a:p>
          <a:p xmlns:a="http://schemas.openxmlformats.org/drawingml/2006/main">
            <a:r>
              <a:t>The model begins with a standardized five-second mono input. AudioSet-pretrained BEATs produces token features. Mean pooling and a linear projection produce a compact representation, and three heads predict abnormality, crackle, and wheeze. The output heads then preserve the dataset-specific tasks.</a:t>
            </a:r>
          </a:p>
          <a:p xmlns:a="http://schemas.openxmlformats.org/drawingml/2006/main">
            <a:r>
              <a:t/>
            </a:r>
          </a:p>
          <a:p xmlns:a="http://schemas.openxmlformats.org/drawingml/2006/main">
            <a:r>
              <a:t>Training combines the masked classification loss with the PAFA patient cohesion-separation and global alignment regularizers. The optional HF term supplies only C/W supervision. This is why I want to state the method claim carefully: LSAA defines a shared attribute interface and native readouts, but the current system-level comparisons do not prove that one isolated component, such as the mapping or PAFA term, caused a performance difference.</a:t>
            </a:r>
          </a:p>
          <a:p xmlns:a="http://schemas.openxmlformats.org/drawingml/2006/main">
            <a:r>
              <a:t/>
            </a:r>
          </a:p>
          <a:p xmlns:a="http://schemas.openxmlformats.org/drawingml/2006/main">
            <a:r>
              <a:t>Sources: Chen et al., 2023, BEATs; Jeong and Kim, 2025, PAFA; current manuscript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
            </a:r>
          </a:p>
          <a:p xmlns:a="http://schemas.openxmlformats.org/drawingml/2006/main">
            <a:r>
              <a:t>This slide makes the evaluation boundary explicit. The current main LSAA protocol selects checkpoints using the ICBHI official-test Score, while C/W thresholds are fitted on a source-internal core validation set. The official ICBHI score and the SPRSound official score are native test outcomes. HF and KAUH are evaluated after training with the model and thresholds fixed.</a:t>
            </a:r>
          </a:p>
          <a:p xmlns:a="http://schemas.openxmlformats.org/drawingml/2006/main">
            <a:r>
              <a:t/>
            </a:r>
          </a:p>
          <a:p xmlns:a="http://schemas.openxmlformats.org/drawingml/2006/main">
            <a:r>
              <a:t>HF should be described as a continuous adventitious sound ranking proxy because its positive class includes Wheeze, Rhonchi, and Stridor, while the auxiliary HF supervision is narrower. KAUH uses a compatible 86-patient subset and averages filter views at the patient level. These boundaries are important because the results should not be read as target-head adaptation or as a zero-shot claim.</a:t>
            </a:r>
          </a:p>
          <a:p xmlns:a="http://schemas.openxmlformats.org/drawingml/2006/main">
            <a:r>
              <a:t/>
            </a:r>
          </a:p>
          <a:p xmlns:a="http://schemas.openxmlformats.org/drawingml/2006/main">
            <a:r>
              <a:t>The selection wording and the missing implementation details are two revision points I want to make clearer in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
            </a:r>
          </a:p>
          <a:p xmlns:a="http://schemas.openxmlformats.org/drawingml/2006/main">
            <a:r>
              <a:t>These are the completed three-seed system comparisons. LSAA has the highest mean ICBHI Score and HF CAS AUROC. The DCASE-style respiratory adaptation has the highest mean SPRSound Score and KAUH balanced accuracy. That distribution is the reason I do not want to summarize the result as one model winning every task.</a:t>
            </a:r>
          </a:p>
          <a:p xmlns:a="http://schemas.openxmlformats.org/drawingml/2006/main">
            <a:r>
              <a:t/>
            </a:r>
          </a:p>
          <a:p xmlns:a="http://schemas.openxmlformats.org/drawingml/2006/main">
            <a:r>
              <a:t>The comparison systems also differ in ways that matter. PC-MCL is the successful revised five-second ICBHI-only adaptation with fine-tuned BEATs. DCASE uses ICBHI and SPRSound native-class-union supervision with frozen BEATs frames and trainable CRNN fusion. LSAA uses joint fine-tuning and PAFA regularization. These are useful system-level reference points, but they do not isolate a single mechanism.</a:t>
            </a:r>
          </a:p>
          <a:p xmlns:a="http://schemas.openxmlformats.org/drawingml/2006/main">
            <a:r>
              <a:t/>
            </a:r>
          </a:p>
          <a:p xmlns:a="http://schemas.openxmlformats.org/drawingml/2006/main">
            <a:r>
              <a:t>The PC-MCL SPRSound value should not be interpreted as a readout-only failure because that model did not receive SPRSound training labels. No significance test has been performed.</a:t>
            </a:r>
          </a:p>
          <a:p xmlns:a="http://schemas.openxmlformats.org/drawingml/2006/main">
            <a:r>
              <a:t/>
            </a:r>
          </a:p>
          <a:p xmlns:a="http://schemas.openxmlformats.org/drawingml/2006/main">
            <a:r>
              <a:t>Source: current presentation brief, completed three-seed summaries checked by management on 18 September 2026; current manuscript Table 1 for LSAA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The ablations are useful because they separate the interpretation of shared supervision from the interpretation of the readout. Retaining SPRSound's fine-grained C/W labels improves the native metrics under this recipe. However, the Native + C/W variant improves ICBHI by 2.50 points relative to LSAA, changes SPRSound by only 0.16 points, and changes C/W AUROC by minus 0.05 points. That result makes it difficult to argue that the particular LSAA readout is necessary.</a:t>
            </a:r>
          </a:p>
          <a:p xmlns:a="http://schemas.openxmlformats.org/drawingml/2006/main">
            <a:r>
              <a:t/>
            </a:r>
          </a:p>
          <a:p xmlns:a="http://schemas.openxmlformats.org/drawingml/2006/main">
            <a:r>
              <a:t>The HF-on comparison is also mixed: it increases SPRSound and KAUH on average but lowers ICBHI and HF CAS AUROC. The HF evaluation is broader than the auxiliary wheeze supervision, so the direction is not uniform.</a:t>
            </a:r>
          </a:p>
          <a:p xmlns:a="http://schemas.openxmlformats.org/drawingml/2006/main">
            <a:r>
              <a:t/>
            </a:r>
          </a:p>
          <a:p xmlns:a="http://schemas.openxmlformats.org/drawingml/2006/main">
            <a:r>
              <a:t>The coarse SPR result has large variance because one seed collapsed. Finally, these comparisons still confound shared attributes with encoder training and PAFA regularization. I do not have paired significance tests yet.</a:t>
            </a:r>
          </a:p>
          <a:p xmlns:a="http://schemas.openxmlformats.org/drawingml/2006/main">
            <a:r>
              <a:t/>
            </a:r>
          </a:p>
          <a:p xmlns:a="http://schemas.openxmlformats.org/drawingml/2006/main">
            <a:r>
              <a:t>Source: current manuscript Table 2 and Section 4.2; values are mean ± sample SD over three seeds.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a:t>
            </a:r>
          </a:p>
          <a:p xmlns:a="http://schemas.openxmlformats.org/drawingml/2006/main">
            <a:r>
              <a:t/>
            </a:r>
          </a:p>
          <a:p xmlns:a="http://schemas.openxmlformats.org/drawingml/2006/main">
            <a:r>
              <a:t>I would appreciate feedback on three decisions. First, is the scoped contribution compelling when stated as a shared acoustic supervision interface across heterogeneous respiratory annotations and native tasks? Second, given that Native + C/W performs better on ICBHI, should the proposed readout be framed as one useful interface rather than a necessary decoder? Third, which matched comparison or paired statistical analysis is essential before submission?</a:t>
            </a:r>
          </a:p>
          <a:p xmlns:a="http://schemas.openxmlformats.org/drawingml/2006/main">
            <a:r>
              <a:t/>
            </a:r>
          </a:p>
          <a:p xmlns:a="http://schemas.openxmlformats.org/drawingml/2006/main">
            <a:r>
              <a:t>I also plan to make the selection terminology and the source-mixing and training details explicit. I am looking for advice on the minimum additional evidence needed to make the paper's claim credible without turning it into a list of every possible ablation.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timing: use only if asked.</a:t>
            </a:r>
          </a:p>
          <a:p xmlns:a="http://schemas.openxmlformats.org/drawingml/2006/main">
            <a:r>
              <a:t/>
            </a:r>
          </a:p>
          <a:p xmlns:a="http://schemas.openxmlformats.org/drawingml/2006/main">
            <a:r>
              <a:t>This table makes the comparison boundary explicit. LSAA, PC-MCL, and the DCASE-style adaptation differ in source labels, encoder training, fusion, and readout. The completed results therefore tell us how these systems behave as packages. They do not isolate whether a difference comes from the shared attribute interface, fine-tuning, PAFA regularization, or the output decoder.</a:t>
            </a:r>
          </a:p>
          <a:p xmlns:a="http://schemas.openxmlformats.org/drawingml/2006/main">
            <a:r>
              <a:t/>
            </a:r>
          </a:p>
          <a:p xmlns:a="http://schemas.openxmlformats.org/drawingml/2006/main">
            <a:r>
              <a:t>This is also why I would avoid calling the PC-MCL or DCASE rows unchanged reproductions. PC-MCL is the successful revised five-second adaptation, and DCASE is an adaptation of the heterogeneous-data principle to this respiratory label setting.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timing: use only if asked.</a:t>
            </a:r>
          </a:p>
          <a:p xmlns:a="http://schemas.openxmlformats.org/drawingml/2006/main">
            <a:r>
              <a:t/>
            </a:r>
          </a:p>
          <a:p xmlns:a="http://schemas.openxmlformats.org/drawingml/2006/main">
            <a:r>
              <a:t>This is the revision checklist I would like to carry into the paper. The current method and evaluation sections already define the five-second input, the shared A/C/W supervision, the annotation masks, the C/W threshold boundary, and the fixed transfer readouts. The main gaps are implementation details that affect reproducibility and matched controls that would help separate shared supervision from encoder training and PAFA.</a:t>
            </a:r>
          </a:p>
          <a:p xmlns:a="http://schemas.openxmlformats.org/drawingml/2006/main">
            <a:r>
              <a:t/>
            </a:r>
          </a:p>
          <a:p xmlns:a="http://schemas.openxmlformats.org/drawingml/2006/main">
            <a:r>
              <a:t>I am not presenting the missing items as new results. They are the details and comparisons that should be made explicit or decided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e5a6b5e56a4d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2cb4b0c66149f0" /><Relationship Type="http://schemas.openxmlformats.org/officeDocument/2006/relationships/slideLayout" Target="/ppt/slideLayouts/slideLayout1.xml" Id="R3126f2f9b45840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26f2f9b45840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c52b191d4b4014" /><Relationship Type="http://schemas.openxmlformats.org/officeDocument/2006/relationships/notesSlide" Target="/ppt/notesSlides/notesSlide1.xml" Id="Rdd817c27a7e24e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7da038f67b4ea3" /><Relationship Type="http://schemas.openxmlformats.org/officeDocument/2006/relationships/notesSlide" Target="/ppt/notesSlides/notesSlide2.xml" Id="Rc6ee3d04f8794c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99779140f04457e" /><Relationship Type="http://schemas.openxmlformats.org/officeDocument/2006/relationships/notesSlide" Target="/ppt/notesSlides/notesSlide3.xml" Id="Rf74567a10e494e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247efa980541cf" /><Relationship Type="http://schemas.openxmlformats.org/officeDocument/2006/relationships/notesSlide" Target="/ppt/notesSlides/notesSlide4.xml" Id="R3981c77b8f0a45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2167944be84233" /><Relationship Type="http://schemas.openxmlformats.org/officeDocument/2006/relationships/notesSlide" Target="/ppt/notesSlides/notesSlide5.xml" Id="R957856bc6b364f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0e516a4f2f468b" /><Relationship Type="http://schemas.openxmlformats.org/officeDocument/2006/relationships/notesSlide" Target="/ppt/notesSlides/notesSlide6.xml" Id="Rca6e9209bf3748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448391fc714fdb" /><Relationship Type="http://schemas.openxmlformats.org/officeDocument/2006/relationships/notesSlide" Target="/ppt/notesSlides/notesSlide7.xml" Id="Rb483c413ac1642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1b57e9d1ac404f" /><Relationship Type="http://schemas.openxmlformats.org/officeDocument/2006/relationships/chart" Target="/ppt/slides/charts/chart1.xml" Id="R63ca7557e64242d7" /><Relationship Type="http://schemas.openxmlformats.org/officeDocument/2006/relationships/chart" Target="/ppt/slides/charts/chart2.xml" Id="Rfc060951f1b142b9" /><Relationship Type="http://schemas.openxmlformats.org/officeDocument/2006/relationships/notesSlide" Target="/ppt/notesSlides/notesSlide8.xml" Id="R1ab18c5d96784e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165d7bbae14ddc" /><Relationship Type="http://schemas.openxmlformats.org/officeDocument/2006/relationships/notesSlide" Target="/ppt/notesSlides/notesSlide9.xml" Id="R9e636abde23245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26ac07104d41b4" /><Relationship Type="http://schemas.openxmlformats.org/officeDocument/2006/relationships/notesSlide" Target="/ppt/notesSlides/notesSlide10.xml" Id="Ra5d2e2336a204b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c8017153f954323" /><Relationship Type="http://schemas.openxmlformats.org/officeDocument/2006/relationships/notesSlide" Target="/ppt/notesSlides/notesSlide11.xml" Id="R6d96dbcc86b7447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Δ pp</c:v>
          </c:tx>
          <c:spPr>
            <a:solidFill xmlns:a="http://schemas.openxmlformats.org/drawingml/2006/main">
              <a:srgbClr val="6D4CC2"/>
            </a:solidFill>
          </c:spPr>
          <c:invertIfNegative val="0"/>
          <c:cat>
            <c:strRef>
              <c:f>'Chart Data'!$A$2:$A$4</c:f>
              <c:strCache>
                <c:ptCount val="3"/>
                <c:pt idx="0">
                  <c:v>ICBHI Score</c:v>
                </c:pt>
                <c:pt idx="1">
                  <c:v>SPRSound Score</c:v>
                </c:pt>
                <c:pt idx="2">
                  <c:v>C/W AUROC</c:v>
                </c:pt>
              </c:strCache>
            </c:strRef>
          </c:cat>
          <c:val>
            <c:numRef>
              <c:f>'Chart Data'!$B$2:$B$4</c:f>
              <c:numCache>
                <c:formatCode>General</c:formatCode>
                <c:ptCount val="3"/>
                <c:pt idx="0">
                  <c:v>2.5</c:v>
                </c:pt>
                <c:pt idx="1">
                  <c:v>0.16</c:v>
                </c:pt>
                <c:pt idx="2">
                  <c:v>-0.05</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02338"/>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56"/>
        <c:axId val="48650112"/>
        <c:axId val="48672768"/>
      </c:barChart>
      <c:catAx>
        <c:axId val="48650112"/>
        <c:scaling>
          <c:orientation val="minMax"/>
        </c:scaling>
        <c:delete val="0"/>
        <c:axPos val="l"/>
        <c:majorGridlines>
          <c:spPr>
            <a:ln xmlns:a="http://schemas.openxmlformats.org/drawingml/2006/main" w="9525">
              <a:solidFill>
                <a:srgbClr val="D6E0E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C6B79"/>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6E0E8"/>
            </a:solidFill>
            <a:prstDash val="solid"/>
          </a:ln>
        </c:spPr>
        <c:txPr>
          <a:bodyPr xmlns:a="http://schemas.openxmlformats.org/drawingml/2006/main" anchorCtr="1"/>
          <a:lstStyle xmlns:a="http://schemas.openxmlformats.org/drawingml/2006/main"/>
          <a:p xmlns:a="http://schemas.openxmlformats.org/drawingml/2006/main">
            <a:pPr>
              <a:defRPr sz="1200">
                <a:solidFill>
                  <a:srgbClr val="102338"/>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Δ pp</c:v>
          </c:tx>
          <c:spPr>
            <a:solidFill xmlns:a="http://schemas.openxmlformats.org/drawingml/2006/main">
              <a:srgbClr val="B8873B"/>
            </a:solidFill>
          </c:spPr>
          <c:invertIfNegative val="0"/>
          <c:cat>
            <c:strRef>
              <c:f>'Chart Data'!$A$2:$A$5</c:f>
              <c:strCache>
                <c:ptCount val="4"/>
                <c:pt idx="0">
                  <c:v>ICBHI</c:v>
                </c:pt>
                <c:pt idx="1">
                  <c:v>SPRSound</c:v>
                </c:pt>
                <c:pt idx="2">
                  <c:v>HF CAS</c:v>
                </c:pt>
                <c:pt idx="3">
                  <c:v>KAUH BA</c:v>
                </c:pt>
              </c:strCache>
            </c:strRef>
          </c:cat>
          <c:val>
            <c:numRef>
              <c:f>'Chart Data'!$B$2:$B$5</c:f>
              <c:numCache>
                <c:formatCode>General</c:formatCode>
                <c:ptCount val="4"/>
                <c:pt idx="0">
                  <c:v>-1.9</c:v>
                </c:pt>
                <c:pt idx="1">
                  <c:v>1.31</c:v>
                </c:pt>
                <c:pt idx="2">
                  <c:v>-7.41</c:v>
                </c:pt>
                <c:pt idx="3">
                  <c:v>1.91</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02338"/>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46"/>
        <c:axId val="48650112"/>
        <c:axId val="48672768"/>
      </c:barChart>
      <c:catAx>
        <c:axId val="48650112"/>
        <c:scaling>
          <c:orientation val="minMax"/>
        </c:scaling>
        <c:delete val="0"/>
        <c:axPos val="l"/>
        <c:majorGridlines>
          <c:spPr>
            <a:ln xmlns:a="http://schemas.openxmlformats.org/drawingml/2006/main" w="9525">
              <a:solidFill>
                <a:srgbClr val="D6E0E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C6B79"/>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6E0E8"/>
            </a:solidFill>
            <a:prstDash val="solid"/>
          </a:ln>
        </c:spPr>
        <c:txPr>
          <a:bodyPr xmlns:a="http://schemas.openxmlformats.org/drawingml/2006/main" anchorCtr="1"/>
          <a:lstStyle xmlns:a="http://schemas.openxmlformats.org/drawingml/2006/main"/>
          <a:p xmlns:a="http://schemas.openxmlformats.org/drawingml/2006/main">
            <a:pPr>
              <a:defRPr sz="1125">
                <a:solidFill>
                  <a:srgbClr val="102338"/>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338DB0-553E-4913-B70C-1DFECCE05A4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4CC2"/>
          </a:solidFill>
          <a:ln xmlns:a="http://schemas.openxmlformats.org/drawingml/2006/main" w="0">
            <a:solidFill>
              <a:srgbClr val="6D4CC2"/>
            </a:solidFill>
            <a:prstDash val="solid"/>
          </a:ln>
        </p:spPr>
      </p:sp>
      <p:sp>
        <p:nvSpPr>
          <p:cNvPr id="2" name="">
            <a:extLst xmlns:a="http://schemas.openxmlformats.org/drawingml/2006/main">
              <a:ext uri="{FF2B5EF4-FFF2-40B4-BE49-F238E27FC236}">
                <a16:creationId xmlns:a16="http://schemas.microsoft.com/office/drawing/2014/main" id="{6DD28C92-1AFC-4FE2-8EC7-1AE374CC7557}"/>
              </a:ext>
            </a:extLst>
          </p:cNvPr>
          <p:cNvSpPr>
            <a:spLocks xmlns:a="http://schemas.openxmlformats.org/drawingml/2006/main" noGrp="1"/>
          </p:cNvSpPr>
          <p:nvPr/>
        </p:nvSpPr>
        <p:spPr>
          <a:xfrm xmlns:a="http://schemas.openxmlformats.org/drawingml/2006/main">
            <a:off x="781050" y="1257300"/>
            <a:ext cx="76200" cy="3810000"/>
          </a:xfrm>
          <a:prstGeom xmlns:a="http://schemas.openxmlformats.org/drawingml/2006/main" prst="rect">
            <a:avLst/>
          </a:prstGeom>
          <a:solidFill xmlns:a="http://schemas.openxmlformats.org/drawingml/2006/main">
            <a:srgbClr val="6D4CC2"/>
          </a:solidFill>
          <a:ln xmlns:a="http://schemas.openxmlformats.org/drawingml/2006/main" w="0">
            <a:solidFill>
              <a:srgbClr val="6D4CC2"/>
            </a:solidFill>
            <a:prstDash val="solid"/>
          </a:ln>
        </p:spPr>
      </p:sp>
      <p:sp>
        <p:nvSpPr>
          <p:cNvPr id="3" name="">
            <a:extLst xmlns:a="http://schemas.openxmlformats.org/drawingml/2006/main">
              <a:ext uri="{FF2B5EF4-FFF2-40B4-BE49-F238E27FC236}">
                <a16:creationId xmlns:a16="http://schemas.microsoft.com/office/drawing/2014/main" id="{D0228262-46EF-48EF-AB2E-7FB92663241E}"/>
              </a:ext>
            </a:extLst>
          </p:cNvPr>
          <p:cNvSpPr>
            <a:spLocks xmlns:a="http://schemas.openxmlformats.org/drawingml/2006/main" noGrp="1"/>
          </p:cNvSpPr>
          <p:nvPr/>
        </p:nvSpPr>
        <p:spPr>
          <a:xfrm xmlns:a="http://schemas.openxmlformats.org/drawingml/2006/main">
            <a:off x="1238250" y="1257300"/>
            <a:ext cx="9525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i="0">
                <a:solidFill>
                  <a:srgbClr val="16324F"/>
                </a:solidFill>
                <a:latin typeface="Helvetica Neue"/>
                <a:ea typeface="Helvetica Neue"/>
                <a:cs typeface="Helvetica Neue"/>
              </a:defRPr>
            </a:pPr>
            <a:r>
              <a:rPr sz="3300" b="1" i="0">
                <a:solidFill>
                  <a:srgbClr val="16324F"/>
                </a:solidFill>
                <a:latin typeface="Helvetica Neue"/>
                <a:ea typeface="Helvetica Neue"/>
                <a:cs typeface="Helvetica Neue"/>
              </a:rPr>
              <a:t>Learning Shared Acoustic Attributes</a:t>
            </a:r>
          </a:p>
          <a:p xmlns:a="http://schemas.openxmlformats.org/drawingml/2006/main">
            <a:pPr algn="l">
              <a:defRPr sz="3300" b="1" i="0">
                <a:solidFill>
                  <a:srgbClr val="16324F"/>
                </a:solidFill>
                <a:latin typeface="Helvetica Neue"/>
                <a:ea typeface="Helvetica Neue"/>
                <a:cs typeface="Helvetica Neue"/>
              </a:defRPr>
            </a:pPr>
            <a:r>
              <a:rPr sz="3300" b="1" i="0">
                <a:solidFill>
                  <a:srgbClr val="16324F"/>
                </a:solidFill>
                <a:latin typeface="Helvetica Neue"/>
                <a:ea typeface="Helvetica Neue"/>
                <a:cs typeface="Helvetica Neue"/>
              </a:rPr>
              <a:t>Across Respiratory Sound Datasets</a:t>
            </a:r>
          </a:p>
          <a:p xmlns:a="http://schemas.openxmlformats.org/drawingml/2006/main">
            <a:pPr algn="l">
              <a:defRPr sz="3300" b="1" i="0">
                <a:solidFill>
                  <a:srgbClr val="16324F"/>
                </a:solidFill>
                <a:latin typeface="Helvetica Neue"/>
                <a:ea typeface="Helvetica Neue"/>
                <a:cs typeface="Helvetica Neue"/>
              </a:defRPr>
            </a:pPr>
            <a:r>
              <a:rPr sz="3300" b="1" i="0">
                <a:solidFill>
                  <a:srgbClr val="16324F"/>
                </a:solidFill>
                <a:latin typeface="Helvetica Neue"/>
                <a:ea typeface="Helvetica Neue"/>
                <a:cs typeface="Helvetica Neue"/>
              </a:rPr>
              <a:t>with Heterogeneous Annotations</a:t>
            </a:r>
          </a:p>
        </p:txBody>
      </p:sp>
      <p:sp>
        <p:nvSpPr>
          <p:cNvPr id="4" name="">
            <a:extLst xmlns:a="http://schemas.openxmlformats.org/drawingml/2006/main">
              <a:ext uri="{FF2B5EF4-FFF2-40B4-BE49-F238E27FC236}">
                <a16:creationId xmlns:a16="http://schemas.microsoft.com/office/drawing/2014/main" id="{4C2CCDA3-D828-4B76-8E26-ED4C12B211C9}"/>
              </a:ext>
            </a:extLst>
          </p:cNvPr>
          <p:cNvSpPr>
            <a:spLocks xmlns:a="http://schemas.openxmlformats.org/drawingml/2006/main" noGrp="1"/>
          </p:cNvSpPr>
          <p:nvPr/>
        </p:nvSpPr>
        <p:spPr>
          <a:xfrm xmlns:a="http://schemas.openxmlformats.org/drawingml/2006/main">
            <a:off x="1257300" y="3381375"/>
            <a:ext cx="885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6D4CC2"/>
                </a:solidFill>
                <a:latin typeface="Helvetica Neue"/>
                <a:ea typeface="Helvetica Neue"/>
                <a:cs typeface="Helvetica Neue"/>
              </a:defRPr>
            </a:pPr>
            <a:r>
              <a:rPr sz="1800" b="1" i="0">
                <a:solidFill>
                  <a:srgbClr val="6D4CC2"/>
                </a:solidFill>
                <a:latin typeface="Helvetica Neue"/>
                <a:ea typeface="Helvetica Neue"/>
                <a:cs typeface="Helvetica Neue"/>
              </a:rPr>
              <a:t>LSAA  |  paper discussion draft</a:t>
            </a:r>
          </a:p>
        </p:txBody>
      </p:sp>
      <p:sp>
        <p:nvSpPr>
          <p:cNvPr id="5" name="">
            <a:extLst xmlns:a="http://schemas.openxmlformats.org/drawingml/2006/main">
              <a:ext uri="{FF2B5EF4-FFF2-40B4-BE49-F238E27FC236}">
                <a16:creationId xmlns:a16="http://schemas.microsoft.com/office/drawing/2014/main" id="{3258B1E3-C945-4BDE-B40B-6F40656FABC2}"/>
              </a:ext>
            </a:extLst>
          </p:cNvPr>
          <p:cNvSpPr>
            <a:spLocks xmlns:a="http://schemas.openxmlformats.org/drawingml/2006/main" noGrp="1"/>
          </p:cNvSpPr>
          <p:nvPr/>
        </p:nvSpPr>
        <p:spPr>
          <a:xfrm xmlns:a="http://schemas.openxmlformats.org/drawingml/2006/main">
            <a:off x="1257300" y="4000500"/>
            <a:ext cx="914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0">
                <a:solidFill>
                  <a:srgbClr val="102338"/>
                </a:solidFill>
                <a:latin typeface="Helvetica Neue"/>
                <a:ea typeface="Helvetica Neue"/>
                <a:cs typeface="Helvetica Neue"/>
              </a:defRPr>
            </a:pPr>
            <a:r>
              <a:rPr sz="1950" b="0" i="0">
                <a:solidFill>
                  <a:srgbClr val="102338"/>
                </a:solidFill>
                <a:latin typeface="Helvetica Neue"/>
                <a:ea typeface="Helvetica Neue"/>
                <a:cs typeface="Helvetica Neue"/>
              </a:rPr>
              <a:t>Goal: sharpen the claim and the evidence before submission</a:t>
            </a:r>
          </a:p>
        </p:txBody>
      </p:sp>
      <p:sp>
        <p:nvSpPr>
          <p:cNvPr id="6" name="">
            <a:extLst xmlns:a="http://schemas.openxmlformats.org/drawingml/2006/main">
              <a:ext uri="{FF2B5EF4-FFF2-40B4-BE49-F238E27FC236}">
                <a16:creationId xmlns:a16="http://schemas.microsoft.com/office/drawing/2014/main" id="{40331CCE-C0BD-4AB7-9566-7A51AF4C7CCE}"/>
              </a:ext>
            </a:extLst>
          </p:cNvPr>
          <p:cNvSpPr>
            <a:spLocks xmlns:a="http://schemas.openxmlformats.org/drawingml/2006/main" noGrp="1"/>
          </p:cNvSpPr>
          <p:nvPr/>
        </p:nvSpPr>
        <p:spPr>
          <a:xfrm xmlns:a="http://schemas.openxmlformats.org/drawingml/2006/main">
            <a:off x="1257300" y="5095875"/>
            <a:ext cx="971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i="0">
                <a:solidFill>
                  <a:srgbClr val="5C6B79"/>
                </a:solidFill>
                <a:latin typeface="Helvetica Neue"/>
                <a:ea typeface="Helvetica Neue"/>
                <a:cs typeface="Helvetica Neue"/>
              </a:defRPr>
            </a:pPr>
            <a:r>
              <a:rPr sz="1425" b="0" i="0">
                <a:solidFill>
                  <a:srgbClr val="5C6B79"/>
                </a:solidFill>
                <a:latin typeface="Helvetica Neue"/>
                <a:ea typeface="Helvetica Neue"/>
                <a:cs typeface="Helvetica Neue"/>
              </a:rPr>
              <a:t>Zilong Zeng, Wade Wu, Arian Azarang, Stephen Xia, Jingping Nie</a:t>
            </a:r>
          </a:p>
        </p:txBody>
      </p:sp>
      <p:sp>
        <p:nvSpPr>
          <p:cNvPr id="7" name="">
            <a:extLst xmlns:a="http://schemas.openxmlformats.org/drawingml/2006/main">
              <a:ext uri="{FF2B5EF4-FFF2-40B4-BE49-F238E27FC236}">
                <a16:creationId xmlns:a16="http://schemas.microsoft.com/office/drawing/2014/main" id="{71D57B68-98FA-47AB-A40C-687F46BCD536}"/>
              </a:ext>
            </a:extLst>
          </p:cNvPr>
          <p:cNvSpPr>
            <a:spLocks xmlns:a="http://schemas.openxmlformats.org/drawingml/2006/main" noGrp="1"/>
          </p:cNvSpPr>
          <p:nvPr/>
        </p:nvSpPr>
        <p:spPr>
          <a:xfrm xmlns:a="http://schemas.openxmlformats.org/drawingml/2006/main">
            <a:off x="1257300" y="55816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5C6B79"/>
                </a:solidFill>
                <a:latin typeface="Helvetica Neue"/>
                <a:ea typeface="Helvetica Neue"/>
                <a:cs typeface="Helvetica Neue"/>
              </a:defRPr>
            </a:pPr>
            <a:r>
              <a:rPr sz="1350" b="0" i="0">
                <a:solidFill>
                  <a:srgbClr val="5C6B79"/>
                </a:solidFill>
                <a:latin typeface="Helvetica Neue"/>
                <a:ea typeface="Helvetica Neue"/>
                <a:cs typeface="Helvetica Neue"/>
              </a:rPr>
              <a:t>NIcE X F26 Lab Meeting   18 September 2026</a:t>
            </a:r>
          </a:p>
        </p:txBody>
      </p:sp>
    </p:spTree>
    <p:extLst>
      <p:ext uri="{BB962C8B-B14F-4D97-AF65-F5344CB8AC3E}">
        <p14:creationId xmlns:p14="http://schemas.microsoft.com/office/powerpoint/2010/main" val="10748155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1E358A4-C09F-4104-87E0-341B6A802E89}"/>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6D4CC2"/>
          </a:solidFill>
          <a:ln xmlns:a="http://schemas.openxmlformats.org/drawingml/2006/main" w="0">
            <a:solidFill>
              <a:srgbClr val="6D4CC2"/>
            </a:solidFill>
            <a:prstDash val="solid"/>
          </a:ln>
        </p:spPr>
      </p:sp>
      <p:sp>
        <p:nvSpPr>
          <p:cNvPr id="2" name="">
            <a:extLst xmlns:a="http://schemas.openxmlformats.org/drawingml/2006/main">
              <a:ext uri="{FF2B5EF4-FFF2-40B4-BE49-F238E27FC236}">
                <a16:creationId xmlns:a16="http://schemas.microsoft.com/office/drawing/2014/main" id="{E15FA777-B27E-4FE8-9C83-F858AE33BC33}"/>
              </a:ext>
            </a:extLst>
          </p:cNvPr>
          <p:cNvSpPr>
            <a:spLocks xmlns:a="http://schemas.openxmlformats.org/drawingml/2006/main" noGrp="1"/>
          </p:cNvSpPr>
          <p:nvPr/>
        </p:nvSpPr>
        <p:spPr>
          <a:xfrm xmlns:a="http://schemas.openxmlformats.org/drawingml/2006/main">
            <a:off x="647700" y="38100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i="0">
                <a:solidFill>
                  <a:srgbClr val="16324F"/>
                </a:solidFill>
                <a:latin typeface="Helvetica Neue"/>
                <a:ea typeface="Helvetica Neue"/>
                <a:cs typeface="Helvetica Neue"/>
              </a:defRPr>
            </a:pPr>
            <a:r>
              <a:rPr sz="2850" b="1" i="0">
                <a:solidFill>
                  <a:srgbClr val="16324F"/>
                </a:solidFill>
                <a:latin typeface="Helvetica Neue"/>
                <a:ea typeface="Helvetica Neue"/>
                <a:cs typeface="Helvetica Neue"/>
              </a:rPr>
              <a:t>Four datasets, one shared question</a:t>
            </a:r>
          </a:p>
        </p:txBody>
      </p:sp>
      <p:sp>
        <p:nvSpPr>
          <p:cNvPr id="3" name="">
            <a:extLst xmlns:a="http://schemas.openxmlformats.org/drawingml/2006/main">
              <a:ext uri="{FF2B5EF4-FFF2-40B4-BE49-F238E27FC236}">
                <a16:creationId xmlns:a16="http://schemas.microsoft.com/office/drawing/2014/main" id="{7D00632B-E7E1-475E-8AD6-C43480DBB1C3}"/>
              </a:ext>
            </a:extLst>
          </p:cNvPr>
          <p:cNvSpPr>
            <a:spLocks xmlns:a="http://schemas.openxmlformats.org/drawingml/2006/main" noGrp="1"/>
          </p:cNvSpPr>
          <p:nvPr/>
        </p:nvSpPr>
        <p:spPr>
          <a:xfrm xmlns:a="http://schemas.openxmlformats.org/drawingml/2006/main">
            <a:off x="666750" y="9525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5C6B79"/>
                </a:solidFill>
                <a:latin typeface="Helvetica Neue"/>
                <a:ea typeface="Helvetica Neue"/>
                <a:cs typeface="Helvetica Neue"/>
              </a:defRPr>
            </a:pPr>
            <a:r>
              <a:rPr sz="1425" b="0" i="0">
                <a:solidFill>
                  <a:srgbClr val="5C6B79"/>
                </a:solidFill>
                <a:latin typeface="Helvetica Neue"/>
                <a:ea typeface="Helvetica Neue"/>
                <a:cs typeface="Helvetica Neue"/>
              </a:rPr>
              <a:t>Related respiratory phenomena arrive with different units, labels, and native tasks</a:t>
            </a:r>
          </a:p>
        </p:txBody>
      </p:sp>
      <p:sp>
        <p:nvSpPr>
          <p:cNvPr id="4" name="">
            <a:extLst xmlns:a="http://schemas.openxmlformats.org/drawingml/2006/main">
              <a:ext uri="{FF2B5EF4-FFF2-40B4-BE49-F238E27FC236}">
                <a16:creationId xmlns:a16="http://schemas.microsoft.com/office/drawing/2014/main" id="{13CB179C-B72B-44CE-AB3A-04B38920A377}"/>
              </a:ext>
            </a:extLst>
          </p:cNvPr>
          <p:cNvSpPr>
            <a:spLocks xmlns:a="http://schemas.openxmlformats.org/drawingml/2006/main" noGrp="1"/>
          </p:cNvSpPr>
          <p:nvPr/>
        </p:nvSpPr>
        <p:spPr>
          <a:xfrm xmlns:a="http://schemas.openxmlformats.org/drawingml/2006/main">
            <a:off x="666750" y="1562100"/>
            <a:ext cx="2381250" cy="3200400"/>
          </a:xfrm>
          <a:prstGeom xmlns:a="http://schemas.openxmlformats.org/drawingml/2006/main" prst="roundRect">
            <a:avLst>
              <a:gd name="adj" fmla="val 7200"/>
            </a:avLst>
          </a:prstGeom>
          <a:solidFill xmlns:a="http://schemas.openxmlformats.org/drawingml/2006/main">
            <a:srgbClr val="EAF3F9"/>
          </a:solidFill>
          <a:ln xmlns:a="http://schemas.openxmlformats.org/drawingml/2006/main" w="14288">
            <a:solidFill>
              <a:srgbClr val="2D73A4"/>
            </a:solidFill>
            <a:prstDash val="solid"/>
          </a:ln>
        </p:spPr>
      </p:sp>
      <p:sp>
        <p:nvSpPr>
          <p:cNvPr id="5" name="">
            <a:extLst xmlns:a="http://schemas.openxmlformats.org/drawingml/2006/main">
              <a:ext uri="{FF2B5EF4-FFF2-40B4-BE49-F238E27FC236}">
                <a16:creationId xmlns:a16="http://schemas.microsoft.com/office/drawing/2014/main" id="{59D58E61-C719-41C4-9B64-F3CFAF33BA74}"/>
              </a:ext>
            </a:extLst>
          </p:cNvPr>
          <p:cNvSpPr>
            <a:spLocks xmlns:a="http://schemas.openxmlformats.org/drawingml/2006/main" noGrp="1"/>
          </p:cNvSpPr>
          <p:nvPr/>
        </p:nvSpPr>
        <p:spPr>
          <a:xfrm xmlns:a="http://schemas.openxmlformats.org/drawingml/2006/main">
            <a:off x="781050" y="1676400"/>
            <a:ext cx="2152650" cy="457200"/>
          </a:xfrm>
          <a:prstGeom xmlns:a="http://schemas.openxmlformats.org/drawingml/2006/main" prst="roundRect">
            <a:avLst>
              <a:gd name="adj" fmla="val 25000"/>
            </a:avLst>
          </a:prstGeom>
          <a:solidFill xmlns:a="http://schemas.openxmlformats.org/drawingml/2006/main">
            <a:srgbClr val="2D73A4"/>
          </a:solidFill>
          <a:ln xmlns:a="http://schemas.openxmlformats.org/drawingml/2006/main" w="0">
            <a:solidFill>
              <a:srgbClr val="2D73A4"/>
            </a:solidFill>
            <a:prstDash val="solid"/>
          </a:ln>
        </p:spPr>
        <p:txBody>
          <a:bodyPr xmlns:a="http://schemas.openxmlformats.org/drawingml/2006/main" wrap="square" lIns="57150" tIns="0" rIns="57150" bIns="0" anchor="ctr">
            <a:noAutofit/>
          </a:bodyPr>
          <a:lstStyle xmlns:a="http://schemas.openxmlformats.org/drawingml/2006/main"/>
          <a:p xmlns:a="http://schemas.openxmlformats.org/drawingml/2006/main">
            <a:pPr algn="ct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ICBHI</a:t>
            </a:r>
          </a:p>
        </p:txBody>
      </p:sp>
      <p:sp>
        <p:nvSpPr>
          <p:cNvPr id="6" name="">
            <a:extLst xmlns:a="http://schemas.openxmlformats.org/drawingml/2006/main">
              <a:ext uri="{FF2B5EF4-FFF2-40B4-BE49-F238E27FC236}">
                <a16:creationId xmlns:a16="http://schemas.microsoft.com/office/drawing/2014/main" id="{2B9E08D0-ADA9-4261-80D0-C13CCE9B4BFE}"/>
              </a:ext>
            </a:extLst>
          </p:cNvPr>
          <p:cNvSpPr>
            <a:spLocks xmlns:a="http://schemas.openxmlformats.org/drawingml/2006/main" noGrp="1"/>
          </p:cNvSpPr>
          <p:nvPr/>
        </p:nvSpPr>
        <p:spPr>
          <a:xfrm xmlns:a="http://schemas.openxmlformats.org/drawingml/2006/main">
            <a:off x="857250" y="23050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2D73A4"/>
                </a:solidFill>
                <a:latin typeface="Helvetica Neue"/>
                <a:ea typeface="Helvetica Neue"/>
                <a:cs typeface="Helvetica Neue"/>
              </a:defRPr>
            </a:pPr>
            <a:r>
              <a:rPr sz="1350" b="1" i="0">
                <a:solidFill>
                  <a:srgbClr val="2D73A4"/>
                </a:solidFill>
                <a:latin typeface="Helvetica Neue"/>
                <a:ea typeface="Helvetica Neue"/>
                <a:cs typeface="Helvetica Neue"/>
              </a:rPr>
              <a:t>Cycle-level</a:t>
            </a:r>
          </a:p>
        </p:txBody>
      </p:sp>
      <p:sp>
        <p:nvSpPr>
          <p:cNvPr id="7" name="">
            <a:extLst xmlns:a="http://schemas.openxmlformats.org/drawingml/2006/main">
              <a:ext uri="{FF2B5EF4-FFF2-40B4-BE49-F238E27FC236}">
                <a16:creationId xmlns:a16="http://schemas.microsoft.com/office/drawing/2014/main" id="{3E5D2B69-47FC-4AA7-A2EC-FC62D45EDE9A}"/>
              </a:ext>
            </a:extLst>
          </p:cNvPr>
          <p:cNvSpPr>
            <a:spLocks xmlns:a="http://schemas.openxmlformats.org/drawingml/2006/main" noGrp="1"/>
          </p:cNvSpPr>
          <p:nvPr/>
        </p:nvSpPr>
        <p:spPr>
          <a:xfrm xmlns:a="http://schemas.openxmlformats.org/drawingml/2006/main">
            <a:off x="857250" y="2657475"/>
            <a:ext cx="2000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Normal</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Crackle</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Wheeze</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Both</a:t>
            </a:r>
          </a:p>
        </p:txBody>
      </p:sp>
      <p:sp>
        <p:nvSpPr>
          <p:cNvPr id="8" name="">
            <a:extLst xmlns:a="http://schemas.openxmlformats.org/drawingml/2006/main">
              <a:ext uri="{FF2B5EF4-FFF2-40B4-BE49-F238E27FC236}">
                <a16:creationId xmlns:a16="http://schemas.microsoft.com/office/drawing/2014/main" id="{C37925E4-703D-4ADA-BFEE-4AD6E3F8B530}"/>
              </a:ext>
            </a:extLst>
          </p:cNvPr>
          <p:cNvSpPr>
            <a:spLocks xmlns:a="http://schemas.openxmlformats.org/drawingml/2006/main" noGrp="1"/>
          </p:cNvSpPr>
          <p:nvPr/>
        </p:nvSpPr>
        <p:spPr>
          <a:xfrm xmlns:a="http://schemas.openxmlformats.org/drawingml/2006/main">
            <a:off x="857250" y="3857625"/>
            <a:ext cx="2000250" cy="9525"/>
          </a:xfrm>
          <a:prstGeom xmlns:a="http://schemas.openxmlformats.org/drawingml/2006/main" prst="rect">
            <a:avLst/>
          </a:prstGeom>
          <a:solidFill xmlns:a="http://schemas.openxmlformats.org/drawingml/2006/main">
            <a:srgbClr val="2D73A4"/>
          </a:solidFill>
          <a:ln xmlns:a="http://schemas.openxmlformats.org/drawingml/2006/main" w="0">
            <a:solidFill>
              <a:srgbClr val="2D73A4"/>
            </a:solidFill>
            <a:prstDash val="solid"/>
          </a:ln>
        </p:spPr>
      </p:sp>
      <p:sp>
        <p:nvSpPr>
          <p:cNvPr id="9" name="">
            <a:extLst xmlns:a="http://schemas.openxmlformats.org/drawingml/2006/main">
              <a:ext uri="{FF2B5EF4-FFF2-40B4-BE49-F238E27FC236}">
                <a16:creationId xmlns:a16="http://schemas.microsoft.com/office/drawing/2014/main" id="{AE91A7C1-67FE-4CDF-B6CA-07CA3663F8BE}"/>
              </a:ext>
            </a:extLst>
          </p:cNvPr>
          <p:cNvSpPr>
            <a:spLocks xmlns:a="http://schemas.openxmlformats.org/drawingml/2006/main" noGrp="1"/>
          </p:cNvSpPr>
          <p:nvPr/>
        </p:nvSpPr>
        <p:spPr>
          <a:xfrm xmlns:a="http://schemas.openxmlformats.org/drawingml/2006/main">
            <a:off x="857250" y="40195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i="0">
                <a:solidFill>
                  <a:srgbClr val="102338"/>
                </a:solidFill>
                <a:latin typeface="Helvetica Neue"/>
                <a:ea typeface="Helvetica Neue"/>
                <a:cs typeface="Helvetica Neue"/>
              </a:defRPr>
            </a:pPr>
            <a:r>
              <a:rPr sz="1275" b="1" i="0">
                <a:solidFill>
                  <a:srgbClr val="102338"/>
                </a:solidFill>
                <a:latin typeface="Helvetica Neue"/>
                <a:ea typeface="Helvetica Neue"/>
                <a:cs typeface="Helvetica Neue"/>
              </a:rPr>
              <a:t>Core joint training</a:t>
            </a:r>
          </a:p>
        </p:txBody>
      </p:sp>
      <p:sp>
        <p:nvSpPr>
          <p:cNvPr id="10" name="">
            <a:extLst xmlns:a="http://schemas.openxmlformats.org/drawingml/2006/main">
              <a:ext uri="{FF2B5EF4-FFF2-40B4-BE49-F238E27FC236}">
                <a16:creationId xmlns:a16="http://schemas.microsoft.com/office/drawing/2014/main" id="{93C50247-F887-4593-874B-3A66342EBFFB}"/>
              </a:ext>
            </a:extLst>
          </p:cNvPr>
          <p:cNvSpPr>
            <a:spLocks xmlns:a="http://schemas.openxmlformats.org/drawingml/2006/main" noGrp="1"/>
          </p:cNvSpPr>
          <p:nvPr/>
        </p:nvSpPr>
        <p:spPr>
          <a:xfrm xmlns:a="http://schemas.openxmlformats.org/drawingml/2006/main">
            <a:off x="857250" y="43624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5C6B79"/>
                </a:solidFill>
                <a:latin typeface="Helvetica Neue"/>
                <a:ea typeface="Helvetica Neue"/>
                <a:cs typeface="Helvetica Neue"/>
              </a:defRPr>
            </a:pPr>
            <a:r>
              <a:rPr sz="1200" b="0" i="0">
                <a:solidFill>
                  <a:srgbClr val="5C6B79"/>
                </a:solidFill>
                <a:latin typeface="Helvetica Neue"/>
                <a:ea typeface="Helvetica Neue"/>
                <a:cs typeface="Helvetica Neue"/>
              </a:rPr>
              <a:t>native 4-class task</a:t>
            </a:r>
          </a:p>
        </p:txBody>
      </p:sp>
      <p:sp>
        <p:nvSpPr>
          <p:cNvPr id="11" name="">
            <a:extLst xmlns:a="http://schemas.openxmlformats.org/drawingml/2006/main">
              <a:ext uri="{FF2B5EF4-FFF2-40B4-BE49-F238E27FC236}">
                <a16:creationId xmlns:a16="http://schemas.microsoft.com/office/drawing/2014/main" id="{49C47608-ECDC-4EFD-B6F8-11A939616B0D}"/>
              </a:ext>
            </a:extLst>
          </p:cNvPr>
          <p:cNvSpPr>
            <a:spLocks xmlns:a="http://schemas.openxmlformats.org/drawingml/2006/main" noGrp="1"/>
          </p:cNvSpPr>
          <p:nvPr/>
        </p:nvSpPr>
        <p:spPr>
          <a:xfrm xmlns:a="http://schemas.openxmlformats.org/drawingml/2006/main">
            <a:off x="3381375" y="1562100"/>
            <a:ext cx="2381250" cy="3200400"/>
          </a:xfrm>
          <a:prstGeom xmlns:a="http://schemas.openxmlformats.org/drawingml/2006/main" prst="roundRect">
            <a:avLst>
              <a:gd name="adj" fmla="val 7200"/>
            </a:avLst>
          </a:prstGeom>
          <a:solidFill xmlns:a="http://schemas.openxmlformats.org/drawingml/2006/main">
            <a:srgbClr val="EAF6F1"/>
          </a:solidFill>
          <a:ln xmlns:a="http://schemas.openxmlformats.org/drawingml/2006/main" w="14288">
            <a:solidFill>
              <a:srgbClr val="2E8B78"/>
            </a:solidFill>
            <a:prstDash val="solid"/>
          </a:ln>
        </p:spPr>
      </p:sp>
      <p:sp>
        <p:nvSpPr>
          <p:cNvPr id="12" name="">
            <a:extLst xmlns:a="http://schemas.openxmlformats.org/drawingml/2006/main">
              <a:ext uri="{FF2B5EF4-FFF2-40B4-BE49-F238E27FC236}">
                <a16:creationId xmlns:a16="http://schemas.microsoft.com/office/drawing/2014/main" id="{ADFD5A67-0FBA-4130-A529-089276226976}"/>
              </a:ext>
            </a:extLst>
          </p:cNvPr>
          <p:cNvSpPr>
            <a:spLocks xmlns:a="http://schemas.openxmlformats.org/drawingml/2006/main" noGrp="1"/>
          </p:cNvSpPr>
          <p:nvPr/>
        </p:nvSpPr>
        <p:spPr>
          <a:xfrm xmlns:a="http://schemas.openxmlformats.org/drawingml/2006/main">
            <a:off x="3495675" y="1676400"/>
            <a:ext cx="2152650" cy="457200"/>
          </a:xfrm>
          <a:prstGeom xmlns:a="http://schemas.openxmlformats.org/drawingml/2006/main" prst="roundRect">
            <a:avLst>
              <a:gd name="adj" fmla="val 25000"/>
            </a:avLst>
          </a:prstGeom>
          <a:solidFill xmlns:a="http://schemas.openxmlformats.org/drawingml/2006/main">
            <a:srgbClr val="2E8B78"/>
          </a:solidFill>
          <a:ln xmlns:a="http://schemas.openxmlformats.org/drawingml/2006/main" w="0">
            <a:solidFill>
              <a:srgbClr val="2E8B78"/>
            </a:solidFill>
            <a:prstDash val="solid"/>
          </a:ln>
        </p:spPr>
        <p:txBody>
          <a:bodyPr xmlns:a="http://schemas.openxmlformats.org/drawingml/2006/main" wrap="square" lIns="57150" tIns="0" rIns="57150" bIns="0" anchor="ctr">
            <a:noAutofit/>
          </a:bodyPr>
          <a:lstStyle xmlns:a="http://schemas.openxmlformats.org/drawingml/2006/main"/>
          <a:p xmlns:a="http://schemas.openxmlformats.org/drawingml/2006/main">
            <a:pPr algn="ct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SPRSound</a:t>
            </a:r>
          </a:p>
        </p:txBody>
      </p:sp>
      <p:sp>
        <p:nvSpPr>
          <p:cNvPr id="13" name="">
            <a:extLst xmlns:a="http://schemas.openxmlformats.org/drawingml/2006/main">
              <a:ext uri="{FF2B5EF4-FFF2-40B4-BE49-F238E27FC236}">
                <a16:creationId xmlns:a16="http://schemas.microsoft.com/office/drawing/2014/main" id="{6658A3B6-DC46-422A-A2E7-E3B674C97C31}"/>
              </a:ext>
            </a:extLst>
          </p:cNvPr>
          <p:cNvSpPr>
            <a:spLocks xmlns:a="http://schemas.openxmlformats.org/drawingml/2006/main" noGrp="1"/>
          </p:cNvSpPr>
          <p:nvPr/>
        </p:nvSpPr>
        <p:spPr>
          <a:xfrm xmlns:a="http://schemas.openxmlformats.org/drawingml/2006/main">
            <a:off x="3571875" y="23050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2E8B78"/>
                </a:solidFill>
                <a:latin typeface="Helvetica Neue"/>
                <a:ea typeface="Helvetica Neue"/>
                <a:cs typeface="Helvetica Neue"/>
              </a:defRPr>
            </a:pPr>
            <a:r>
              <a:rPr sz="1350" b="1" i="0">
                <a:solidFill>
                  <a:srgbClr val="2E8B78"/>
                </a:solidFill>
                <a:latin typeface="Helvetica Neue"/>
                <a:ea typeface="Helvetica Neue"/>
                <a:cs typeface="Helvetica Neue"/>
              </a:rPr>
              <a:t>Event-level</a:t>
            </a:r>
          </a:p>
        </p:txBody>
      </p:sp>
      <p:sp>
        <p:nvSpPr>
          <p:cNvPr id="14" name="">
            <a:extLst xmlns:a="http://schemas.openxmlformats.org/drawingml/2006/main">
              <a:ext uri="{FF2B5EF4-FFF2-40B4-BE49-F238E27FC236}">
                <a16:creationId xmlns:a16="http://schemas.microsoft.com/office/drawing/2014/main" id="{A6BD3618-754E-4A6E-B4D3-08533D9BFD71}"/>
              </a:ext>
            </a:extLst>
          </p:cNvPr>
          <p:cNvSpPr>
            <a:spLocks xmlns:a="http://schemas.openxmlformats.org/drawingml/2006/main" noGrp="1"/>
          </p:cNvSpPr>
          <p:nvPr/>
        </p:nvSpPr>
        <p:spPr>
          <a:xfrm xmlns:a="http://schemas.openxmlformats.org/drawingml/2006/main">
            <a:off x="3571875" y="2657475"/>
            <a:ext cx="2000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Normal</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Fine / Coarse Crackle</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Wheeze + combined labels</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Rhonchi / Stridor</a:t>
            </a:r>
          </a:p>
        </p:txBody>
      </p:sp>
      <p:sp>
        <p:nvSpPr>
          <p:cNvPr id="15" name="">
            <a:extLst xmlns:a="http://schemas.openxmlformats.org/drawingml/2006/main">
              <a:ext uri="{FF2B5EF4-FFF2-40B4-BE49-F238E27FC236}">
                <a16:creationId xmlns:a16="http://schemas.microsoft.com/office/drawing/2014/main" id="{DE00A441-06D3-461E-891F-7CC6539AFB3B}"/>
              </a:ext>
            </a:extLst>
          </p:cNvPr>
          <p:cNvSpPr>
            <a:spLocks xmlns:a="http://schemas.openxmlformats.org/drawingml/2006/main" noGrp="1"/>
          </p:cNvSpPr>
          <p:nvPr/>
        </p:nvSpPr>
        <p:spPr>
          <a:xfrm xmlns:a="http://schemas.openxmlformats.org/drawingml/2006/main">
            <a:off x="3571875" y="3857625"/>
            <a:ext cx="2000250" cy="9525"/>
          </a:xfrm>
          <a:prstGeom xmlns:a="http://schemas.openxmlformats.org/drawingml/2006/main" prst="rect">
            <a:avLst/>
          </a:prstGeom>
          <a:solidFill xmlns:a="http://schemas.openxmlformats.org/drawingml/2006/main">
            <a:srgbClr val="2E8B78"/>
          </a:solidFill>
          <a:ln xmlns:a="http://schemas.openxmlformats.org/drawingml/2006/main" w="0">
            <a:solidFill>
              <a:srgbClr val="2E8B78"/>
            </a:solidFill>
            <a:prstDash val="solid"/>
          </a:ln>
        </p:spPr>
      </p:sp>
      <p:sp>
        <p:nvSpPr>
          <p:cNvPr id="16" name="">
            <a:extLst xmlns:a="http://schemas.openxmlformats.org/drawingml/2006/main">
              <a:ext uri="{FF2B5EF4-FFF2-40B4-BE49-F238E27FC236}">
                <a16:creationId xmlns:a16="http://schemas.microsoft.com/office/drawing/2014/main" id="{5FA5903C-6326-46A5-8A7C-71C66F785ADE}"/>
              </a:ext>
            </a:extLst>
          </p:cNvPr>
          <p:cNvSpPr>
            <a:spLocks xmlns:a="http://schemas.openxmlformats.org/drawingml/2006/main" noGrp="1"/>
          </p:cNvSpPr>
          <p:nvPr/>
        </p:nvSpPr>
        <p:spPr>
          <a:xfrm xmlns:a="http://schemas.openxmlformats.org/drawingml/2006/main">
            <a:off x="3571875" y="40195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i="0">
                <a:solidFill>
                  <a:srgbClr val="102338"/>
                </a:solidFill>
                <a:latin typeface="Helvetica Neue"/>
                <a:ea typeface="Helvetica Neue"/>
                <a:cs typeface="Helvetica Neue"/>
              </a:defRPr>
            </a:pPr>
            <a:r>
              <a:rPr sz="1275" b="1" i="0">
                <a:solidFill>
                  <a:srgbClr val="102338"/>
                </a:solidFill>
                <a:latin typeface="Helvetica Neue"/>
                <a:ea typeface="Helvetica Neue"/>
                <a:cs typeface="Helvetica Neue"/>
              </a:rPr>
              <a:t>Core joint training</a:t>
            </a:r>
          </a:p>
        </p:txBody>
      </p:sp>
      <p:sp>
        <p:nvSpPr>
          <p:cNvPr id="17" name="">
            <a:extLst xmlns:a="http://schemas.openxmlformats.org/drawingml/2006/main">
              <a:ext uri="{FF2B5EF4-FFF2-40B4-BE49-F238E27FC236}">
                <a16:creationId xmlns:a16="http://schemas.microsoft.com/office/drawing/2014/main" id="{72A8434B-E85A-4FB7-AB6D-146024345C80}"/>
              </a:ext>
            </a:extLst>
          </p:cNvPr>
          <p:cNvSpPr>
            <a:spLocks xmlns:a="http://schemas.openxmlformats.org/drawingml/2006/main" noGrp="1"/>
          </p:cNvSpPr>
          <p:nvPr/>
        </p:nvSpPr>
        <p:spPr>
          <a:xfrm xmlns:a="http://schemas.openxmlformats.org/drawingml/2006/main">
            <a:off x="3571875" y="43624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5C6B79"/>
                </a:solidFill>
                <a:latin typeface="Helvetica Neue"/>
                <a:ea typeface="Helvetica Neue"/>
                <a:cs typeface="Helvetica Neue"/>
              </a:defRPr>
            </a:pPr>
            <a:r>
              <a:rPr sz="1200" b="0" i="0">
                <a:solidFill>
                  <a:srgbClr val="5C6B79"/>
                </a:solidFill>
                <a:latin typeface="Helvetica Neue"/>
                <a:ea typeface="Helvetica Neue"/>
                <a:cs typeface="Helvetica Neue"/>
              </a:rPr>
              <a:t>native binary task</a:t>
            </a:r>
          </a:p>
        </p:txBody>
      </p:sp>
      <p:sp>
        <p:nvSpPr>
          <p:cNvPr id="18" name="">
            <a:extLst xmlns:a="http://schemas.openxmlformats.org/drawingml/2006/main">
              <a:ext uri="{FF2B5EF4-FFF2-40B4-BE49-F238E27FC236}">
                <a16:creationId xmlns:a16="http://schemas.microsoft.com/office/drawing/2014/main" id="{7E62B829-C667-4493-AEF3-4EFD0B81084E}"/>
              </a:ext>
            </a:extLst>
          </p:cNvPr>
          <p:cNvSpPr>
            <a:spLocks xmlns:a="http://schemas.openxmlformats.org/drawingml/2006/main" noGrp="1"/>
          </p:cNvSpPr>
          <p:nvPr/>
        </p:nvSpPr>
        <p:spPr>
          <a:xfrm xmlns:a="http://schemas.openxmlformats.org/drawingml/2006/main">
            <a:off x="6096000" y="1562100"/>
            <a:ext cx="2381250" cy="3200400"/>
          </a:xfrm>
          <a:prstGeom xmlns:a="http://schemas.openxmlformats.org/drawingml/2006/main" prst="roundRect">
            <a:avLst>
              <a:gd name="adj" fmla="val 7200"/>
            </a:avLst>
          </a:prstGeom>
          <a:solidFill xmlns:a="http://schemas.openxmlformats.org/drawingml/2006/main">
            <a:srgbClr val="F2ECF8"/>
          </a:solidFill>
          <a:ln xmlns:a="http://schemas.openxmlformats.org/drawingml/2006/main" w="14288">
            <a:solidFill>
              <a:srgbClr val="8660A8"/>
            </a:solidFill>
            <a:prstDash val="solid"/>
          </a:ln>
        </p:spPr>
      </p:sp>
      <p:sp>
        <p:nvSpPr>
          <p:cNvPr id="19" name="">
            <a:extLst xmlns:a="http://schemas.openxmlformats.org/drawingml/2006/main">
              <a:ext uri="{FF2B5EF4-FFF2-40B4-BE49-F238E27FC236}">
                <a16:creationId xmlns:a16="http://schemas.microsoft.com/office/drawing/2014/main" id="{5525E463-0DF9-4403-ADA3-81115DFA57C9}"/>
              </a:ext>
            </a:extLst>
          </p:cNvPr>
          <p:cNvSpPr>
            <a:spLocks xmlns:a="http://schemas.openxmlformats.org/drawingml/2006/main" noGrp="1"/>
          </p:cNvSpPr>
          <p:nvPr/>
        </p:nvSpPr>
        <p:spPr>
          <a:xfrm xmlns:a="http://schemas.openxmlformats.org/drawingml/2006/main">
            <a:off x="6210300" y="1676400"/>
            <a:ext cx="2152650" cy="457200"/>
          </a:xfrm>
          <a:prstGeom xmlns:a="http://schemas.openxmlformats.org/drawingml/2006/main" prst="roundRect">
            <a:avLst>
              <a:gd name="adj" fmla="val 25000"/>
            </a:avLst>
          </a:prstGeom>
          <a:solidFill xmlns:a="http://schemas.openxmlformats.org/drawingml/2006/main">
            <a:srgbClr val="8660A8"/>
          </a:solidFill>
          <a:ln xmlns:a="http://schemas.openxmlformats.org/drawingml/2006/main" w="0">
            <a:solidFill>
              <a:srgbClr val="8660A8"/>
            </a:solidFill>
            <a:prstDash val="solid"/>
          </a:ln>
        </p:spPr>
        <p:txBody>
          <a:bodyPr xmlns:a="http://schemas.openxmlformats.org/drawingml/2006/main" wrap="square" lIns="57150" tIns="0" rIns="57150" bIns="0" anchor="ctr">
            <a:noAutofit/>
          </a:bodyPr>
          <a:lstStyle xmlns:a="http://schemas.openxmlformats.org/drawingml/2006/main"/>
          <a:p xmlns:a="http://schemas.openxmlformats.org/drawingml/2006/main">
            <a:pPr algn="ct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HF Lung</a:t>
            </a:r>
          </a:p>
        </p:txBody>
      </p:sp>
      <p:sp>
        <p:nvSpPr>
          <p:cNvPr id="20" name="">
            <a:extLst xmlns:a="http://schemas.openxmlformats.org/drawingml/2006/main">
              <a:ext uri="{FF2B5EF4-FFF2-40B4-BE49-F238E27FC236}">
                <a16:creationId xmlns:a16="http://schemas.microsoft.com/office/drawing/2014/main" id="{443ACADB-3F59-40CE-86D3-0E9B28A1F02E}"/>
              </a:ext>
            </a:extLst>
          </p:cNvPr>
          <p:cNvSpPr>
            <a:spLocks xmlns:a="http://schemas.openxmlformats.org/drawingml/2006/main" noGrp="1"/>
          </p:cNvSpPr>
          <p:nvPr/>
        </p:nvSpPr>
        <p:spPr>
          <a:xfrm xmlns:a="http://schemas.openxmlformats.org/drawingml/2006/main">
            <a:off x="6286500" y="23050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8660A8"/>
                </a:solidFill>
                <a:latin typeface="Helvetica Neue"/>
                <a:ea typeface="Helvetica Neue"/>
                <a:cs typeface="Helvetica Neue"/>
              </a:defRPr>
            </a:pPr>
            <a:r>
              <a:rPr sz="1350" b="1" i="0">
                <a:solidFill>
                  <a:srgbClr val="8660A8"/>
                </a:solidFill>
                <a:latin typeface="Helvetica Neue"/>
                <a:ea typeface="Helvetica Neue"/>
                <a:cs typeface="Helvetica Neue"/>
              </a:rPr>
              <a:t>Timed intervals</a:t>
            </a:r>
          </a:p>
        </p:txBody>
      </p:sp>
      <p:sp>
        <p:nvSpPr>
          <p:cNvPr id="21" name="">
            <a:extLst xmlns:a="http://schemas.openxmlformats.org/drawingml/2006/main">
              <a:ext uri="{FF2B5EF4-FFF2-40B4-BE49-F238E27FC236}">
                <a16:creationId xmlns:a16="http://schemas.microsoft.com/office/drawing/2014/main" id="{2D5C1EE7-4037-4E2B-96BA-D54AFFCD3359}"/>
              </a:ext>
            </a:extLst>
          </p:cNvPr>
          <p:cNvSpPr>
            <a:spLocks xmlns:a="http://schemas.openxmlformats.org/drawingml/2006/main" noGrp="1"/>
          </p:cNvSpPr>
          <p:nvPr/>
        </p:nvSpPr>
        <p:spPr>
          <a:xfrm xmlns:a="http://schemas.openxmlformats.org/drawingml/2006/main">
            <a:off x="6286500" y="2657475"/>
            <a:ext cx="2000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Breath phase</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D / Wheeze intervals</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Rhonchi / Stridor</a:t>
            </a:r>
          </a:p>
        </p:txBody>
      </p:sp>
      <p:sp>
        <p:nvSpPr>
          <p:cNvPr id="22" name="">
            <a:extLst xmlns:a="http://schemas.openxmlformats.org/drawingml/2006/main">
              <a:ext uri="{FF2B5EF4-FFF2-40B4-BE49-F238E27FC236}">
                <a16:creationId xmlns:a16="http://schemas.microsoft.com/office/drawing/2014/main" id="{BF7F0E4D-43D9-4C94-AC54-75C0F26EA9B1}"/>
              </a:ext>
            </a:extLst>
          </p:cNvPr>
          <p:cNvSpPr>
            <a:spLocks xmlns:a="http://schemas.openxmlformats.org/drawingml/2006/main" noGrp="1"/>
          </p:cNvSpPr>
          <p:nvPr/>
        </p:nvSpPr>
        <p:spPr>
          <a:xfrm xmlns:a="http://schemas.openxmlformats.org/drawingml/2006/main">
            <a:off x="6286500" y="3857625"/>
            <a:ext cx="2000250" cy="9525"/>
          </a:xfrm>
          <a:prstGeom xmlns:a="http://schemas.openxmlformats.org/drawingml/2006/main" prst="rect">
            <a:avLst/>
          </a:prstGeom>
          <a:solidFill xmlns:a="http://schemas.openxmlformats.org/drawingml/2006/main">
            <a:srgbClr val="8660A8"/>
          </a:solidFill>
          <a:ln xmlns:a="http://schemas.openxmlformats.org/drawingml/2006/main" w="0">
            <a:solidFill>
              <a:srgbClr val="8660A8"/>
            </a:solidFill>
            <a:prstDash val="solid"/>
          </a:ln>
        </p:spPr>
      </p:sp>
      <p:sp>
        <p:nvSpPr>
          <p:cNvPr id="23" name="">
            <a:extLst xmlns:a="http://schemas.openxmlformats.org/drawingml/2006/main">
              <a:ext uri="{FF2B5EF4-FFF2-40B4-BE49-F238E27FC236}">
                <a16:creationId xmlns:a16="http://schemas.microsoft.com/office/drawing/2014/main" id="{A7EFBE36-7A9E-4940-8275-163B93B5EEF8}"/>
              </a:ext>
            </a:extLst>
          </p:cNvPr>
          <p:cNvSpPr>
            <a:spLocks xmlns:a="http://schemas.openxmlformats.org/drawingml/2006/main" noGrp="1"/>
          </p:cNvSpPr>
          <p:nvPr/>
        </p:nvSpPr>
        <p:spPr>
          <a:xfrm xmlns:a="http://schemas.openxmlformats.org/drawingml/2006/main">
            <a:off x="6286500" y="40195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i="0">
                <a:solidFill>
                  <a:srgbClr val="102338"/>
                </a:solidFill>
                <a:latin typeface="Helvetica Neue"/>
                <a:ea typeface="Helvetica Neue"/>
                <a:cs typeface="Helvetica Neue"/>
              </a:defRPr>
            </a:pPr>
            <a:r>
              <a:rPr sz="1275" b="1" i="0">
                <a:solidFill>
                  <a:srgbClr val="102338"/>
                </a:solidFill>
                <a:latin typeface="Helvetica Neue"/>
                <a:ea typeface="Helvetica Neue"/>
                <a:cs typeface="Helvetica Neue"/>
              </a:rPr>
              <a:t>Auxiliary + transfer</a:t>
            </a:r>
          </a:p>
        </p:txBody>
      </p:sp>
      <p:sp>
        <p:nvSpPr>
          <p:cNvPr id="24" name="">
            <a:extLst xmlns:a="http://schemas.openxmlformats.org/drawingml/2006/main">
              <a:ext uri="{FF2B5EF4-FFF2-40B4-BE49-F238E27FC236}">
                <a16:creationId xmlns:a16="http://schemas.microsoft.com/office/drawing/2014/main" id="{2104AC14-C69E-4E60-B785-BABA678F4B90}"/>
              </a:ext>
            </a:extLst>
          </p:cNvPr>
          <p:cNvSpPr>
            <a:spLocks xmlns:a="http://schemas.openxmlformats.org/drawingml/2006/main" noGrp="1"/>
          </p:cNvSpPr>
          <p:nvPr/>
        </p:nvSpPr>
        <p:spPr>
          <a:xfrm xmlns:a="http://schemas.openxmlformats.org/drawingml/2006/main">
            <a:off x="6286500" y="43624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5C6B79"/>
                </a:solidFill>
                <a:latin typeface="Helvetica Neue"/>
                <a:ea typeface="Helvetica Neue"/>
                <a:cs typeface="Helvetica Neue"/>
              </a:defRPr>
            </a:pPr>
            <a:r>
              <a:rPr sz="1200" b="0" i="0">
                <a:solidFill>
                  <a:srgbClr val="5C6B79"/>
                </a:solidFill>
                <a:latin typeface="Helvetica Neue"/>
                <a:ea typeface="Helvetica Neue"/>
                <a:cs typeface="Helvetica Neue"/>
              </a:rPr>
              <a:t>CAS proxy evaluation</a:t>
            </a:r>
          </a:p>
        </p:txBody>
      </p:sp>
      <p:sp>
        <p:nvSpPr>
          <p:cNvPr id="25" name="">
            <a:extLst xmlns:a="http://schemas.openxmlformats.org/drawingml/2006/main">
              <a:ext uri="{FF2B5EF4-FFF2-40B4-BE49-F238E27FC236}">
                <a16:creationId xmlns:a16="http://schemas.microsoft.com/office/drawing/2014/main" id="{9FA5D738-2950-46A8-8CC6-64992852AC91}"/>
              </a:ext>
            </a:extLst>
          </p:cNvPr>
          <p:cNvSpPr>
            <a:spLocks xmlns:a="http://schemas.openxmlformats.org/drawingml/2006/main" noGrp="1"/>
          </p:cNvSpPr>
          <p:nvPr/>
        </p:nvSpPr>
        <p:spPr>
          <a:xfrm xmlns:a="http://schemas.openxmlformats.org/drawingml/2006/main">
            <a:off x="8810625" y="1562100"/>
            <a:ext cx="2381250" cy="3200400"/>
          </a:xfrm>
          <a:prstGeom xmlns:a="http://schemas.openxmlformats.org/drawingml/2006/main" prst="roundRect">
            <a:avLst>
              <a:gd name="adj" fmla="val 7200"/>
            </a:avLst>
          </a:prstGeom>
          <a:solidFill xmlns:a="http://schemas.openxmlformats.org/drawingml/2006/main">
            <a:srgbClr val="FBF3E6"/>
          </a:solidFill>
          <a:ln xmlns:a="http://schemas.openxmlformats.org/drawingml/2006/main" w="14288">
            <a:solidFill>
              <a:srgbClr val="B8873B"/>
            </a:solidFill>
            <a:prstDash val="solid"/>
          </a:ln>
        </p:spPr>
      </p:sp>
      <p:sp>
        <p:nvSpPr>
          <p:cNvPr id="26" name="">
            <a:extLst xmlns:a="http://schemas.openxmlformats.org/drawingml/2006/main">
              <a:ext uri="{FF2B5EF4-FFF2-40B4-BE49-F238E27FC236}">
                <a16:creationId xmlns:a16="http://schemas.microsoft.com/office/drawing/2014/main" id="{D38AAAF9-00F8-4A15-A84A-989343713D99}"/>
              </a:ext>
            </a:extLst>
          </p:cNvPr>
          <p:cNvSpPr>
            <a:spLocks xmlns:a="http://schemas.openxmlformats.org/drawingml/2006/main" noGrp="1"/>
          </p:cNvSpPr>
          <p:nvPr/>
        </p:nvSpPr>
        <p:spPr>
          <a:xfrm xmlns:a="http://schemas.openxmlformats.org/drawingml/2006/main">
            <a:off x="8924925" y="1676400"/>
            <a:ext cx="2152650" cy="457200"/>
          </a:xfrm>
          <a:prstGeom xmlns:a="http://schemas.openxmlformats.org/drawingml/2006/main" prst="roundRect">
            <a:avLst>
              <a:gd name="adj" fmla="val 25000"/>
            </a:avLst>
          </a:prstGeom>
          <a:solidFill xmlns:a="http://schemas.openxmlformats.org/drawingml/2006/main">
            <a:srgbClr val="B8873B"/>
          </a:solidFill>
          <a:ln xmlns:a="http://schemas.openxmlformats.org/drawingml/2006/main" w="0">
            <a:solidFill>
              <a:srgbClr val="B8873B"/>
            </a:solidFill>
            <a:prstDash val="solid"/>
          </a:ln>
        </p:spPr>
        <p:txBody>
          <a:bodyPr xmlns:a="http://schemas.openxmlformats.org/drawingml/2006/main" wrap="square" lIns="57150" tIns="0" rIns="57150" bIns="0" anchor="ctr">
            <a:noAutofit/>
          </a:bodyPr>
          <a:lstStyle xmlns:a="http://schemas.openxmlformats.org/drawingml/2006/main"/>
          <a:p xmlns:a="http://schemas.openxmlformats.org/drawingml/2006/main">
            <a:pPr algn="ct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KAUH</a:t>
            </a:r>
          </a:p>
        </p:txBody>
      </p:sp>
      <p:sp>
        <p:nvSpPr>
          <p:cNvPr id="27" name="">
            <a:extLst xmlns:a="http://schemas.openxmlformats.org/drawingml/2006/main">
              <a:ext uri="{FF2B5EF4-FFF2-40B4-BE49-F238E27FC236}">
                <a16:creationId xmlns:a16="http://schemas.microsoft.com/office/drawing/2014/main" id="{2421058A-F45C-4B5B-82A3-D5427597D44B}"/>
              </a:ext>
            </a:extLst>
          </p:cNvPr>
          <p:cNvSpPr>
            <a:spLocks xmlns:a="http://schemas.openxmlformats.org/drawingml/2006/main" noGrp="1"/>
          </p:cNvSpPr>
          <p:nvPr/>
        </p:nvSpPr>
        <p:spPr>
          <a:xfrm xmlns:a="http://schemas.openxmlformats.org/drawingml/2006/main">
            <a:off x="9001125" y="23050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B8873B"/>
                </a:solidFill>
                <a:latin typeface="Helvetica Neue"/>
                <a:ea typeface="Helvetica Neue"/>
                <a:cs typeface="Helvetica Neue"/>
              </a:defRPr>
            </a:pPr>
            <a:r>
              <a:rPr sz="1350" b="1" i="0">
                <a:solidFill>
                  <a:srgbClr val="B8873B"/>
                </a:solidFill>
                <a:latin typeface="Helvetica Neue"/>
                <a:ea typeface="Helvetica Neue"/>
                <a:cs typeface="Helvetica Neue"/>
              </a:rPr>
              <a:t>Patient recordings</a:t>
            </a:r>
          </a:p>
        </p:txBody>
      </p:sp>
      <p:sp>
        <p:nvSpPr>
          <p:cNvPr id="28" name="">
            <a:extLst xmlns:a="http://schemas.openxmlformats.org/drawingml/2006/main">
              <a:ext uri="{FF2B5EF4-FFF2-40B4-BE49-F238E27FC236}">
                <a16:creationId xmlns:a16="http://schemas.microsoft.com/office/drawing/2014/main" id="{64A62FA1-457E-4CC7-A6B5-C703D5AC60C5}"/>
              </a:ext>
            </a:extLst>
          </p:cNvPr>
          <p:cNvSpPr>
            <a:spLocks xmlns:a="http://schemas.openxmlformats.org/drawingml/2006/main" noGrp="1"/>
          </p:cNvSpPr>
          <p:nvPr/>
        </p:nvSpPr>
        <p:spPr>
          <a:xfrm xmlns:a="http://schemas.openxmlformats.org/drawingml/2006/main">
            <a:off x="9001125" y="2657475"/>
            <a:ext cx="2000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N, C / IC</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EW / IEW</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ICEW</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filter views B / D / E</a:t>
            </a:r>
          </a:p>
        </p:txBody>
      </p:sp>
      <p:sp>
        <p:nvSpPr>
          <p:cNvPr id="29" name="">
            <a:extLst xmlns:a="http://schemas.openxmlformats.org/drawingml/2006/main">
              <a:ext uri="{FF2B5EF4-FFF2-40B4-BE49-F238E27FC236}">
                <a16:creationId xmlns:a16="http://schemas.microsoft.com/office/drawing/2014/main" id="{403FA2D0-F416-4468-BC50-7B68A39615D5}"/>
              </a:ext>
            </a:extLst>
          </p:cNvPr>
          <p:cNvSpPr>
            <a:spLocks xmlns:a="http://schemas.openxmlformats.org/drawingml/2006/main" noGrp="1"/>
          </p:cNvSpPr>
          <p:nvPr/>
        </p:nvSpPr>
        <p:spPr>
          <a:xfrm xmlns:a="http://schemas.openxmlformats.org/drawingml/2006/main">
            <a:off x="9001125" y="3857625"/>
            <a:ext cx="2000250" cy="9525"/>
          </a:xfrm>
          <a:prstGeom xmlns:a="http://schemas.openxmlformats.org/drawingml/2006/main" prst="rect">
            <a:avLst/>
          </a:prstGeom>
          <a:solidFill xmlns:a="http://schemas.openxmlformats.org/drawingml/2006/main">
            <a:srgbClr val="B8873B"/>
          </a:solidFill>
          <a:ln xmlns:a="http://schemas.openxmlformats.org/drawingml/2006/main" w="0">
            <a:solidFill>
              <a:srgbClr val="B8873B"/>
            </a:solidFill>
            <a:prstDash val="solid"/>
          </a:ln>
        </p:spPr>
      </p:sp>
      <p:sp>
        <p:nvSpPr>
          <p:cNvPr id="30" name="">
            <a:extLst xmlns:a="http://schemas.openxmlformats.org/drawingml/2006/main">
              <a:ext uri="{FF2B5EF4-FFF2-40B4-BE49-F238E27FC236}">
                <a16:creationId xmlns:a16="http://schemas.microsoft.com/office/drawing/2014/main" id="{348153CC-9449-4D0F-85E0-496B821D6243}"/>
              </a:ext>
            </a:extLst>
          </p:cNvPr>
          <p:cNvSpPr>
            <a:spLocks xmlns:a="http://schemas.openxmlformats.org/drawingml/2006/main" noGrp="1"/>
          </p:cNvSpPr>
          <p:nvPr/>
        </p:nvSpPr>
        <p:spPr>
          <a:xfrm xmlns:a="http://schemas.openxmlformats.org/drawingml/2006/main">
            <a:off x="9001125" y="40195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i="0">
                <a:solidFill>
                  <a:srgbClr val="102338"/>
                </a:solidFill>
                <a:latin typeface="Helvetica Neue"/>
                <a:ea typeface="Helvetica Neue"/>
                <a:cs typeface="Helvetica Neue"/>
              </a:defRPr>
            </a:pPr>
            <a:r>
              <a:rPr sz="1275" b="1" i="0">
                <a:solidFill>
                  <a:srgbClr val="102338"/>
                </a:solidFill>
                <a:latin typeface="Helvetica Neue"/>
                <a:ea typeface="Helvetica Neue"/>
                <a:cs typeface="Helvetica Neue"/>
              </a:rPr>
              <a:t>External evaluation</a:t>
            </a:r>
          </a:p>
        </p:txBody>
      </p:sp>
      <p:sp>
        <p:nvSpPr>
          <p:cNvPr id="31" name="">
            <a:extLst xmlns:a="http://schemas.openxmlformats.org/drawingml/2006/main">
              <a:ext uri="{FF2B5EF4-FFF2-40B4-BE49-F238E27FC236}">
                <a16:creationId xmlns:a16="http://schemas.microsoft.com/office/drawing/2014/main" id="{721F416E-4D7D-43A5-8DA2-6B7A8D454E3A}"/>
              </a:ext>
            </a:extLst>
          </p:cNvPr>
          <p:cNvSpPr>
            <a:spLocks xmlns:a="http://schemas.openxmlformats.org/drawingml/2006/main" noGrp="1"/>
          </p:cNvSpPr>
          <p:nvPr/>
        </p:nvSpPr>
        <p:spPr>
          <a:xfrm xmlns:a="http://schemas.openxmlformats.org/drawingml/2006/main">
            <a:off x="9001125" y="43624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5C6B79"/>
                </a:solidFill>
                <a:latin typeface="Helvetica Neue"/>
                <a:ea typeface="Helvetica Neue"/>
                <a:cs typeface="Helvetica Neue"/>
              </a:defRPr>
            </a:pPr>
            <a:r>
              <a:rPr sz="1200" b="0" i="0">
                <a:solidFill>
                  <a:srgbClr val="5C6B79"/>
                </a:solidFill>
                <a:latin typeface="Helvetica Neue"/>
                <a:ea typeface="Helvetica Neue"/>
                <a:cs typeface="Helvetica Neue"/>
              </a:rPr>
              <a:t>patient-level binary</a:t>
            </a:r>
          </a:p>
        </p:txBody>
      </p:sp>
      <p:sp>
        <p:nvSpPr>
          <p:cNvPr id="32" name="">
            <a:extLst xmlns:a="http://schemas.openxmlformats.org/drawingml/2006/main">
              <a:ext uri="{FF2B5EF4-FFF2-40B4-BE49-F238E27FC236}">
                <a16:creationId xmlns:a16="http://schemas.microsoft.com/office/drawing/2014/main" id="{91268066-862C-4154-ADCB-1E959FA721AD}"/>
              </a:ext>
            </a:extLst>
          </p:cNvPr>
          <p:cNvSpPr>
            <a:spLocks xmlns:a="http://schemas.openxmlformats.org/drawingml/2006/main" noGrp="1"/>
          </p:cNvSpPr>
          <p:nvPr/>
        </p:nvSpPr>
        <p:spPr>
          <a:xfrm xmlns:a="http://schemas.openxmlformats.org/drawingml/2006/main">
            <a:off x="666750" y="5095875"/>
            <a:ext cx="10858500" cy="742950"/>
          </a:xfrm>
          <a:prstGeom xmlns:a="http://schemas.openxmlformats.org/drawingml/2006/main" prst="roundRect">
            <a:avLst>
              <a:gd name="adj" fmla="val 20513"/>
            </a:avLst>
          </a:prstGeom>
          <a:solidFill xmlns:a="http://schemas.openxmlformats.org/drawingml/2006/main">
            <a:srgbClr val="F5F8FB"/>
          </a:solidFill>
          <a:ln xmlns:a="http://schemas.openxmlformats.org/drawingml/2006/main" w="9525">
            <a:solidFill>
              <a:srgbClr val="D6E0E8"/>
            </a:solidFill>
            <a:prstDash val="solid"/>
          </a:ln>
        </p:spPr>
        <p:txBody>
          <a:bodyPr xmlns:a="http://schemas.openxmlformats.org/drawingml/2006/main" wrap="square" lIns="266700" tIns="76200" rIns="266700" bIns="76200" anchor="ctr">
            <a:noAutofit/>
          </a:bodyPr>
          <a:lstStyle xmlns:a="http://schemas.openxmlformats.org/drawingml/2006/main"/>
          <a:p xmlns:a="http://schemas.openxmlformats.org/drawingml/2006/main">
            <a:pPr algn="ctr">
              <a:defRPr sz="1875" b="1" i="0">
                <a:solidFill>
                  <a:srgbClr val="16324F"/>
                </a:solidFill>
                <a:latin typeface="Helvetica Neue"/>
                <a:ea typeface="Helvetica Neue"/>
                <a:cs typeface="Helvetica Neue"/>
              </a:defRPr>
            </a:pPr>
            <a:r>
              <a:rPr sz="1875" b="1" i="0">
                <a:solidFill>
                  <a:srgbClr val="16324F"/>
                </a:solidFill>
                <a:latin typeface="Helvetica Neue"/>
                <a:ea typeface="Helvetica Neue"/>
                <a:cs typeface="Helvetica Neue"/>
              </a:rPr>
              <a:t>The data are related enough to share acoustic supervision, but not interchangeable enough to collapse into one output space.</a:t>
            </a:r>
          </a:p>
        </p:txBody>
      </p:sp>
      <p:sp>
        <p:nvSpPr>
          <p:cNvPr id="33" name="">
            <a:extLst xmlns:a="http://schemas.openxmlformats.org/drawingml/2006/main">
              <a:ext uri="{FF2B5EF4-FFF2-40B4-BE49-F238E27FC236}">
                <a16:creationId xmlns:a16="http://schemas.microsoft.com/office/drawing/2014/main" id="{F1E1E20E-7B61-4C5C-911C-AFC9E88A65F7}"/>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rect">
            <a:avLst/>
          </a:prstGeom>
          <a:solidFill xmlns:a="http://schemas.openxmlformats.org/drawingml/2006/main">
            <a:srgbClr val="D6E0E8"/>
          </a:solidFill>
          <a:ln xmlns:a="http://schemas.openxmlformats.org/drawingml/2006/main" w="0">
            <a:solidFill>
              <a:srgbClr val="D6E0E8"/>
            </a:solidFill>
            <a:prstDash val="solid"/>
          </a:ln>
        </p:spPr>
      </p:sp>
      <p:sp>
        <p:nvSpPr>
          <p:cNvPr id="34" name="">
            <a:extLst xmlns:a="http://schemas.openxmlformats.org/drawingml/2006/main">
              <a:ext uri="{FF2B5EF4-FFF2-40B4-BE49-F238E27FC236}">
                <a16:creationId xmlns:a16="http://schemas.microsoft.com/office/drawing/2014/main" id="{ECDF675B-A679-4D48-BF23-FE2DCA4C87D6}"/>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NIcE X F26 Lab Meeting   18 September 2026</a:t>
            </a:r>
          </a:p>
        </p:txBody>
      </p:sp>
      <p:sp>
        <p:nvSpPr>
          <p:cNvPr id="35" name="">
            <a:extLst xmlns:a="http://schemas.openxmlformats.org/drawingml/2006/main">
              <a:ext uri="{FF2B5EF4-FFF2-40B4-BE49-F238E27FC236}">
                <a16:creationId xmlns:a16="http://schemas.microsoft.com/office/drawing/2014/main" id="{08444DDB-D8BA-4262-B904-4EF204B7829E}"/>
              </a:ext>
            </a:extLst>
          </p:cNvPr>
          <p:cNvSpPr>
            <a:spLocks xmlns:a="http://schemas.openxmlformats.org/drawingml/2006/main" noGrp="1"/>
          </p:cNvSpPr>
          <p:nvPr/>
        </p:nvSpPr>
        <p:spPr>
          <a:xfrm xmlns:a="http://schemas.openxmlformats.org/drawingml/2006/main">
            <a:off x="9810750" y="6496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2 / 11</a:t>
            </a:r>
          </a:p>
        </p:txBody>
      </p:sp>
    </p:spTree>
    <p:extLst>
      <p:ext uri="{BB962C8B-B14F-4D97-AF65-F5344CB8AC3E}">
        <p14:creationId xmlns:p14="http://schemas.microsoft.com/office/powerpoint/2010/main" val="1768202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CBC789F-4145-4235-B3D7-E76080D35D13}"/>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6D4CC2"/>
          </a:solidFill>
          <a:ln xmlns:a="http://schemas.openxmlformats.org/drawingml/2006/main" w="0">
            <a:solidFill>
              <a:srgbClr val="6D4CC2"/>
            </a:solidFill>
            <a:prstDash val="solid"/>
          </a:ln>
        </p:spPr>
      </p:sp>
      <p:sp>
        <p:nvSpPr>
          <p:cNvPr id="2" name="">
            <a:extLst xmlns:a="http://schemas.openxmlformats.org/drawingml/2006/main">
              <a:ext uri="{FF2B5EF4-FFF2-40B4-BE49-F238E27FC236}">
                <a16:creationId xmlns:a16="http://schemas.microsoft.com/office/drawing/2014/main" id="{1C3017AF-9ADF-4327-B2C3-7B8DCB794BFE}"/>
              </a:ext>
            </a:extLst>
          </p:cNvPr>
          <p:cNvSpPr>
            <a:spLocks xmlns:a="http://schemas.openxmlformats.org/drawingml/2006/main" noGrp="1"/>
          </p:cNvSpPr>
          <p:nvPr/>
        </p:nvSpPr>
        <p:spPr>
          <a:xfrm xmlns:a="http://schemas.openxmlformats.org/drawingml/2006/main">
            <a:off x="647700" y="38100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i="0">
                <a:solidFill>
                  <a:srgbClr val="16324F"/>
                </a:solidFill>
                <a:latin typeface="Helvetica Neue"/>
                <a:ea typeface="Helvetica Neue"/>
                <a:cs typeface="Helvetica Neue"/>
              </a:defRPr>
            </a:pPr>
            <a:r>
              <a:rPr sz="2850" b="1" i="0">
                <a:solidFill>
                  <a:srgbClr val="16324F"/>
                </a:solidFill>
                <a:latin typeface="Helvetica Neue"/>
                <a:ea typeface="Helvetica Neue"/>
                <a:cs typeface="Helvetica Neue"/>
              </a:rPr>
              <a:t>The native task can hide useful sound-type supervision</a:t>
            </a:r>
          </a:p>
        </p:txBody>
      </p:sp>
      <p:sp>
        <p:nvSpPr>
          <p:cNvPr id="3" name="">
            <a:extLst xmlns:a="http://schemas.openxmlformats.org/drawingml/2006/main">
              <a:ext uri="{FF2B5EF4-FFF2-40B4-BE49-F238E27FC236}">
                <a16:creationId xmlns:a16="http://schemas.microsoft.com/office/drawing/2014/main" id="{D5180603-E637-44E2-B72F-9AE00AEE3CCD}"/>
              </a:ext>
            </a:extLst>
          </p:cNvPr>
          <p:cNvSpPr>
            <a:spLocks xmlns:a="http://schemas.openxmlformats.org/drawingml/2006/main" noGrp="1"/>
          </p:cNvSpPr>
          <p:nvPr/>
        </p:nvSpPr>
        <p:spPr>
          <a:xfrm xmlns:a="http://schemas.openxmlformats.org/drawingml/2006/main">
            <a:off x="666750" y="9525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5C6B79"/>
                </a:solidFill>
                <a:latin typeface="Helvetica Neue"/>
                <a:ea typeface="Helvetica Neue"/>
                <a:cs typeface="Helvetica Neue"/>
              </a:defRPr>
            </a:pPr>
            <a:r>
              <a:rPr sz="1425" b="0" i="0">
                <a:solidFill>
                  <a:srgbClr val="5C6B79"/>
                </a:solidFill>
                <a:latin typeface="Helvetica Neue"/>
                <a:ea typeface="Helvetica Neue"/>
                <a:cs typeface="Helvetica Neue"/>
              </a:rPr>
              <a:t>SPRSound contains fine-grained sound labels even though its evaluated task is binary</a:t>
            </a:r>
          </a:p>
        </p:txBody>
      </p:sp>
      <p:sp>
        <p:nvSpPr>
          <p:cNvPr id="4" name="">
            <a:extLst xmlns:a="http://schemas.openxmlformats.org/drawingml/2006/main">
              <a:ext uri="{FF2B5EF4-FFF2-40B4-BE49-F238E27FC236}">
                <a16:creationId xmlns:a16="http://schemas.microsoft.com/office/drawing/2014/main" id="{8A431740-C53E-4F2F-BF61-4A20E0DB53DE}"/>
              </a:ext>
            </a:extLst>
          </p:cNvPr>
          <p:cNvSpPr>
            <a:spLocks xmlns:a="http://schemas.openxmlformats.org/drawingml/2006/main" noGrp="1"/>
          </p:cNvSpPr>
          <p:nvPr/>
        </p:nvSpPr>
        <p:spPr>
          <a:xfrm xmlns:a="http://schemas.openxmlformats.org/drawingml/2006/main">
            <a:off x="666750" y="1524000"/>
            <a:ext cx="4095750" cy="2667000"/>
          </a:xfrm>
          <a:prstGeom xmlns:a="http://schemas.openxmlformats.org/drawingml/2006/main" prst="roundRect">
            <a:avLst>
              <a:gd name="adj" fmla="val 6429"/>
            </a:avLst>
          </a:prstGeom>
          <a:solidFill xmlns:a="http://schemas.openxmlformats.org/drawingml/2006/main">
            <a:srgbClr val="EAF6F1"/>
          </a:solidFill>
          <a:ln xmlns:a="http://schemas.openxmlformats.org/drawingml/2006/main" w="14288">
            <a:solidFill>
              <a:srgbClr val="2E8B78"/>
            </a:solidFill>
            <a:prstDash val="solid"/>
          </a:ln>
        </p:spPr>
      </p:sp>
      <p:sp>
        <p:nvSpPr>
          <p:cNvPr id="5" name="">
            <a:extLst xmlns:a="http://schemas.openxmlformats.org/drawingml/2006/main">
              <a:ext uri="{FF2B5EF4-FFF2-40B4-BE49-F238E27FC236}">
                <a16:creationId xmlns:a16="http://schemas.microsoft.com/office/drawing/2014/main" id="{4CE30A81-ECD8-4EBF-AC27-6B2B96C64D1E}"/>
              </a:ext>
            </a:extLst>
          </p:cNvPr>
          <p:cNvSpPr>
            <a:spLocks xmlns:a="http://schemas.openxmlformats.org/drawingml/2006/main" noGrp="1"/>
          </p:cNvSpPr>
          <p:nvPr/>
        </p:nvSpPr>
        <p:spPr>
          <a:xfrm xmlns:a="http://schemas.openxmlformats.org/drawingml/2006/main">
            <a:off x="933450" y="175260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2E8B78"/>
                </a:solidFill>
                <a:latin typeface="Helvetica Neue"/>
                <a:ea typeface="Helvetica Neue"/>
                <a:cs typeface="Helvetica Neue"/>
              </a:defRPr>
            </a:pPr>
            <a:r>
              <a:rPr sz="1875" b="1" i="0">
                <a:solidFill>
                  <a:srgbClr val="2E8B78"/>
                </a:solidFill>
                <a:latin typeface="Helvetica Neue"/>
                <a:ea typeface="Helvetica Neue"/>
                <a:cs typeface="Helvetica Neue"/>
              </a:rPr>
              <a:t>SPRSound event annotations</a:t>
            </a:r>
          </a:p>
        </p:txBody>
      </p:sp>
      <p:sp>
        <p:nvSpPr>
          <p:cNvPr id="6" name="">
            <a:extLst xmlns:a="http://schemas.openxmlformats.org/drawingml/2006/main">
              <a:ext uri="{FF2B5EF4-FFF2-40B4-BE49-F238E27FC236}">
                <a16:creationId xmlns:a16="http://schemas.microsoft.com/office/drawing/2014/main" id="{25A2E353-08EF-4821-82F3-85791CD99547}"/>
              </a:ext>
            </a:extLst>
          </p:cNvPr>
          <p:cNvSpPr>
            <a:spLocks xmlns:a="http://schemas.openxmlformats.org/drawingml/2006/main" noGrp="1"/>
          </p:cNvSpPr>
          <p:nvPr/>
        </p:nvSpPr>
        <p:spPr>
          <a:xfrm xmlns:a="http://schemas.openxmlformats.org/drawingml/2006/main">
            <a:off x="971550" y="2190750"/>
            <a:ext cx="342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27000" algn="l">
              <a:spcAft>
                <a:spcPts val="700"/>
              </a:spcAft>
              <a:buChar char="•"/>
              <a:defRPr sz="1650" b="0" i="0">
                <a:solidFill>
                  <a:srgbClr val="102338"/>
                </a:solidFill>
                <a:latin typeface="Helvetica Neue"/>
                <a:ea typeface="Helvetica Neue"/>
                <a:cs typeface="Helvetica Neue"/>
              </a:defRPr>
            </a:pPr>
            <a:r>
              <a:rPr sz="1650" b="0" i="0">
                <a:solidFill>
                  <a:srgbClr val="102338"/>
                </a:solidFill>
                <a:latin typeface="Helvetica Neue"/>
                <a:ea typeface="Helvetica Neue"/>
                <a:cs typeface="Helvetica Neue"/>
              </a:rPr>
              <a:t>Normal</a:t>
            </a:r>
          </a:p>
          <a:p xmlns:a="http://schemas.openxmlformats.org/drawingml/2006/main">
            <a:pPr marL="266700" indent="-127000" algn="l">
              <a:spcAft>
                <a:spcPts val="700"/>
              </a:spcAft>
              <a:buChar char="•"/>
              <a:defRPr sz="1650" b="0" i="0">
                <a:solidFill>
                  <a:srgbClr val="102338"/>
                </a:solidFill>
                <a:latin typeface="Helvetica Neue"/>
                <a:ea typeface="Helvetica Neue"/>
                <a:cs typeface="Helvetica Neue"/>
              </a:defRPr>
            </a:pPr>
            <a:r>
              <a:rPr sz="1650" b="0" i="0">
                <a:solidFill>
                  <a:srgbClr val="102338"/>
                </a:solidFill>
                <a:latin typeface="Helvetica Neue"/>
                <a:ea typeface="Helvetica Neue"/>
                <a:cs typeface="Helvetica Neue"/>
              </a:rPr>
              <a:t>Fine / Coarse Crackle</a:t>
            </a:r>
          </a:p>
          <a:p xmlns:a="http://schemas.openxmlformats.org/drawingml/2006/main">
            <a:pPr marL="266700" indent="-127000" algn="l">
              <a:spcAft>
                <a:spcPts val="700"/>
              </a:spcAft>
              <a:buChar char="•"/>
              <a:defRPr sz="1650" b="0" i="0">
                <a:solidFill>
                  <a:srgbClr val="102338"/>
                </a:solidFill>
                <a:latin typeface="Helvetica Neue"/>
                <a:ea typeface="Helvetica Neue"/>
                <a:cs typeface="Helvetica Neue"/>
              </a:defRPr>
            </a:pPr>
            <a:r>
              <a:rPr sz="1650" b="0" i="0">
                <a:solidFill>
                  <a:srgbClr val="102338"/>
                </a:solidFill>
                <a:latin typeface="Helvetica Neue"/>
                <a:ea typeface="Helvetica Neue"/>
                <a:cs typeface="Helvetica Neue"/>
              </a:rPr>
              <a:t>Wheeze and combined labels</a:t>
            </a:r>
          </a:p>
          <a:p xmlns:a="http://schemas.openxmlformats.org/drawingml/2006/main">
            <a:pPr marL="266700" indent="-127000" algn="l">
              <a:spcAft>
                <a:spcPts val="700"/>
              </a:spcAft>
              <a:buChar char="•"/>
              <a:defRPr sz="1650" b="0" i="0">
                <a:solidFill>
                  <a:srgbClr val="102338"/>
                </a:solidFill>
                <a:latin typeface="Helvetica Neue"/>
                <a:ea typeface="Helvetica Neue"/>
                <a:cs typeface="Helvetica Neue"/>
              </a:defRPr>
            </a:pPr>
            <a:r>
              <a:rPr sz="1650" b="0" i="0">
                <a:solidFill>
                  <a:srgbClr val="102338"/>
                </a:solidFill>
                <a:latin typeface="Helvetica Neue"/>
                <a:ea typeface="Helvetica Neue"/>
                <a:cs typeface="Helvetica Neue"/>
              </a:rPr>
              <a:t>Rhonchi / Stridor</a:t>
            </a:r>
          </a:p>
        </p:txBody>
      </p:sp>
      <p:sp>
        <p:nvSpPr>
          <p:cNvPr id="7" name="">
            <a:extLst xmlns:a="http://schemas.openxmlformats.org/drawingml/2006/main">
              <a:ext uri="{FF2B5EF4-FFF2-40B4-BE49-F238E27FC236}">
                <a16:creationId xmlns:a16="http://schemas.microsoft.com/office/drawing/2014/main" id="{0344A303-866D-4D92-A92C-96F77AF3BA7F}"/>
              </a:ext>
            </a:extLst>
          </p:cNvPr>
          <p:cNvSpPr>
            <a:spLocks xmlns:a="http://schemas.openxmlformats.org/drawingml/2006/main" noGrp="1"/>
          </p:cNvSpPr>
          <p:nvPr/>
        </p:nvSpPr>
        <p:spPr>
          <a:xfrm xmlns:a="http://schemas.openxmlformats.org/drawingml/2006/main">
            <a:off x="5238750" y="2247900"/>
            <a:ext cx="1714500" cy="1066800"/>
          </a:xfrm>
          <a:prstGeom xmlns:a="http://schemas.openxmlformats.org/drawingml/2006/main" prst="roundRect">
            <a:avLst>
              <a:gd name="adj" fmla="val 16071"/>
            </a:avLst>
          </a:prstGeom>
          <a:solidFill xmlns:a="http://schemas.openxmlformats.org/drawingml/2006/main">
            <a:srgbClr val="F0ECFA"/>
          </a:solidFill>
          <a:ln xmlns:a="http://schemas.openxmlformats.org/drawingml/2006/main" w="14288">
            <a:solidFill>
              <a:srgbClr val="6D4CC2"/>
            </a:solid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defRPr sz="1725" b="1" i="0">
                <a:solidFill>
                  <a:srgbClr val="6D4CC2"/>
                </a:solidFill>
                <a:latin typeface="Helvetica Neue"/>
                <a:ea typeface="Helvetica Neue"/>
                <a:cs typeface="Helvetica Neue"/>
              </a:defRPr>
            </a:pPr>
            <a:r>
              <a:rPr sz="1725" b="1" i="0">
                <a:solidFill>
                  <a:srgbClr val="6D4CC2"/>
                </a:solidFill>
                <a:latin typeface="Helvetica Neue"/>
                <a:ea typeface="Helvetica Neue"/>
                <a:cs typeface="Helvetica Neue"/>
              </a:rPr>
              <a:t>Shared acoustic</a:t>
            </a:r>
          </a:p>
          <a:p xmlns:a="http://schemas.openxmlformats.org/drawingml/2006/main">
            <a:pPr algn="ctr">
              <a:defRPr sz="1725" b="1" i="0">
                <a:solidFill>
                  <a:srgbClr val="6D4CC2"/>
                </a:solidFill>
                <a:latin typeface="Helvetica Neue"/>
                <a:ea typeface="Helvetica Neue"/>
                <a:cs typeface="Helvetica Neue"/>
              </a:defRPr>
            </a:pPr>
            <a:r>
              <a:rPr sz="1725" b="1" i="0">
                <a:solidFill>
                  <a:srgbClr val="6D4CC2"/>
                </a:solidFill>
                <a:latin typeface="Helvetica Neue"/>
                <a:ea typeface="Helvetica Neue"/>
                <a:cs typeface="Helvetica Neue"/>
              </a:rPr>
              <a:t>attributes</a:t>
            </a:r>
          </a:p>
          <a:p xmlns:a="http://schemas.openxmlformats.org/drawingml/2006/main">
            <a:pPr algn="ctr">
              <a:defRPr sz="1725" b="1" i="0">
                <a:solidFill>
                  <a:srgbClr val="6D4CC2"/>
                </a:solidFill>
                <a:latin typeface="Helvetica Neue"/>
                <a:ea typeface="Helvetica Neue"/>
                <a:cs typeface="Helvetica Neue"/>
              </a:defRPr>
            </a:pPr>
            <a:r>
              <a:rPr sz="1725" b="1" i="0">
                <a:solidFill>
                  <a:srgbClr val="6D4CC2"/>
                </a:solidFill>
                <a:latin typeface="Helvetica Neue"/>
                <a:ea typeface="Helvetica Neue"/>
                <a:cs typeface="Helvetica Neue"/>
              </a:rPr>
              <a:t>A, C, W</a:t>
            </a:r>
          </a:p>
        </p:txBody>
      </p:sp>
      <p:sp>
        <p:nvSpPr>
          <p:cNvPr id="8" name="">
            <a:extLst xmlns:a="http://schemas.openxmlformats.org/drawingml/2006/main">
              <a:ext uri="{FF2B5EF4-FFF2-40B4-BE49-F238E27FC236}">
                <a16:creationId xmlns:a16="http://schemas.microsoft.com/office/drawing/2014/main" id="{DD44037D-3567-49DE-843E-55C83C1B757B}"/>
              </a:ext>
            </a:extLst>
          </p:cNvPr>
          <p:cNvSpPr>
            <a:spLocks xmlns:a="http://schemas.openxmlformats.org/drawingml/2006/main" noGrp="1"/>
          </p:cNvSpPr>
          <p:nvPr/>
        </p:nvSpPr>
        <p:spPr>
          <a:xfrm xmlns:a="http://schemas.openxmlformats.org/drawingml/2006/main">
            <a:off x="7429500" y="1524000"/>
            <a:ext cx="4095750" cy="2667000"/>
          </a:xfrm>
          <a:prstGeom xmlns:a="http://schemas.openxmlformats.org/drawingml/2006/main" prst="roundRect">
            <a:avLst>
              <a:gd name="adj" fmla="val 6429"/>
            </a:avLst>
          </a:prstGeom>
          <a:solidFill xmlns:a="http://schemas.openxmlformats.org/drawingml/2006/main">
            <a:srgbClr val="EAF3F9"/>
          </a:solidFill>
          <a:ln xmlns:a="http://schemas.openxmlformats.org/drawingml/2006/main" w="14288">
            <a:solidFill>
              <a:srgbClr val="2D73A4"/>
            </a:solidFill>
            <a:prstDash val="solid"/>
          </a:ln>
        </p:spPr>
      </p:sp>
      <p:sp>
        <p:nvSpPr>
          <p:cNvPr id="9" name="">
            <a:extLst xmlns:a="http://schemas.openxmlformats.org/drawingml/2006/main">
              <a:ext uri="{FF2B5EF4-FFF2-40B4-BE49-F238E27FC236}">
                <a16:creationId xmlns:a16="http://schemas.microsoft.com/office/drawing/2014/main" id="{BEF9A840-43B8-47AD-8467-E14EEA2C12BE}"/>
              </a:ext>
            </a:extLst>
          </p:cNvPr>
          <p:cNvSpPr>
            <a:spLocks xmlns:a="http://schemas.openxmlformats.org/drawingml/2006/main" noGrp="1"/>
          </p:cNvSpPr>
          <p:nvPr/>
        </p:nvSpPr>
        <p:spPr>
          <a:xfrm xmlns:a="http://schemas.openxmlformats.org/drawingml/2006/main">
            <a:off x="7696200" y="175260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2D73A4"/>
                </a:solidFill>
                <a:latin typeface="Helvetica Neue"/>
                <a:ea typeface="Helvetica Neue"/>
                <a:cs typeface="Helvetica Neue"/>
              </a:defRPr>
            </a:pPr>
            <a:r>
              <a:rPr sz="1875" b="1" i="0">
                <a:solidFill>
                  <a:srgbClr val="2D73A4"/>
                </a:solidFill>
                <a:latin typeface="Helvetica Neue"/>
                <a:ea typeface="Helvetica Neue"/>
                <a:cs typeface="Helvetica Neue"/>
              </a:rPr>
              <a:t>ICBHI cycle task</a:t>
            </a:r>
          </a:p>
        </p:txBody>
      </p:sp>
      <p:sp>
        <p:nvSpPr>
          <p:cNvPr id="10" name="">
            <a:extLst xmlns:a="http://schemas.openxmlformats.org/drawingml/2006/main">
              <a:ext uri="{FF2B5EF4-FFF2-40B4-BE49-F238E27FC236}">
                <a16:creationId xmlns:a16="http://schemas.microsoft.com/office/drawing/2014/main" id="{CA254868-22C4-4D74-96A8-BEC2C63A58D8}"/>
              </a:ext>
            </a:extLst>
          </p:cNvPr>
          <p:cNvSpPr>
            <a:spLocks xmlns:a="http://schemas.openxmlformats.org/drawingml/2006/main" noGrp="1"/>
          </p:cNvSpPr>
          <p:nvPr/>
        </p:nvSpPr>
        <p:spPr>
          <a:xfrm xmlns:a="http://schemas.openxmlformats.org/drawingml/2006/main">
            <a:off x="7734300" y="2190750"/>
            <a:ext cx="3333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27000" algn="l">
              <a:spcAft>
                <a:spcPts val="700"/>
              </a:spcAft>
              <a:buChar char="•"/>
              <a:defRPr sz="1650" b="0" i="0">
                <a:solidFill>
                  <a:srgbClr val="102338"/>
                </a:solidFill>
                <a:latin typeface="Helvetica Neue"/>
                <a:ea typeface="Helvetica Neue"/>
                <a:cs typeface="Helvetica Neue"/>
              </a:defRPr>
            </a:pPr>
            <a:r>
              <a:rPr sz="1650" b="0" i="0">
                <a:solidFill>
                  <a:srgbClr val="102338"/>
                </a:solidFill>
                <a:latin typeface="Helvetica Neue"/>
                <a:ea typeface="Helvetica Neue"/>
                <a:cs typeface="Helvetica Neue"/>
              </a:rPr>
              <a:t>Normal</a:t>
            </a:r>
          </a:p>
          <a:p xmlns:a="http://schemas.openxmlformats.org/drawingml/2006/main">
            <a:pPr marL="266700" indent="-127000" algn="l">
              <a:spcAft>
                <a:spcPts val="700"/>
              </a:spcAft>
              <a:buChar char="•"/>
              <a:defRPr sz="1650" b="0" i="0">
                <a:solidFill>
                  <a:srgbClr val="102338"/>
                </a:solidFill>
                <a:latin typeface="Helvetica Neue"/>
                <a:ea typeface="Helvetica Neue"/>
                <a:cs typeface="Helvetica Neue"/>
              </a:defRPr>
            </a:pPr>
            <a:r>
              <a:rPr sz="1650" b="0" i="0">
                <a:solidFill>
                  <a:srgbClr val="102338"/>
                </a:solidFill>
                <a:latin typeface="Helvetica Neue"/>
                <a:ea typeface="Helvetica Neue"/>
                <a:cs typeface="Helvetica Neue"/>
              </a:rPr>
              <a:t>Crackle</a:t>
            </a:r>
          </a:p>
          <a:p xmlns:a="http://schemas.openxmlformats.org/drawingml/2006/main">
            <a:pPr marL="266700" indent="-127000" algn="l">
              <a:spcAft>
                <a:spcPts val="700"/>
              </a:spcAft>
              <a:buChar char="•"/>
              <a:defRPr sz="1650" b="0" i="0">
                <a:solidFill>
                  <a:srgbClr val="102338"/>
                </a:solidFill>
                <a:latin typeface="Helvetica Neue"/>
                <a:ea typeface="Helvetica Neue"/>
                <a:cs typeface="Helvetica Neue"/>
              </a:defRPr>
            </a:pPr>
            <a:r>
              <a:rPr sz="1650" b="0" i="0">
                <a:solidFill>
                  <a:srgbClr val="102338"/>
                </a:solidFill>
                <a:latin typeface="Helvetica Neue"/>
                <a:ea typeface="Helvetica Neue"/>
                <a:cs typeface="Helvetica Neue"/>
              </a:rPr>
              <a:t>Wheeze</a:t>
            </a:r>
          </a:p>
          <a:p xmlns:a="http://schemas.openxmlformats.org/drawingml/2006/main">
            <a:pPr marL="266700" indent="-127000" algn="l">
              <a:spcAft>
                <a:spcPts val="700"/>
              </a:spcAft>
              <a:buChar char="•"/>
              <a:defRPr sz="1650" b="0" i="0">
                <a:solidFill>
                  <a:srgbClr val="102338"/>
                </a:solidFill>
                <a:latin typeface="Helvetica Neue"/>
                <a:ea typeface="Helvetica Neue"/>
                <a:cs typeface="Helvetica Neue"/>
              </a:defRPr>
            </a:pPr>
            <a:r>
              <a:rPr sz="1650" b="0" i="0">
                <a:solidFill>
                  <a:srgbClr val="102338"/>
                </a:solidFill>
                <a:latin typeface="Helvetica Neue"/>
                <a:ea typeface="Helvetica Neue"/>
                <a:cs typeface="Helvetica Neue"/>
              </a:rPr>
              <a:t>Both = crackle + wheeze</a:t>
            </a:r>
          </a:p>
        </p:txBody>
      </p:sp>
      <p:cxnSp>
        <p:nvCxnSpPr>
          <p:cNvPr id="29" name=""/>
          <p:cNvCxnSpPr>
            <a:stCxn xmlns:a="http://schemas.openxmlformats.org/drawingml/2006/main" id="4" idx="3"/>
            <a:endCxn xmlns:a="http://schemas.openxmlformats.org/drawingml/2006/main" id="7" idx="1"/>
          </p:cNvCxnSpPr>
          <p:nvPr/>
        </p:nvCxnSpPr>
        <p:spPr>
          <a:xfrm xmlns:a="http://schemas.openxmlformats.org/drawingml/2006/main" flipV="1">
            <a:off x="4762500" y="2781300"/>
            <a:ext cx="476250" cy="76200"/>
          </a:xfrm>
          <a:prstGeom xmlns:a="http://schemas.openxmlformats.org/drawingml/2006/main" prst="bentConnector3">
            <a:avLst>
              <a:gd name="adj1" fmla="val 50000"/>
            </a:avLst>
          </a:prstGeom>
          <a:ln xmlns:a="http://schemas.openxmlformats.org/drawingml/2006/main" w="23813">
            <a:solidFill>
              <a:srgbClr val="2E8B78"/>
            </a:solidFill>
            <a:prstDash val="solid"/>
            <a:tailEnd type="arrow" w="med" len="med"/>
          </a:ln>
        </p:spPr>
      </p:cxnSp>
      <p:cxnSp>
        <p:nvCxnSpPr>
          <p:cNvPr id="30" name=""/>
          <p:cNvCxnSpPr>
            <a:stCxn xmlns:a="http://schemas.openxmlformats.org/drawingml/2006/main" id="7" idx="3"/>
            <a:endCxn xmlns:a="http://schemas.openxmlformats.org/drawingml/2006/main" id="8" idx="1"/>
          </p:cNvCxnSpPr>
          <p:nvPr/>
        </p:nvCxnSpPr>
        <p:spPr>
          <a:xfrm xmlns:a="http://schemas.openxmlformats.org/drawingml/2006/main">
            <a:off x="6953250" y="2781300"/>
            <a:ext cx="476250" cy="76200"/>
          </a:xfrm>
          <a:prstGeom xmlns:a="http://schemas.openxmlformats.org/drawingml/2006/main" prst="bentConnector3">
            <a:avLst>
              <a:gd name="adj1" fmla="val 50000"/>
            </a:avLst>
          </a:prstGeom>
          <a:ln xmlns:a="http://schemas.openxmlformats.org/drawingml/2006/main" w="23813">
            <a:solidFill>
              <a:srgbClr val="2D73A4"/>
            </a:solidFill>
            <a:prstDash val="solid"/>
            <a:tailEnd type="arrow" w="med" len="med"/>
          </a:ln>
        </p:spPr>
      </p:cxnSp>
      <p:sp>
        <p:nvSpPr>
          <p:cNvPr id="13" name="">
            <a:extLst xmlns:a="http://schemas.openxmlformats.org/drawingml/2006/main">
              <a:ext uri="{FF2B5EF4-FFF2-40B4-BE49-F238E27FC236}">
                <a16:creationId xmlns:a16="http://schemas.microsoft.com/office/drawing/2014/main" id="{3F1D2E83-D826-4F12-A70E-C8F5CDCA03A4}"/>
              </a:ext>
            </a:extLst>
          </p:cNvPr>
          <p:cNvSpPr>
            <a:spLocks xmlns:a="http://schemas.openxmlformats.org/drawingml/2006/main" noGrp="1"/>
          </p:cNvSpPr>
          <p:nvPr/>
        </p:nvSpPr>
        <p:spPr>
          <a:xfrm xmlns:a="http://schemas.openxmlformats.org/drawingml/2006/main">
            <a:off x="4819650" y="1828800"/>
            <a:ext cx="2647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i="0">
                <a:solidFill>
                  <a:srgbClr val="5C6B79"/>
                </a:solidFill>
                <a:latin typeface="Helvetica Neue"/>
                <a:ea typeface="Helvetica Neue"/>
                <a:cs typeface="Helvetica Neue"/>
              </a:defRPr>
            </a:pPr>
            <a:r>
              <a:rPr sz="1200" b="0" i="0">
                <a:solidFill>
                  <a:srgbClr val="5C6B79"/>
                </a:solidFill>
                <a:latin typeface="Helvetica Neue"/>
                <a:ea typeface="Helvetica Neue"/>
                <a:cs typeface="Helvetica Neue"/>
              </a:rPr>
              <a:t>related cues, different outputs</a:t>
            </a:r>
          </a:p>
        </p:txBody>
      </p:sp>
      <p:sp>
        <p:nvSpPr>
          <p:cNvPr id="14" name="">
            <a:extLst xmlns:a="http://schemas.openxmlformats.org/drawingml/2006/main">
              <a:ext uri="{FF2B5EF4-FFF2-40B4-BE49-F238E27FC236}">
                <a16:creationId xmlns:a16="http://schemas.microsoft.com/office/drawing/2014/main" id="{ED8851B6-B54C-489C-AD44-3EAB5A5F8110}"/>
              </a:ext>
            </a:extLst>
          </p:cNvPr>
          <p:cNvSpPr>
            <a:spLocks xmlns:a="http://schemas.openxmlformats.org/drawingml/2006/main" noGrp="1"/>
          </p:cNvSpPr>
          <p:nvPr/>
        </p:nvSpPr>
        <p:spPr>
          <a:xfrm xmlns:a="http://schemas.openxmlformats.org/drawingml/2006/main">
            <a:off x="666750" y="4638675"/>
            <a:ext cx="10858500" cy="1057275"/>
          </a:xfrm>
          <a:prstGeom xmlns:a="http://schemas.openxmlformats.org/drawingml/2006/main" prst="roundRect">
            <a:avLst>
              <a:gd name="adj" fmla="val 14414"/>
            </a:avLst>
          </a:prstGeom>
          <a:solidFill xmlns:a="http://schemas.openxmlformats.org/drawingml/2006/main">
            <a:srgbClr val="F5F8FB"/>
          </a:solidFill>
          <a:ln xmlns:a="http://schemas.openxmlformats.org/drawingml/2006/main" w="9525">
            <a:solidFill>
              <a:srgbClr val="D6E0E8"/>
            </a:solidFill>
            <a:prstDash val="solid"/>
          </a:ln>
        </p:spPr>
      </p:sp>
      <p:sp>
        <p:nvSpPr>
          <p:cNvPr id="15" name="">
            <a:extLst xmlns:a="http://schemas.openxmlformats.org/drawingml/2006/main">
              <a:ext uri="{FF2B5EF4-FFF2-40B4-BE49-F238E27FC236}">
                <a16:creationId xmlns:a16="http://schemas.microsoft.com/office/drawing/2014/main" id="{9B52FA29-C2B1-4569-AD8E-8E1E5F739727}"/>
              </a:ext>
            </a:extLst>
          </p:cNvPr>
          <p:cNvSpPr>
            <a:spLocks xmlns:a="http://schemas.openxmlformats.org/drawingml/2006/main" noGrp="1"/>
          </p:cNvSpPr>
          <p:nvPr/>
        </p:nvSpPr>
        <p:spPr>
          <a:xfrm xmlns:a="http://schemas.openxmlformats.org/drawingml/2006/main">
            <a:off x="933450" y="48387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52400" tIns="0" rIns="152400" bIns="0" anchor="ctr">
            <a:noAutofit/>
          </a:bodyPr>
          <a:lstStyle xmlns:a="http://schemas.openxmlformats.org/drawingml/2006/main"/>
          <a:p xmlns:a="http://schemas.openxmlformats.org/drawingml/2006/main">
            <a:pPr algn="ctr">
              <a:defRPr sz="1875" b="1" i="0">
                <a:solidFill>
                  <a:srgbClr val="16324F"/>
                </a:solidFill>
                <a:latin typeface="Helvetica Neue"/>
                <a:ea typeface="Helvetica Neue"/>
                <a:cs typeface="Helvetica Neue"/>
              </a:defRPr>
            </a:pPr>
            <a:r>
              <a:rPr sz="1875" b="1" i="0">
                <a:solidFill>
                  <a:srgbClr val="16324F"/>
                </a:solidFill>
                <a:latin typeface="Helvetica Neue"/>
                <a:ea typeface="Helvetica Neue"/>
                <a:cs typeface="Helvetica Neue"/>
              </a:rPr>
              <a:t>The gap is a cross-task interface: reuse the sound-type information that is present, while keeping each dataset's native prediction unit and target.</a:t>
            </a:r>
          </a:p>
        </p:txBody>
      </p:sp>
      <p:sp>
        <p:nvSpPr>
          <p:cNvPr id="16" name="">
            <a:extLst xmlns:a="http://schemas.openxmlformats.org/drawingml/2006/main">
              <a:ext uri="{FF2B5EF4-FFF2-40B4-BE49-F238E27FC236}">
                <a16:creationId xmlns:a16="http://schemas.microsoft.com/office/drawing/2014/main" id="{86B940CA-F90C-41BA-9899-954A07C91ECE}"/>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rect">
            <a:avLst/>
          </a:prstGeom>
          <a:solidFill xmlns:a="http://schemas.openxmlformats.org/drawingml/2006/main">
            <a:srgbClr val="D6E0E8"/>
          </a:solidFill>
          <a:ln xmlns:a="http://schemas.openxmlformats.org/drawingml/2006/main" w="0">
            <a:solidFill>
              <a:srgbClr val="D6E0E8"/>
            </a:solidFill>
            <a:prstDash val="solid"/>
          </a:ln>
        </p:spPr>
      </p:sp>
      <p:sp>
        <p:nvSpPr>
          <p:cNvPr id="17" name="">
            <a:extLst xmlns:a="http://schemas.openxmlformats.org/drawingml/2006/main">
              <a:ext uri="{FF2B5EF4-FFF2-40B4-BE49-F238E27FC236}">
                <a16:creationId xmlns:a16="http://schemas.microsoft.com/office/drawing/2014/main" id="{7BF3F009-402E-4489-A38F-81CCA9559A69}"/>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NIcE X F26 Lab Meeting   18 September 2026</a:t>
            </a:r>
          </a:p>
        </p:txBody>
      </p:sp>
      <p:sp>
        <p:nvSpPr>
          <p:cNvPr id="18" name="">
            <a:extLst xmlns:a="http://schemas.openxmlformats.org/drawingml/2006/main">
              <a:ext uri="{FF2B5EF4-FFF2-40B4-BE49-F238E27FC236}">
                <a16:creationId xmlns:a16="http://schemas.microsoft.com/office/drawing/2014/main" id="{531E699F-82EA-4466-87FB-E80606FD1089}"/>
              </a:ext>
            </a:extLst>
          </p:cNvPr>
          <p:cNvSpPr>
            <a:spLocks xmlns:a="http://schemas.openxmlformats.org/drawingml/2006/main" noGrp="1"/>
          </p:cNvSpPr>
          <p:nvPr/>
        </p:nvSpPr>
        <p:spPr>
          <a:xfrm xmlns:a="http://schemas.openxmlformats.org/drawingml/2006/main">
            <a:off x="9810750" y="6496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3 / 11</a:t>
            </a:r>
          </a:p>
        </p:txBody>
      </p:sp>
    </p:spTree>
    <p:extLst>
      <p:ext uri="{BB962C8B-B14F-4D97-AF65-F5344CB8AC3E}">
        <p14:creationId xmlns:p14="http://schemas.microsoft.com/office/powerpoint/2010/main" val="11507274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B92CBCD-0A10-403A-B809-0EC37C4FF4B1}"/>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6D4CC2"/>
          </a:solidFill>
          <a:ln xmlns:a="http://schemas.openxmlformats.org/drawingml/2006/main" w="0">
            <a:solidFill>
              <a:srgbClr val="6D4CC2"/>
            </a:solidFill>
            <a:prstDash val="solid"/>
          </a:ln>
        </p:spPr>
      </p:sp>
      <p:sp>
        <p:nvSpPr>
          <p:cNvPr id="2" name="">
            <a:extLst xmlns:a="http://schemas.openxmlformats.org/drawingml/2006/main">
              <a:ext uri="{FF2B5EF4-FFF2-40B4-BE49-F238E27FC236}">
                <a16:creationId xmlns:a16="http://schemas.microsoft.com/office/drawing/2014/main" id="{CED69232-752C-4942-BD0D-7682FB7F7384}"/>
              </a:ext>
            </a:extLst>
          </p:cNvPr>
          <p:cNvSpPr>
            <a:spLocks xmlns:a="http://schemas.openxmlformats.org/drawingml/2006/main" noGrp="1"/>
          </p:cNvSpPr>
          <p:nvPr/>
        </p:nvSpPr>
        <p:spPr>
          <a:xfrm xmlns:a="http://schemas.openxmlformats.org/drawingml/2006/main">
            <a:off x="647700" y="38100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i="0">
                <a:solidFill>
                  <a:srgbClr val="16324F"/>
                </a:solidFill>
                <a:latin typeface="Helvetica Neue"/>
                <a:ea typeface="Helvetica Neue"/>
                <a:cs typeface="Helvetica Neue"/>
              </a:defRPr>
            </a:pPr>
            <a:r>
              <a:rPr sz="2850" b="1" i="0">
                <a:solidFill>
                  <a:srgbClr val="16324F"/>
                </a:solidFill>
                <a:latin typeface="Helvetica Neue"/>
                <a:ea typeface="Helvetica Neue"/>
                <a:cs typeface="Helvetica Neue"/>
              </a:rPr>
              <a:t>Problem formulation: shared attributes, distinct native outputs</a:t>
            </a:r>
          </a:p>
        </p:txBody>
      </p:sp>
      <p:sp>
        <p:nvSpPr>
          <p:cNvPr id="3" name="">
            <a:extLst xmlns:a="http://schemas.openxmlformats.org/drawingml/2006/main">
              <a:ext uri="{FF2B5EF4-FFF2-40B4-BE49-F238E27FC236}">
                <a16:creationId xmlns:a16="http://schemas.microsoft.com/office/drawing/2014/main" id="{FD98BB0D-250A-4DA6-8E0E-B5E58E9C1DB9}"/>
              </a:ext>
            </a:extLst>
          </p:cNvPr>
          <p:cNvSpPr>
            <a:spLocks xmlns:a="http://schemas.openxmlformats.org/drawingml/2006/main" noGrp="1"/>
          </p:cNvSpPr>
          <p:nvPr/>
        </p:nvSpPr>
        <p:spPr>
          <a:xfrm xmlns:a="http://schemas.openxmlformats.org/drawingml/2006/main">
            <a:off x="666750" y="9525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5C6B79"/>
                </a:solidFill>
                <a:latin typeface="Helvetica Neue"/>
                <a:ea typeface="Helvetica Neue"/>
                <a:cs typeface="Helvetica Neue"/>
              </a:defRPr>
            </a:pPr>
            <a:r>
              <a:rPr sz="1425" b="0" i="0">
                <a:solidFill>
                  <a:srgbClr val="5C6B79"/>
                </a:solidFill>
                <a:latin typeface="Helvetica Neue"/>
                <a:ea typeface="Helvetica Neue"/>
                <a:cs typeface="Helvetica Neue"/>
              </a:rPr>
              <a:t>Each annotation supervises only the attributes it supports</a:t>
            </a:r>
          </a:p>
        </p:txBody>
      </p:sp>
      <p:sp>
        <p:nvSpPr>
          <p:cNvPr id="4" name="">
            <a:extLst xmlns:a="http://schemas.openxmlformats.org/drawingml/2006/main">
              <a:ext uri="{FF2B5EF4-FFF2-40B4-BE49-F238E27FC236}">
                <a16:creationId xmlns:a16="http://schemas.microsoft.com/office/drawing/2014/main" id="{2DAC2704-77C7-4810-993D-160D89C86B39}"/>
              </a:ext>
            </a:extLst>
          </p:cNvPr>
          <p:cNvSpPr>
            <a:spLocks xmlns:a="http://schemas.openxmlformats.org/drawingml/2006/main" noGrp="1"/>
          </p:cNvSpPr>
          <p:nvPr/>
        </p:nvSpPr>
        <p:spPr>
          <a:xfrm xmlns:a="http://schemas.openxmlformats.org/drawingml/2006/main">
            <a:off x="666750" y="1562100"/>
            <a:ext cx="3067050" cy="3429000"/>
          </a:xfrm>
          <a:prstGeom xmlns:a="http://schemas.openxmlformats.org/drawingml/2006/main" prst="roundRect">
            <a:avLst>
              <a:gd name="adj" fmla="val 5590"/>
            </a:avLst>
          </a:prstGeom>
          <a:solidFill xmlns:a="http://schemas.openxmlformats.org/drawingml/2006/main">
            <a:srgbClr val="F5F8FB"/>
          </a:solidFill>
          <a:ln xmlns:a="http://schemas.openxmlformats.org/drawingml/2006/main" w="11430">
            <a:solidFill>
              <a:srgbClr val="D6E0E8"/>
            </a:solidFill>
            <a:prstDash val="solid"/>
          </a:ln>
        </p:spPr>
      </p:sp>
      <p:sp>
        <p:nvSpPr>
          <p:cNvPr id="5" name="">
            <a:extLst xmlns:a="http://schemas.openxmlformats.org/drawingml/2006/main">
              <a:ext uri="{FF2B5EF4-FFF2-40B4-BE49-F238E27FC236}">
                <a16:creationId xmlns:a16="http://schemas.microsoft.com/office/drawing/2014/main" id="{2854E63A-005A-44FE-82E6-C081A4B3F19F}"/>
              </a:ext>
            </a:extLst>
          </p:cNvPr>
          <p:cNvSpPr>
            <a:spLocks xmlns:a="http://schemas.openxmlformats.org/drawingml/2006/main" noGrp="1"/>
          </p:cNvSpPr>
          <p:nvPr/>
        </p:nvSpPr>
        <p:spPr>
          <a:xfrm xmlns:a="http://schemas.openxmlformats.org/drawingml/2006/main">
            <a:off x="914400" y="17907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16324F"/>
                </a:solidFill>
                <a:latin typeface="Helvetica Neue"/>
                <a:ea typeface="Helvetica Neue"/>
                <a:cs typeface="Helvetica Neue"/>
              </a:defRPr>
            </a:pPr>
            <a:r>
              <a:rPr sz="1875" b="1" i="0">
                <a:solidFill>
                  <a:srgbClr val="16324F"/>
                </a:solidFill>
                <a:latin typeface="Helvetica Neue"/>
                <a:ea typeface="Helvetica Neue"/>
                <a:cs typeface="Helvetica Neue"/>
              </a:rPr>
              <a:t>Source annotation</a:t>
            </a:r>
          </a:p>
        </p:txBody>
      </p:sp>
      <p:sp>
        <p:nvSpPr>
          <p:cNvPr id="6" name="">
            <a:extLst xmlns:a="http://schemas.openxmlformats.org/drawingml/2006/main">
              <a:ext uri="{FF2B5EF4-FFF2-40B4-BE49-F238E27FC236}">
                <a16:creationId xmlns:a16="http://schemas.microsoft.com/office/drawing/2014/main" id="{6058A3D4-0A5D-4D4A-BFDB-3891451BD34A}"/>
              </a:ext>
            </a:extLst>
          </p:cNvPr>
          <p:cNvSpPr>
            <a:spLocks xmlns:a="http://schemas.openxmlformats.org/drawingml/2006/main" noGrp="1"/>
          </p:cNvSpPr>
          <p:nvPr/>
        </p:nvSpPr>
        <p:spPr>
          <a:xfrm xmlns:a="http://schemas.openxmlformats.org/drawingml/2006/main">
            <a:off x="933450" y="2247900"/>
            <a:ext cx="255270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ICBHI cycle</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A / C / W supported</a:t>
            </a:r>
          </a:p>
          <a:p xmlns:a="http://schemas.openxmlformats.org/drawingml/2006/main">
            <a:r>
              <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SPRSound event</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Normal or Abnormal: A</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Fine / Coarse Crackle: A, C</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Wheeze: A, W</a:t>
            </a:r>
          </a:p>
          <a:p xmlns:a="http://schemas.openxmlformats.org/drawingml/2006/main">
            <a:pPr algn="l">
              <a:defRPr sz="1500" b="0" i="0">
                <a:solidFill>
                  <a:srgbClr val="102338"/>
                </a:solidFill>
                <a:latin typeface="Helvetica Neue"/>
                <a:ea typeface="Helvetica Neue"/>
                <a:cs typeface="Helvetica Neue"/>
              </a:defRPr>
            </a:pPr>
            <a:r>
              <a:rPr sz="1500" b="0" i="0">
                <a:solidFill>
                  <a:srgbClr val="102338"/>
                </a:solidFill>
                <a:latin typeface="Helvetica Neue"/>
                <a:ea typeface="Helvetica Neue"/>
                <a:cs typeface="Helvetica Neue"/>
              </a:rPr>
              <a:t>Rhonchi / Stridor: A</a:t>
            </a:r>
          </a:p>
        </p:txBody>
      </p:sp>
      <p:sp>
        <p:nvSpPr>
          <p:cNvPr id="7" name="">
            <a:extLst xmlns:a="http://schemas.openxmlformats.org/drawingml/2006/main">
              <a:ext uri="{FF2B5EF4-FFF2-40B4-BE49-F238E27FC236}">
                <a16:creationId xmlns:a16="http://schemas.microsoft.com/office/drawing/2014/main" id="{5142D7BF-073D-4F25-80A0-53B01D0543FB}"/>
              </a:ext>
            </a:extLst>
          </p:cNvPr>
          <p:cNvSpPr>
            <a:spLocks xmlns:a="http://schemas.openxmlformats.org/drawingml/2006/main" noGrp="1"/>
          </p:cNvSpPr>
          <p:nvPr/>
        </p:nvSpPr>
        <p:spPr>
          <a:xfrm xmlns:a="http://schemas.openxmlformats.org/drawingml/2006/main">
            <a:off x="4572000" y="2133600"/>
            <a:ext cx="2914650" cy="1657350"/>
          </a:xfrm>
          <a:prstGeom xmlns:a="http://schemas.openxmlformats.org/drawingml/2006/main" prst="roundRect">
            <a:avLst>
              <a:gd name="adj" fmla="val 11494"/>
            </a:avLst>
          </a:prstGeom>
          <a:solidFill xmlns:a="http://schemas.openxmlformats.org/drawingml/2006/main">
            <a:srgbClr val="EAF6F1"/>
          </a:solidFill>
          <a:ln xmlns:a="http://schemas.openxmlformats.org/drawingml/2006/main" w="16193">
            <a:solidFill>
              <a:srgbClr val="2E8B78"/>
            </a:solidFill>
            <a:prstDash val="solid"/>
          </a:ln>
        </p:spPr>
        <p:txBody>
          <a:bodyPr xmlns:a="http://schemas.openxmlformats.org/drawingml/2006/main" wrap="square" lIns="152400" tIns="95250" rIns="152400" bIns="95250" anchor="ctr">
            <a:noAutofit/>
          </a:bodyPr>
          <a:lstStyle xmlns:a="http://schemas.openxmlformats.org/drawingml/2006/main"/>
          <a:p xmlns:a="http://schemas.openxmlformats.org/drawingml/2006/main">
            <a:pPr algn="ctr">
              <a:defRPr sz="1800" b="1" i="0">
                <a:solidFill>
                  <a:srgbClr val="2E8B78"/>
                </a:solidFill>
                <a:latin typeface="Helvetica Neue"/>
                <a:ea typeface="Helvetica Neue"/>
                <a:cs typeface="Helvetica Neue"/>
              </a:defRPr>
            </a:pPr>
            <a:r>
              <a:rPr sz="1800" b="1" i="0">
                <a:solidFill>
                  <a:srgbClr val="2E8B78"/>
                </a:solidFill>
                <a:latin typeface="Helvetica Neue"/>
                <a:ea typeface="Helvetica Neue"/>
                <a:cs typeface="Helvetica Neue"/>
              </a:rPr>
              <a:t>pᵢ = (pᵢA, pᵢC, pᵢW)</a:t>
            </a:r>
          </a:p>
          <a:p xmlns:a="http://schemas.openxmlformats.org/drawingml/2006/main">
            <a:r>
              <a:t/>
            </a:r>
          </a:p>
          <a:p xmlns:a="http://schemas.openxmlformats.org/drawingml/2006/main">
            <a:pPr algn="ctr">
              <a:defRPr sz="1800" b="1" i="0">
                <a:solidFill>
                  <a:srgbClr val="2E8B78"/>
                </a:solidFill>
                <a:latin typeface="Helvetica Neue"/>
                <a:ea typeface="Helvetica Neue"/>
                <a:cs typeface="Helvetica Neue"/>
              </a:defRPr>
            </a:pPr>
            <a:r>
              <a:rPr sz="1800" b="1" i="0">
                <a:solidFill>
                  <a:srgbClr val="2E8B78"/>
                </a:solidFill>
                <a:latin typeface="Helvetica Neue"/>
                <a:ea typeface="Helvetica Neue"/>
                <a:cs typeface="Helvetica Neue"/>
              </a:rPr>
              <a:t>mask mᵢ = (mᵢA, mᵢC, mᵢW)</a:t>
            </a:r>
          </a:p>
          <a:p xmlns:a="http://schemas.openxmlformats.org/drawingml/2006/main">
            <a:pPr algn="ctr">
              <a:defRPr sz="1800" b="1" i="0">
                <a:solidFill>
                  <a:srgbClr val="2E8B78"/>
                </a:solidFill>
                <a:latin typeface="Helvetica Neue"/>
                <a:ea typeface="Helvetica Neue"/>
                <a:cs typeface="Helvetica Neue"/>
              </a:defRPr>
            </a:pPr>
            <a:r>
              <a:rPr sz="1800" b="1" i="0">
                <a:solidFill>
                  <a:srgbClr val="2E8B78"/>
                </a:solidFill>
                <a:latin typeface="Helvetica Neue"/>
                <a:ea typeface="Helvetica Neue"/>
                <a:cs typeface="Helvetica Neue"/>
              </a:rPr>
              <a:t>unknown ≠ negative</a:t>
            </a:r>
          </a:p>
        </p:txBody>
      </p:sp>
      <p:sp>
        <p:nvSpPr>
          <p:cNvPr id="8" name="">
            <a:extLst xmlns:a="http://schemas.openxmlformats.org/drawingml/2006/main">
              <a:ext uri="{FF2B5EF4-FFF2-40B4-BE49-F238E27FC236}">
                <a16:creationId xmlns:a16="http://schemas.microsoft.com/office/drawing/2014/main" id="{A8779CD7-920E-43DC-9FA4-CAA330E8B271}"/>
              </a:ext>
            </a:extLst>
          </p:cNvPr>
          <p:cNvSpPr>
            <a:spLocks xmlns:a="http://schemas.openxmlformats.org/drawingml/2006/main" noGrp="1"/>
          </p:cNvSpPr>
          <p:nvPr/>
        </p:nvSpPr>
        <p:spPr>
          <a:xfrm xmlns:a="http://schemas.openxmlformats.org/drawingml/2006/main">
            <a:off x="8324850" y="1562100"/>
            <a:ext cx="3200400" cy="3429000"/>
          </a:xfrm>
          <a:prstGeom xmlns:a="http://schemas.openxmlformats.org/drawingml/2006/main" prst="roundRect">
            <a:avLst>
              <a:gd name="adj" fmla="val 5357"/>
            </a:avLst>
          </a:prstGeom>
          <a:solidFill xmlns:a="http://schemas.openxmlformats.org/drawingml/2006/main">
            <a:srgbClr val="EAF3F9"/>
          </a:solidFill>
          <a:ln xmlns:a="http://schemas.openxmlformats.org/drawingml/2006/main" w="11430">
            <a:solidFill>
              <a:srgbClr val="2D73A4"/>
            </a:solidFill>
            <a:prstDash val="solid"/>
          </a:ln>
        </p:spPr>
      </p:sp>
      <p:sp>
        <p:nvSpPr>
          <p:cNvPr id="9" name="">
            <a:extLst xmlns:a="http://schemas.openxmlformats.org/drawingml/2006/main">
              <a:ext uri="{FF2B5EF4-FFF2-40B4-BE49-F238E27FC236}">
                <a16:creationId xmlns:a16="http://schemas.microsoft.com/office/drawing/2014/main" id="{2DFF5CD2-16E5-4BD2-8114-1CCADD7A4862}"/>
              </a:ext>
            </a:extLst>
          </p:cNvPr>
          <p:cNvSpPr>
            <a:spLocks xmlns:a="http://schemas.openxmlformats.org/drawingml/2006/main" noGrp="1"/>
          </p:cNvSpPr>
          <p:nvPr/>
        </p:nvSpPr>
        <p:spPr>
          <a:xfrm xmlns:a="http://schemas.openxmlformats.org/drawingml/2006/main">
            <a:off x="8572500" y="1790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2D73A4"/>
                </a:solidFill>
                <a:latin typeface="Helvetica Neue"/>
                <a:ea typeface="Helvetica Neue"/>
                <a:cs typeface="Helvetica Neue"/>
              </a:defRPr>
            </a:pPr>
            <a:r>
              <a:rPr sz="1875" b="1" i="0">
                <a:solidFill>
                  <a:srgbClr val="2D73A4"/>
                </a:solidFill>
                <a:latin typeface="Helvetica Neue"/>
                <a:ea typeface="Helvetica Neue"/>
                <a:cs typeface="Helvetica Neue"/>
              </a:rPr>
              <a:t>Native readouts</a:t>
            </a:r>
          </a:p>
        </p:txBody>
      </p:sp>
      <p:sp>
        <p:nvSpPr>
          <p:cNvPr id="10" name="">
            <a:extLst xmlns:a="http://schemas.openxmlformats.org/drawingml/2006/main">
              <a:ext uri="{FF2B5EF4-FFF2-40B4-BE49-F238E27FC236}">
                <a16:creationId xmlns:a16="http://schemas.microsoft.com/office/drawing/2014/main" id="{2B7575B1-A1D6-4159-9701-118D6CD65E9B}"/>
              </a:ext>
            </a:extLst>
          </p:cNvPr>
          <p:cNvSpPr>
            <a:spLocks xmlns:a="http://schemas.openxmlformats.org/drawingml/2006/main" noGrp="1"/>
          </p:cNvSpPr>
          <p:nvPr/>
        </p:nvSpPr>
        <p:spPr>
          <a:xfrm xmlns:a="http://schemas.openxmlformats.org/drawingml/2006/main">
            <a:off x="8572500" y="2247900"/>
            <a:ext cx="2686050" cy="2590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102338"/>
                </a:solidFill>
                <a:latin typeface="Helvetica Neue"/>
                <a:ea typeface="Helvetica Neue"/>
                <a:cs typeface="Helvetica Neue"/>
              </a:defRPr>
            </a:pPr>
            <a:r>
              <a:rPr sz="1350" b="0" i="0">
                <a:solidFill>
                  <a:srgbClr val="102338"/>
                </a:solidFill>
                <a:latin typeface="Helvetica Neue"/>
                <a:ea typeface="Helvetica Neue"/>
                <a:cs typeface="Helvetica Neue"/>
              </a:rPr>
              <a:t>ICBHI</a:t>
            </a:r>
          </a:p>
          <a:p xmlns:a="http://schemas.openxmlformats.org/drawingml/2006/main">
            <a:pPr algn="l">
              <a:defRPr sz="1350" b="0" i="0">
                <a:solidFill>
                  <a:srgbClr val="102338"/>
                </a:solidFill>
                <a:latin typeface="Helvetica Neue"/>
                <a:ea typeface="Helvetica Neue"/>
                <a:cs typeface="Helvetica Neue"/>
              </a:defRPr>
            </a:pPr>
            <a:r>
              <a:rPr sz="1350" b="0" i="0">
                <a:solidFill>
                  <a:srgbClr val="102338"/>
                </a:solidFill>
                <a:latin typeface="Helvetica Neue"/>
                <a:ea typeface="Helvetica Neue"/>
                <a:cs typeface="Helvetica Neue"/>
              </a:rPr>
              <a:t>A gate + C/W decode</a:t>
            </a:r>
          </a:p>
          <a:p xmlns:a="http://schemas.openxmlformats.org/drawingml/2006/main">
            <a:pPr algn="l">
              <a:defRPr sz="1350" b="0" i="0">
                <a:solidFill>
                  <a:srgbClr val="102338"/>
                </a:solidFill>
                <a:latin typeface="Helvetica Neue"/>
                <a:ea typeface="Helvetica Neue"/>
                <a:cs typeface="Helvetica Neue"/>
              </a:defRPr>
            </a:pPr>
            <a:r>
              <a:rPr sz="1350" b="0" i="0">
                <a:solidFill>
                  <a:srgbClr val="102338"/>
                </a:solidFill>
                <a:latin typeface="Helvetica Neue"/>
                <a:ea typeface="Helvetica Neue"/>
                <a:cs typeface="Helvetica Neue"/>
              </a:rPr>
              <a:t>→ four classes</a:t>
            </a:r>
          </a:p>
          <a:p xmlns:a="http://schemas.openxmlformats.org/drawingml/2006/main">
            <a:r>
              <a:t/>
            </a:r>
          </a:p>
          <a:p xmlns:a="http://schemas.openxmlformats.org/drawingml/2006/main">
            <a:pPr algn="l">
              <a:defRPr sz="1350" b="0" i="0">
                <a:solidFill>
                  <a:srgbClr val="102338"/>
                </a:solidFill>
                <a:latin typeface="Helvetica Neue"/>
                <a:ea typeface="Helvetica Neue"/>
                <a:cs typeface="Helvetica Neue"/>
              </a:defRPr>
            </a:pPr>
            <a:r>
              <a:rPr sz="1350" b="0" i="0">
                <a:solidFill>
                  <a:srgbClr val="102338"/>
                </a:solidFill>
                <a:latin typeface="Helvetica Neue"/>
                <a:ea typeface="Helvetica Neue"/>
                <a:cs typeface="Helvetica Neue"/>
              </a:rPr>
              <a:t>SPRSound</a:t>
            </a:r>
          </a:p>
          <a:p xmlns:a="http://schemas.openxmlformats.org/drawingml/2006/main">
            <a:pPr algn="l">
              <a:defRPr sz="1350" b="0" i="0">
                <a:solidFill>
                  <a:srgbClr val="102338"/>
                </a:solidFill>
                <a:latin typeface="Helvetica Neue"/>
                <a:ea typeface="Helvetica Neue"/>
                <a:cs typeface="Helvetica Neue"/>
              </a:defRPr>
            </a:pPr>
            <a:r>
              <a:rPr sz="1350" b="0" i="0">
                <a:solidFill>
                  <a:srgbClr val="102338"/>
                </a:solidFill>
                <a:latin typeface="Helvetica Neue"/>
                <a:ea typeface="Helvetica Neue"/>
                <a:cs typeface="Helvetica Neue"/>
              </a:rPr>
              <a:t>A → binary</a:t>
            </a:r>
          </a:p>
          <a:p xmlns:a="http://schemas.openxmlformats.org/drawingml/2006/main">
            <a:r>
              <a:t/>
            </a:r>
          </a:p>
          <a:p xmlns:a="http://schemas.openxmlformats.org/drawingml/2006/main">
            <a:pPr algn="l">
              <a:defRPr sz="1350" b="0" i="0">
                <a:solidFill>
                  <a:srgbClr val="102338"/>
                </a:solidFill>
                <a:latin typeface="Helvetica Neue"/>
                <a:ea typeface="Helvetica Neue"/>
                <a:cs typeface="Helvetica Neue"/>
              </a:defRPr>
            </a:pPr>
            <a:r>
              <a:rPr sz="1350" b="0" i="0">
                <a:solidFill>
                  <a:srgbClr val="102338"/>
                </a:solidFill>
                <a:latin typeface="Helvetica Neue"/>
                <a:ea typeface="Helvetica Neue"/>
                <a:cs typeface="Helvetica Neue"/>
              </a:rPr>
              <a:t>HF</a:t>
            </a:r>
          </a:p>
          <a:p xmlns:a="http://schemas.openxmlformats.org/drawingml/2006/main">
            <a:pPr algn="l">
              <a:defRPr sz="1350" b="0" i="0">
                <a:solidFill>
                  <a:srgbClr val="102338"/>
                </a:solidFill>
                <a:latin typeface="Helvetica Neue"/>
                <a:ea typeface="Helvetica Neue"/>
                <a:cs typeface="Helvetica Neue"/>
              </a:defRPr>
            </a:pPr>
            <a:r>
              <a:rPr sz="1350" b="0" i="0">
                <a:solidFill>
                  <a:srgbClr val="102338"/>
                </a:solidFill>
                <a:latin typeface="Helvetica Neue"/>
                <a:ea typeface="Helvetica Neue"/>
                <a:cs typeface="Helvetica Neue"/>
              </a:rPr>
              <a:t>max W → CAS</a:t>
            </a:r>
          </a:p>
          <a:p xmlns:a="http://schemas.openxmlformats.org/drawingml/2006/main">
            <a:r>
              <a:t/>
            </a:r>
          </a:p>
          <a:p xmlns:a="http://schemas.openxmlformats.org/drawingml/2006/main">
            <a:pPr algn="l">
              <a:defRPr sz="1350" b="0" i="0">
                <a:solidFill>
                  <a:srgbClr val="102338"/>
                </a:solidFill>
                <a:latin typeface="Helvetica Neue"/>
                <a:ea typeface="Helvetica Neue"/>
                <a:cs typeface="Helvetica Neue"/>
              </a:defRPr>
            </a:pPr>
            <a:r>
              <a:rPr sz="1350" b="0" i="0">
                <a:solidFill>
                  <a:srgbClr val="102338"/>
                </a:solidFill>
                <a:latin typeface="Helvetica Neue"/>
                <a:ea typeface="Helvetica Neue"/>
                <a:cs typeface="Helvetica Neue"/>
              </a:rPr>
              <a:t>KAUH</a:t>
            </a:r>
          </a:p>
          <a:p xmlns:a="http://schemas.openxmlformats.org/drawingml/2006/main">
            <a:pPr algn="l">
              <a:defRPr sz="1350" b="0" i="0">
                <a:solidFill>
                  <a:srgbClr val="102338"/>
                </a:solidFill>
                <a:latin typeface="Helvetica Neue"/>
                <a:ea typeface="Helvetica Neue"/>
                <a:cs typeface="Helvetica Neue"/>
              </a:defRPr>
            </a:pPr>
            <a:r>
              <a:rPr sz="1350" b="0" i="0">
                <a:solidFill>
                  <a:srgbClr val="102338"/>
                </a:solidFill>
                <a:latin typeface="Helvetica Neue"/>
                <a:ea typeface="Helvetica Neue"/>
                <a:cs typeface="Helvetica Neue"/>
              </a:rPr>
              <a:t>patient A → binary</a:t>
            </a:r>
          </a:p>
        </p:txBody>
      </p:sp>
      <p:cxnSp>
        <p:nvCxnSpPr>
          <p:cNvPr id="27" name=""/>
          <p:cNvCxnSpPr>
            <a:stCxn xmlns:a="http://schemas.openxmlformats.org/drawingml/2006/main" id="4" idx="3"/>
            <a:endCxn xmlns:a="http://schemas.openxmlformats.org/drawingml/2006/main" id="7" idx="1"/>
          </p:cNvCxnSpPr>
          <p:nvPr/>
        </p:nvCxnSpPr>
        <p:spPr>
          <a:xfrm xmlns:a="http://schemas.openxmlformats.org/drawingml/2006/main" flipV="1">
            <a:off x="3733800" y="2962275"/>
            <a:ext cx="838200" cy="314325"/>
          </a:xfrm>
          <a:prstGeom xmlns:a="http://schemas.openxmlformats.org/drawingml/2006/main" prst="bentConnector3">
            <a:avLst>
              <a:gd name="adj1" fmla="val 50000"/>
            </a:avLst>
          </a:prstGeom>
          <a:ln xmlns:a="http://schemas.openxmlformats.org/drawingml/2006/main" w="23813">
            <a:solidFill>
              <a:srgbClr val="2E8B78"/>
            </a:solidFill>
            <a:prstDash val="solid"/>
            <a:tailEnd type="arrow" w="med" len="med"/>
          </a:ln>
        </p:spPr>
      </p:cxn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7486650" y="2962275"/>
            <a:ext cx="838200" cy="314325"/>
          </a:xfrm>
          <a:prstGeom xmlns:a="http://schemas.openxmlformats.org/drawingml/2006/main" prst="bentConnector3">
            <a:avLst>
              <a:gd name="adj1" fmla="val 50000"/>
            </a:avLst>
          </a:prstGeom>
          <a:ln xmlns:a="http://schemas.openxmlformats.org/drawingml/2006/main" w="23813">
            <a:solidFill>
              <a:srgbClr val="2D73A4"/>
            </a:solidFill>
            <a:prstDash val="solid"/>
            <a:tailEnd type="arrow" w="med" len="med"/>
          </a:ln>
        </p:spPr>
      </p:cxnSp>
      <p:sp>
        <p:nvSpPr>
          <p:cNvPr id="13" name="">
            <a:extLst xmlns:a="http://schemas.openxmlformats.org/drawingml/2006/main">
              <a:ext uri="{FF2B5EF4-FFF2-40B4-BE49-F238E27FC236}">
                <a16:creationId xmlns:a16="http://schemas.microsoft.com/office/drawing/2014/main" id="{84533C5D-2164-4491-A64F-7F6D52C9C203}"/>
              </a:ext>
            </a:extLst>
          </p:cNvPr>
          <p:cNvSpPr>
            <a:spLocks xmlns:a="http://schemas.openxmlformats.org/drawingml/2006/main" noGrp="1"/>
          </p:cNvSpPr>
          <p:nvPr/>
        </p:nvSpPr>
        <p:spPr>
          <a:xfrm xmlns:a="http://schemas.openxmlformats.org/drawingml/2006/main">
            <a:off x="666750" y="5334000"/>
            <a:ext cx="10858500" cy="590550"/>
          </a:xfrm>
          <a:prstGeom xmlns:a="http://schemas.openxmlformats.org/drawingml/2006/main" prst="roundRect">
            <a:avLst>
              <a:gd name="adj" fmla="val 22581"/>
            </a:avLst>
          </a:prstGeom>
          <a:solidFill xmlns:a="http://schemas.openxmlformats.org/drawingml/2006/main">
            <a:srgbClr val="F0ECFA"/>
          </a:solidFill>
          <a:ln xmlns:a="http://schemas.openxmlformats.org/drawingml/2006/main" w="9525">
            <a:solidFill>
              <a:srgbClr val="6D4CC2"/>
            </a:solidFill>
            <a:prstDash val="solid"/>
          </a:ln>
        </p:spPr>
        <p:txBody>
          <a:bodyPr xmlns:a="http://schemas.openxmlformats.org/drawingml/2006/main" wrap="square" lIns="171450" tIns="38100" rIns="171450" bIns="38100" anchor="ctr">
            <a:noAutofit/>
          </a:bodyPr>
          <a:lstStyle xmlns:a="http://schemas.openxmlformats.org/drawingml/2006/main"/>
          <a:p xmlns:a="http://schemas.openxmlformats.org/drawingml/2006/main">
            <a:pPr algn="ctr">
              <a:defRPr sz="1800" b="1" i="0">
                <a:solidFill>
                  <a:srgbClr val="6D4CC2"/>
                </a:solidFill>
                <a:latin typeface="Helvetica Neue"/>
                <a:ea typeface="Helvetica Neue"/>
                <a:cs typeface="Helvetica Neue"/>
              </a:defRPr>
            </a:pPr>
            <a:r>
              <a:rPr sz="1800" b="1" i="0">
                <a:solidFill>
                  <a:srgbClr val="6D4CC2"/>
                </a:solidFill>
                <a:latin typeface="Helvetica Neue"/>
                <a:ea typeface="Helvetica Neue"/>
                <a:cs typeface="Helvetica Neue"/>
              </a:rPr>
              <a:t>One trainable attribute interface; multiple task-appropriate readouts.</a:t>
            </a:r>
          </a:p>
        </p:txBody>
      </p:sp>
      <p:sp>
        <p:nvSpPr>
          <p:cNvPr id="14" name="">
            <a:extLst xmlns:a="http://schemas.openxmlformats.org/drawingml/2006/main">
              <a:ext uri="{FF2B5EF4-FFF2-40B4-BE49-F238E27FC236}">
                <a16:creationId xmlns:a16="http://schemas.microsoft.com/office/drawing/2014/main" id="{176DACE2-F679-4FB8-8219-C7852F2425A4}"/>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rect">
            <a:avLst/>
          </a:prstGeom>
          <a:solidFill xmlns:a="http://schemas.openxmlformats.org/drawingml/2006/main">
            <a:srgbClr val="D6E0E8"/>
          </a:solidFill>
          <a:ln xmlns:a="http://schemas.openxmlformats.org/drawingml/2006/main" w="0">
            <a:solidFill>
              <a:srgbClr val="D6E0E8"/>
            </a:solidFill>
            <a:prstDash val="solid"/>
          </a:ln>
        </p:spPr>
      </p:sp>
      <p:sp>
        <p:nvSpPr>
          <p:cNvPr id="15" name="">
            <a:extLst xmlns:a="http://schemas.openxmlformats.org/drawingml/2006/main">
              <a:ext uri="{FF2B5EF4-FFF2-40B4-BE49-F238E27FC236}">
                <a16:creationId xmlns:a16="http://schemas.microsoft.com/office/drawing/2014/main" id="{8FDB4452-C2CA-4A13-991D-267021CDB6CA}"/>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NIcE X F26 Lab Meeting   18 September 2026</a:t>
            </a:r>
          </a:p>
        </p:txBody>
      </p:sp>
      <p:sp>
        <p:nvSpPr>
          <p:cNvPr id="16" name="">
            <a:extLst xmlns:a="http://schemas.openxmlformats.org/drawingml/2006/main">
              <a:ext uri="{FF2B5EF4-FFF2-40B4-BE49-F238E27FC236}">
                <a16:creationId xmlns:a16="http://schemas.microsoft.com/office/drawing/2014/main" id="{8EAC4FF3-F58A-4E26-AC61-FE669BEF119F}"/>
              </a:ext>
            </a:extLst>
          </p:cNvPr>
          <p:cNvSpPr>
            <a:spLocks xmlns:a="http://schemas.openxmlformats.org/drawingml/2006/main" noGrp="1"/>
          </p:cNvSpPr>
          <p:nvPr/>
        </p:nvSpPr>
        <p:spPr>
          <a:xfrm xmlns:a="http://schemas.openxmlformats.org/drawingml/2006/main">
            <a:off x="9810750" y="6496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4 / 11</a:t>
            </a:r>
          </a:p>
        </p:txBody>
      </p:sp>
    </p:spTree>
    <p:extLst>
      <p:ext uri="{BB962C8B-B14F-4D97-AF65-F5344CB8AC3E}">
        <p14:creationId xmlns:p14="http://schemas.microsoft.com/office/powerpoint/2010/main" val="19876985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7A79D9F-CD12-46D1-8D45-B32808FCB9CF}"/>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6D4CC2"/>
          </a:solidFill>
          <a:ln xmlns:a="http://schemas.openxmlformats.org/drawingml/2006/main" w="0">
            <a:solidFill>
              <a:srgbClr val="6D4CC2"/>
            </a:solidFill>
            <a:prstDash val="solid"/>
          </a:ln>
        </p:spPr>
      </p:sp>
      <p:sp>
        <p:nvSpPr>
          <p:cNvPr id="2" name="">
            <a:extLst xmlns:a="http://schemas.openxmlformats.org/drawingml/2006/main">
              <a:ext uri="{FF2B5EF4-FFF2-40B4-BE49-F238E27FC236}">
                <a16:creationId xmlns:a16="http://schemas.microsoft.com/office/drawing/2014/main" id="{C64291E8-4EAC-48F1-8051-39724C5E6A2B}"/>
              </a:ext>
            </a:extLst>
          </p:cNvPr>
          <p:cNvSpPr>
            <a:spLocks xmlns:a="http://schemas.openxmlformats.org/drawingml/2006/main" noGrp="1"/>
          </p:cNvSpPr>
          <p:nvPr/>
        </p:nvSpPr>
        <p:spPr>
          <a:xfrm xmlns:a="http://schemas.openxmlformats.org/drawingml/2006/main">
            <a:off x="647700" y="38100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i="0">
                <a:solidFill>
                  <a:srgbClr val="16324F"/>
                </a:solidFill>
                <a:latin typeface="Helvetica Neue"/>
                <a:ea typeface="Helvetica Neue"/>
                <a:cs typeface="Helvetica Neue"/>
              </a:defRPr>
            </a:pPr>
            <a:r>
              <a:rPr sz="2850" b="1" i="0">
                <a:solidFill>
                  <a:srgbClr val="16324F"/>
                </a:solidFill>
                <a:latin typeface="Helvetica Neue"/>
                <a:ea typeface="Helvetica Neue"/>
                <a:cs typeface="Helvetica Neue"/>
              </a:rPr>
              <a:t>LSAA turns the interface into one trainable model</a:t>
            </a:r>
          </a:p>
        </p:txBody>
      </p:sp>
      <p:sp>
        <p:nvSpPr>
          <p:cNvPr id="3" name="">
            <a:extLst xmlns:a="http://schemas.openxmlformats.org/drawingml/2006/main">
              <a:ext uri="{FF2B5EF4-FFF2-40B4-BE49-F238E27FC236}">
                <a16:creationId xmlns:a16="http://schemas.microsoft.com/office/drawing/2014/main" id="{4CE43D01-96E4-4F5C-9387-07B9D7A8DD4A}"/>
              </a:ext>
            </a:extLst>
          </p:cNvPr>
          <p:cNvSpPr>
            <a:spLocks xmlns:a="http://schemas.openxmlformats.org/drawingml/2006/main" noGrp="1"/>
          </p:cNvSpPr>
          <p:nvPr/>
        </p:nvSpPr>
        <p:spPr>
          <a:xfrm xmlns:a="http://schemas.openxmlformats.org/drawingml/2006/main">
            <a:off x="666750" y="9525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5C6B79"/>
                </a:solidFill>
                <a:latin typeface="Helvetica Neue"/>
                <a:ea typeface="Helvetica Neue"/>
                <a:cs typeface="Helvetica Neue"/>
              </a:defRPr>
            </a:pPr>
            <a:r>
              <a:rPr sz="1425" b="0" i="0">
                <a:solidFill>
                  <a:srgbClr val="5C6B79"/>
                </a:solidFill>
                <a:latin typeface="Helvetica Neue"/>
                <a:ea typeface="Helvetica Neue"/>
                <a:cs typeface="Helvetica Neue"/>
              </a:rPr>
              <a:t>A shared fine-tuned BEATs encoder carries attribute supervision; readouts stay task-specific</a:t>
            </a:r>
          </a:p>
        </p:txBody>
      </p:sp>
      <p:sp>
        <p:nvSpPr>
          <p:cNvPr id="4" name="">
            <a:extLst xmlns:a="http://schemas.openxmlformats.org/drawingml/2006/main">
              <a:ext uri="{FF2B5EF4-FFF2-40B4-BE49-F238E27FC236}">
                <a16:creationId xmlns:a16="http://schemas.microsoft.com/office/drawing/2014/main" id="{29A6C543-B172-420C-B7B6-12842F1AE98B}"/>
              </a:ext>
            </a:extLst>
          </p:cNvPr>
          <p:cNvSpPr>
            <a:spLocks xmlns:a="http://schemas.openxmlformats.org/drawingml/2006/main" noGrp="1"/>
          </p:cNvSpPr>
          <p:nvPr/>
        </p:nvSpPr>
        <p:spPr>
          <a:xfrm xmlns:a="http://schemas.openxmlformats.org/drawingml/2006/main">
            <a:off x="666750" y="1619250"/>
            <a:ext cx="1524000" cy="723900"/>
          </a:xfrm>
          <a:prstGeom xmlns:a="http://schemas.openxmlformats.org/drawingml/2006/main" prst="roundRect">
            <a:avLst>
              <a:gd name="adj" fmla="val 18421"/>
            </a:avLst>
          </a:prstGeom>
          <a:solidFill xmlns:a="http://schemas.openxmlformats.org/drawingml/2006/main">
            <a:srgbClr val="F5F8FB"/>
          </a:solidFill>
          <a:ln xmlns:a="http://schemas.openxmlformats.org/drawingml/2006/main" w="11430">
            <a:solidFill>
              <a:srgbClr val="D6E0E8"/>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defRPr sz="1575" b="1" i="0">
                <a:solidFill>
                  <a:srgbClr val="102338"/>
                </a:solidFill>
                <a:latin typeface="Helvetica Neue"/>
                <a:ea typeface="Helvetica Neue"/>
                <a:cs typeface="Helvetica Neue"/>
              </a:defRPr>
            </a:pPr>
            <a:r>
              <a:rPr sz="1575" b="1" i="0">
                <a:solidFill>
                  <a:srgbClr val="102338"/>
                </a:solidFill>
                <a:latin typeface="Helvetica Neue"/>
                <a:ea typeface="Helvetica Neue"/>
                <a:cs typeface="Helvetica Neue"/>
              </a:rPr>
              <a:t>5-s mono</a:t>
            </a:r>
          </a:p>
          <a:p xmlns:a="http://schemas.openxmlformats.org/drawingml/2006/main">
            <a:pPr algn="ctr">
              <a:defRPr sz="1575" b="1" i="0">
                <a:solidFill>
                  <a:srgbClr val="102338"/>
                </a:solidFill>
                <a:latin typeface="Helvetica Neue"/>
                <a:ea typeface="Helvetica Neue"/>
                <a:cs typeface="Helvetica Neue"/>
              </a:defRPr>
            </a:pPr>
            <a:r>
              <a:rPr sz="1575" b="1" i="0">
                <a:solidFill>
                  <a:srgbClr val="102338"/>
                </a:solidFill>
                <a:latin typeface="Helvetica Neue"/>
                <a:ea typeface="Helvetica Neue"/>
                <a:cs typeface="Helvetica Neue"/>
              </a:rPr>
              <a:t>16-kHz audio</a:t>
            </a:r>
          </a:p>
        </p:txBody>
      </p:sp>
      <p:sp>
        <p:nvSpPr>
          <p:cNvPr id="5" name="">
            <a:extLst xmlns:a="http://schemas.openxmlformats.org/drawingml/2006/main">
              <a:ext uri="{FF2B5EF4-FFF2-40B4-BE49-F238E27FC236}">
                <a16:creationId xmlns:a16="http://schemas.microsoft.com/office/drawing/2014/main" id="{B4A7540B-B9D5-4689-8588-8FA05F6FB6FC}"/>
              </a:ext>
            </a:extLst>
          </p:cNvPr>
          <p:cNvSpPr>
            <a:spLocks xmlns:a="http://schemas.openxmlformats.org/drawingml/2006/main" noGrp="1"/>
          </p:cNvSpPr>
          <p:nvPr/>
        </p:nvSpPr>
        <p:spPr>
          <a:xfrm xmlns:a="http://schemas.openxmlformats.org/drawingml/2006/main">
            <a:off x="2647950" y="1619250"/>
            <a:ext cx="1790700" cy="723900"/>
          </a:xfrm>
          <a:prstGeom xmlns:a="http://schemas.openxmlformats.org/drawingml/2006/main" prst="roundRect">
            <a:avLst>
              <a:gd name="adj" fmla="val 18421"/>
            </a:avLst>
          </a:prstGeom>
          <a:solidFill xmlns:a="http://schemas.openxmlformats.org/drawingml/2006/main">
            <a:srgbClr val="EAF3F9"/>
          </a:solidFill>
          <a:ln xmlns:a="http://schemas.openxmlformats.org/drawingml/2006/main" w="13335">
            <a:solidFill>
              <a:srgbClr val="2D73A4"/>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defRPr sz="1650" b="1" i="0">
                <a:solidFill>
                  <a:srgbClr val="2D73A4"/>
                </a:solidFill>
                <a:latin typeface="Helvetica Neue"/>
                <a:ea typeface="Helvetica Neue"/>
                <a:cs typeface="Helvetica Neue"/>
              </a:defRPr>
            </a:pPr>
            <a:r>
              <a:rPr sz="1650" b="1" i="0">
                <a:solidFill>
                  <a:srgbClr val="2D73A4"/>
                </a:solidFill>
                <a:latin typeface="Helvetica Neue"/>
                <a:ea typeface="Helvetica Neue"/>
                <a:cs typeface="Helvetica Neue"/>
              </a:rPr>
              <a:t>BEATs encoder</a:t>
            </a:r>
          </a:p>
          <a:p xmlns:a="http://schemas.openxmlformats.org/drawingml/2006/main">
            <a:pPr algn="ctr">
              <a:defRPr sz="1650" b="1" i="0">
                <a:solidFill>
                  <a:srgbClr val="2D73A4"/>
                </a:solidFill>
                <a:latin typeface="Helvetica Neue"/>
                <a:ea typeface="Helvetica Neue"/>
                <a:cs typeface="Helvetica Neue"/>
              </a:defRPr>
            </a:pPr>
            <a:r>
              <a:rPr sz="1650" b="1" i="0">
                <a:solidFill>
                  <a:srgbClr val="2D73A4"/>
                </a:solidFill>
                <a:latin typeface="Helvetica Neue"/>
                <a:ea typeface="Helvetica Neue"/>
                <a:cs typeface="Helvetica Neue"/>
              </a:rPr>
              <a:t>fine-tuned</a:t>
            </a:r>
          </a:p>
        </p:txBody>
      </p:sp>
      <p:sp>
        <p:nvSpPr>
          <p:cNvPr id="6" name="">
            <a:extLst xmlns:a="http://schemas.openxmlformats.org/drawingml/2006/main">
              <a:ext uri="{FF2B5EF4-FFF2-40B4-BE49-F238E27FC236}">
                <a16:creationId xmlns:a16="http://schemas.microsoft.com/office/drawing/2014/main" id="{81ECFA7D-F818-4EA3-B484-781679575DDD}"/>
              </a:ext>
            </a:extLst>
          </p:cNvPr>
          <p:cNvSpPr>
            <a:spLocks xmlns:a="http://schemas.openxmlformats.org/drawingml/2006/main" noGrp="1"/>
          </p:cNvSpPr>
          <p:nvPr/>
        </p:nvSpPr>
        <p:spPr>
          <a:xfrm xmlns:a="http://schemas.openxmlformats.org/drawingml/2006/main">
            <a:off x="4895850" y="1619250"/>
            <a:ext cx="1790700" cy="723900"/>
          </a:xfrm>
          <a:prstGeom xmlns:a="http://schemas.openxmlformats.org/drawingml/2006/main" prst="roundRect">
            <a:avLst>
              <a:gd name="adj" fmla="val 18421"/>
            </a:avLst>
          </a:prstGeom>
          <a:solidFill xmlns:a="http://schemas.openxmlformats.org/drawingml/2006/main">
            <a:srgbClr val="F5F8FB"/>
          </a:solidFill>
          <a:ln xmlns:a="http://schemas.openxmlformats.org/drawingml/2006/main" w="11430">
            <a:solidFill>
              <a:srgbClr val="D6E0E8"/>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defRPr sz="1650" b="1" i="0">
                <a:solidFill>
                  <a:srgbClr val="102338"/>
                </a:solidFill>
                <a:latin typeface="Helvetica Neue"/>
                <a:ea typeface="Helvetica Neue"/>
                <a:cs typeface="Helvetica Neue"/>
              </a:defRPr>
            </a:pPr>
            <a:r>
              <a:rPr sz="1650" b="1" i="0">
                <a:solidFill>
                  <a:srgbClr val="102338"/>
                </a:solidFill>
                <a:latin typeface="Helvetica Neue"/>
                <a:ea typeface="Helvetica Neue"/>
                <a:cs typeface="Helvetica Neue"/>
              </a:rPr>
              <a:t>Mean pool +</a:t>
            </a:r>
          </a:p>
          <a:p xmlns:a="http://schemas.openxmlformats.org/drawingml/2006/main">
            <a:pPr algn="ctr">
              <a:defRPr sz="1650" b="1" i="0">
                <a:solidFill>
                  <a:srgbClr val="102338"/>
                </a:solidFill>
                <a:latin typeface="Helvetica Neue"/>
                <a:ea typeface="Helvetica Neue"/>
                <a:cs typeface="Helvetica Neue"/>
              </a:defRPr>
            </a:pPr>
            <a:r>
              <a:rPr sz="1650" b="1" i="0">
                <a:solidFill>
                  <a:srgbClr val="102338"/>
                </a:solidFill>
                <a:latin typeface="Helvetica Neue"/>
                <a:ea typeface="Helvetica Neue"/>
                <a:cs typeface="Helvetica Neue"/>
              </a:rPr>
              <a:t>768 → 256</a:t>
            </a:r>
          </a:p>
        </p:txBody>
      </p:sp>
      <p:sp>
        <p:nvSpPr>
          <p:cNvPr id="7" name="">
            <a:extLst xmlns:a="http://schemas.openxmlformats.org/drawingml/2006/main">
              <a:ext uri="{FF2B5EF4-FFF2-40B4-BE49-F238E27FC236}">
                <a16:creationId xmlns:a16="http://schemas.microsoft.com/office/drawing/2014/main" id="{864271A2-7D52-49E6-A4BC-BFA7B389E7E8}"/>
              </a:ext>
            </a:extLst>
          </p:cNvPr>
          <p:cNvSpPr>
            <a:spLocks xmlns:a="http://schemas.openxmlformats.org/drawingml/2006/main" noGrp="1"/>
          </p:cNvSpPr>
          <p:nvPr/>
        </p:nvSpPr>
        <p:spPr>
          <a:xfrm xmlns:a="http://schemas.openxmlformats.org/drawingml/2006/main">
            <a:off x="7143750" y="1504950"/>
            <a:ext cx="2095500" cy="952500"/>
          </a:xfrm>
          <a:prstGeom xmlns:a="http://schemas.openxmlformats.org/drawingml/2006/main" prst="roundRect">
            <a:avLst>
              <a:gd name="adj" fmla="val 16000"/>
            </a:avLst>
          </a:prstGeom>
          <a:solidFill xmlns:a="http://schemas.openxmlformats.org/drawingml/2006/main">
            <a:srgbClr val="EAF6F1"/>
          </a:solidFill>
          <a:ln xmlns:a="http://schemas.openxmlformats.org/drawingml/2006/main" w="15240">
            <a:solidFill>
              <a:srgbClr val="2E8B78"/>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defRPr sz="2025" b="1" i="0">
                <a:solidFill>
                  <a:srgbClr val="2E8B78"/>
                </a:solidFill>
                <a:latin typeface="Helvetica Neue"/>
                <a:ea typeface="Helvetica Neue"/>
                <a:cs typeface="Helvetica Neue"/>
              </a:defRPr>
            </a:pPr>
            <a:r>
              <a:rPr sz="2025" b="1" i="0">
                <a:solidFill>
                  <a:srgbClr val="2E8B78"/>
                </a:solidFill>
                <a:latin typeface="Helvetica Neue"/>
                <a:ea typeface="Helvetica Neue"/>
                <a:cs typeface="Helvetica Neue"/>
              </a:rPr>
              <a:t>Shared heads</a:t>
            </a:r>
          </a:p>
          <a:p xmlns:a="http://schemas.openxmlformats.org/drawingml/2006/main">
            <a:pPr algn="ctr">
              <a:defRPr sz="2025" b="1" i="0">
                <a:solidFill>
                  <a:srgbClr val="2E8B78"/>
                </a:solidFill>
                <a:latin typeface="Helvetica Neue"/>
                <a:ea typeface="Helvetica Neue"/>
                <a:cs typeface="Helvetica Neue"/>
              </a:defRPr>
            </a:pPr>
            <a:r>
              <a:rPr sz="2025" b="1" i="0">
                <a:solidFill>
                  <a:srgbClr val="2E8B78"/>
                </a:solidFill>
                <a:latin typeface="Helvetica Neue"/>
                <a:ea typeface="Helvetica Neue"/>
                <a:cs typeface="Helvetica Neue"/>
              </a:rPr>
              <a:t>A   C   W</a:t>
            </a:r>
          </a:p>
        </p:txBody>
      </p:sp>
      <p:sp>
        <p:nvSpPr>
          <p:cNvPr id="8" name="">
            <a:extLst xmlns:a="http://schemas.openxmlformats.org/drawingml/2006/main">
              <a:ext uri="{FF2B5EF4-FFF2-40B4-BE49-F238E27FC236}">
                <a16:creationId xmlns:a16="http://schemas.microsoft.com/office/drawing/2014/main" id="{5845449A-34C3-43B5-A3B4-FDE8C9241CB1}"/>
              </a:ext>
            </a:extLst>
          </p:cNvPr>
          <p:cNvSpPr>
            <a:spLocks xmlns:a="http://schemas.openxmlformats.org/drawingml/2006/main" noGrp="1"/>
          </p:cNvSpPr>
          <p:nvPr/>
        </p:nvSpPr>
        <p:spPr>
          <a:xfrm xmlns:a="http://schemas.openxmlformats.org/drawingml/2006/main">
            <a:off x="9696450" y="1504950"/>
            <a:ext cx="1828800" cy="952500"/>
          </a:xfrm>
          <a:prstGeom xmlns:a="http://schemas.openxmlformats.org/drawingml/2006/main" prst="roundRect">
            <a:avLst>
              <a:gd name="adj" fmla="val 16000"/>
            </a:avLst>
          </a:prstGeom>
          <a:solidFill xmlns:a="http://schemas.openxmlformats.org/drawingml/2006/main">
            <a:srgbClr val="F0ECFA"/>
          </a:solidFill>
          <a:ln xmlns:a="http://schemas.openxmlformats.org/drawingml/2006/main" w="15240">
            <a:solidFill>
              <a:srgbClr val="6D4CC2"/>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defRPr sz="1950" b="1" i="0">
                <a:solidFill>
                  <a:srgbClr val="6D4CC2"/>
                </a:solidFill>
                <a:latin typeface="Helvetica Neue"/>
                <a:ea typeface="Helvetica Neue"/>
                <a:cs typeface="Helvetica Neue"/>
              </a:defRPr>
            </a:pPr>
            <a:r>
              <a:rPr sz="1950" b="1" i="0">
                <a:solidFill>
                  <a:srgbClr val="6D4CC2"/>
                </a:solidFill>
                <a:latin typeface="Helvetica Neue"/>
                <a:ea typeface="Helvetica Neue"/>
                <a:cs typeface="Helvetica Neue"/>
              </a:rPr>
              <a:t>Native</a:t>
            </a:r>
          </a:p>
          <a:p xmlns:a="http://schemas.openxmlformats.org/drawingml/2006/main">
            <a:pPr algn="ctr">
              <a:defRPr sz="1950" b="1" i="0">
                <a:solidFill>
                  <a:srgbClr val="6D4CC2"/>
                </a:solidFill>
                <a:latin typeface="Helvetica Neue"/>
                <a:ea typeface="Helvetica Neue"/>
                <a:cs typeface="Helvetica Neue"/>
              </a:defRPr>
            </a:pPr>
            <a:r>
              <a:rPr sz="1950" b="1" i="0">
                <a:solidFill>
                  <a:srgbClr val="6D4CC2"/>
                </a:solidFill>
                <a:latin typeface="Helvetica Neue"/>
                <a:ea typeface="Helvetica Neue"/>
                <a:cs typeface="Helvetica Neue"/>
              </a:rPr>
              <a:t>readouts</a:t>
            </a:r>
          </a:p>
        </p:txBody>
      </p:sp>
      <p:cxnSp>
        <p:nvCxnSpPr>
          <p:cNvPr id="30" name=""/>
          <p:cNvCxnSpPr>
            <a:stCxn xmlns:a="http://schemas.openxmlformats.org/drawingml/2006/main" id="4" idx="3"/>
            <a:endCxn xmlns:a="http://schemas.openxmlformats.org/drawingml/2006/main" id="5" idx="1"/>
          </p:cNvCxnSpPr>
          <p:nvPr/>
        </p:nvCxnSpPr>
        <p:spPr>
          <a:xfrm xmlns:a="http://schemas.openxmlformats.org/drawingml/2006/main">
            <a:off x="2190750" y="1981200"/>
            <a:ext cx="457200" cy="0"/>
          </a:xfrm>
          <a:prstGeom xmlns:a="http://schemas.openxmlformats.org/drawingml/2006/main" prst="straightConnector1">
            <a:avLst/>
          </a:prstGeom>
          <a:ln xmlns:a="http://schemas.openxmlformats.org/drawingml/2006/main" w="20955">
            <a:solidFill>
              <a:srgbClr val="D6E0E8"/>
            </a:solidFill>
            <a:prstDash val="solid"/>
            <a:tailEnd type="arrow" w="med" len="med"/>
          </a:ln>
        </p:spPr>
      </p:cxn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4438650" y="1981200"/>
            <a:ext cx="457200" cy="0"/>
          </a:xfrm>
          <a:prstGeom xmlns:a="http://schemas.openxmlformats.org/drawingml/2006/main" prst="straightConnector1">
            <a:avLst/>
          </a:prstGeom>
          <a:ln xmlns:a="http://schemas.openxmlformats.org/drawingml/2006/main" w="20955">
            <a:solidFill>
              <a:srgbClr val="D6E0E8"/>
            </a:solidFill>
            <a:prstDash val="solid"/>
            <a:tailEnd type="arrow" w="med" len="med"/>
          </a:ln>
        </p:spPr>
      </p:cxnSp>
      <p:cxnSp>
        <p:nvCxnSpPr>
          <p:cNvPr id="32" name=""/>
          <p:cNvCxnSpPr>
            <a:stCxn xmlns:a="http://schemas.openxmlformats.org/drawingml/2006/main" id="6" idx="3"/>
            <a:endCxn xmlns:a="http://schemas.openxmlformats.org/drawingml/2006/main" id="7" idx="1"/>
          </p:cNvCxnSpPr>
          <p:nvPr/>
        </p:nvCxnSpPr>
        <p:spPr>
          <a:xfrm xmlns:a="http://schemas.openxmlformats.org/drawingml/2006/main">
            <a:off x="6686550" y="1981200"/>
            <a:ext cx="457200" cy="0"/>
          </a:xfrm>
          <a:prstGeom xmlns:a="http://schemas.openxmlformats.org/drawingml/2006/main" prst="straightConnector1">
            <a:avLst/>
          </a:prstGeom>
          <a:ln xmlns:a="http://schemas.openxmlformats.org/drawingml/2006/main" w="20955">
            <a:solidFill>
              <a:srgbClr val="2E8B78"/>
            </a:solidFill>
            <a:prstDash val="solid"/>
            <a:tailEnd type="arrow" w="med" len="med"/>
          </a:ln>
        </p:spPr>
      </p:cxnSp>
      <p:cxnSp>
        <p:nvCxnSpPr>
          <p:cNvPr id="33" name=""/>
          <p:cNvCxnSpPr>
            <a:stCxn xmlns:a="http://schemas.openxmlformats.org/drawingml/2006/main" id="7" idx="3"/>
            <a:endCxn xmlns:a="http://schemas.openxmlformats.org/drawingml/2006/main" id="8" idx="1"/>
          </p:cNvCxnSpPr>
          <p:nvPr/>
        </p:nvCxnSpPr>
        <p:spPr>
          <a:xfrm xmlns:a="http://schemas.openxmlformats.org/drawingml/2006/main">
            <a:off x="9239250" y="1981200"/>
            <a:ext cx="457200" cy="0"/>
          </a:xfrm>
          <a:prstGeom xmlns:a="http://schemas.openxmlformats.org/drawingml/2006/main" prst="straightConnector1">
            <a:avLst/>
          </a:prstGeom>
          <a:ln xmlns:a="http://schemas.openxmlformats.org/drawingml/2006/main" w="20955">
            <a:solidFill>
              <a:srgbClr val="6D4CC2"/>
            </a:solidFill>
            <a:prstDash val="solid"/>
            <a:tailEnd type="arrow" w="med" len="med"/>
          </a:ln>
        </p:spPr>
      </p:cxnSp>
      <p:sp>
        <p:nvSpPr>
          <p:cNvPr id="13" name="">
            <a:extLst xmlns:a="http://schemas.openxmlformats.org/drawingml/2006/main">
              <a:ext uri="{FF2B5EF4-FFF2-40B4-BE49-F238E27FC236}">
                <a16:creationId xmlns:a16="http://schemas.microsoft.com/office/drawing/2014/main" id="{CD2C92BA-6FEB-4518-9CDD-9EA28AA5E9E2}"/>
              </a:ext>
            </a:extLst>
          </p:cNvPr>
          <p:cNvSpPr>
            <a:spLocks xmlns:a="http://schemas.openxmlformats.org/drawingml/2006/main" noGrp="1"/>
          </p:cNvSpPr>
          <p:nvPr/>
        </p:nvSpPr>
        <p:spPr>
          <a:xfrm xmlns:a="http://schemas.openxmlformats.org/drawingml/2006/main">
            <a:off x="9572625" y="26193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i="0">
                <a:solidFill>
                  <a:srgbClr val="5C6B79"/>
                </a:solidFill>
                <a:latin typeface="Helvetica Neue"/>
                <a:ea typeface="Helvetica Neue"/>
                <a:cs typeface="Helvetica Neue"/>
              </a:defRPr>
            </a:pPr>
            <a:r>
              <a:rPr sz="1125" b="0" i="0">
                <a:solidFill>
                  <a:srgbClr val="5C6B79"/>
                </a:solidFill>
                <a:latin typeface="Helvetica Neue"/>
                <a:ea typeface="Helvetica Neue"/>
                <a:cs typeface="Helvetica Neue"/>
              </a:rPr>
              <a:t>ICBHI   SPRSound   HF   KAUH</a:t>
            </a:r>
          </a:p>
        </p:txBody>
      </p:sp>
      <p:sp>
        <p:nvSpPr>
          <p:cNvPr id="14" name="">
            <a:extLst xmlns:a="http://schemas.openxmlformats.org/drawingml/2006/main">
              <a:ext uri="{FF2B5EF4-FFF2-40B4-BE49-F238E27FC236}">
                <a16:creationId xmlns:a16="http://schemas.microsoft.com/office/drawing/2014/main" id="{947AE665-E66C-438B-8E90-0245BC71A5AD}"/>
              </a:ext>
            </a:extLst>
          </p:cNvPr>
          <p:cNvSpPr>
            <a:spLocks xmlns:a="http://schemas.openxmlformats.org/drawingml/2006/main" noGrp="1"/>
          </p:cNvSpPr>
          <p:nvPr/>
        </p:nvSpPr>
        <p:spPr>
          <a:xfrm xmlns:a="http://schemas.openxmlformats.org/drawingml/2006/main">
            <a:off x="666750" y="3143250"/>
            <a:ext cx="10858500" cy="1638300"/>
          </a:xfrm>
          <a:prstGeom xmlns:a="http://schemas.openxmlformats.org/drawingml/2006/main" prst="roundRect">
            <a:avLst>
              <a:gd name="adj" fmla="val 10465"/>
            </a:avLst>
          </a:prstGeom>
          <a:solidFill xmlns:a="http://schemas.openxmlformats.org/drawingml/2006/main">
            <a:srgbClr val="F5F8FB"/>
          </a:solidFill>
          <a:ln xmlns:a="http://schemas.openxmlformats.org/drawingml/2006/main" w="11430">
            <a:solidFill>
              <a:srgbClr val="D6E0E8"/>
            </a:solidFill>
            <a:prstDash val="solid"/>
          </a:ln>
        </p:spPr>
      </p:sp>
      <p:sp>
        <p:nvSpPr>
          <p:cNvPr id="15" name="">
            <a:extLst xmlns:a="http://schemas.openxmlformats.org/drawingml/2006/main">
              <a:ext uri="{FF2B5EF4-FFF2-40B4-BE49-F238E27FC236}">
                <a16:creationId xmlns:a16="http://schemas.microsoft.com/office/drawing/2014/main" id="{B0D65769-16F2-4FF6-916E-F148C6F6B12C}"/>
              </a:ext>
            </a:extLst>
          </p:cNvPr>
          <p:cNvSpPr>
            <a:spLocks xmlns:a="http://schemas.openxmlformats.org/drawingml/2006/main" noGrp="1"/>
          </p:cNvSpPr>
          <p:nvPr/>
        </p:nvSpPr>
        <p:spPr>
          <a:xfrm xmlns:a="http://schemas.openxmlformats.org/drawingml/2006/main">
            <a:off x="952500" y="33337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16324F"/>
                </a:solidFill>
                <a:latin typeface="Helvetica Neue"/>
                <a:ea typeface="Helvetica Neue"/>
                <a:cs typeface="Helvetica Neue"/>
              </a:defRPr>
            </a:pPr>
            <a:r>
              <a:rPr sz="1875" b="1" i="0">
                <a:solidFill>
                  <a:srgbClr val="16324F"/>
                </a:solidFill>
                <a:latin typeface="Helvetica Neue"/>
                <a:ea typeface="Helvetica Neue"/>
                <a:cs typeface="Helvetica Neue"/>
              </a:rPr>
              <a:t>Training objective</a:t>
            </a:r>
          </a:p>
        </p:txBody>
      </p:sp>
      <p:sp>
        <p:nvSpPr>
          <p:cNvPr id="16" name="">
            <a:extLst xmlns:a="http://schemas.openxmlformats.org/drawingml/2006/main">
              <a:ext uri="{FF2B5EF4-FFF2-40B4-BE49-F238E27FC236}">
                <a16:creationId xmlns:a16="http://schemas.microsoft.com/office/drawing/2014/main" id="{524C06B1-1E0F-4F37-B275-CA80AAAC2F41}"/>
              </a:ext>
            </a:extLst>
          </p:cNvPr>
          <p:cNvSpPr>
            <a:spLocks xmlns:a="http://schemas.openxmlformats.org/drawingml/2006/main" noGrp="1"/>
          </p:cNvSpPr>
          <p:nvPr/>
        </p:nvSpPr>
        <p:spPr>
          <a:xfrm xmlns:a="http://schemas.openxmlformats.org/drawingml/2006/main">
            <a:off x="952500" y="3781425"/>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16324F"/>
                </a:solidFill>
                <a:latin typeface="Helvetica Neue"/>
                <a:ea typeface="Helvetica Neue"/>
                <a:cs typeface="Helvetica Neue"/>
              </a:defRPr>
            </a:pPr>
            <a:r>
              <a:rPr sz="2250" b="1" i="0">
                <a:solidFill>
                  <a:srgbClr val="16324F"/>
                </a:solidFill>
                <a:latin typeface="Helvetica Neue"/>
                <a:ea typeface="Helvetica Neue"/>
                <a:cs typeface="Helvetica Neue"/>
              </a:rPr>
              <a:t>L = Lcls + λp LPCSL + λg LGPAL + λHF LHF</a:t>
            </a:r>
          </a:p>
        </p:txBody>
      </p:sp>
      <p:sp>
        <p:nvSpPr>
          <p:cNvPr id="17" name="">
            <a:extLst xmlns:a="http://schemas.openxmlformats.org/drawingml/2006/main">
              <a:ext uri="{FF2B5EF4-FFF2-40B4-BE49-F238E27FC236}">
                <a16:creationId xmlns:a16="http://schemas.microsoft.com/office/drawing/2014/main" id="{E197A4AC-24F5-4A28-B16C-27AE13DAA8C3}"/>
              </a:ext>
            </a:extLst>
          </p:cNvPr>
          <p:cNvSpPr>
            <a:spLocks xmlns:a="http://schemas.openxmlformats.org/drawingml/2006/main" noGrp="1"/>
          </p:cNvSpPr>
          <p:nvPr/>
        </p:nvSpPr>
        <p:spPr>
          <a:xfrm xmlns:a="http://schemas.openxmlformats.org/drawingml/2006/main">
            <a:off x="7858125" y="3371850"/>
            <a:ext cx="3238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102338"/>
                </a:solidFill>
                <a:latin typeface="Helvetica Neue"/>
                <a:ea typeface="Helvetica Neue"/>
                <a:cs typeface="Helvetica Neue"/>
              </a:defRPr>
            </a:pPr>
            <a:r>
              <a:rPr sz="1350" b="0" i="0">
                <a:solidFill>
                  <a:srgbClr val="102338"/>
                </a:solidFill>
                <a:latin typeface="Helvetica Neue"/>
                <a:ea typeface="Helvetica Neue"/>
                <a:cs typeface="Helvetica Neue"/>
              </a:rPr>
              <a:t>Lcore = classification + patient cohesion–separation + global patient alignment</a:t>
            </a:r>
          </a:p>
          <a:p xmlns:a="http://schemas.openxmlformats.org/drawingml/2006/main">
            <a:r>
              <a:t/>
            </a:r>
          </a:p>
          <a:p xmlns:a="http://schemas.openxmlformats.org/drawingml/2006/main">
            <a:pPr algn="l">
              <a:defRPr sz="1350" b="0" i="0">
                <a:solidFill>
                  <a:srgbClr val="102338"/>
                </a:solidFill>
                <a:latin typeface="Helvetica Neue"/>
                <a:ea typeface="Helvetica Neue"/>
                <a:cs typeface="Helvetica Neue"/>
              </a:defRPr>
            </a:pPr>
            <a:r>
              <a:rPr sz="1350" b="0" i="0">
                <a:solidFill>
                  <a:srgbClr val="102338"/>
                </a:solidFill>
                <a:latin typeface="Helvetica Neue"/>
                <a:ea typeface="Helvetica Neue"/>
                <a:cs typeface="Helvetica Neue"/>
              </a:rPr>
              <a:t>λHF LHF = optional HF C/W supervision</a:t>
            </a:r>
          </a:p>
        </p:txBody>
      </p:sp>
      <p:sp>
        <p:nvSpPr>
          <p:cNvPr id="18" name="">
            <a:extLst xmlns:a="http://schemas.openxmlformats.org/drawingml/2006/main">
              <a:ext uri="{FF2B5EF4-FFF2-40B4-BE49-F238E27FC236}">
                <a16:creationId xmlns:a16="http://schemas.microsoft.com/office/drawing/2014/main" id="{70B26288-74B1-40FA-A0D9-6EB7843C9A30}"/>
              </a:ext>
            </a:extLst>
          </p:cNvPr>
          <p:cNvSpPr>
            <a:spLocks xmlns:a="http://schemas.openxmlformats.org/drawingml/2006/main" noGrp="1"/>
          </p:cNvSpPr>
          <p:nvPr/>
        </p:nvSpPr>
        <p:spPr>
          <a:xfrm xmlns:a="http://schemas.openxmlformats.org/drawingml/2006/main">
            <a:off x="666750" y="5162550"/>
            <a:ext cx="10858500" cy="619125"/>
          </a:xfrm>
          <a:prstGeom xmlns:a="http://schemas.openxmlformats.org/drawingml/2006/main" prst="roundRect">
            <a:avLst>
              <a:gd name="adj" fmla="val 21538"/>
            </a:avLst>
          </a:prstGeom>
          <a:solidFill xmlns:a="http://schemas.openxmlformats.org/drawingml/2006/main">
            <a:srgbClr val="FBF3E6"/>
          </a:solidFill>
          <a:ln xmlns:a="http://schemas.openxmlformats.org/drawingml/2006/main" w="9525">
            <a:solidFill>
              <a:srgbClr val="B8873B"/>
            </a:solidFill>
            <a:prstDash val="solid"/>
          </a:ln>
        </p:spPr>
        <p:txBody>
          <a:bodyPr xmlns:a="http://schemas.openxmlformats.org/drawingml/2006/main" wrap="square" lIns="171450" tIns="38100" rIns="171450" bIns="38100" anchor="ctr">
            <a:noAutofit/>
          </a:bodyPr>
          <a:lstStyle xmlns:a="http://schemas.openxmlformats.org/drawingml/2006/main"/>
          <a:p xmlns:a="http://schemas.openxmlformats.org/drawingml/2006/main">
            <a:pPr algn="ctr">
              <a:defRPr sz="1575" b="1" i="0">
                <a:solidFill>
                  <a:srgbClr val="B8873B"/>
                </a:solidFill>
                <a:latin typeface="Helvetica Neue"/>
                <a:ea typeface="Helvetica Neue"/>
                <a:cs typeface="Helvetica Neue"/>
              </a:defRPr>
            </a:pPr>
            <a:r>
              <a:rPr sz="1575" b="1" i="0">
                <a:solidFill>
                  <a:srgbClr val="B8873B"/>
                </a:solidFill>
                <a:latin typeface="Helvetica Neue"/>
                <a:ea typeface="Helvetica Neue"/>
                <a:cs typeface="Helvetica Neue"/>
              </a:rPr>
              <a:t>The method claim is about the shared supervision interface; the current results do not isolate every component of the recipe.</a:t>
            </a:r>
          </a:p>
        </p:txBody>
      </p:sp>
      <p:sp>
        <p:nvSpPr>
          <p:cNvPr id="19" name="">
            <a:extLst xmlns:a="http://schemas.openxmlformats.org/drawingml/2006/main">
              <a:ext uri="{FF2B5EF4-FFF2-40B4-BE49-F238E27FC236}">
                <a16:creationId xmlns:a16="http://schemas.microsoft.com/office/drawing/2014/main" id="{8459C65B-5F08-4E12-A729-201C5A6A1391}"/>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rect">
            <a:avLst/>
          </a:prstGeom>
          <a:solidFill xmlns:a="http://schemas.openxmlformats.org/drawingml/2006/main">
            <a:srgbClr val="D6E0E8"/>
          </a:solidFill>
          <a:ln xmlns:a="http://schemas.openxmlformats.org/drawingml/2006/main" w="0">
            <a:solidFill>
              <a:srgbClr val="D6E0E8"/>
            </a:solidFill>
            <a:prstDash val="solid"/>
          </a:ln>
        </p:spPr>
      </p:sp>
      <p:sp>
        <p:nvSpPr>
          <p:cNvPr id="20" name="">
            <a:extLst xmlns:a="http://schemas.openxmlformats.org/drawingml/2006/main">
              <a:ext uri="{FF2B5EF4-FFF2-40B4-BE49-F238E27FC236}">
                <a16:creationId xmlns:a16="http://schemas.microsoft.com/office/drawing/2014/main" id="{F650982D-196A-4656-B171-DEA894228C24}"/>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NIcE X F26 Lab Meeting   18 September 2026</a:t>
            </a:r>
          </a:p>
        </p:txBody>
      </p:sp>
      <p:sp>
        <p:nvSpPr>
          <p:cNvPr id="21" name="">
            <a:extLst xmlns:a="http://schemas.openxmlformats.org/drawingml/2006/main">
              <a:ext uri="{FF2B5EF4-FFF2-40B4-BE49-F238E27FC236}">
                <a16:creationId xmlns:a16="http://schemas.microsoft.com/office/drawing/2014/main" id="{2518F5DF-19B6-40BE-A14F-9AD6B9E91917}"/>
              </a:ext>
            </a:extLst>
          </p:cNvPr>
          <p:cNvSpPr>
            <a:spLocks xmlns:a="http://schemas.openxmlformats.org/drawingml/2006/main" noGrp="1"/>
          </p:cNvSpPr>
          <p:nvPr/>
        </p:nvSpPr>
        <p:spPr>
          <a:xfrm xmlns:a="http://schemas.openxmlformats.org/drawingml/2006/main">
            <a:off x="9810750" y="6496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5 / 11</a:t>
            </a:r>
          </a:p>
        </p:txBody>
      </p:sp>
    </p:spTree>
    <p:extLst>
      <p:ext uri="{BB962C8B-B14F-4D97-AF65-F5344CB8AC3E}">
        <p14:creationId xmlns:p14="http://schemas.microsoft.com/office/powerpoint/2010/main" val="3326418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64F5848-136C-41D0-A4AB-17D428C4ED4F}"/>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6D4CC2"/>
          </a:solidFill>
          <a:ln xmlns:a="http://schemas.openxmlformats.org/drawingml/2006/main" w="0">
            <a:solidFill>
              <a:srgbClr val="6D4CC2"/>
            </a:solidFill>
            <a:prstDash val="solid"/>
          </a:ln>
        </p:spPr>
      </p:sp>
      <p:sp>
        <p:nvSpPr>
          <p:cNvPr id="2" name="">
            <a:extLst xmlns:a="http://schemas.openxmlformats.org/drawingml/2006/main">
              <a:ext uri="{FF2B5EF4-FFF2-40B4-BE49-F238E27FC236}">
                <a16:creationId xmlns:a16="http://schemas.microsoft.com/office/drawing/2014/main" id="{D5E59B9E-00A5-4E1C-8820-E34E0B10BCEF}"/>
              </a:ext>
            </a:extLst>
          </p:cNvPr>
          <p:cNvSpPr>
            <a:spLocks xmlns:a="http://schemas.openxmlformats.org/drawingml/2006/main" noGrp="1"/>
          </p:cNvSpPr>
          <p:nvPr/>
        </p:nvSpPr>
        <p:spPr>
          <a:xfrm xmlns:a="http://schemas.openxmlformats.org/drawingml/2006/main">
            <a:off x="647700" y="38100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i="0">
                <a:solidFill>
                  <a:srgbClr val="16324F"/>
                </a:solidFill>
                <a:latin typeface="Helvetica Neue"/>
                <a:ea typeface="Helvetica Neue"/>
                <a:cs typeface="Helvetica Neue"/>
              </a:defRPr>
            </a:pPr>
            <a:r>
              <a:rPr sz="2850" b="1" i="0">
                <a:solidFill>
                  <a:srgbClr val="16324F"/>
                </a:solidFill>
                <a:latin typeface="Helvetica Neue"/>
                <a:ea typeface="Helvetica Neue"/>
                <a:cs typeface="Helvetica Neue"/>
              </a:rPr>
              <a:t>Evaluation separates native tasks from transfer</a:t>
            </a:r>
          </a:p>
        </p:txBody>
      </p:sp>
      <p:sp>
        <p:nvSpPr>
          <p:cNvPr id="3" name="">
            <a:extLst xmlns:a="http://schemas.openxmlformats.org/drawingml/2006/main">
              <a:ext uri="{FF2B5EF4-FFF2-40B4-BE49-F238E27FC236}">
                <a16:creationId xmlns:a16="http://schemas.microsoft.com/office/drawing/2014/main" id="{5105F4C4-A59D-45F3-9FAE-464FFAC1AADC}"/>
              </a:ext>
            </a:extLst>
          </p:cNvPr>
          <p:cNvSpPr>
            <a:spLocks xmlns:a="http://schemas.openxmlformats.org/drawingml/2006/main" noGrp="1"/>
          </p:cNvSpPr>
          <p:nvPr/>
        </p:nvSpPr>
        <p:spPr>
          <a:xfrm xmlns:a="http://schemas.openxmlformats.org/drawingml/2006/main">
            <a:off x="666750" y="9525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5C6B79"/>
                </a:solidFill>
                <a:latin typeface="Helvetica Neue"/>
                <a:ea typeface="Helvetica Neue"/>
                <a:cs typeface="Helvetica Neue"/>
              </a:defRPr>
            </a:pPr>
            <a:r>
              <a:rPr sz="1425" b="0" i="0">
                <a:solidFill>
                  <a:srgbClr val="5C6B79"/>
                </a:solidFill>
                <a:latin typeface="Helvetica Neue"/>
                <a:ea typeface="Helvetica Neue"/>
                <a:cs typeface="Helvetica Neue"/>
              </a:rPr>
              <a:t>The checkpoint and threshold boundaries matter for interpreting each result</a:t>
            </a:r>
          </a:p>
        </p:txBody>
      </p:sp>
      <p:sp>
        <p:nvSpPr>
          <p:cNvPr id="4" name="">
            <a:extLst xmlns:a="http://schemas.openxmlformats.org/drawingml/2006/main">
              <a:ext uri="{FF2B5EF4-FFF2-40B4-BE49-F238E27FC236}">
                <a16:creationId xmlns:a16="http://schemas.microsoft.com/office/drawing/2014/main" id="{D31A9365-A956-4257-B8D7-FC51FAB46727}"/>
              </a:ext>
            </a:extLst>
          </p:cNvPr>
          <p:cNvSpPr>
            <a:spLocks xmlns:a="http://schemas.openxmlformats.org/drawingml/2006/main" noGrp="1"/>
          </p:cNvSpPr>
          <p:nvPr/>
        </p:nvSpPr>
        <p:spPr>
          <a:xfrm xmlns:a="http://schemas.openxmlformats.org/drawingml/2006/main">
            <a:off x="666750" y="1657350"/>
            <a:ext cx="2400300" cy="1524000"/>
          </a:xfrm>
          <a:prstGeom xmlns:a="http://schemas.openxmlformats.org/drawingml/2006/main" prst="roundRect">
            <a:avLst>
              <a:gd name="adj" fmla="val 10000"/>
            </a:avLst>
          </a:prstGeom>
          <a:solidFill xmlns:a="http://schemas.openxmlformats.org/drawingml/2006/main">
            <a:srgbClr val="EAF3F9"/>
          </a:solidFill>
          <a:ln xmlns:a="http://schemas.openxmlformats.org/drawingml/2006/main" w="13335">
            <a:solidFill>
              <a:srgbClr val="2D73A4"/>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defRPr sz="1575" b="1" i="0">
                <a:solidFill>
                  <a:srgbClr val="2D73A4"/>
                </a:solidFill>
                <a:latin typeface="Helvetica Neue"/>
                <a:ea typeface="Helvetica Neue"/>
                <a:cs typeface="Helvetica Neue"/>
              </a:defRPr>
            </a:pPr>
            <a:r>
              <a:rPr sz="1575" b="1" i="0">
                <a:solidFill>
                  <a:srgbClr val="2D73A4"/>
                </a:solidFill>
                <a:latin typeface="Helvetica Neue"/>
                <a:ea typeface="Helvetica Neue"/>
                <a:cs typeface="Helvetica Neue"/>
              </a:rPr>
              <a:t>Source training</a:t>
            </a:r>
          </a:p>
          <a:p xmlns:a="http://schemas.openxmlformats.org/drawingml/2006/main">
            <a:r>
              <a:t/>
            </a:r>
          </a:p>
          <a:p xmlns:a="http://schemas.openxmlformats.org/drawingml/2006/main">
            <a:pPr algn="ctr">
              <a:defRPr sz="1575" b="1" i="0">
                <a:solidFill>
                  <a:srgbClr val="2D73A4"/>
                </a:solidFill>
                <a:latin typeface="Helvetica Neue"/>
                <a:ea typeface="Helvetica Neue"/>
                <a:cs typeface="Helvetica Neue"/>
              </a:defRPr>
            </a:pPr>
            <a:r>
              <a:rPr sz="1575" b="1" i="0">
                <a:solidFill>
                  <a:srgbClr val="2D73A4"/>
                </a:solidFill>
                <a:latin typeface="Helvetica Neue"/>
                <a:ea typeface="Helvetica Neue"/>
                <a:cs typeface="Helvetica Neue"/>
              </a:rPr>
              <a:t>ICBHI + SPRSound</a:t>
            </a:r>
          </a:p>
          <a:p xmlns:a="http://schemas.openxmlformats.org/drawingml/2006/main">
            <a:pPr algn="ctr">
              <a:defRPr sz="1575" b="1" i="0">
                <a:solidFill>
                  <a:srgbClr val="2D73A4"/>
                </a:solidFill>
                <a:latin typeface="Helvetica Neue"/>
                <a:ea typeface="Helvetica Neue"/>
                <a:cs typeface="Helvetica Neue"/>
              </a:defRPr>
            </a:pPr>
            <a:r>
              <a:rPr sz="1575" b="1" i="0">
                <a:solidFill>
                  <a:srgbClr val="2D73A4"/>
                </a:solidFill>
                <a:latin typeface="Helvetica Neue"/>
                <a:ea typeface="Helvetica Neue"/>
                <a:cs typeface="Helvetica Neue"/>
              </a:rPr>
              <a:t>5-s units</a:t>
            </a:r>
          </a:p>
          <a:p xmlns:a="http://schemas.openxmlformats.org/drawingml/2006/main">
            <a:pPr algn="ctr">
              <a:defRPr sz="1575" b="1" i="0">
                <a:solidFill>
                  <a:srgbClr val="2D73A4"/>
                </a:solidFill>
                <a:latin typeface="Helvetica Neue"/>
                <a:ea typeface="Helvetica Neue"/>
                <a:cs typeface="Helvetica Neue"/>
              </a:defRPr>
            </a:pPr>
            <a:r>
              <a:rPr sz="1575" b="1" i="0">
                <a:solidFill>
                  <a:srgbClr val="2D73A4"/>
                </a:solidFill>
                <a:latin typeface="Helvetica Neue"/>
                <a:ea typeface="Helvetica Neue"/>
                <a:cs typeface="Helvetica Neue"/>
              </a:rPr>
              <a:t>masked A/C/W supervision</a:t>
            </a:r>
          </a:p>
        </p:txBody>
      </p:sp>
      <p:sp>
        <p:nvSpPr>
          <p:cNvPr id="5" name="">
            <a:extLst xmlns:a="http://schemas.openxmlformats.org/drawingml/2006/main">
              <a:ext uri="{FF2B5EF4-FFF2-40B4-BE49-F238E27FC236}">
                <a16:creationId xmlns:a16="http://schemas.microsoft.com/office/drawing/2014/main" id="{17B791EF-0177-43FD-85A4-714D2298EAED}"/>
              </a:ext>
            </a:extLst>
          </p:cNvPr>
          <p:cNvSpPr>
            <a:spLocks xmlns:a="http://schemas.openxmlformats.org/drawingml/2006/main" noGrp="1"/>
          </p:cNvSpPr>
          <p:nvPr/>
        </p:nvSpPr>
        <p:spPr>
          <a:xfrm xmlns:a="http://schemas.openxmlformats.org/drawingml/2006/main">
            <a:off x="3676650" y="1657350"/>
            <a:ext cx="2400300" cy="1524000"/>
          </a:xfrm>
          <a:prstGeom xmlns:a="http://schemas.openxmlformats.org/drawingml/2006/main" prst="roundRect">
            <a:avLst>
              <a:gd name="adj" fmla="val 10000"/>
            </a:avLst>
          </a:prstGeom>
          <a:solidFill xmlns:a="http://schemas.openxmlformats.org/drawingml/2006/main">
            <a:srgbClr val="F0ECFA"/>
          </a:solidFill>
          <a:ln xmlns:a="http://schemas.openxmlformats.org/drawingml/2006/main" w="13335">
            <a:solidFill>
              <a:srgbClr val="6D4CC2"/>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defRPr sz="1350" b="1" i="0">
                <a:solidFill>
                  <a:srgbClr val="6D4CC2"/>
                </a:solidFill>
                <a:latin typeface="Helvetica Neue"/>
                <a:ea typeface="Helvetica Neue"/>
                <a:cs typeface="Helvetica Neue"/>
              </a:defRPr>
            </a:pPr>
            <a:r>
              <a:rPr sz="1350" b="1" i="0">
                <a:solidFill>
                  <a:srgbClr val="6D4CC2"/>
                </a:solidFill>
                <a:latin typeface="Helvetica Neue"/>
                <a:ea typeface="Helvetica Neue"/>
                <a:cs typeface="Helvetica Neue"/>
              </a:rPr>
              <a:t>Checkpoint +</a:t>
            </a:r>
          </a:p>
          <a:p xmlns:a="http://schemas.openxmlformats.org/drawingml/2006/main">
            <a:pPr algn="ctr">
              <a:defRPr sz="1350" b="1" i="0">
                <a:solidFill>
                  <a:srgbClr val="6D4CC2"/>
                </a:solidFill>
                <a:latin typeface="Helvetica Neue"/>
                <a:ea typeface="Helvetica Neue"/>
                <a:cs typeface="Helvetica Neue"/>
              </a:defRPr>
            </a:pPr>
            <a:r>
              <a:rPr sz="1350" b="1" i="0">
                <a:solidFill>
                  <a:srgbClr val="6D4CC2"/>
                </a:solidFill>
                <a:latin typeface="Helvetica Neue"/>
                <a:ea typeface="Helvetica Neue"/>
                <a:cs typeface="Helvetica Neue"/>
              </a:rPr>
              <a:t>thresholds</a:t>
            </a:r>
          </a:p>
          <a:p xmlns:a="http://schemas.openxmlformats.org/drawingml/2006/main">
            <a:r>
              <a:t/>
            </a:r>
          </a:p>
          <a:p xmlns:a="http://schemas.openxmlformats.org/drawingml/2006/main">
            <a:pPr algn="ctr">
              <a:defRPr sz="1350" b="1" i="0">
                <a:solidFill>
                  <a:srgbClr val="6D4CC2"/>
                </a:solidFill>
                <a:latin typeface="Helvetica Neue"/>
                <a:ea typeface="Helvetica Neue"/>
                <a:cs typeface="Helvetica Neue"/>
              </a:defRPr>
            </a:pPr>
            <a:r>
              <a:rPr sz="1350" b="1" i="0">
                <a:solidFill>
                  <a:srgbClr val="6D4CC2"/>
                </a:solidFill>
                <a:latin typeface="Helvetica Neue"/>
                <a:ea typeface="Helvetica Neue"/>
                <a:cs typeface="Helvetica Neue"/>
              </a:rPr>
              <a:t>ICBHI test-score selection</a:t>
            </a:r>
          </a:p>
          <a:p xmlns:a="http://schemas.openxmlformats.org/drawingml/2006/main">
            <a:pPr algn="ctr">
              <a:defRPr sz="1350" b="1" i="0">
                <a:solidFill>
                  <a:srgbClr val="6D4CC2"/>
                </a:solidFill>
                <a:latin typeface="Helvetica Neue"/>
                <a:ea typeface="Helvetica Neue"/>
                <a:cs typeface="Helvetica Neue"/>
              </a:defRPr>
            </a:pPr>
            <a:r>
              <a:rPr sz="1350" b="1" i="0">
                <a:solidFill>
                  <a:srgbClr val="6D4CC2"/>
                </a:solidFill>
                <a:latin typeface="Helvetica Neue"/>
                <a:ea typeface="Helvetica Neue"/>
                <a:cs typeface="Helvetica Neue"/>
              </a:rPr>
              <a:t>C/W thresholds: core validation</a:t>
            </a:r>
          </a:p>
        </p:txBody>
      </p:sp>
      <p:sp>
        <p:nvSpPr>
          <p:cNvPr id="6" name="">
            <a:extLst xmlns:a="http://schemas.openxmlformats.org/drawingml/2006/main">
              <a:ext uri="{FF2B5EF4-FFF2-40B4-BE49-F238E27FC236}">
                <a16:creationId xmlns:a16="http://schemas.microsoft.com/office/drawing/2014/main" id="{05389235-B4C1-4BD5-A83F-B7724EF6342C}"/>
              </a:ext>
            </a:extLst>
          </p:cNvPr>
          <p:cNvSpPr>
            <a:spLocks xmlns:a="http://schemas.openxmlformats.org/drawingml/2006/main" noGrp="1"/>
          </p:cNvSpPr>
          <p:nvPr/>
        </p:nvSpPr>
        <p:spPr>
          <a:xfrm xmlns:a="http://schemas.openxmlformats.org/drawingml/2006/main">
            <a:off x="6686550" y="1657350"/>
            <a:ext cx="2095500" cy="1524000"/>
          </a:xfrm>
          <a:prstGeom xmlns:a="http://schemas.openxmlformats.org/drawingml/2006/main" prst="roundRect">
            <a:avLst>
              <a:gd name="adj" fmla="val 10000"/>
            </a:avLst>
          </a:prstGeom>
          <a:solidFill xmlns:a="http://schemas.openxmlformats.org/drawingml/2006/main">
            <a:srgbClr val="EAF6F1"/>
          </a:solidFill>
          <a:ln xmlns:a="http://schemas.openxmlformats.org/drawingml/2006/main" w="13335">
            <a:solidFill>
              <a:srgbClr val="2E8B78"/>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defRPr sz="1575" b="1" i="0">
                <a:solidFill>
                  <a:srgbClr val="2E8B78"/>
                </a:solidFill>
                <a:latin typeface="Helvetica Neue"/>
                <a:ea typeface="Helvetica Neue"/>
                <a:cs typeface="Helvetica Neue"/>
              </a:defRPr>
            </a:pPr>
            <a:r>
              <a:rPr sz="1575" b="1" i="0">
                <a:solidFill>
                  <a:srgbClr val="2E8B78"/>
                </a:solidFill>
                <a:latin typeface="Helvetica Neue"/>
                <a:ea typeface="Helvetica Neue"/>
                <a:cs typeface="Helvetica Neue"/>
              </a:rPr>
              <a:t>Native tests</a:t>
            </a:r>
          </a:p>
          <a:p xmlns:a="http://schemas.openxmlformats.org/drawingml/2006/main">
            <a:r>
              <a:t/>
            </a:r>
          </a:p>
          <a:p xmlns:a="http://schemas.openxmlformats.org/drawingml/2006/main">
            <a:pPr algn="ctr">
              <a:defRPr sz="1575" b="1" i="0">
                <a:solidFill>
                  <a:srgbClr val="2E8B78"/>
                </a:solidFill>
                <a:latin typeface="Helvetica Neue"/>
                <a:ea typeface="Helvetica Neue"/>
                <a:cs typeface="Helvetica Neue"/>
              </a:defRPr>
            </a:pPr>
            <a:r>
              <a:rPr sz="1575" b="1" i="0">
                <a:solidFill>
                  <a:srgbClr val="2E8B78"/>
                </a:solidFill>
                <a:latin typeface="Helvetica Neue"/>
                <a:ea typeface="Helvetica Neue"/>
                <a:cs typeface="Helvetica Neue"/>
              </a:rPr>
              <a:t>ICBHI official test</a:t>
            </a:r>
          </a:p>
          <a:p xmlns:a="http://schemas.openxmlformats.org/drawingml/2006/main">
            <a:pPr algn="ctr">
              <a:defRPr sz="1575" b="1" i="0">
                <a:solidFill>
                  <a:srgbClr val="2E8B78"/>
                </a:solidFill>
                <a:latin typeface="Helvetica Neue"/>
                <a:ea typeface="Helvetica Neue"/>
                <a:cs typeface="Helvetica Neue"/>
              </a:defRPr>
            </a:pPr>
            <a:r>
              <a:rPr sz="1575" b="1" i="0">
                <a:solidFill>
                  <a:srgbClr val="2E8B78"/>
                </a:solidFill>
                <a:latin typeface="Helvetica Neue"/>
                <a:ea typeface="Helvetica Neue"/>
                <a:cs typeface="Helvetica Neue"/>
              </a:rPr>
              <a:t>SPRSound official test</a:t>
            </a:r>
          </a:p>
        </p:txBody>
      </p:sp>
      <p:sp>
        <p:nvSpPr>
          <p:cNvPr id="7" name="">
            <a:extLst xmlns:a="http://schemas.openxmlformats.org/drawingml/2006/main">
              <a:ext uri="{FF2B5EF4-FFF2-40B4-BE49-F238E27FC236}">
                <a16:creationId xmlns:a16="http://schemas.microsoft.com/office/drawing/2014/main" id="{418BFED1-4421-483B-A084-FD0DB27C777B}"/>
              </a:ext>
            </a:extLst>
          </p:cNvPr>
          <p:cNvSpPr>
            <a:spLocks xmlns:a="http://schemas.openxmlformats.org/drawingml/2006/main" noGrp="1"/>
          </p:cNvSpPr>
          <p:nvPr/>
        </p:nvSpPr>
        <p:spPr>
          <a:xfrm xmlns:a="http://schemas.openxmlformats.org/drawingml/2006/main">
            <a:off x="9391650" y="1657350"/>
            <a:ext cx="2133600" cy="1524000"/>
          </a:xfrm>
          <a:prstGeom xmlns:a="http://schemas.openxmlformats.org/drawingml/2006/main" prst="roundRect">
            <a:avLst>
              <a:gd name="adj" fmla="val 10000"/>
            </a:avLst>
          </a:prstGeom>
          <a:solidFill xmlns:a="http://schemas.openxmlformats.org/drawingml/2006/main">
            <a:srgbClr val="FBF3E6"/>
          </a:solidFill>
          <a:ln xmlns:a="http://schemas.openxmlformats.org/drawingml/2006/main" w="13335">
            <a:solidFill>
              <a:srgbClr val="B8873B"/>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defRPr sz="1275" b="1" i="0">
                <a:solidFill>
                  <a:srgbClr val="B8873B"/>
                </a:solidFill>
                <a:latin typeface="Helvetica Neue"/>
                <a:ea typeface="Helvetica Neue"/>
                <a:cs typeface="Helvetica Neue"/>
              </a:defRPr>
            </a:pPr>
            <a:r>
              <a:rPr sz="1275" b="1" i="0">
                <a:solidFill>
                  <a:srgbClr val="B8873B"/>
                </a:solidFill>
                <a:latin typeface="Helvetica Neue"/>
                <a:ea typeface="Helvetica Neue"/>
                <a:cs typeface="Helvetica Neue"/>
              </a:rPr>
              <a:t>Fixed transfer</a:t>
            </a:r>
          </a:p>
          <a:p xmlns:a="http://schemas.openxmlformats.org/drawingml/2006/main">
            <a:r>
              <a:t/>
            </a:r>
          </a:p>
          <a:p xmlns:a="http://schemas.openxmlformats.org/drawingml/2006/main">
            <a:pPr algn="ctr">
              <a:defRPr sz="1275" b="1" i="0">
                <a:solidFill>
                  <a:srgbClr val="B8873B"/>
                </a:solidFill>
                <a:latin typeface="Helvetica Neue"/>
                <a:ea typeface="Helvetica Neue"/>
                <a:cs typeface="Helvetica Neue"/>
              </a:defRPr>
            </a:pPr>
            <a:r>
              <a:rPr sz="1275" b="1" i="0">
                <a:solidFill>
                  <a:srgbClr val="B8873B"/>
                </a:solidFill>
                <a:latin typeface="Helvetica Neue"/>
                <a:ea typeface="Helvetica Neue"/>
                <a:cs typeface="Helvetica Neue"/>
              </a:rPr>
              <a:t>HF source-test</a:t>
            </a:r>
          </a:p>
          <a:p xmlns:a="http://schemas.openxmlformats.org/drawingml/2006/main">
            <a:pPr algn="ctr">
              <a:defRPr sz="1275" b="1" i="0">
                <a:solidFill>
                  <a:srgbClr val="B8873B"/>
                </a:solidFill>
                <a:latin typeface="Helvetica Neue"/>
                <a:ea typeface="Helvetica Neue"/>
                <a:cs typeface="Helvetica Neue"/>
              </a:defRPr>
            </a:pPr>
            <a:r>
              <a:rPr sz="1275" b="1" i="0">
                <a:solidFill>
                  <a:srgbClr val="B8873B"/>
                </a:solidFill>
                <a:latin typeface="Helvetica Neue"/>
                <a:ea typeface="Helvetica Neue"/>
                <a:cs typeface="Helvetica Neue"/>
              </a:rPr>
              <a:t>KAUH: 86 compatible patients</a:t>
            </a:r>
          </a:p>
          <a:p xmlns:a="http://schemas.openxmlformats.org/drawingml/2006/main">
            <a:pPr algn="ctr">
              <a:defRPr sz="1275" b="1" i="0">
                <a:solidFill>
                  <a:srgbClr val="B8873B"/>
                </a:solidFill>
                <a:latin typeface="Helvetica Neue"/>
                <a:ea typeface="Helvetica Neue"/>
                <a:cs typeface="Helvetica Neue"/>
              </a:defRPr>
            </a:pPr>
            <a:r>
              <a:rPr sz="1275" b="1" i="0">
                <a:solidFill>
                  <a:srgbClr val="B8873B"/>
                </a:solidFill>
                <a:latin typeface="Helvetica Neue"/>
                <a:ea typeface="Helvetica Neue"/>
                <a:cs typeface="Helvetica Neue"/>
              </a:rPr>
              <a:t>model and thresholds fixed</a:t>
            </a:r>
          </a:p>
        </p:txBody>
      </p: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3067050" y="2419350"/>
            <a:ext cx="609600" cy="0"/>
          </a:xfrm>
          <a:prstGeom xmlns:a="http://schemas.openxmlformats.org/drawingml/2006/main" prst="straightConnector1">
            <a:avLst/>
          </a:prstGeom>
          <a:ln xmlns:a="http://schemas.openxmlformats.org/drawingml/2006/main" w="21908">
            <a:solidFill>
              <a:srgbClr val="D6E0E8"/>
            </a:solidFill>
            <a:prstDash val="solid"/>
            <a:tailEnd type="arrow" w="med" len="med"/>
          </a:ln>
        </p:spPr>
      </p:cxn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6076950" y="2419350"/>
            <a:ext cx="609600" cy="0"/>
          </a:xfrm>
          <a:prstGeom xmlns:a="http://schemas.openxmlformats.org/drawingml/2006/main" prst="straightConnector1">
            <a:avLst/>
          </a:prstGeom>
          <a:ln xmlns:a="http://schemas.openxmlformats.org/drawingml/2006/main" w="21908">
            <a:solidFill>
              <a:srgbClr val="D6E0E8"/>
            </a:solidFill>
            <a:prstDash val="solid"/>
            <a:tailEnd type="arrow" w="med" len="med"/>
          </a:ln>
        </p:spPr>
      </p:cxn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8782050" y="2419350"/>
            <a:ext cx="609600" cy="0"/>
          </a:xfrm>
          <a:prstGeom xmlns:a="http://schemas.openxmlformats.org/drawingml/2006/main" prst="straightConnector1">
            <a:avLst/>
          </a:prstGeom>
          <a:ln xmlns:a="http://schemas.openxmlformats.org/drawingml/2006/main" w="21908">
            <a:solidFill>
              <a:srgbClr val="D6E0E8"/>
            </a:solidFill>
            <a:prstDash val="solid"/>
            <a:tailEnd type="arrow" w="med" len="med"/>
          </a:ln>
        </p:spPr>
      </p:cxnSp>
      <p:sp>
        <p:nvSpPr>
          <p:cNvPr id="11" name="">
            <a:extLst xmlns:a="http://schemas.openxmlformats.org/drawingml/2006/main">
              <a:ext uri="{FF2B5EF4-FFF2-40B4-BE49-F238E27FC236}">
                <a16:creationId xmlns:a16="http://schemas.microsoft.com/office/drawing/2014/main" id="{730DBBE2-7100-4E8E-98D5-6F05D07DA0C6}"/>
              </a:ext>
            </a:extLst>
          </p:cNvPr>
          <p:cNvSpPr>
            <a:spLocks xmlns:a="http://schemas.openxmlformats.org/drawingml/2006/main" noGrp="1"/>
          </p:cNvSpPr>
          <p:nvPr/>
        </p:nvSpPr>
        <p:spPr>
          <a:xfrm xmlns:a="http://schemas.openxmlformats.org/drawingml/2006/main">
            <a:off x="666750" y="3762375"/>
            <a:ext cx="10858500" cy="933450"/>
          </a:xfrm>
          <a:prstGeom xmlns:a="http://schemas.openxmlformats.org/drawingml/2006/main" prst="roundRect">
            <a:avLst>
              <a:gd name="adj" fmla="val 16327"/>
            </a:avLst>
          </a:prstGeom>
          <a:solidFill xmlns:a="http://schemas.openxmlformats.org/drawingml/2006/main">
            <a:srgbClr val="F5F8FB"/>
          </a:solidFill>
          <a:ln xmlns:a="http://schemas.openxmlformats.org/drawingml/2006/main" w="9525">
            <a:solidFill>
              <a:srgbClr val="D6E0E8"/>
            </a:solidFill>
            <a:prstDash val="solid"/>
          </a:ln>
        </p:spPr>
      </p:sp>
      <p:sp>
        <p:nvSpPr>
          <p:cNvPr id="12" name="">
            <a:extLst xmlns:a="http://schemas.openxmlformats.org/drawingml/2006/main">
              <a:ext uri="{FF2B5EF4-FFF2-40B4-BE49-F238E27FC236}">
                <a16:creationId xmlns:a16="http://schemas.microsoft.com/office/drawing/2014/main" id="{745EA8D4-FD62-46AF-A1E4-A7CCFC679BED}"/>
              </a:ext>
            </a:extLst>
          </p:cNvPr>
          <p:cNvSpPr>
            <a:spLocks xmlns:a="http://schemas.openxmlformats.org/drawingml/2006/main" noGrp="1"/>
          </p:cNvSpPr>
          <p:nvPr/>
        </p:nvSpPr>
        <p:spPr>
          <a:xfrm xmlns:a="http://schemas.openxmlformats.org/drawingml/2006/main">
            <a:off x="933450" y="3943350"/>
            <a:ext cx="10325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52400" tIns="0" rIns="152400" bIns="0" anchor="ctr">
            <a:noAutofit/>
          </a:bodyPr>
          <a:lstStyle xmlns:a="http://schemas.openxmlformats.org/drawingml/2006/main"/>
          <a:p xmlns:a="http://schemas.openxmlformats.org/drawingml/2006/main">
            <a:pPr algn="ctr">
              <a:defRPr sz="1725" b="1" i="0">
                <a:solidFill>
                  <a:srgbClr val="16324F"/>
                </a:solidFill>
                <a:latin typeface="Helvetica Neue"/>
                <a:ea typeface="Helvetica Neue"/>
                <a:cs typeface="Helvetica Neue"/>
              </a:defRPr>
            </a:pPr>
            <a:r>
              <a:rPr sz="1725" b="1" i="0">
                <a:solidFill>
                  <a:srgbClr val="16324F"/>
                </a:solidFill>
                <a:latin typeface="Helvetica Neue"/>
                <a:ea typeface="Helvetica Neue"/>
                <a:cs typeface="Helvetica Neue"/>
              </a:rPr>
              <a:t>HF is a CAS ranking proxy based on max-window Wheeze scores. KAUH is patient-level Normal/Abnormal evaluation. Neither is a new target-adaptation result.</a:t>
            </a:r>
          </a:p>
        </p:txBody>
      </p:sp>
      <p:sp>
        <p:nvSpPr>
          <p:cNvPr id="13" name="">
            <a:extLst xmlns:a="http://schemas.openxmlformats.org/drawingml/2006/main">
              <a:ext uri="{FF2B5EF4-FFF2-40B4-BE49-F238E27FC236}">
                <a16:creationId xmlns:a16="http://schemas.microsoft.com/office/drawing/2014/main" id="{F9650F9B-681C-436F-ABF0-B6F25313B018}"/>
              </a:ext>
            </a:extLst>
          </p:cNvPr>
          <p:cNvSpPr>
            <a:spLocks xmlns:a="http://schemas.openxmlformats.org/drawingml/2006/main" noGrp="1"/>
          </p:cNvSpPr>
          <p:nvPr/>
        </p:nvSpPr>
        <p:spPr>
          <a:xfrm xmlns:a="http://schemas.openxmlformats.org/drawingml/2006/main">
            <a:off x="666750" y="5076825"/>
            <a:ext cx="10858500" cy="666750"/>
          </a:xfrm>
          <a:prstGeom xmlns:a="http://schemas.openxmlformats.org/drawingml/2006/main" prst="roundRect">
            <a:avLst>
              <a:gd name="adj" fmla="val 20000"/>
            </a:avLst>
          </a:prstGeom>
          <a:solidFill xmlns:a="http://schemas.openxmlformats.org/drawingml/2006/main">
            <a:srgbClr val="FBECEE"/>
          </a:solidFill>
          <a:ln xmlns:a="http://schemas.openxmlformats.org/drawingml/2006/main" w="9525">
            <a:solidFill>
              <a:srgbClr val="B24B58"/>
            </a:solidFill>
            <a:prstDash val="solid"/>
          </a:ln>
        </p:spPr>
        <p:txBody>
          <a:bodyPr xmlns:a="http://schemas.openxmlformats.org/drawingml/2006/main" wrap="square" lIns="152400" tIns="38100" rIns="152400" bIns="38100" anchor="ctr">
            <a:noAutofit/>
          </a:bodyPr>
          <a:lstStyle xmlns:a="http://schemas.openxmlformats.org/drawingml/2006/main"/>
          <a:p xmlns:a="http://schemas.openxmlformats.org/drawingml/2006/main">
            <a:pPr algn="ctr">
              <a:defRPr sz="1575" b="1" i="0">
                <a:solidFill>
                  <a:srgbClr val="B24B58"/>
                </a:solidFill>
                <a:latin typeface="Helvetica Neue"/>
                <a:ea typeface="Helvetica Neue"/>
                <a:cs typeface="Helvetica Neue"/>
              </a:defRPr>
            </a:pPr>
            <a:r>
              <a:rPr sz="1575" b="1" i="0">
                <a:solidFill>
                  <a:srgbClr val="B24B58"/>
                </a:solidFill>
                <a:latin typeface="Helvetica Neue"/>
                <a:ea typeface="Helvetica Neue"/>
                <a:cs typeface="Helvetica Neue"/>
              </a:rPr>
              <a:t>Interpretation boundary: the current protocol does not isolate shared attributes from encoder fine-tuning or PAFA regularization.</a:t>
            </a:r>
          </a:p>
        </p:txBody>
      </p:sp>
      <p:sp>
        <p:nvSpPr>
          <p:cNvPr id="14" name="">
            <a:extLst xmlns:a="http://schemas.openxmlformats.org/drawingml/2006/main">
              <a:ext uri="{FF2B5EF4-FFF2-40B4-BE49-F238E27FC236}">
                <a16:creationId xmlns:a16="http://schemas.microsoft.com/office/drawing/2014/main" id="{3D08618C-D33E-4835-8846-9B5BDD34FAC7}"/>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rect">
            <a:avLst/>
          </a:prstGeom>
          <a:solidFill xmlns:a="http://schemas.openxmlformats.org/drawingml/2006/main">
            <a:srgbClr val="D6E0E8"/>
          </a:solidFill>
          <a:ln xmlns:a="http://schemas.openxmlformats.org/drawingml/2006/main" w="0">
            <a:solidFill>
              <a:srgbClr val="D6E0E8"/>
            </a:solidFill>
            <a:prstDash val="solid"/>
          </a:ln>
        </p:spPr>
      </p:sp>
      <p:sp>
        <p:nvSpPr>
          <p:cNvPr id="15" name="">
            <a:extLst xmlns:a="http://schemas.openxmlformats.org/drawingml/2006/main">
              <a:ext uri="{FF2B5EF4-FFF2-40B4-BE49-F238E27FC236}">
                <a16:creationId xmlns:a16="http://schemas.microsoft.com/office/drawing/2014/main" id="{E33A4580-E462-47AE-A9DE-128CBA2C7B1F}"/>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NIcE X F26 Lab Meeting   18 September 2026</a:t>
            </a:r>
          </a:p>
        </p:txBody>
      </p:sp>
      <p:sp>
        <p:nvSpPr>
          <p:cNvPr id="16" name="">
            <a:extLst xmlns:a="http://schemas.openxmlformats.org/drawingml/2006/main">
              <a:ext uri="{FF2B5EF4-FFF2-40B4-BE49-F238E27FC236}">
                <a16:creationId xmlns:a16="http://schemas.microsoft.com/office/drawing/2014/main" id="{DC2B4B1D-E04E-469E-BDE9-1C2766D18FC6}"/>
              </a:ext>
            </a:extLst>
          </p:cNvPr>
          <p:cNvSpPr>
            <a:spLocks xmlns:a="http://schemas.openxmlformats.org/drawingml/2006/main" noGrp="1"/>
          </p:cNvSpPr>
          <p:nvPr/>
        </p:nvSpPr>
        <p:spPr>
          <a:xfrm xmlns:a="http://schemas.openxmlformats.org/drawingml/2006/main">
            <a:off x="9810750" y="6496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6 / 11</a:t>
            </a:r>
          </a:p>
        </p:txBody>
      </p:sp>
    </p:spTree>
    <p:extLst>
      <p:ext uri="{BB962C8B-B14F-4D97-AF65-F5344CB8AC3E}">
        <p14:creationId xmlns:p14="http://schemas.microsoft.com/office/powerpoint/2010/main" val="6345230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36F9F5-E608-42B4-BCAF-0805D2FD266E}"/>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6D4CC2"/>
          </a:solidFill>
          <a:ln xmlns:a="http://schemas.openxmlformats.org/drawingml/2006/main" w="0">
            <a:solidFill>
              <a:srgbClr val="6D4CC2"/>
            </a:solidFill>
            <a:prstDash val="solid"/>
          </a:ln>
        </p:spPr>
      </p:sp>
      <p:sp>
        <p:nvSpPr>
          <p:cNvPr id="2" name="">
            <a:extLst xmlns:a="http://schemas.openxmlformats.org/drawingml/2006/main">
              <a:ext uri="{FF2B5EF4-FFF2-40B4-BE49-F238E27FC236}">
                <a16:creationId xmlns:a16="http://schemas.microsoft.com/office/drawing/2014/main" id="{E34AA22A-5F59-49AB-814C-DED61B9C011B}"/>
              </a:ext>
            </a:extLst>
          </p:cNvPr>
          <p:cNvSpPr>
            <a:spLocks xmlns:a="http://schemas.openxmlformats.org/drawingml/2006/main" noGrp="1"/>
          </p:cNvSpPr>
          <p:nvPr/>
        </p:nvSpPr>
        <p:spPr>
          <a:xfrm xmlns:a="http://schemas.openxmlformats.org/drawingml/2006/main">
            <a:off x="647700" y="38100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i="0">
                <a:solidFill>
                  <a:srgbClr val="16324F"/>
                </a:solidFill>
                <a:latin typeface="Helvetica Neue"/>
                <a:ea typeface="Helvetica Neue"/>
                <a:cs typeface="Helvetica Neue"/>
              </a:defRPr>
            </a:pPr>
            <a:r>
              <a:rPr sz="2850" b="1" i="0">
                <a:solidFill>
                  <a:srgbClr val="16324F"/>
                </a:solidFill>
                <a:latin typeface="Helvetica Neue"/>
                <a:ea typeface="Helvetica Neue"/>
                <a:cs typeface="Helvetica Neue"/>
              </a:rPr>
              <a:t>The winner depends on task and evaluation target</a:t>
            </a:r>
          </a:p>
        </p:txBody>
      </p:sp>
      <p:sp>
        <p:nvSpPr>
          <p:cNvPr id="3" name="">
            <a:extLst xmlns:a="http://schemas.openxmlformats.org/drawingml/2006/main">
              <a:ext uri="{FF2B5EF4-FFF2-40B4-BE49-F238E27FC236}">
                <a16:creationId xmlns:a16="http://schemas.microsoft.com/office/drawing/2014/main" id="{176C1C84-0291-4605-AADE-C17A2C0CD381}"/>
              </a:ext>
            </a:extLst>
          </p:cNvPr>
          <p:cNvSpPr>
            <a:spLocks xmlns:a="http://schemas.openxmlformats.org/drawingml/2006/main" noGrp="1"/>
          </p:cNvSpPr>
          <p:nvPr/>
        </p:nvSpPr>
        <p:spPr>
          <a:xfrm xmlns:a="http://schemas.openxmlformats.org/drawingml/2006/main">
            <a:off x="666750" y="9525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5C6B79"/>
                </a:solidFill>
                <a:latin typeface="Helvetica Neue"/>
                <a:ea typeface="Helvetica Neue"/>
                <a:cs typeface="Helvetica Neue"/>
              </a:defRPr>
            </a:pPr>
            <a:r>
              <a:rPr sz="1425" b="0" i="0">
                <a:solidFill>
                  <a:srgbClr val="5C6B79"/>
                </a:solidFill>
                <a:latin typeface="Helvetica Neue"/>
                <a:ea typeface="Helvetica Neue"/>
                <a:cs typeface="Helvetica Neue"/>
              </a:rPr>
              <a:t>Mean ± sample SD over three seeds; values are percentages</a:t>
            </a:r>
          </a:p>
        </p:txBody>
      </p:sp>
      <p:sp>
        <p:nvSpPr>
          <p:cNvPr id="4" name="">
            <a:extLst xmlns:a="http://schemas.openxmlformats.org/drawingml/2006/main">
              <a:ext uri="{FF2B5EF4-FFF2-40B4-BE49-F238E27FC236}">
                <a16:creationId xmlns:a16="http://schemas.microsoft.com/office/drawing/2014/main" id="{6FDCEA95-855C-4B37-8A8D-0347459B82E6}"/>
              </a:ext>
            </a:extLst>
          </p:cNvPr>
          <p:cNvSpPr>
            <a:spLocks xmlns:a="http://schemas.openxmlformats.org/drawingml/2006/main" noGrp="1"/>
          </p:cNvSpPr>
          <p:nvPr/>
        </p:nvSpPr>
        <p:spPr>
          <a:xfrm xmlns:a="http://schemas.openxmlformats.org/drawingml/2006/main">
            <a:off x="666750" y="133350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16324F"/>
                </a:solidFill>
                <a:latin typeface="Helvetica Neue"/>
                <a:ea typeface="Helvetica Neue"/>
                <a:cs typeface="Helvetica Neue"/>
              </a:defRPr>
            </a:pPr>
            <a:r>
              <a:rPr sz="1650" b="1" i="0">
                <a:solidFill>
                  <a:srgbClr val="16324F"/>
                </a:solidFill>
                <a:latin typeface="Helvetica Neue"/>
                <a:ea typeface="Helvetica Neue"/>
                <a:cs typeface="Helvetica Neue"/>
              </a:rPr>
              <a:t>System-level comparison across the completed three-seed runs</a:t>
            </a:r>
          </a:p>
        </p:txBody>
      </p:sp>
      <p:graphicFrame>
        <p:nvGraphicFramePr>
          <p:cNvPr id="15" name=""/>
          <p:cNvGraphicFramePr/>
          <p:nvPr/>
        </p:nvGraphicFramePr>
        <p:xfrm>
          <a:off xmlns:a="http://schemas.openxmlformats.org/drawingml/2006/main" x="438150" y="1752600"/>
          <a:ext xmlns:a="http://schemas.openxmlformats.org/drawingml/2006/main" cx="11315700" cy="3371850"/>
        </p:xfrm>
        <a:graphic xmlns:a="http://schemas.openxmlformats.org/drawingml/2006/main">
          <a:graphicData uri="http://schemas.openxmlformats.org/drawingml/2006/table">
            <a:tbl>
              <a:tblPr/>
              <a:tblGrid>
                <a:gridCol w="2114550"/>
                <a:gridCol w="1714500"/>
                <a:gridCol w="1981200"/>
                <a:gridCol w="1381125"/>
                <a:gridCol w="1428750"/>
                <a:gridCol w="1466850"/>
                <a:gridCol w="1228725"/>
              </a:tblGrid>
              <a:tr h="590550">
                <a:tc>
                  <a:txBody>
                    <a:bodyPr/>
                    <a:lstStyle/>
                    <a:p>
                      <a:r>
                        <a:rPr>
                          <a:latin typeface="Helvetica Neue"/>
                          <a:ea typeface="Helvetica Neue"/>
                          <a:cs typeface="Helvetica Neue"/>
                        </a:rPr>
                        <a:t>System</a:t>
                      </a:r>
                    </a:p>
                  </a:txBody>
                  <a:tcPr marL="91440" marR="91440" marT="45720" marB="45720"/>
                </a:tc>
                <a:tc>
                  <a:txBody>
                    <a:bodyPr/>
                    <a:lstStyle/>
                    <a:p>
                      <a:r>
                        <a:rPr>
                          <a:latin typeface="Helvetica Neue"/>
                          <a:ea typeface="Helvetica Neue"/>
                          <a:cs typeface="Helvetica Neue"/>
                        </a:rPr>
                        <a:t>Source training</a:t>
                      </a:r>
                    </a:p>
                  </a:txBody>
                  <a:tcPr marL="91440" marR="91440" marT="45720" marB="45720"/>
                </a:tc>
                <a:tc>
                  <a:txBody>
                    <a:bodyPr/>
                    <a:lstStyle/>
                    <a:p>
                      <a:r>
                        <a:rPr>
                          <a:latin typeface="Helvetica Neue"/>
                          <a:ea typeface="Helvetica Neue"/>
                          <a:cs typeface="Helvetica Neue"/>
                        </a:rPr>
                        <a:t>Encoder / fusion</a:t>
                      </a:r>
                    </a:p>
                  </a:txBody>
                  <a:tcPr marL="91440" marR="91440" marT="45720" marB="45720"/>
                </a:tc>
                <a:tc>
                  <a:txBody>
                    <a:bodyPr/>
                    <a:lstStyle/>
                    <a:p>
                      <a:r>
                        <a:rPr>
                          <a:latin typeface="Helvetica Neue"/>
                          <a:ea typeface="Helvetica Neue"/>
                          <a:cs typeface="Helvetica Neue"/>
                        </a:rPr>
                        <a:t>ICBHI
Score</a:t>
                      </a:r>
                    </a:p>
                  </a:txBody>
                  <a:tcPr marL="91440" marR="91440" marT="45720" marB="45720"/>
                </a:tc>
                <a:tc>
                  <a:txBody>
                    <a:bodyPr/>
                    <a:lstStyle/>
                    <a:p>
                      <a:r>
                        <a:rPr>
                          <a:latin typeface="Helvetica Neue"/>
                          <a:ea typeface="Helvetica Neue"/>
                          <a:cs typeface="Helvetica Neue"/>
                        </a:rPr>
                        <a:t>SPRSound
Score</a:t>
                      </a:r>
                    </a:p>
                  </a:txBody>
                  <a:tcPr marL="91440" marR="91440" marT="45720" marB="45720"/>
                </a:tc>
                <a:tc>
                  <a:txBody>
                    <a:bodyPr/>
                    <a:lstStyle/>
                    <a:p>
                      <a:r>
                        <a:rPr>
                          <a:latin typeface="Helvetica Neue"/>
                          <a:ea typeface="Helvetica Neue"/>
                          <a:cs typeface="Helvetica Neue"/>
                        </a:rPr>
                        <a:t>HF CAS
AUROC</a:t>
                      </a:r>
                    </a:p>
                  </a:txBody>
                  <a:tcPr marL="91440" marR="91440" marT="45720" marB="45720"/>
                </a:tc>
                <a:tc>
                  <a:txBody>
                    <a:bodyPr/>
                    <a:lstStyle/>
                    <a:p>
                      <a:r>
                        <a:rPr>
                          <a:latin typeface="Helvetica Neue"/>
                          <a:ea typeface="Helvetica Neue"/>
                          <a:cs typeface="Helvetica Neue"/>
                        </a:rPr>
                        <a:t>KAUH
BA</a:t>
                      </a:r>
                    </a:p>
                  </a:txBody>
                  <a:tcPr marL="91440" marR="91440" marT="45720" marB="45720"/>
                </a:tc>
              </a:tr>
              <a:tr h="800100">
                <a:tc>
                  <a:txBody>
                    <a:bodyPr lIns="66675" tIns="76200" rIns="66675" bIns="76200">
                      <a:normAutofit/>
                    </a:bodyPr>
                    <a:lstStyle/>
                    <a:p>
                      <a:pPr algn="l"/>
                      <a:r>
                        <a:rPr sz="1350" b="1">
                          <a:solidFill>
                            <a:srgbClr val="6D4CC2"/>
                          </a:solidFill>
                          <a:latin typeface="Helvetica Neue"/>
                          <a:ea typeface="Helvetica Neue"/>
                          <a:cs typeface="Helvetica Neue"/>
                        </a:rPr>
                        <a:t>LSAA</a:t>
                      </a:r>
                    </a:p>
                  </a:txBody>
                  <a:tcPr marL="91440" marR="91440" marT="45720" marB="45720" anchor="ctr">
                    <a:solidFill>
                      <a:srgbClr val="F0ECFA"/>
                    </a:solidFill>
                  </a:tcPr>
                </a:tc>
                <a:tc>
                  <a:txBody>
                    <a:bodyPr/>
                    <a:lstStyle/>
                    <a:p>
                      <a:r>
                        <a:rPr>
                          <a:latin typeface="Helvetica Neue"/>
                          <a:ea typeface="Helvetica Neue"/>
                          <a:cs typeface="Helvetica Neue"/>
                        </a:rPr>
                        <a:t>ICBHI + SPRSound</a:t>
                      </a:r>
                    </a:p>
                  </a:txBody>
                  <a:tcPr marL="91440" marR="91440" marT="45720" marB="45720"/>
                </a:tc>
                <a:tc>
                  <a:txBody>
                    <a:bodyPr/>
                    <a:lstStyle/>
                    <a:p>
                      <a:r>
                        <a:rPr>
                          <a:latin typeface="Helvetica Neue"/>
                          <a:ea typeface="Helvetica Neue"/>
                          <a:cs typeface="Helvetica Neue"/>
                        </a:rPr>
                        <a:t>Fine-tuned BEATs
+ PAFA</a:t>
                      </a:r>
                    </a:p>
                  </a:txBody>
                  <a:tcPr marL="91440" marR="91440" marT="45720" marB="45720"/>
                </a:tc>
                <a:tc>
                  <a:txBody>
                    <a:bodyPr/>
                    <a:lstStyle/>
                    <a:p>
                      <a:r>
                        <a:rPr>
                          <a:latin typeface="Helvetica Neue"/>
                          <a:ea typeface="Helvetica Neue"/>
                          <a:cs typeface="Helvetica Neue"/>
                        </a:rPr>
                        <a:t>61.17 ± 0.31</a:t>
                      </a:r>
                    </a:p>
                  </a:txBody>
                  <a:tcPr marL="91440" marR="91440" marT="45720" marB="45720">
                    <a:solidFill>
                      <a:srgbClr val="EAF6F1"/>
                    </a:solidFill>
                  </a:tcPr>
                </a:tc>
                <a:tc>
                  <a:txBody>
                    <a:bodyPr/>
                    <a:lstStyle/>
                    <a:p>
                      <a:r>
                        <a:rPr>
                          <a:latin typeface="Helvetica Neue"/>
                          <a:ea typeface="Helvetica Neue"/>
                          <a:cs typeface="Helvetica Neue"/>
                        </a:rPr>
                        <a:t>90.70 ± 0.34</a:t>
                      </a:r>
                    </a:p>
                  </a:txBody>
                  <a:tcPr marL="91440" marR="91440" marT="45720" marB="45720"/>
                </a:tc>
                <a:tc>
                  <a:txBody>
                    <a:bodyPr/>
                    <a:lstStyle/>
                    <a:p>
                      <a:r>
                        <a:rPr>
                          <a:latin typeface="Helvetica Neue"/>
                          <a:ea typeface="Helvetica Neue"/>
                          <a:cs typeface="Helvetica Neue"/>
                        </a:rPr>
                        <a:t>86.44 ± 2.13</a:t>
                      </a:r>
                    </a:p>
                  </a:txBody>
                  <a:tcPr marL="91440" marR="91440" marT="45720" marB="45720">
                    <a:solidFill>
                      <a:srgbClr val="EAF6F1"/>
                    </a:solidFill>
                  </a:tcPr>
                </a:tc>
                <a:tc>
                  <a:txBody>
                    <a:bodyPr/>
                    <a:lstStyle/>
                    <a:p>
                      <a:r>
                        <a:rPr>
                          <a:latin typeface="Helvetica Neue"/>
                          <a:ea typeface="Helvetica Neue"/>
                          <a:cs typeface="Helvetica Neue"/>
                        </a:rPr>
                        <a:t>72.17 ± 1.64</a:t>
                      </a:r>
                    </a:p>
                  </a:txBody>
                  <a:tcPr marL="91440" marR="91440" marT="45720" marB="45720"/>
                </a:tc>
              </a:tr>
              <a:tr h="800100">
                <a:tc>
                  <a:txBody>
                    <a:bodyPr/>
                    <a:lstStyle/>
                    <a:p>
                      <a:r>
                        <a:rPr>
                          <a:latin typeface="Helvetica Neue"/>
                          <a:ea typeface="Helvetica Neue"/>
                          <a:cs typeface="Helvetica Neue"/>
                        </a:rPr>
                        <a:t>PC-MCL 5-s adaptation</a:t>
                      </a:r>
                    </a:p>
                  </a:txBody>
                  <a:tcPr marL="91440" marR="91440" marT="45720" marB="45720"/>
                </a:tc>
                <a:tc>
                  <a:txBody>
                    <a:bodyPr/>
                    <a:lstStyle/>
                    <a:p>
                      <a:r>
                        <a:rPr>
                          <a:latin typeface="Helvetica Neue"/>
                          <a:ea typeface="Helvetica Neue"/>
                          <a:cs typeface="Helvetica Neue"/>
                        </a:rPr>
                        <a:t>ICBHI</a:t>
                      </a:r>
                    </a:p>
                  </a:txBody>
                  <a:tcPr marL="91440" marR="91440" marT="45720" marB="45720"/>
                </a:tc>
                <a:tc>
                  <a:txBody>
                    <a:bodyPr/>
                    <a:lstStyle/>
                    <a:p>
                      <a:r>
                        <a:rPr>
                          <a:latin typeface="Helvetica Neue"/>
                          <a:ea typeface="Helvetica Neue"/>
                          <a:cs typeface="Helvetica Neue"/>
                        </a:rPr>
                        <a:t>Fine-tuned BEATs</a:t>
                      </a:r>
                    </a:p>
                  </a:txBody>
                  <a:tcPr marL="91440" marR="91440" marT="45720" marB="45720"/>
                </a:tc>
                <a:tc>
                  <a:txBody>
                    <a:bodyPr/>
                    <a:lstStyle/>
                    <a:p>
                      <a:r>
                        <a:rPr>
                          <a:latin typeface="Helvetica Neue"/>
                          <a:ea typeface="Helvetica Neue"/>
                          <a:cs typeface="Helvetica Neue"/>
                        </a:rPr>
                        <a:t>59.81 ± 0.80</a:t>
                      </a:r>
                    </a:p>
                  </a:txBody>
                  <a:tcPr marL="91440" marR="91440" marT="45720" marB="45720"/>
                </a:tc>
                <a:tc>
                  <a:txBody>
                    <a:bodyPr/>
                    <a:lstStyle/>
                    <a:p>
                      <a:r>
                        <a:rPr>
                          <a:latin typeface="Helvetica Neue"/>
                          <a:ea typeface="Helvetica Neue"/>
                          <a:cs typeface="Helvetica Neue"/>
                        </a:rPr>
                        <a:t>48.91 ± 2.59</a:t>
                      </a:r>
                    </a:p>
                  </a:txBody>
                  <a:tcPr marL="91440" marR="91440" marT="45720" marB="45720"/>
                </a:tc>
                <a:tc>
                  <a:txBody>
                    <a:bodyPr/>
                    <a:lstStyle/>
                    <a:p>
                      <a:r>
                        <a:rPr>
                          <a:latin typeface="Helvetica Neue"/>
                          <a:ea typeface="Helvetica Neue"/>
                          <a:cs typeface="Helvetica Neue"/>
                        </a:rPr>
                        <a:t>78.64 ± 7.00</a:t>
                      </a:r>
                    </a:p>
                  </a:txBody>
                  <a:tcPr marL="91440" marR="91440" marT="45720" marB="45720"/>
                </a:tc>
                <a:tc>
                  <a:txBody>
                    <a:bodyPr/>
                    <a:lstStyle/>
                    <a:p>
                      <a:r>
                        <a:rPr>
                          <a:latin typeface="Helvetica Neue"/>
                          <a:ea typeface="Helvetica Neue"/>
                          <a:cs typeface="Helvetica Neue"/>
                        </a:rPr>
                        <a:t>75.39 ± 4.55</a:t>
                      </a:r>
                    </a:p>
                  </a:txBody>
                  <a:tcPr marL="91440" marR="91440" marT="45720" marB="45720"/>
                </a:tc>
              </a:tr>
              <a:tr h="800100">
                <a:tc>
                  <a:txBody>
                    <a:bodyPr/>
                    <a:lstStyle/>
                    <a:p>
                      <a:r>
                        <a:rPr>
                          <a:latin typeface="Helvetica Neue"/>
                          <a:ea typeface="Helvetica Neue"/>
                          <a:cs typeface="Helvetica Neue"/>
                        </a:rPr>
                        <a:t>DCASE-style respiratory
adaptation</a:t>
                      </a:r>
                    </a:p>
                  </a:txBody>
                  <a:tcPr marL="91440" marR="91440" marT="45720" marB="45720"/>
                </a:tc>
                <a:tc>
                  <a:txBody>
                    <a:bodyPr/>
                    <a:lstStyle/>
                    <a:p>
                      <a:r>
                        <a:rPr>
                          <a:latin typeface="Helvetica Neue"/>
                          <a:ea typeface="Helvetica Neue"/>
                          <a:cs typeface="Helvetica Neue"/>
                        </a:rPr>
                        <a:t>ICBHI + SPRSound</a:t>
                      </a:r>
                    </a:p>
                  </a:txBody>
                  <a:tcPr marL="91440" marR="91440" marT="45720" marB="45720"/>
                </a:tc>
                <a:tc>
                  <a:txBody>
                    <a:bodyPr/>
                    <a:lstStyle/>
                    <a:p>
                      <a:r>
                        <a:rPr>
                          <a:latin typeface="Helvetica Neue"/>
                          <a:ea typeface="Helvetica Neue"/>
                          <a:cs typeface="Helvetica Neue"/>
                        </a:rPr>
                        <a:t>Frozen BEATs
+ trainable CRNN</a:t>
                      </a:r>
                    </a:p>
                  </a:txBody>
                  <a:tcPr marL="91440" marR="91440" marT="45720" marB="45720"/>
                </a:tc>
                <a:tc>
                  <a:txBody>
                    <a:bodyPr/>
                    <a:lstStyle/>
                    <a:p>
                      <a:r>
                        <a:rPr>
                          <a:latin typeface="Helvetica Neue"/>
                          <a:ea typeface="Helvetica Neue"/>
                          <a:cs typeface="Helvetica Neue"/>
                        </a:rPr>
                        <a:t>54.42 ± 1.25</a:t>
                      </a:r>
                    </a:p>
                  </a:txBody>
                  <a:tcPr marL="91440" marR="91440" marT="45720" marB="45720"/>
                </a:tc>
                <a:tc>
                  <a:txBody>
                    <a:bodyPr/>
                    <a:lstStyle/>
                    <a:p>
                      <a:r>
                        <a:rPr>
                          <a:latin typeface="Helvetica Neue"/>
                          <a:ea typeface="Helvetica Neue"/>
                          <a:cs typeface="Helvetica Neue"/>
                        </a:rPr>
                        <a:t>91.42 ± 0.39</a:t>
                      </a:r>
                    </a:p>
                  </a:txBody>
                  <a:tcPr marL="91440" marR="91440" marT="45720" marB="45720">
                    <a:solidFill>
                      <a:srgbClr val="EAF6F1"/>
                    </a:solidFill>
                  </a:tcPr>
                </a:tc>
                <a:tc>
                  <a:txBody>
                    <a:bodyPr/>
                    <a:lstStyle/>
                    <a:p>
                      <a:r>
                        <a:rPr>
                          <a:latin typeface="Helvetica Neue"/>
                          <a:ea typeface="Helvetica Neue"/>
                          <a:cs typeface="Helvetica Neue"/>
                        </a:rPr>
                        <a:t>80.97 ± 6.42</a:t>
                      </a:r>
                    </a:p>
                  </a:txBody>
                  <a:tcPr marL="91440" marR="91440" marT="45720" marB="45720"/>
                </a:tc>
                <a:tc>
                  <a:txBody>
                    <a:bodyPr/>
                    <a:lstStyle/>
                    <a:p>
                      <a:r>
                        <a:rPr>
                          <a:latin typeface="Helvetica Neue"/>
                          <a:ea typeface="Helvetica Neue"/>
                          <a:cs typeface="Helvetica Neue"/>
                        </a:rPr>
                        <a:t>77.40 ± 4.38</a:t>
                      </a:r>
                    </a:p>
                  </a:txBody>
                  <a:tcPr marL="91440" marR="91440" marT="45720" marB="45720">
                    <a:solidFill>
                      <a:srgbClr val="EAF6F1"/>
                    </a:solidFill>
                  </a:tcPr>
                </a:tc>
              </a:tr>
            </a:tbl>
          </a:graphicData>
        </a:graphic>
      </p:graphicFrame>
      <p:sp>
        <p:nvSpPr>
          <p:cNvPr id="6" name="">
            <a:extLst xmlns:a="http://schemas.openxmlformats.org/drawingml/2006/main">
              <a:ext uri="{FF2B5EF4-FFF2-40B4-BE49-F238E27FC236}">
                <a16:creationId xmlns:a16="http://schemas.microsoft.com/office/drawing/2014/main" id="{9BFBCAF0-EA60-40A2-8AF8-31198CDBBFBF}"/>
              </a:ext>
            </a:extLst>
          </p:cNvPr>
          <p:cNvSpPr>
            <a:spLocks xmlns:a="http://schemas.openxmlformats.org/drawingml/2006/main" noGrp="1"/>
          </p:cNvSpPr>
          <p:nvPr/>
        </p:nvSpPr>
        <p:spPr>
          <a:xfrm xmlns:a="http://schemas.openxmlformats.org/drawingml/2006/main">
            <a:off x="666750" y="5334000"/>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p xmlns:a="http://schemas.openxmlformats.org/drawingml/2006/main">
            <a:pPr algn="ctr">
              <a:defRPr sz="1725" b="1" i="0">
                <a:solidFill>
                  <a:srgbClr val="16324F"/>
                </a:solidFill>
                <a:latin typeface="Helvetica Neue"/>
                <a:ea typeface="Helvetica Neue"/>
                <a:cs typeface="Helvetica Neue"/>
              </a:defRPr>
            </a:pPr>
            <a:r>
              <a:rPr sz="1725" b="1" i="0">
                <a:solidFill>
                  <a:srgbClr val="16324F"/>
                </a:solidFill>
                <a:latin typeface="Helvetica Neue"/>
                <a:ea typeface="Helvetica Neue"/>
                <a:cs typeface="Helvetica Neue"/>
              </a:rPr>
              <a:t>LSAA leads ICBHI and HF in mean value. DCASE leads SPRSound and KAUH. No significance test has been run.</a:t>
            </a:r>
          </a:p>
        </p:txBody>
      </p:sp>
      <p:sp>
        <p:nvSpPr>
          <p:cNvPr id="7" name="">
            <a:extLst xmlns:a="http://schemas.openxmlformats.org/drawingml/2006/main">
              <a:ext uri="{FF2B5EF4-FFF2-40B4-BE49-F238E27FC236}">
                <a16:creationId xmlns:a16="http://schemas.microsoft.com/office/drawing/2014/main" id="{605B4054-CD39-4702-85A9-32202905152A}"/>
              </a:ext>
            </a:extLst>
          </p:cNvPr>
          <p:cNvSpPr>
            <a:spLocks xmlns:a="http://schemas.openxmlformats.org/drawingml/2006/main" noGrp="1"/>
          </p:cNvSpPr>
          <p:nvPr/>
        </p:nvSpPr>
        <p:spPr>
          <a:xfrm xmlns:a="http://schemas.openxmlformats.org/drawingml/2006/main">
            <a:off x="666750" y="582930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i="0">
                <a:solidFill>
                  <a:srgbClr val="5C6B79"/>
                </a:solidFill>
                <a:latin typeface="Helvetica Neue"/>
                <a:ea typeface="Helvetica Neue"/>
                <a:cs typeface="Helvetica Neue"/>
              </a:defRPr>
            </a:pPr>
            <a:r>
              <a:rPr sz="1200" b="0" i="0">
                <a:solidFill>
                  <a:srgbClr val="5C6B79"/>
                </a:solidFill>
                <a:latin typeface="Helvetica Neue"/>
                <a:ea typeface="Helvetica Neue"/>
                <a:cs typeface="Helvetica Neue"/>
              </a:rPr>
              <a:t>PC-MCL is a revised 5-s adaptation; DCASE is a respiratory adaptation of a heterogeneous-data principle. Neither is an unchanged original-paper reproduction.</a:t>
            </a:r>
          </a:p>
        </p:txBody>
      </p:sp>
      <p:sp>
        <p:nvSpPr>
          <p:cNvPr id="8" name="">
            <a:extLst xmlns:a="http://schemas.openxmlformats.org/drawingml/2006/main">
              <a:ext uri="{FF2B5EF4-FFF2-40B4-BE49-F238E27FC236}">
                <a16:creationId xmlns:a16="http://schemas.microsoft.com/office/drawing/2014/main" id="{E14ABF86-9654-479B-B14A-2BC3DA2561E4}"/>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rect">
            <a:avLst/>
          </a:prstGeom>
          <a:solidFill xmlns:a="http://schemas.openxmlformats.org/drawingml/2006/main">
            <a:srgbClr val="D6E0E8"/>
          </a:solidFill>
          <a:ln xmlns:a="http://schemas.openxmlformats.org/drawingml/2006/main" w="0">
            <a:solidFill>
              <a:srgbClr val="D6E0E8"/>
            </a:solidFill>
            <a:prstDash val="solid"/>
          </a:ln>
        </p:spPr>
      </p:sp>
      <p:sp>
        <p:nvSpPr>
          <p:cNvPr id="9" name="">
            <a:extLst xmlns:a="http://schemas.openxmlformats.org/drawingml/2006/main">
              <a:ext uri="{FF2B5EF4-FFF2-40B4-BE49-F238E27FC236}">
                <a16:creationId xmlns:a16="http://schemas.microsoft.com/office/drawing/2014/main" id="{5C99B295-B315-4F66-B609-A3EB88FD6868}"/>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NIcE X F26 Lab Meeting   18 September 2026</a:t>
            </a:r>
          </a:p>
        </p:txBody>
      </p:sp>
      <p:sp>
        <p:nvSpPr>
          <p:cNvPr id="10" name="">
            <a:extLst xmlns:a="http://schemas.openxmlformats.org/drawingml/2006/main">
              <a:ext uri="{FF2B5EF4-FFF2-40B4-BE49-F238E27FC236}">
                <a16:creationId xmlns:a16="http://schemas.microsoft.com/office/drawing/2014/main" id="{4F5F5282-591F-4E06-806F-50F8C92AF452}"/>
              </a:ext>
            </a:extLst>
          </p:cNvPr>
          <p:cNvSpPr>
            <a:spLocks xmlns:a="http://schemas.openxmlformats.org/drawingml/2006/main" noGrp="1"/>
          </p:cNvSpPr>
          <p:nvPr/>
        </p:nvSpPr>
        <p:spPr>
          <a:xfrm xmlns:a="http://schemas.openxmlformats.org/drawingml/2006/main">
            <a:off x="9810750" y="6496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7 / 11</a:t>
            </a:r>
          </a:p>
        </p:txBody>
      </p:sp>
    </p:spTree>
    <p:extLst>
      <p:ext uri="{BB962C8B-B14F-4D97-AF65-F5344CB8AC3E}">
        <p14:creationId xmlns:p14="http://schemas.microsoft.com/office/powerpoint/2010/main" val="21083915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F271FC9-8D48-4925-9FCB-894BA0E29141}"/>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6D4CC2"/>
          </a:solidFill>
          <a:ln xmlns:a="http://schemas.openxmlformats.org/drawingml/2006/main" w="0">
            <a:solidFill>
              <a:srgbClr val="6D4CC2"/>
            </a:solidFill>
            <a:prstDash val="solid"/>
          </a:ln>
        </p:spPr>
      </p:sp>
      <p:sp>
        <p:nvSpPr>
          <p:cNvPr id="2" name="">
            <a:extLst xmlns:a="http://schemas.openxmlformats.org/drawingml/2006/main">
              <a:ext uri="{FF2B5EF4-FFF2-40B4-BE49-F238E27FC236}">
                <a16:creationId xmlns:a16="http://schemas.microsoft.com/office/drawing/2014/main" id="{CD45096F-7DD4-4F67-A749-DFB8D936F594}"/>
              </a:ext>
            </a:extLst>
          </p:cNvPr>
          <p:cNvSpPr>
            <a:spLocks xmlns:a="http://schemas.openxmlformats.org/drawingml/2006/main" noGrp="1"/>
          </p:cNvSpPr>
          <p:nvPr/>
        </p:nvSpPr>
        <p:spPr>
          <a:xfrm xmlns:a="http://schemas.openxmlformats.org/drawingml/2006/main">
            <a:off x="647700" y="38100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i="0">
                <a:solidFill>
                  <a:srgbClr val="16324F"/>
                </a:solidFill>
                <a:latin typeface="Helvetica Neue"/>
                <a:ea typeface="Helvetica Neue"/>
                <a:cs typeface="Helvetica Neue"/>
              </a:defRPr>
            </a:pPr>
            <a:r>
              <a:rPr sz="2850" b="1" i="0">
                <a:solidFill>
                  <a:srgbClr val="16324F"/>
                </a:solidFill>
                <a:latin typeface="Helvetica Neue"/>
                <a:ea typeface="Helvetica Neue"/>
                <a:cs typeface="Helvetica Neue"/>
              </a:rPr>
              <a:t>The ablations support a bounded interpretation</a:t>
            </a:r>
          </a:p>
        </p:txBody>
      </p:sp>
      <p:sp>
        <p:nvSpPr>
          <p:cNvPr id="3" name="">
            <a:extLst xmlns:a="http://schemas.openxmlformats.org/drawingml/2006/main">
              <a:ext uri="{FF2B5EF4-FFF2-40B4-BE49-F238E27FC236}">
                <a16:creationId xmlns:a16="http://schemas.microsoft.com/office/drawing/2014/main" id="{63F740CE-FCC9-4554-827C-A092824D0D9B}"/>
              </a:ext>
            </a:extLst>
          </p:cNvPr>
          <p:cNvSpPr>
            <a:spLocks xmlns:a="http://schemas.openxmlformats.org/drawingml/2006/main" noGrp="1"/>
          </p:cNvSpPr>
          <p:nvPr/>
        </p:nvSpPr>
        <p:spPr>
          <a:xfrm xmlns:a="http://schemas.openxmlformats.org/drawingml/2006/main">
            <a:off x="666750" y="9525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5C6B79"/>
                </a:solidFill>
                <a:latin typeface="Helvetica Neue"/>
                <a:ea typeface="Helvetica Neue"/>
                <a:cs typeface="Helvetica Neue"/>
              </a:defRPr>
            </a:pPr>
            <a:r>
              <a:rPr sz="1425" b="0" i="0">
                <a:solidFill>
                  <a:srgbClr val="5C6B79"/>
                </a:solidFill>
                <a:latin typeface="Helvetica Neue"/>
                <a:ea typeface="Helvetica Neue"/>
                <a:cs typeface="Helvetica Neue"/>
              </a:rPr>
              <a:t>Useful supervision and useful readouts are separate questions</a:t>
            </a:r>
          </a:p>
        </p:txBody>
      </p:sp>
      <p:sp>
        <p:nvSpPr>
          <p:cNvPr id="4" name="">
            <a:extLst xmlns:a="http://schemas.openxmlformats.org/drawingml/2006/main">
              <a:ext uri="{FF2B5EF4-FFF2-40B4-BE49-F238E27FC236}">
                <a16:creationId xmlns:a16="http://schemas.microsoft.com/office/drawing/2014/main" id="{E9D418F1-3B53-402F-9923-23882D40477C}"/>
              </a:ext>
            </a:extLst>
          </p:cNvPr>
          <p:cNvSpPr>
            <a:spLocks xmlns:a="http://schemas.openxmlformats.org/drawingml/2006/main" noGrp="1"/>
          </p:cNvSpPr>
          <p:nvPr/>
        </p:nvSpPr>
        <p:spPr>
          <a:xfrm xmlns:a="http://schemas.openxmlformats.org/drawingml/2006/main">
            <a:off x="781050" y="13811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6D4CC2"/>
                </a:solidFill>
                <a:latin typeface="Helvetica Neue"/>
                <a:ea typeface="Helvetica Neue"/>
                <a:cs typeface="Helvetica Neue"/>
              </a:defRPr>
            </a:pPr>
            <a:r>
              <a:rPr sz="1725" b="1" i="0">
                <a:solidFill>
                  <a:srgbClr val="6D4CC2"/>
                </a:solidFill>
                <a:latin typeface="Helvetica Neue"/>
                <a:ea typeface="Helvetica Neue"/>
                <a:cs typeface="Helvetica Neue"/>
              </a:rPr>
              <a:t>Native + C/W minus LSAA</a:t>
            </a:r>
          </a:p>
        </p:txBody>
      </p:sp>
      <p:sp>
        <p:nvSpPr>
          <p:cNvPr id="5" name="">
            <a:extLst xmlns:a="http://schemas.openxmlformats.org/drawingml/2006/main">
              <a:ext uri="{FF2B5EF4-FFF2-40B4-BE49-F238E27FC236}">
                <a16:creationId xmlns:a16="http://schemas.microsoft.com/office/drawing/2014/main" id="{9F3AFF79-0C4E-4735-936D-FC0DAB189745}"/>
              </a:ext>
            </a:extLst>
          </p:cNvPr>
          <p:cNvSpPr>
            <a:spLocks xmlns:a="http://schemas.openxmlformats.org/drawingml/2006/main" noGrp="1"/>
          </p:cNvSpPr>
          <p:nvPr/>
        </p:nvSpPr>
        <p:spPr>
          <a:xfrm xmlns:a="http://schemas.openxmlformats.org/drawingml/2006/main">
            <a:off x="6477000" y="138112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B8873B"/>
                </a:solidFill>
                <a:latin typeface="Helvetica Neue"/>
                <a:ea typeface="Helvetica Neue"/>
                <a:cs typeface="Helvetica Neue"/>
              </a:defRPr>
            </a:pPr>
            <a:r>
              <a:rPr sz="1725" b="1" i="0">
                <a:solidFill>
                  <a:srgbClr val="B8873B"/>
                </a:solidFill>
                <a:latin typeface="Helvetica Neue"/>
                <a:ea typeface="Helvetica Neue"/>
                <a:cs typeface="Helvetica Neue"/>
              </a:rPr>
              <a:t>HF-on minus HF-off</a:t>
            </a:r>
          </a:p>
        </p:txBody>
      </p:sp>
      <p:graphicFrame>
        <p:nvGraphicFramePr>
          <p:cNvPr id="21" name="Chart"/>
          <p:cNvGraphicFramePr/>
          <p:nvPr/>
        </p:nvGraphicFramePr>
        <p:xfrm>
          <a:off xmlns:a="http://schemas.openxmlformats.org/drawingml/2006/main" x="666750" y="1714500"/>
          <a:ext xmlns:a="http://schemas.openxmlformats.org/drawingml/2006/main" cx="5143500" cy="2428875"/>
        </p:xfrm>
        <a:graphic xmlns:a="http://schemas.openxmlformats.org/drawingml/2006/main">
          <a:graphicData uri="http://schemas.openxmlformats.org/drawingml/2006/chart">
            <c:chart xmlns:r="http://schemas.openxmlformats.org/officeDocument/2006/relationships" xmlns:c="http://schemas.openxmlformats.org/drawingml/2006/chart" r:id="R63ca7557e64242d7"/>
          </a:graphicData>
        </a:graphic>
      </p:graphicFrame>
      <p:graphicFrame>
        <p:nvGraphicFramePr>
          <p:cNvPr id="22" name="Chart"/>
          <p:cNvGraphicFramePr/>
          <p:nvPr/>
        </p:nvGraphicFramePr>
        <p:xfrm>
          <a:off xmlns:a="http://schemas.openxmlformats.org/drawingml/2006/main" x="6286500" y="1714500"/>
          <a:ext xmlns:a="http://schemas.openxmlformats.org/drawingml/2006/main" cx="5238750" cy="2428875"/>
        </p:xfrm>
        <a:graphic xmlns:a="http://schemas.openxmlformats.org/drawingml/2006/main">
          <a:graphicData uri="http://schemas.openxmlformats.org/drawingml/2006/chart">
            <c:chart xmlns:r="http://schemas.openxmlformats.org/officeDocument/2006/relationships" xmlns:c="http://schemas.openxmlformats.org/drawingml/2006/chart" r:id="Rfc060951f1b142b9"/>
          </a:graphicData>
        </a:graphic>
      </p:graphicFrame>
      <p:sp>
        <p:nvSpPr>
          <p:cNvPr id="8" name="">
            <a:extLst xmlns:a="http://schemas.openxmlformats.org/drawingml/2006/main">
              <a:ext uri="{FF2B5EF4-FFF2-40B4-BE49-F238E27FC236}">
                <a16:creationId xmlns:a16="http://schemas.microsoft.com/office/drawing/2014/main" id="{0941FCB1-AE8C-4D70-A8AA-56AEF457C510}"/>
              </a:ext>
            </a:extLst>
          </p:cNvPr>
          <p:cNvSpPr>
            <a:spLocks xmlns:a="http://schemas.openxmlformats.org/drawingml/2006/main" noGrp="1"/>
          </p:cNvSpPr>
          <p:nvPr/>
        </p:nvSpPr>
        <p:spPr>
          <a:xfrm xmlns:a="http://schemas.openxmlformats.org/drawingml/2006/main">
            <a:off x="952500" y="41719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i="0">
                <a:solidFill>
                  <a:srgbClr val="5C6B79"/>
                </a:solidFill>
                <a:latin typeface="Helvetica Neue"/>
                <a:ea typeface="Helvetica Neue"/>
                <a:cs typeface="Helvetica Neue"/>
              </a:defRPr>
            </a:pPr>
            <a:r>
              <a:rPr sz="1125" b="0" i="0">
                <a:solidFill>
                  <a:srgbClr val="5C6B79"/>
                </a:solidFill>
                <a:latin typeface="Helvetica Neue"/>
                <a:ea typeface="Helvetica Neue"/>
                <a:cs typeface="Helvetica Neue"/>
              </a:rPr>
              <a:t>ICBHI +2.50     SPRSound +0.16     C/W AUROC −0.05</a:t>
            </a:r>
          </a:p>
        </p:txBody>
      </p:sp>
      <p:sp>
        <p:nvSpPr>
          <p:cNvPr id="9" name="">
            <a:extLst xmlns:a="http://schemas.openxmlformats.org/drawingml/2006/main">
              <a:ext uri="{FF2B5EF4-FFF2-40B4-BE49-F238E27FC236}">
                <a16:creationId xmlns:a16="http://schemas.microsoft.com/office/drawing/2014/main" id="{84134A95-6550-4DF8-82E6-666B77C08D26}"/>
              </a:ext>
            </a:extLst>
          </p:cNvPr>
          <p:cNvSpPr>
            <a:spLocks xmlns:a="http://schemas.openxmlformats.org/drawingml/2006/main" noGrp="1"/>
          </p:cNvSpPr>
          <p:nvPr/>
        </p:nvSpPr>
        <p:spPr>
          <a:xfrm xmlns:a="http://schemas.openxmlformats.org/drawingml/2006/main">
            <a:off x="6619875" y="41719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i="0">
                <a:solidFill>
                  <a:srgbClr val="5C6B79"/>
                </a:solidFill>
                <a:latin typeface="Helvetica Neue"/>
                <a:ea typeface="Helvetica Neue"/>
                <a:cs typeface="Helvetica Neue"/>
              </a:defRPr>
            </a:pPr>
            <a:r>
              <a:rPr sz="1050" b="0" i="0">
                <a:solidFill>
                  <a:srgbClr val="5C6B79"/>
                </a:solidFill>
                <a:latin typeface="Helvetica Neue"/>
                <a:ea typeface="Helvetica Neue"/>
                <a:cs typeface="Helvetica Neue"/>
              </a:rPr>
              <a:t>ICBHI −1.90     SPRSound +1.31     HF CAS −7.41     KAUH +1.91</a:t>
            </a:r>
          </a:p>
        </p:txBody>
      </p:sp>
      <p:sp>
        <p:nvSpPr>
          <p:cNvPr id="10" name="">
            <a:extLst xmlns:a="http://schemas.openxmlformats.org/drawingml/2006/main">
              <a:ext uri="{FF2B5EF4-FFF2-40B4-BE49-F238E27FC236}">
                <a16:creationId xmlns:a16="http://schemas.microsoft.com/office/drawing/2014/main" id="{857BF9EA-6763-4FED-9BCB-0C34078E325D}"/>
              </a:ext>
            </a:extLst>
          </p:cNvPr>
          <p:cNvSpPr>
            <a:spLocks xmlns:a="http://schemas.openxmlformats.org/drawingml/2006/main" noGrp="1"/>
          </p:cNvSpPr>
          <p:nvPr/>
        </p:nvSpPr>
        <p:spPr>
          <a:xfrm xmlns:a="http://schemas.openxmlformats.org/drawingml/2006/main">
            <a:off x="666750" y="4419600"/>
            <a:ext cx="10858500" cy="990600"/>
          </a:xfrm>
          <a:prstGeom xmlns:a="http://schemas.openxmlformats.org/drawingml/2006/main" prst="roundRect">
            <a:avLst>
              <a:gd name="adj" fmla="val 15385"/>
            </a:avLst>
          </a:prstGeom>
          <a:solidFill xmlns:a="http://schemas.openxmlformats.org/drawingml/2006/main">
            <a:srgbClr val="F5F8FB"/>
          </a:solidFill>
          <a:ln xmlns:a="http://schemas.openxmlformats.org/drawingml/2006/main" w="9525">
            <a:solidFill>
              <a:srgbClr val="D6E0E8"/>
            </a:solidFill>
            <a:prstDash val="solid"/>
          </a:ln>
        </p:spPr>
      </p:sp>
      <p:sp>
        <p:nvSpPr>
          <p:cNvPr id="11" name="">
            <a:extLst xmlns:a="http://schemas.openxmlformats.org/drawingml/2006/main">
              <a:ext uri="{FF2B5EF4-FFF2-40B4-BE49-F238E27FC236}">
                <a16:creationId xmlns:a16="http://schemas.microsoft.com/office/drawing/2014/main" id="{BB84E596-CABE-4AD3-B62A-57AA2C8EEC40}"/>
              </a:ext>
            </a:extLst>
          </p:cNvPr>
          <p:cNvSpPr>
            <a:spLocks xmlns:a="http://schemas.openxmlformats.org/drawingml/2006/main" noGrp="1"/>
          </p:cNvSpPr>
          <p:nvPr/>
        </p:nvSpPr>
        <p:spPr>
          <a:xfrm xmlns:a="http://schemas.openxmlformats.org/drawingml/2006/main">
            <a:off x="904875" y="4562475"/>
            <a:ext cx="1038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p xmlns:a="http://schemas.openxmlformats.org/drawingml/2006/main">
            <a:pPr algn="ctr">
              <a:defRPr sz="1725" b="1" i="0">
                <a:solidFill>
                  <a:srgbClr val="16324F"/>
                </a:solidFill>
                <a:latin typeface="Helvetica Neue"/>
                <a:ea typeface="Helvetica Neue"/>
                <a:cs typeface="Helvetica Neue"/>
              </a:defRPr>
            </a:pPr>
            <a:r>
              <a:rPr sz="1725" b="1" i="0">
                <a:solidFill>
                  <a:srgbClr val="16324F"/>
                </a:solidFill>
                <a:latin typeface="Helvetica Neue"/>
                <a:ea typeface="Helvetica Neue"/>
                <a:cs typeface="Helvetica Neue"/>
              </a:rPr>
              <a:t>Fine-grained supervision helps under this recipe. Native + C/W challenges the necessity of the proposed readout. Additional HF supervision does not guarantee transfer.</a:t>
            </a:r>
          </a:p>
        </p:txBody>
      </p:sp>
      <p:sp>
        <p:nvSpPr>
          <p:cNvPr id="12" name="">
            <a:extLst xmlns:a="http://schemas.openxmlformats.org/drawingml/2006/main">
              <a:ext uri="{FF2B5EF4-FFF2-40B4-BE49-F238E27FC236}">
                <a16:creationId xmlns:a16="http://schemas.microsoft.com/office/drawing/2014/main" id="{6FC0A902-72EF-4AF4-8E28-B153E8B23BF6}"/>
              </a:ext>
            </a:extLst>
          </p:cNvPr>
          <p:cNvSpPr>
            <a:spLocks xmlns:a="http://schemas.openxmlformats.org/drawingml/2006/main" noGrp="1"/>
          </p:cNvSpPr>
          <p:nvPr/>
        </p:nvSpPr>
        <p:spPr>
          <a:xfrm xmlns:a="http://schemas.openxmlformats.org/drawingml/2006/main">
            <a:off x="666750" y="5581650"/>
            <a:ext cx="1085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0" i="0">
                <a:solidFill>
                  <a:srgbClr val="5C6B79"/>
                </a:solidFill>
                <a:latin typeface="Helvetica Neue"/>
                <a:ea typeface="Helvetica Neue"/>
                <a:cs typeface="Helvetica Neue"/>
              </a:defRPr>
            </a:pPr>
            <a:r>
              <a:rPr sz="1125" b="0" i="0">
                <a:solidFill>
                  <a:srgbClr val="5C6B79"/>
                </a:solidFill>
                <a:latin typeface="Helvetica Neue"/>
                <a:ea typeface="Helvetica Neue"/>
                <a:cs typeface="Helvetica Neue"/>
              </a:rPr>
              <a:t>Coarse SPR: −6.51 pp ICBHI, −23.46 ± 36.62 pp SPRSound, −8.48 ± 8.58 pp C/W AUROC; one seed collapsed. No paired significance test yet.</a:t>
            </a:r>
          </a:p>
        </p:txBody>
      </p:sp>
      <p:sp>
        <p:nvSpPr>
          <p:cNvPr id="13" name="">
            <a:extLst xmlns:a="http://schemas.openxmlformats.org/drawingml/2006/main">
              <a:ext uri="{FF2B5EF4-FFF2-40B4-BE49-F238E27FC236}">
                <a16:creationId xmlns:a16="http://schemas.microsoft.com/office/drawing/2014/main" id="{3A12E616-2CA2-4D8E-9F1A-B4AF70121801}"/>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rect">
            <a:avLst/>
          </a:prstGeom>
          <a:solidFill xmlns:a="http://schemas.openxmlformats.org/drawingml/2006/main">
            <a:srgbClr val="D6E0E8"/>
          </a:solidFill>
          <a:ln xmlns:a="http://schemas.openxmlformats.org/drawingml/2006/main" w="0">
            <a:solidFill>
              <a:srgbClr val="D6E0E8"/>
            </a:solidFill>
            <a:prstDash val="solid"/>
          </a:ln>
        </p:spPr>
      </p:sp>
      <p:sp>
        <p:nvSpPr>
          <p:cNvPr id="14" name="">
            <a:extLst xmlns:a="http://schemas.openxmlformats.org/drawingml/2006/main">
              <a:ext uri="{FF2B5EF4-FFF2-40B4-BE49-F238E27FC236}">
                <a16:creationId xmlns:a16="http://schemas.microsoft.com/office/drawing/2014/main" id="{816AF85D-922A-4FF8-839A-750655675CB9}"/>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NIcE X F26 Lab Meeting   18 September 2026</a:t>
            </a:r>
          </a:p>
        </p:txBody>
      </p:sp>
      <p:sp>
        <p:nvSpPr>
          <p:cNvPr id="15" name="">
            <a:extLst xmlns:a="http://schemas.openxmlformats.org/drawingml/2006/main">
              <a:ext uri="{FF2B5EF4-FFF2-40B4-BE49-F238E27FC236}">
                <a16:creationId xmlns:a16="http://schemas.microsoft.com/office/drawing/2014/main" id="{B10DE008-496E-4CDB-8E3C-E3251AB456A0}"/>
              </a:ext>
            </a:extLst>
          </p:cNvPr>
          <p:cNvSpPr>
            <a:spLocks xmlns:a="http://schemas.openxmlformats.org/drawingml/2006/main" noGrp="1"/>
          </p:cNvSpPr>
          <p:nvPr/>
        </p:nvSpPr>
        <p:spPr>
          <a:xfrm xmlns:a="http://schemas.openxmlformats.org/drawingml/2006/main">
            <a:off x="9810750" y="6496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8 / 11</a:t>
            </a:r>
          </a:p>
        </p:txBody>
      </p:sp>
    </p:spTree>
    <p:extLst>
      <p:ext uri="{BB962C8B-B14F-4D97-AF65-F5344CB8AC3E}">
        <p14:creationId xmlns:p14="http://schemas.microsoft.com/office/powerpoint/2010/main" val="14617748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3C6391B-8971-4A6F-A3A7-329E7B641EF1}"/>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6D4CC2"/>
          </a:solidFill>
          <a:ln xmlns:a="http://schemas.openxmlformats.org/drawingml/2006/main" w="0">
            <a:solidFill>
              <a:srgbClr val="6D4CC2"/>
            </a:solidFill>
            <a:prstDash val="solid"/>
          </a:ln>
        </p:spPr>
      </p:sp>
      <p:sp>
        <p:nvSpPr>
          <p:cNvPr id="2" name="">
            <a:extLst xmlns:a="http://schemas.openxmlformats.org/drawingml/2006/main">
              <a:ext uri="{FF2B5EF4-FFF2-40B4-BE49-F238E27FC236}">
                <a16:creationId xmlns:a16="http://schemas.microsoft.com/office/drawing/2014/main" id="{653323CE-8E50-4814-BF7B-E09E3BC85910}"/>
              </a:ext>
            </a:extLst>
          </p:cNvPr>
          <p:cNvSpPr>
            <a:spLocks xmlns:a="http://schemas.openxmlformats.org/drawingml/2006/main" noGrp="1"/>
          </p:cNvSpPr>
          <p:nvPr/>
        </p:nvSpPr>
        <p:spPr>
          <a:xfrm xmlns:a="http://schemas.openxmlformats.org/drawingml/2006/main">
            <a:off x="647700" y="38100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i="0">
                <a:solidFill>
                  <a:srgbClr val="16324F"/>
                </a:solidFill>
                <a:latin typeface="Helvetica Neue"/>
                <a:ea typeface="Helvetica Neue"/>
                <a:cs typeface="Helvetica Neue"/>
              </a:defRPr>
            </a:pPr>
            <a:r>
              <a:rPr sz="2850" b="1" i="0">
                <a:solidFill>
                  <a:srgbClr val="16324F"/>
                </a:solidFill>
                <a:latin typeface="Helvetica Neue"/>
                <a:ea typeface="Helvetica Neue"/>
                <a:cs typeface="Helvetica Neue"/>
              </a:rPr>
              <a:t>Three decisions would sharpen the paper</a:t>
            </a:r>
          </a:p>
        </p:txBody>
      </p:sp>
      <p:sp>
        <p:nvSpPr>
          <p:cNvPr id="3" name="">
            <a:extLst xmlns:a="http://schemas.openxmlformats.org/drawingml/2006/main">
              <a:ext uri="{FF2B5EF4-FFF2-40B4-BE49-F238E27FC236}">
                <a16:creationId xmlns:a16="http://schemas.microsoft.com/office/drawing/2014/main" id="{3F50310C-0737-46DB-BC0B-93D10EC05235}"/>
              </a:ext>
            </a:extLst>
          </p:cNvPr>
          <p:cNvSpPr>
            <a:spLocks xmlns:a="http://schemas.openxmlformats.org/drawingml/2006/main" noGrp="1"/>
          </p:cNvSpPr>
          <p:nvPr/>
        </p:nvSpPr>
        <p:spPr>
          <a:xfrm xmlns:a="http://schemas.openxmlformats.org/drawingml/2006/main">
            <a:off x="666750" y="9525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5C6B79"/>
                </a:solidFill>
                <a:latin typeface="Helvetica Neue"/>
                <a:ea typeface="Helvetica Neue"/>
                <a:cs typeface="Helvetica Neue"/>
              </a:defRPr>
            </a:pPr>
            <a:r>
              <a:rPr sz="1425" b="0" i="0">
                <a:solidFill>
                  <a:srgbClr val="5C6B79"/>
                </a:solidFill>
                <a:latin typeface="Helvetica Neue"/>
                <a:ea typeface="Helvetica Neue"/>
                <a:cs typeface="Helvetica Neue"/>
              </a:rPr>
              <a:t>I would value feedback on claim, mechanism, and evidence</a:t>
            </a:r>
          </a:p>
        </p:txBody>
      </p:sp>
      <p:sp>
        <p:nvSpPr>
          <p:cNvPr id="4" name="">
            <a:extLst xmlns:a="http://schemas.openxmlformats.org/drawingml/2006/main">
              <a:ext uri="{FF2B5EF4-FFF2-40B4-BE49-F238E27FC236}">
                <a16:creationId xmlns:a16="http://schemas.microsoft.com/office/drawing/2014/main" id="{D54C1B28-E440-4E13-B9CD-82D0991CC050}"/>
              </a:ext>
            </a:extLst>
          </p:cNvPr>
          <p:cNvSpPr>
            <a:spLocks xmlns:a="http://schemas.openxmlformats.org/drawingml/2006/main" noGrp="1"/>
          </p:cNvSpPr>
          <p:nvPr/>
        </p:nvSpPr>
        <p:spPr>
          <a:xfrm xmlns:a="http://schemas.openxmlformats.org/drawingml/2006/main">
            <a:off x="781050" y="1600200"/>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i="0">
                <a:solidFill>
                  <a:srgbClr val="6D4CC2"/>
                </a:solidFill>
                <a:latin typeface="Helvetica Neue"/>
                <a:ea typeface="Helvetica Neue"/>
                <a:cs typeface="Helvetica Neue"/>
              </a:defRPr>
            </a:pPr>
            <a:r>
              <a:rPr sz="2550" b="1" i="0">
                <a:solidFill>
                  <a:srgbClr val="6D4CC2"/>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62EE4C12-627B-4C56-9C02-2A660DA2AD88}"/>
              </a:ext>
            </a:extLst>
          </p:cNvPr>
          <p:cNvSpPr>
            <a:spLocks xmlns:a="http://schemas.openxmlformats.org/drawingml/2006/main" noGrp="1"/>
          </p:cNvSpPr>
          <p:nvPr/>
        </p:nvSpPr>
        <p:spPr>
          <a:xfrm xmlns:a="http://schemas.openxmlformats.org/drawingml/2006/main">
            <a:off x="1638300" y="16287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6D4CC2"/>
                </a:solidFill>
                <a:latin typeface="Helvetica Neue"/>
                <a:ea typeface="Helvetica Neue"/>
                <a:cs typeface="Helvetica Neue"/>
              </a:defRPr>
            </a:pPr>
            <a:r>
              <a:rPr sz="1875" b="1" i="0">
                <a:solidFill>
                  <a:srgbClr val="6D4CC2"/>
                </a:solidFill>
                <a:latin typeface="Helvetica Neue"/>
                <a:ea typeface="Helvetica Neue"/>
                <a:cs typeface="Helvetica Neue"/>
              </a:rPr>
              <a:t>Claim</a:t>
            </a:r>
          </a:p>
        </p:txBody>
      </p:sp>
      <p:sp>
        <p:nvSpPr>
          <p:cNvPr id="6" name="">
            <a:extLst xmlns:a="http://schemas.openxmlformats.org/drawingml/2006/main">
              <a:ext uri="{FF2B5EF4-FFF2-40B4-BE49-F238E27FC236}">
                <a16:creationId xmlns:a16="http://schemas.microsoft.com/office/drawing/2014/main" id="{0231ED78-4485-434B-8FA9-C46D11791F05}"/>
              </a:ext>
            </a:extLst>
          </p:cNvPr>
          <p:cNvSpPr>
            <a:spLocks xmlns:a="http://schemas.openxmlformats.org/drawingml/2006/main" noGrp="1"/>
          </p:cNvSpPr>
          <p:nvPr/>
        </p:nvSpPr>
        <p:spPr>
          <a:xfrm xmlns:a="http://schemas.openxmlformats.org/drawingml/2006/main">
            <a:off x="1638300" y="1981200"/>
            <a:ext cx="904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102338"/>
                </a:solidFill>
                <a:latin typeface="Helvetica Neue"/>
                <a:ea typeface="Helvetica Neue"/>
                <a:cs typeface="Helvetica Neue"/>
              </a:defRPr>
            </a:pPr>
            <a:r>
              <a:rPr sz="1800" b="0" i="0">
                <a:solidFill>
                  <a:srgbClr val="102338"/>
                </a:solidFill>
                <a:latin typeface="Helvetica Neue"/>
                <a:ea typeface="Helvetica Neue"/>
                <a:cs typeface="Helvetica Neue"/>
              </a:rPr>
              <a:t>Is shared supervision across heterogeneous labels and native tasks a compelling scoped contribution?</a:t>
            </a:r>
          </a:p>
        </p:txBody>
      </p:sp>
      <p:sp>
        <p:nvSpPr>
          <p:cNvPr id="7" name="">
            <a:extLst xmlns:a="http://schemas.openxmlformats.org/drawingml/2006/main">
              <a:ext uri="{FF2B5EF4-FFF2-40B4-BE49-F238E27FC236}">
                <a16:creationId xmlns:a16="http://schemas.microsoft.com/office/drawing/2014/main" id="{C3E2A954-50DD-438C-88EC-B1319C0DC2A5}"/>
              </a:ext>
            </a:extLst>
          </p:cNvPr>
          <p:cNvSpPr>
            <a:spLocks xmlns:a="http://schemas.openxmlformats.org/drawingml/2006/main" noGrp="1"/>
          </p:cNvSpPr>
          <p:nvPr/>
        </p:nvSpPr>
        <p:spPr>
          <a:xfrm xmlns:a="http://schemas.openxmlformats.org/drawingml/2006/main">
            <a:off x="1638300" y="2667000"/>
            <a:ext cx="9048750" cy="9525"/>
          </a:xfrm>
          <a:prstGeom xmlns:a="http://schemas.openxmlformats.org/drawingml/2006/main" prst="rect">
            <a:avLst/>
          </a:prstGeom>
          <a:solidFill xmlns:a="http://schemas.openxmlformats.org/drawingml/2006/main">
            <a:srgbClr val="D6E0E8"/>
          </a:solidFill>
          <a:ln xmlns:a="http://schemas.openxmlformats.org/drawingml/2006/main" w="0">
            <a:solidFill>
              <a:srgbClr val="D6E0E8"/>
            </a:solidFill>
            <a:prstDash val="solid"/>
          </a:ln>
        </p:spPr>
      </p:sp>
      <p:sp>
        <p:nvSpPr>
          <p:cNvPr id="8" name="">
            <a:extLst xmlns:a="http://schemas.openxmlformats.org/drawingml/2006/main">
              <a:ext uri="{FF2B5EF4-FFF2-40B4-BE49-F238E27FC236}">
                <a16:creationId xmlns:a16="http://schemas.microsoft.com/office/drawing/2014/main" id="{27C1F2F1-824E-4C40-B15E-A87D16D4E8A3}"/>
              </a:ext>
            </a:extLst>
          </p:cNvPr>
          <p:cNvSpPr>
            <a:spLocks xmlns:a="http://schemas.openxmlformats.org/drawingml/2006/main" noGrp="1"/>
          </p:cNvSpPr>
          <p:nvPr/>
        </p:nvSpPr>
        <p:spPr>
          <a:xfrm xmlns:a="http://schemas.openxmlformats.org/drawingml/2006/main">
            <a:off x="781050" y="2905125"/>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i="0">
                <a:solidFill>
                  <a:srgbClr val="2D73A4"/>
                </a:solidFill>
                <a:latin typeface="Helvetica Neue"/>
                <a:ea typeface="Helvetica Neue"/>
                <a:cs typeface="Helvetica Neue"/>
              </a:defRPr>
            </a:pPr>
            <a:r>
              <a:rPr sz="2550" b="1" i="0">
                <a:solidFill>
                  <a:srgbClr val="2D73A4"/>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25D56482-B338-471B-A98E-60AF3A07D13A}"/>
              </a:ext>
            </a:extLst>
          </p:cNvPr>
          <p:cNvSpPr>
            <a:spLocks xmlns:a="http://schemas.openxmlformats.org/drawingml/2006/main" noGrp="1"/>
          </p:cNvSpPr>
          <p:nvPr/>
        </p:nvSpPr>
        <p:spPr>
          <a:xfrm xmlns:a="http://schemas.openxmlformats.org/drawingml/2006/main">
            <a:off x="1638300" y="29337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2D73A4"/>
                </a:solidFill>
                <a:latin typeface="Helvetica Neue"/>
                <a:ea typeface="Helvetica Neue"/>
                <a:cs typeface="Helvetica Neue"/>
              </a:defRPr>
            </a:pPr>
            <a:r>
              <a:rPr sz="1875" b="1" i="0">
                <a:solidFill>
                  <a:srgbClr val="2D73A4"/>
                </a:solidFill>
                <a:latin typeface="Helvetica Neue"/>
                <a:ea typeface="Helvetica Neue"/>
                <a:cs typeface="Helvetica Neue"/>
              </a:rPr>
              <a:t>Positioning</a:t>
            </a:r>
          </a:p>
        </p:txBody>
      </p:sp>
      <p:sp>
        <p:nvSpPr>
          <p:cNvPr id="10" name="">
            <a:extLst xmlns:a="http://schemas.openxmlformats.org/drawingml/2006/main">
              <a:ext uri="{FF2B5EF4-FFF2-40B4-BE49-F238E27FC236}">
                <a16:creationId xmlns:a16="http://schemas.microsoft.com/office/drawing/2014/main" id="{E46DD242-11BF-495D-9A33-C8E32524EDD8}"/>
              </a:ext>
            </a:extLst>
          </p:cNvPr>
          <p:cNvSpPr>
            <a:spLocks xmlns:a="http://schemas.openxmlformats.org/drawingml/2006/main" noGrp="1"/>
          </p:cNvSpPr>
          <p:nvPr/>
        </p:nvSpPr>
        <p:spPr>
          <a:xfrm xmlns:a="http://schemas.openxmlformats.org/drawingml/2006/main">
            <a:off x="1638300" y="3286125"/>
            <a:ext cx="904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102338"/>
                </a:solidFill>
                <a:latin typeface="Helvetica Neue"/>
                <a:ea typeface="Helvetica Neue"/>
                <a:cs typeface="Helvetica Neue"/>
              </a:defRPr>
            </a:pPr>
            <a:r>
              <a:rPr sz="1800" b="0" i="0">
                <a:solidFill>
                  <a:srgbClr val="102338"/>
                </a:solidFill>
                <a:latin typeface="Helvetica Neue"/>
                <a:ea typeface="Helvetica Neue"/>
                <a:cs typeface="Helvetica Neue"/>
              </a:rPr>
              <a:t>How should LSAA's readout be framed given that Native + C/W performs better on ICBHI?</a:t>
            </a:r>
          </a:p>
        </p:txBody>
      </p:sp>
      <p:sp>
        <p:nvSpPr>
          <p:cNvPr id="11" name="">
            <a:extLst xmlns:a="http://schemas.openxmlformats.org/drawingml/2006/main">
              <a:ext uri="{FF2B5EF4-FFF2-40B4-BE49-F238E27FC236}">
                <a16:creationId xmlns:a16="http://schemas.microsoft.com/office/drawing/2014/main" id="{E93E43CC-259E-4864-8553-83E1EFC5C39F}"/>
              </a:ext>
            </a:extLst>
          </p:cNvPr>
          <p:cNvSpPr>
            <a:spLocks xmlns:a="http://schemas.openxmlformats.org/drawingml/2006/main" noGrp="1"/>
          </p:cNvSpPr>
          <p:nvPr/>
        </p:nvSpPr>
        <p:spPr>
          <a:xfrm xmlns:a="http://schemas.openxmlformats.org/drawingml/2006/main">
            <a:off x="1638300" y="3971925"/>
            <a:ext cx="9048750" cy="9525"/>
          </a:xfrm>
          <a:prstGeom xmlns:a="http://schemas.openxmlformats.org/drawingml/2006/main" prst="rect">
            <a:avLst/>
          </a:prstGeom>
          <a:solidFill xmlns:a="http://schemas.openxmlformats.org/drawingml/2006/main">
            <a:srgbClr val="D6E0E8"/>
          </a:solidFill>
          <a:ln xmlns:a="http://schemas.openxmlformats.org/drawingml/2006/main" w="0">
            <a:solidFill>
              <a:srgbClr val="D6E0E8"/>
            </a:solidFill>
            <a:prstDash val="solid"/>
          </a:ln>
        </p:spPr>
      </p:sp>
      <p:sp>
        <p:nvSpPr>
          <p:cNvPr id="12" name="">
            <a:extLst xmlns:a="http://schemas.openxmlformats.org/drawingml/2006/main">
              <a:ext uri="{FF2B5EF4-FFF2-40B4-BE49-F238E27FC236}">
                <a16:creationId xmlns:a16="http://schemas.microsoft.com/office/drawing/2014/main" id="{2A202391-9E86-464B-B4DD-E0C6D03D68C4}"/>
              </a:ext>
            </a:extLst>
          </p:cNvPr>
          <p:cNvSpPr>
            <a:spLocks xmlns:a="http://schemas.openxmlformats.org/drawingml/2006/main" noGrp="1"/>
          </p:cNvSpPr>
          <p:nvPr/>
        </p:nvSpPr>
        <p:spPr>
          <a:xfrm xmlns:a="http://schemas.openxmlformats.org/drawingml/2006/main">
            <a:off x="781050" y="4210050"/>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i="0">
                <a:solidFill>
                  <a:srgbClr val="2E8B78"/>
                </a:solidFill>
                <a:latin typeface="Helvetica Neue"/>
                <a:ea typeface="Helvetica Neue"/>
                <a:cs typeface="Helvetica Neue"/>
              </a:defRPr>
            </a:pPr>
            <a:r>
              <a:rPr sz="2550" b="1" i="0">
                <a:solidFill>
                  <a:srgbClr val="2E8B78"/>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705992E6-EA6B-43C3-A6AE-2307289FA13D}"/>
              </a:ext>
            </a:extLst>
          </p:cNvPr>
          <p:cNvSpPr>
            <a:spLocks xmlns:a="http://schemas.openxmlformats.org/drawingml/2006/main" noGrp="1"/>
          </p:cNvSpPr>
          <p:nvPr/>
        </p:nvSpPr>
        <p:spPr>
          <a:xfrm xmlns:a="http://schemas.openxmlformats.org/drawingml/2006/main">
            <a:off x="1638300" y="42386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2E8B78"/>
                </a:solidFill>
                <a:latin typeface="Helvetica Neue"/>
                <a:ea typeface="Helvetica Neue"/>
                <a:cs typeface="Helvetica Neue"/>
              </a:defRPr>
            </a:pPr>
            <a:r>
              <a:rPr sz="1875" b="1" i="0">
                <a:solidFill>
                  <a:srgbClr val="2E8B78"/>
                </a:solidFill>
                <a:latin typeface="Helvetica Neue"/>
                <a:ea typeface="Helvetica Neue"/>
                <a:cs typeface="Helvetica Neue"/>
              </a:rPr>
              <a:t>Evidence</a:t>
            </a:r>
          </a:p>
        </p:txBody>
      </p:sp>
      <p:sp>
        <p:nvSpPr>
          <p:cNvPr id="14" name="">
            <a:extLst xmlns:a="http://schemas.openxmlformats.org/drawingml/2006/main">
              <a:ext uri="{FF2B5EF4-FFF2-40B4-BE49-F238E27FC236}">
                <a16:creationId xmlns:a16="http://schemas.microsoft.com/office/drawing/2014/main" id="{D84379C6-08BA-4E0C-ACF7-E1404F4938A8}"/>
              </a:ext>
            </a:extLst>
          </p:cNvPr>
          <p:cNvSpPr>
            <a:spLocks xmlns:a="http://schemas.openxmlformats.org/drawingml/2006/main" noGrp="1"/>
          </p:cNvSpPr>
          <p:nvPr/>
        </p:nvSpPr>
        <p:spPr>
          <a:xfrm xmlns:a="http://schemas.openxmlformats.org/drawingml/2006/main">
            <a:off x="1638300" y="4591050"/>
            <a:ext cx="904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102338"/>
                </a:solidFill>
                <a:latin typeface="Helvetica Neue"/>
                <a:ea typeface="Helvetica Neue"/>
                <a:cs typeface="Helvetica Neue"/>
              </a:defRPr>
            </a:pPr>
            <a:r>
              <a:rPr sz="1800" b="0" i="0">
                <a:solidFill>
                  <a:srgbClr val="102338"/>
                </a:solidFill>
                <a:latin typeface="Helvetica Neue"/>
                <a:ea typeface="Helvetica Neue"/>
                <a:cs typeface="Helvetica Neue"/>
              </a:rPr>
              <a:t>Which matched comparison or statistical analysis is essential before submission?</a:t>
            </a:r>
          </a:p>
        </p:txBody>
      </p:sp>
      <p:sp>
        <p:nvSpPr>
          <p:cNvPr id="15" name="">
            <a:extLst xmlns:a="http://schemas.openxmlformats.org/drawingml/2006/main">
              <a:ext uri="{FF2B5EF4-FFF2-40B4-BE49-F238E27FC236}">
                <a16:creationId xmlns:a16="http://schemas.microsoft.com/office/drawing/2014/main" id="{237A3B5C-A8A6-4A25-A9F1-1AB8CF660DF1}"/>
              </a:ext>
            </a:extLst>
          </p:cNvPr>
          <p:cNvSpPr>
            <a:spLocks xmlns:a="http://schemas.openxmlformats.org/drawingml/2006/main" noGrp="1"/>
          </p:cNvSpPr>
          <p:nvPr/>
        </p:nvSpPr>
        <p:spPr>
          <a:xfrm xmlns:a="http://schemas.openxmlformats.org/drawingml/2006/main">
            <a:off x="781050" y="5657850"/>
            <a:ext cx="10429875" cy="419100"/>
          </a:xfrm>
          <a:prstGeom xmlns:a="http://schemas.openxmlformats.org/drawingml/2006/main" prst="roundRect">
            <a:avLst>
              <a:gd name="adj" fmla="val 27273"/>
            </a:avLst>
          </a:prstGeom>
          <a:solidFill xmlns:a="http://schemas.openxmlformats.org/drawingml/2006/main">
            <a:srgbClr val="F5F8FB"/>
          </a:solidFill>
          <a:ln xmlns:a="http://schemas.openxmlformats.org/drawingml/2006/main" w="9525">
            <a:solidFill>
              <a:srgbClr val="D6E0E8"/>
            </a:solidFill>
            <a:prstDash val="solid"/>
          </a:ln>
        </p:spPr>
        <p:txBody>
          <a:bodyPr xmlns:a="http://schemas.openxmlformats.org/drawingml/2006/main" wrap="square" lIns="114300" tIns="0" rIns="114300" bIns="0" anchor="ctr">
            <a:noAutofit/>
          </a:bodyPr>
          <a:lstStyle xmlns:a="http://schemas.openxmlformats.org/drawingml/2006/main"/>
          <a:p xmlns:a="http://schemas.openxmlformats.org/drawingml/2006/main">
            <a:pPr algn="ctr">
              <a:defRPr sz="1350" b="0" i="0">
                <a:solidFill>
                  <a:srgbClr val="5C6B79"/>
                </a:solidFill>
                <a:latin typeface="Helvetica Neue"/>
                <a:ea typeface="Helvetica Neue"/>
                <a:cs typeface="Helvetica Neue"/>
              </a:defRPr>
            </a:pPr>
            <a:r>
              <a:rPr sz="1350" b="0" i="0">
                <a:solidFill>
                  <a:srgbClr val="5C6B79"/>
                </a:solidFill>
                <a:latin typeface="Helvetica Neue"/>
                <a:ea typeface="Helvetica Neue"/>
                <a:cs typeface="Helvetica Neue"/>
              </a:rPr>
              <a:t>Also checking: selection terminology and the implementation details needed for reproducibility.</a:t>
            </a:r>
          </a:p>
        </p:txBody>
      </p:sp>
      <p:sp>
        <p:nvSpPr>
          <p:cNvPr id="16" name="">
            <a:extLst xmlns:a="http://schemas.openxmlformats.org/drawingml/2006/main">
              <a:ext uri="{FF2B5EF4-FFF2-40B4-BE49-F238E27FC236}">
                <a16:creationId xmlns:a16="http://schemas.microsoft.com/office/drawing/2014/main" id="{64B8CDF9-EBC7-46EB-B230-CC147A811EFE}"/>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rect">
            <a:avLst/>
          </a:prstGeom>
          <a:solidFill xmlns:a="http://schemas.openxmlformats.org/drawingml/2006/main">
            <a:srgbClr val="D6E0E8"/>
          </a:solidFill>
          <a:ln xmlns:a="http://schemas.openxmlformats.org/drawingml/2006/main" w="0">
            <a:solidFill>
              <a:srgbClr val="D6E0E8"/>
            </a:solidFill>
            <a:prstDash val="solid"/>
          </a:ln>
        </p:spPr>
      </p:sp>
      <p:sp>
        <p:nvSpPr>
          <p:cNvPr id="17" name="">
            <a:extLst xmlns:a="http://schemas.openxmlformats.org/drawingml/2006/main">
              <a:ext uri="{FF2B5EF4-FFF2-40B4-BE49-F238E27FC236}">
                <a16:creationId xmlns:a16="http://schemas.microsoft.com/office/drawing/2014/main" id="{52FDAD87-174D-4B7B-B897-0F448FB79066}"/>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NIcE X F26 Lab Meeting   18 September 2026</a:t>
            </a:r>
          </a:p>
        </p:txBody>
      </p:sp>
      <p:sp>
        <p:nvSpPr>
          <p:cNvPr id="18" name="">
            <a:extLst xmlns:a="http://schemas.openxmlformats.org/drawingml/2006/main">
              <a:ext uri="{FF2B5EF4-FFF2-40B4-BE49-F238E27FC236}">
                <a16:creationId xmlns:a16="http://schemas.microsoft.com/office/drawing/2014/main" id="{CE4A8E90-ED1E-41B9-9AC5-DDC3165D1D80}"/>
              </a:ext>
            </a:extLst>
          </p:cNvPr>
          <p:cNvSpPr>
            <a:spLocks xmlns:a="http://schemas.openxmlformats.org/drawingml/2006/main" noGrp="1"/>
          </p:cNvSpPr>
          <p:nvPr/>
        </p:nvSpPr>
        <p:spPr>
          <a:xfrm xmlns:a="http://schemas.openxmlformats.org/drawingml/2006/main">
            <a:off x="9810750" y="6496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9 / 11</a:t>
            </a:r>
          </a:p>
        </p:txBody>
      </p:sp>
    </p:spTree>
    <p:extLst>
      <p:ext uri="{BB962C8B-B14F-4D97-AF65-F5344CB8AC3E}">
        <p14:creationId xmlns:p14="http://schemas.microsoft.com/office/powerpoint/2010/main" val="18603129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FB3E8E-FCCA-4A3E-9DEA-FFCE350ADA2A}"/>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6D4CC2"/>
          </a:solidFill>
          <a:ln xmlns:a="http://schemas.openxmlformats.org/drawingml/2006/main" w="0">
            <a:solidFill>
              <a:srgbClr val="6D4CC2"/>
            </a:solidFill>
            <a:prstDash val="solid"/>
          </a:ln>
        </p:spPr>
      </p:sp>
      <p:sp>
        <p:nvSpPr>
          <p:cNvPr id="2" name="">
            <a:extLst xmlns:a="http://schemas.openxmlformats.org/drawingml/2006/main">
              <a:ext uri="{FF2B5EF4-FFF2-40B4-BE49-F238E27FC236}">
                <a16:creationId xmlns:a16="http://schemas.microsoft.com/office/drawing/2014/main" id="{0BD042D3-C92D-4CA9-A5B0-1D579AB1896B}"/>
              </a:ext>
            </a:extLst>
          </p:cNvPr>
          <p:cNvSpPr>
            <a:spLocks xmlns:a="http://schemas.openxmlformats.org/drawingml/2006/main" noGrp="1"/>
          </p:cNvSpPr>
          <p:nvPr/>
        </p:nvSpPr>
        <p:spPr>
          <a:xfrm xmlns:a="http://schemas.openxmlformats.org/drawingml/2006/main">
            <a:off x="647700" y="38100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i="0">
                <a:solidFill>
                  <a:srgbClr val="16324F"/>
                </a:solidFill>
                <a:latin typeface="Helvetica Neue"/>
                <a:ea typeface="Helvetica Neue"/>
                <a:cs typeface="Helvetica Neue"/>
              </a:defRPr>
            </a:pPr>
            <a:r>
              <a:rPr sz="2850" b="1" i="0">
                <a:solidFill>
                  <a:srgbClr val="16324F"/>
                </a:solidFill>
                <a:latin typeface="Helvetica Neue"/>
                <a:ea typeface="Helvetica Neue"/>
                <a:cs typeface="Helvetica Neue"/>
              </a:rPr>
              <a:t>Backup: comparison systems are not causal controls</a:t>
            </a:r>
          </a:p>
        </p:txBody>
      </p:sp>
      <p:sp>
        <p:nvSpPr>
          <p:cNvPr id="3" name="">
            <a:extLst xmlns:a="http://schemas.openxmlformats.org/drawingml/2006/main">
              <a:ext uri="{FF2B5EF4-FFF2-40B4-BE49-F238E27FC236}">
                <a16:creationId xmlns:a16="http://schemas.microsoft.com/office/drawing/2014/main" id="{A38972DC-3873-494E-87FF-94A41ADD0B2A}"/>
              </a:ext>
            </a:extLst>
          </p:cNvPr>
          <p:cNvSpPr>
            <a:spLocks xmlns:a="http://schemas.openxmlformats.org/drawingml/2006/main" noGrp="1"/>
          </p:cNvSpPr>
          <p:nvPr/>
        </p:nvSpPr>
        <p:spPr>
          <a:xfrm xmlns:a="http://schemas.openxmlformats.org/drawingml/2006/main">
            <a:off x="666750" y="9525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5C6B79"/>
                </a:solidFill>
                <a:latin typeface="Helvetica Neue"/>
                <a:ea typeface="Helvetica Neue"/>
                <a:cs typeface="Helvetica Neue"/>
              </a:defRPr>
            </a:pPr>
            <a:r>
              <a:rPr sz="1425" b="0" i="0">
                <a:solidFill>
                  <a:srgbClr val="5C6B79"/>
                </a:solidFill>
                <a:latin typeface="Helvetica Neue"/>
                <a:ea typeface="Helvetica Neue"/>
                <a:cs typeface="Helvetica Neue"/>
              </a:rPr>
              <a:t>Useful for Q&amp;A about what the three-seed table can and cannot establish</a:t>
            </a:r>
          </a:p>
        </p:txBody>
      </p:sp>
      <p:graphicFrame>
        <p:nvGraphicFramePr>
          <p:cNvPr id="12" name=""/>
          <p:cNvGraphicFramePr/>
          <p:nvPr/>
        </p:nvGraphicFramePr>
        <p:xfrm>
          <a:off xmlns:a="http://schemas.openxmlformats.org/drawingml/2006/main" x="552450" y="1619250"/>
          <a:ext xmlns:a="http://schemas.openxmlformats.org/drawingml/2006/main" cx="11087100" cy="3333750"/>
        </p:xfrm>
        <a:graphic xmlns:a="http://schemas.openxmlformats.org/drawingml/2006/main">
          <a:graphicData uri="http://schemas.openxmlformats.org/drawingml/2006/table">
            <a:tbl>
              <a:tblPr/>
              <a:tblGrid>
                <a:gridCol w="1762125"/>
                <a:gridCol w="1809750"/>
                <a:gridCol w="2000250"/>
                <a:gridCol w="1809750"/>
                <a:gridCol w="3705225"/>
              </a:tblGrid>
              <a:tr h="571500">
                <a:tc>
                  <a:txBody>
                    <a:bodyPr/>
                    <a:lstStyle/>
                    <a:p>
                      <a:r>
                        <a:rPr>
                          <a:latin typeface="Helvetica Neue"/>
                          <a:ea typeface="Helvetica Neue"/>
                          <a:cs typeface="Helvetica Neue"/>
                        </a:rPr>
                        <a:t>System</a:t>
                      </a:r>
                    </a:p>
                  </a:txBody>
                  <a:tcPr marL="91440" marR="91440" marT="45720" marB="45720"/>
                </a:tc>
                <a:tc>
                  <a:txBody>
                    <a:bodyPr/>
                    <a:lstStyle/>
                    <a:p>
                      <a:r>
                        <a:rPr>
                          <a:latin typeface="Helvetica Neue"/>
                          <a:ea typeface="Helvetica Neue"/>
                          <a:cs typeface="Helvetica Neue"/>
                        </a:rPr>
                        <a:t>Training sources</a:t>
                      </a:r>
                    </a:p>
                  </a:txBody>
                  <a:tcPr marL="91440" marR="91440" marT="45720" marB="45720"/>
                </a:tc>
                <a:tc>
                  <a:txBody>
                    <a:bodyPr/>
                    <a:lstStyle/>
                    <a:p>
                      <a:r>
                        <a:rPr>
                          <a:latin typeface="Helvetica Neue"/>
                          <a:ea typeface="Helvetica Neue"/>
                          <a:cs typeface="Helvetica Neue"/>
                        </a:rPr>
                        <a:t>Encoder / fusion</a:t>
                      </a:r>
                    </a:p>
                  </a:txBody>
                  <a:tcPr marL="91440" marR="91440" marT="45720" marB="45720"/>
                </a:tc>
                <a:tc>
                  <a:txBody>
                    <a:bodyPr/>
                    <a:lstStyle/>
                    <a:p>
                      <a:r>
                        <a:rPr>
                          <a:latin typeface="Helvetica Neue"/>
                          <a:ea typeface="Helvetica Neue"/>
                          <a:cs typeface="Helvetica Neue"/>
                        </a:rPr>
                        <a:t>Native target</a:t>
                      </a:r>
                    </a:p>
                  </a:txBody>
                  <a:tcPr marL="91440" marR="91440" marT="45720" marB="45720"/>
                </a:tc>
                <a:tc>
                  <a:txBody>
                    <a:bodyPr/>
                    <a:lstStyle/>
                    <a:p>
                      <a:r>
                        <a:rPr>
                          <a:latin typeface="Helvetica Neue"/>
                          <a:ea typeface="Helvetica Neue"/>
                          <a:cs typeface="Helvetica Neue"/>
                        </a:rPr>
                        <a:t>Safe interpretation</a:t>
                      </a:r>
                    </a:p>
                  </a:txBody>
                  <a:tcPr marL="91440" marR="91440" marT="45720" marB="45720"/>
                </a:tc>
              </a:tr>
              <a:tr h="914400">
                <a:tc>
                  <a:txBody>
                    <a:bodyPr/>
                    <a:lstStyle/>
                    <a:p>
                      <a:r>
                        <a:rPr>
                          <a:latin typeface="Helvetica Neue"/>
                          <a:ea typeface="Helvetica Neue"/>
                          <a:cs typeface="Helvetica Neue"/>
                        </a:rPr>
                        <a:t>LSAA</a:t>
                      </a:r>
                    </a:p>
                  </a:txBody>
                  <a:tcPr marL="91440" marR="91440" marT="45720" marB="45720">
                    <a:solidFill>
                      <a:srgbClr val="F0ECFA"/>
                    </a:solidFill>
                  </a:tcPr>
                </a:tc>
                <a:tc>
                  <a:txBody>
                    <a:bodyPr/>
                    <a:lstStyle/>
                    <a:p>
                      <a:r>
                        <a:rPr>
                          <a:latin typeface="Helvetica Neue"/>
                          <a:ea typeface="Helvetica Neue"/>
                          <a:cs typeface="Helvetica Neue"/>
                        </a:rPr>
                        <a:t>ICBHI + SPRSound</a:t>
                      </a:r>
                    </a:p>
                  </a:txBody>
                  <a:tcPr marL="91440" marR="91440" marT="45720" marB="45720"/>
                </a:tc>
                <a:tc>
                  <a:txBody>
                    <a:bodyPr/>
                    <a:lstStyle/>
                    <a:p>
                      <a:r>
                        <a:rPr>
                          <a:latin typeface="Helvetica Neue"/>
                          <a:ea typeface="Helvetica Neue"/>
                          <a:cs typeface="Helvetica Neue"/>
                        </a:rPr>
                        <a:t>Fine-tuned BEATs
+ PAFA</a:t>
                      </a:r>
                    </a:p>
                  </a:txBody>
                  <a:tcPr marL="91440" marR="91440" marT="45720" marB="45720"/>
                </a:tc>
                <a:tc>
                  <a:txBody>
                    <a:bodyPr/>
                    <a:lstStyle/>
                    <a:p>
                      <a:r>
                        <a:rPr>
                          <a:latin typeface="Helvetica Neue"/>
                          <a:ea typeface="Helvetica Neue"/>
                          <a:cs typeface="Helvetica Neue"/>
                        </a:rPr>
                        <a:t>ICBHI 4-class
SPRSound binary</a:t>
                      </a:r>
                    </a:p>
                  </a:txBody>
                  <a:tcPr marL="91440" marR="91440" marT="45720" marB="45720"/>
                </a:tc>
                <a:tc>
                  <a:txBody>
                    <a:bodyPr/>
                    <a:lstStyle/>
                    <a:p>
                      <a:r>
                        <a:rPr>
                          <a:latin typeface="Helvetica Neue"/>
                          <a:ea typeface="Helvetica Neue"/>
                          <a:cs typeface="Helvetica Neue"/>
                        </a:rPr>
                        <a:t>Joint system with shared A/C/W interface</a:t>
                      </a:r>
                    </a:p>
                  </a:txBody>
                  <a:tcPr marL="91440" marR="91440" marT="45720" marB="45720"/>
                </a:tc>
              </a:tr>
              <a:tr h="914400">
                <a:tc>
                  <a:txBody>
                    <a:bodyPr/>
                    <a:lstStyle/>
                    <a:p>
                      <a:r>
                        <a:rPr>
                          <a:latin typeface="Helvetica Neue"/>
                          <a:ea typeface="Helvetica Neue"/>
                          <a:cs typeface="Helvetica Neue"/>
                        </a:rPr>
                        <a:t>PC-MCL 5-s adaptation</a:t>
                      </a:r>
                    </a:p>
                  </a:txBody>
                  <a:tcPr marL="91440" marR="91440" marT="45720" marB="45720">
                    <a:solidFill>
                      <a:srgbClr val="EAF3F9"/>
                    </a:solidFill>
                  </a:tcPr>
                </a:tc>
                <a:tc>
                  <a:txBody>
                    <a:bodyPr/>
                    <a:lstStyle/>
                    <a:p>
                      <a:r>
                        <a:rPr>
                          <a:latin typeface="Helvetica Neue"/>
                          <a:ea typeface="Helvetica Neue"/>
                          <a:cs typeface="Helvetica Neue"/>
                        </a:rPr>
                        <a:t>ICBHI</a:t>
                      </a:r>
                    </a:p>
                  </a:txBody>
                  <a:tcPr marL="91440" marR="91440" marT="45720" marB="45720"/>
                </a:tc>
                <a:tc>
                  <a:txBody>
                    <a:bodyPr/>
                    <a:lstStyle/>
                    <a:p>
                      <a:r>
                        <a:rPr>
                          <a:latin typeface="Helvetica Neue"/>
                          <a:ea typeface="Helvetica Neue"/>
                          <a:cs typeface="Helvetica Neue"/>
                        </a:rPr>
                        <a:t>Fine-tuned BEATs</a:t>
                      </a:r>
                    </a:p>
                  </a:txBody>
                  <a:tcPr marL="91440" marR="91440" marT="45720" marB="45720"/>
                </a:tc>
                <a:tc>
                  <a:txBody>
                    <a:bodyPr/>
                    <a:lstStyle/>
                    <a:p>
                      <a:r>
                        <a:rPr>
                          <a:latin typeface="Helvetica Neue"/>
                          <a:ea typeface="Helvetica Neue"/>
                          <a:cs typeface="Helvetica Neue"/>
                        </a:rPr>
                        <a:t>ICBHI 4-class</a:t>
                      </a:r>
                    </a:p>
                  </a:txBody>
                  <a:tcPr marL="91440" marR="91440" marT="45720" marB="45720"/>
                </a:tc>
                <a:tc>
                  <a:txBody>
                    <a:bodyPr/>
                    <a:lstStyle/>
                    <a:p>
                      <a:r>
                        <a:rPr>
                          <a:latin typeface="Helvetica Neue"/>
                          <a:ea typeface="Helvetica Neue"/>
                          <a:cs typeface="Helvetica Neue"/>
                        </a:rPr>
                        <a:t>ICBHI-only transfer reference; no SPRSound labels</a:t>
                      </a:r>
                    </a:p>
                  </a:txBody>
                  <a:tcPr marL="91440" marR="91440" marT="45720" marB="45720"/>
                </a:tc>
              </a:tr>
              <a:tr h="914400">
                <a:tc>
                  <a:txBody>
                    <a:bodyPr/>
                    <a:lstStyle/>
                    <a:p>
                      <a:r>
                        <a:rPr>
                          <a:latin typeface="Helvetica Neue"/>
                          <a:ea typeface="Helvetica Neue"/>
                          <a:cs typeface="Helvetica Neue"/>
                        </a:rPr>
                        <a:t>DCASE-style adaptation</a:t>
                      </a:r>
                    </a:p>
                  </a:txBody>
                  <a:tcPr marL="91440" marR="91440" marT="45720" marB="45720">
                    <a:solidFill>
                      <a:srgbClr val="EAF6F1"/>
                    </a:solidFill>
                  </a:tcPr>
                </a:tc>
                <a:tc>
                  <a:txBody>
                    <a:bodyPr/>
                    <a:lstStyle/>
                    <a:p>
                      <a:r>
                        <a:rPr>
                          <a:latin typeface="Helvetica Neue"/>
                          <a:ea typeface="Helvetica Neue"/>
                          <a:cs typeface="Helvetica Neue"/>
                        </a:rPr>
                        <a:t>ICBHI + SPRSound</a:t>
                      </a:r>
                    </a:p>
                  </a:txBody>
                  <a:tcPr marL="91440" marR="91440" marT="45720" marB="45720"/>
                </a:tc>
                <a:tc>
                  <a:txBody>
                    <a:bodyPr/>
                    <a:lstStyle/>
                    <a:p>
                      <a:r>
                        <a:rPr>
                          <a:latin typeface="Helvetica Neue"/>
                          <a:ea typeface="Helvetica Neue"/>
                          <a:cs typeface="Helvetica Neue"/>
                        </a:rPr>
                        <a:t>Frozen BEATs
+ trainable CRNN</a:t>
                      </a:r>
                    </a:p>
                  </a:txBody>
                  <a:tcPr marL="91440" marR="91440" marT="45720" marB="45720"/>
                </a:tc>
                <a:tc>
                  <a:txBody>
                    <a:bodyPr/>
                    <a:lstStyle/>
                    <a:p>
                      <a:r>
                        <a:rPr>
                          <a:latin typeface="Helvetica Neue"/>
                          <a:ea typeface="Helvetica Neue"/>
                          <a:cs typeface="Helvetica Neue"/>
                        </a:rPr>
                        <a:t>native-class union
readouts</a:t>
                      </a:r>
                    </a:p>
                  </a:txBody>
                  <a:tcPr marL="91440" marR="91440" marT="45720" marB="45720"/>
                </a:tc>
                <a:tc>
                  <a:txBody>
                    <a:bodyPr/>
                    <a:lstStyle/>
                    <a:p>
                      <a:r>
                        <a:rPr>
                          <a:latin typeface="Helvetica Neue"/>
                          <a:ea typeface="Helvetica Neue"/>
                          <a:cs typeface="Helvetica Neue"/>
                        </a:rPr>
                        <a:t>Respiratory adaptation of a multi-source principle</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837FE7ED-C215-4282-93CB-1ADD75F67C90}"/>
              </a:ext>
            </a:extLst>
          </p:cNvPr>
          <p:cNvSpPr>
            <a:spLocks xmlns:a="http://schemas.openxmlformats.org/drawingml/2006/main" noGrp="1"/>
          </p:cNvSpPr>
          <p:nvPr/>
        </p:nvSpPr>
        <p:spPr>
          <a:xfrm xmlns:a="http://schemas.openxmlformats.org/drawingml/2006/main">
            <a:off x="857250" y="5334000"/>
            <a:ext cx="10477500" cy="628650"/>
          </a:xfrm>
          <a:prstGeom xmlns:a="http://schemas.openxmlformats.org/drawingml/2006/main" prst="roundRect">
            <a:avLst>
              <a:gd name="adj" fmla="val 21212"/>
            </a:avLst>
          </a:prstGeom>
          <a:solidFill xmlns:a="http://schemas.openxmlformats.org/drawingml/2006/main">
            <a:srgbClr val="FBECEE"/>
          </a:solidFill>
          <a:ln xmlns:a="http://schemas.openxmlformats.org/drawingml/2006/main" w="9525">
            <a:solidFill>
              <a:srgbClr val="B24B58"/>
            </a:solidFill>
            <a:prstDash val="solid"/>
          </a:ln>
        </p:spPr>
        <p:txBody>
          <a:bodyPr xmlns:a="http://schemas.openxmlformats.org/drawingml/2006/main" wrap="square" lIns="152400" tIns="38100" rIns="152400" bIns="38100" anchor="ctr">
            <a:noAutofit/>
          </a:bodyPr>
          <a:lstStyle xmlns:a="http://schemas.openxmlformats.org/drawingml/2006/main"/>
          <a:p xmlns:a="http://schemas.openxmlformats.org/drawingml/2006/main">
            <a:pPr algn="ctr">
              <a:defRPr sz="1725" b="1" i="0">
                <a:solidFill>
                  <a:srgbClr val="B24B58"/>
                </a:solidFill>
                <a:latin typeface="Helvetica Neue"/>
                <a:ea typeface="Helvetica Neue"/>
                <a:cs typeface="Helvetica Neue"/>
              </a:defRPr>
            </a:pPr>
            <a:r>
              <a:rPr sz="1725" b="1" i="0">
                <a:solidFill>
                  <a:srgbClr val="B24B58"/>
                </a:solidFill>
                <a:latin typeface="Helvetica Neue"/>
                <a:ea typeface="Helvetica Neue"/>
                <a:cs typeface="Helvetica Neue"/>
              </a:rPr>
              <a:t>The table supports system-level comparison, not single-factor attribution.</a:t>
            </a:r>
          </a:p>
        </p:txBody>
      </p:sp>
      <p:sp>
        <p:nvSpPr>
          <p:cNvPr id="6" name="">
            <a:extLst xmlns:a="http://schemas.openxmlformats.org/drawingml/2006/main">
              <a:ext uri="{FF2B5EF4-FFF2-40B4-BE49-F238E27FC236}">
                <a16:creationId xmlns:a16="http://schemas.microsoft.com/office/drawing/2014/main" id="{518F3661-6DFB-404F-93DC-CEDDA5B4A0BE}"/>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rect">
            <a:avLst/>
          </a:prstGeom>
          <a:solidFill xmlns:a="http://schemas.openxmlformats.org/drawingml/2006/main">
            <a:srgbClr val="D6E0E8"/>
          </a:solidFill>
          <a:ln xmlns:a="http://schemas.openxmlformats.org/drawingml/2006/main" w="0">
            <a:solidFill>
              <a:srgbClr val="D6E0E8"/>
            </a:solidFill>
            <a:prstDash val="solid"/>
          </a:ln>
        </p:spPr>
      </p:sp>
      <p:sp>
        <p:nvSpPr>
          <p:cNvPr id="7" name="">
            <a:extLst xmlns:a="http://schemas.openxmlformats.org/drawingml/2006/main">
              <a:ext uri="{FF2B5EF4-FFF2-40B4-BE49-F238E27FC236}">
                <a16:creationId xmlns:a16="http://schemas.microsoft.com/office/drawing/2014/main" id="{E1ED44E0-0F1A-4F11-B4D4-7EB63C5A560E}"/>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NIcE X F26 Lab Meeting   18 September 2026</a:t>
            </a:r>
          </a:p>
        </p:txBody>
      </p:sp>
      <p:sp>
        <p:nvSpPr>
          <p:cNvPr id="8" name="">
            <a:extLst xmlns:a="http://schemas.openxmlformats.org/drawingml/2006/main">
              <a:ext uri="{FF2B5EF4-FFF2-40B4-BE49-F238E27FC236}">
                <a16:creationId xmlns:a16="http://schemas.microsoft.com/office/drawing/2014/main" id="{D78F302C-2AF5-4E59-B49C-582D238506F1}"/>
              </a:ext>
            </a:extLst>
          </p:cNvPr>
          <p:cNvSpPr>
            <a:spLocks xmlns:a="http://schemas.openxmlformats.org/drawingml/2006/main" noGrp="1"/>
          </p:cNvSpPr>
          <p:nvPr/>
        </p:nvSpPr>
        <p:spPr>
          <a:xfrm xmlns:a="http://schemas.openxmlformats.org/drawingml/2006/main">
            <a:off x="9810750" y="6496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1" i="0">
                <a:solidFill>
                  <a:srgbClr val="6D4CC2"/>
                </a:solidFill>
                <a:latin typeface="Helvetica Neue"/>
                <a:ea typeface="Helvetica Neue"/>
                <a:cs typeface="Helvetica Neue"/>
              </a:defRPr>
            </a:pPr>
            <a:r>
              <a:rPr sz="900" b="1" i="0">
                <a:solidFill>
                  <a:srgbClr val="6D4CC2"/>
                </a:solidFill>
                <a:latin typeface="Helvetica Neue"/>
                <a:ea typeface="Helvetica Neue"/>
                <a:cs typeface="Helvetica Neue"/>
              </a:rPr>
              <a:t>Backup   10 / 11</a:t>
            </a:r>
          </a:p>
        </p:txBody>
      </p:sp>
    </p:spTree>
    <p:extLst>
      <p:ext uri="{BB962C8B-B14F-4D97-AF65-F5344CB8AC3E}">
        <p14:creationId xmlns:p14="http://schemas.microsoft.com/office/powerpoint/2010/main" val="16003222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98F886-D1A9-4050-A072-9991E695FA9E}"/>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6D4CC2"/>
          </a:solidFill>
          <a:ln xmlns:a="http://schemas.openxmlformats.org/drawingml/2006/main" w="0">
            <a:solidFill>
              <a:srgbClr val="6D4CC2"/>
            </a:solidFill>
            <a:prstDash val="solid"/>
          </a:ln>
        </p:spPr>
      </p:sp>
      <p:sp>
        <p:nvSpPr>
          <p:cNvPr id="2" name="">
            <a:extLst xmlns:a="http://schemas.openxmlformats.org/drawingml/2006/main">
              <a:ext uri="{FF2B5EF4-FFF2-40B4-BE49-F238E27FC236}">
                <a16:creationId xmlns:a16="http://schemas.microsoft.com/office/drawing/2014/main" id="{47FB9337-D4D7-497F-B38A-867F6C8BD10B}"/>
              </a:ext>
            </a:extLst>
          </p:cNvPr>
          <p:cNvSpPr>
            <a:spLocks xmlns:a="http://schemas.openxmlformats.org/drawingml/2006/main" noGrp="1"/>
          </p:cNvSpPr>
          <p:nvPr/>
        </p:nvSpPr>
        <p:spPr>
          <a:xfrm xmlns:a="http://schemas.openxmlformats.org/drawingml/2006/main">
            <a:off x="647700" y="38100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i="0">
                <a:solidFill>
                  <a:srgbClr val="16324F"/>
                </a:solidFill>
                <a:latin typeface="Helvetica Neue"/>
                <a:ea typeface="Helvetica Neue"/>
                <a:cs typeface="Helvetica Neue"/>
              </a:defRPr>
            </a:pPr>
            <a:r>
              <a:rPr sz="2850" b="1" i="0">
                <a:solidFill>
                  <a:srgbClr val="16324F"/>
                </a:solidFill>
                <a:latin typeface="Helvetica Neue"/>
                <a:ea typeface="Helvetica Neue"/>
                <a:cs typeface="Helvetica Neue"/>
              </a:rPr>
              <a:t>Backup: details to make explicit before submission</a:t>
            </a:r>
          </a:p>
        </p:txBody>
      </p:sp>
      <p:sp>
        <p:nvSpPr>
          <p:cNvPr id="3" name="">
            <a:extLst xmlns:a="http://schemas.openxmlformats.org/drawingml/2006/main">
              <a:ext uri="{FF2B5EF4-FFF2-40B4-BE49-F238E27FC236}">
                <a16:creationId xmlns:a16="http://schemas.microsoft.com/office/drawing/2014/main" id="{7271DEE6-F062-4A51-B129-57042A29BD97}"/>
              </a:ext>
            </a:extLst>
          </p:cNvPr>
          <p:cNvSpPr>
            <a:spLocks xmlns:a="http://schemas.openxmlformats.org/drawingml/2006/main" noGrp="1"/>
          </p:cNvSpPr>
          <p:nvPr/>
        </p:nvSpPr>
        <p:spPr>
          <a:xfrm xmlns:a="http://schemas.openxmlformats.org/drawingml/2006/main">
            <a:off x="666750" y="9525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i="0">
                <a:solidFill>
                  <a:srgbClr val="5C6B79"/>
                </a:solidFill>
                <a:latin typeface="Helvetica Neue"/>
                <a:ea typeface="Helvetica Neue"/>
                <a:cs typeface="Helvetica Neue"/>
              </a:defRPr>
            </a:pPr>
            <a:r>
              <a:rPr sz="1425" b="0" i="0">
                <a:solidFill>
                  <a:srgbClr val="5C6B79"/>
                </a:solidFill>
                <a:latin typeface="Helvetica Neue"/>
                <a:ea typeface="Helvetica Neue"/>
                <a:cs typeface="Helvetica Neue"/>
              </a:rPr>
              <a:t>A compact checklist for the current revision discussion</a:t>
            </a:r>
          </a:p>
        </p:txBody>
      </p:sp>
      <p:sp>
        <p:nvSpPr>
          <p:cNvPr id="4" name="">
            <a:extLst xmlns:a="http://schemas.openxmlformats.org/drawingml/2006/main">
              <a:ext uri="{FF2B5EF4-FFF2-40B4-BE49-F238E27FC236}">
                <a16:creationId xmlns:a16="http://schemas.microsoft.com/office/drawing/2014/main" id="{6D57C1E2-E040-4477-B752-9C725C7BAD6D}"/>
              </a:ext>
            </a:extLst>
          </p:cNvPr>
          <p:cNvSpPr>
            <a:spLocks xmlns:a="http://schemas.openxmlformats.org/drawingml/2006/main" noGrp="1"/>
          </p:cNvSpPr>
          <p:nvPr/>
        </p:nvSpPr>
        <p:spPr>
          <a:xfrm xmlns:a="http://schemas.openxmlformats.org/drawingml/2006/main">
            <a:off x="666750" y="1581150"/>
            <a:ext cx="5067300" cy="3667125"/>
          </a:xfrm>
          <a:prstGeom xmlns:a="http://schemas.openxmlformats.org/drawingml/2006/main" prst="roundRect">
            <a:avLst>
              <a:gd name="adj" fmla="val 4675"/>
            </a:avLst>
          </a:prstGeom>
          <a:solidFill xmlns:a="http://schemas.openxmlformats.org/drawingml/2006/main">
            <a:srgbClr val="EAF6F1"/>
          </a:solidFill>
          <a:ln xmlns:a="http://schemas.openxmlformats.org/drawingml/2006/main" w="11430">
            <a:solidFill>
              <a:srgbClr val="2E8B78"/>
            </a:solidFill>
            <a:prstDash val="solid"/>
          </a:ln>
        </p:spPr>
      </p:sp>
      <p:sp>
        <p:nvSpPr>
          <p:cNvPr id="5" name="">
            <a:extLst xmlns:a="http://schemas.openxmlformats.org/drawingml/2006/main">
              <a:ext uri="{FF2B5EF4-FFF2-40B4-BE49-F238E27FC236}">
                <a16:creationId xmlns:a16="http://schemas.microsoft.com/office/drawing/2014/main" id="{5A6B4F6E-7227-4F23-BB26-0CAB4A94C363}"/>
              </a:ext>
            </a:extLst>
          </p:cNvPr>
          <p:cNvSpPr>
            <a:spLocks xmlns:a="http://schemas.openxmlformats.org/drawingml/2006/main" noGrp="1"/>
          </p:cNvSpPr>
          <p:nvPr/>
        </p:nvSpPr>
        <p:spPr>
          <a:xfrm xmlns:a="http://schemas.openxmlformats.org/drawingml/2006/main">
            <a:off x="952500" y="18478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2E8B78"/>
                </a:solidFill>
                <a:latin typeface="Helvetica Neue"/>
                <a:ea typeface="Helvetica Neue"/>
                <a:cs typeface="Helvetica Neue"/>
              </a:defRPr>
            </a:pPr>
            <a:r>
              <a:rPr sz="1875" b="1" i="0">
                <a:solidFill>
                  <a:srgbClr val="2E8B78"/>
                </a:solidFill>
                <a:latin typeface="Helvetica Neue"/>
                <a:ea typeface="Helvetica Neue"/>
                <a:cs typeface="Helvetica Neue"/>
              </a:rPr>
              <a:t>Already explicit in the current story</a:t>
            </a:r>
          </a:p>
        </p:txBody>
      </p:sp>
      <p:sp>
        <p:nvSpPr>
          <p:cNvPr id="6" name="">
            <a:extLst xmlns:a="http://schemas.openxmlformats.org/drawingml/2006/main">
              <a:ext uri="{FF2B5EF4-FFF2-40B4-BE49-F238E27FC236}">
                <a16:creationId xmlns:a16="http://schemas.microsoft.com/office/drawing/2014/main" id="{7637DD66-6737-4CED-8D77-A42C93B8A8DD}"/>
              </a:ext>
            </a:extLst>
          </p:cNvPr>
          <p:cNvSpPr>
            <a:spLocks xmlns:a="http://schemas.openxmlformats.org/drawingml/2006/main" noGrp="1"/>
          </p:cNvSpPr>
          <p:nvPr/>
        </p:nvSpPr>
        <p:spPr>
          <a:xfrm xmlns:a="http://schemas.openxmlformats.org/drawingml/2006/main">
            <a:off x="971550" y="2343150"/>
            <a:ext cx="4286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27000" algn="l">
              <a:spcAft>
                <a:spcPts val="900"/>
              </a:spcAft>
              <a:buChar char="•"/>
              <a:defRPr sz="1575" b="0" i="0">
                <a:solidFill>
                  <a:srgbClr val="102338"/>
                </a:solidFill>
                <a:latin typeface="Helvetica Neue"/>
                <a:ea typeface="Helvetica Neue"/>
                <a:cs typeface="Helvetica Neue"/>
              </a:defRPr>
            </a:pPr>
            <a:r>
              <a:rPr sz="1575" b="0" i="0">
                <a:solidFill>
                  <a:srgbClr val="102338"/>
                </a:solidFill>
                <a:latin typeface="Helvetica Neue"/>
                <a:ea typeface="Helvetica Neue"/>
                <a:cs typeface="Helvetica Neue"/>
              </a:rPr>
              <a:t>5-s mono 16-kHz input preparation</a:t>
            </a:r>
          </a:p>
          <a:p xmlns:a="http://schemas.openxmlformats.org/drawingml/2006/main">
            <a:pPr marL="266700" indent="-127000" algn="l">
              <a:spcAft>
                <a:spcPts val="900"/>
              </a:spcAft>
              <a:buChar char="•"/>
              <a:defRPr sz="1575" b="0" i="0">
                <a:solidFill>
                  <a:srgbClr val="102338"/>
                </a:solidFill>
                <a:latin typeface="Helvetica Neue"/>
                <a:ea typeface="Helvetica Neue"/>
                <a:cs typeface="Helvetica Neue"/>
              </a:defRPr>
            </a:pPr>
            <a:r>
              <a:rPr sz="1575" b="0" i="0">
                <a:solidFill>
                  <a:srgbClr val="102338"/>
                </a:solidFill>
                <a:latin typeface="Helvetica Neue"/>
                <a:ea typeface="Helvetica Neue"/>
                <a:cs typeface="Helvetica Neue"/>
              </a:rPr>
              <a:t>A/C/W targets with annotation masks</a:t>
            </a:r>
          </a:p>
          <a:p xmlns:a="http://schemas.openxmlformats.org/drawingml/2006/main">
            <a:pPr marL="266700" indent="-127000" algn="l">
              <a:spcAft>
                <a:spcPts val="900"/>
              </a:spcAft>
              <a:buChar char="•"/>
              <a:defRPr sz="1575" b="0" i="0">
                <a:solidFill>
                  <a:srgbClr val="102338"/>
                </a:solidFill>
                <a:latin typeface="Helvetica Neue"/>
                <a:ea typeface="Helvetica Neue"/>
                <a:cs typeface="Helvetica Neue"/>
              </a:defRPr>
            </a:pPr>
            <a:r>
              <a:rPr sz="1575" b="0" i="0">
                <a:solidFill>
                  <a:srgbClr val="102338"/>
                </a:solidFill>
                <a:latin typeface="Helvetica Neue"/>
                <a:ea typeface="Helvetica Neue"/>
                <a:cs typeface="Helvetica Neue"/>
              </a:rPr>
              <a:t>C/W thresholds from core validation</a:t>
            </a:r>
          </a:p>
          <a:p xmlns:a="http://schemas.openxmlformats.org/drawingml/2006/main">
            <a:pPr marL="266700" indent="-127000" algn="l">
              <a:spcAft>
                <a:spcPts val="900"/>
              </a:spcAft>
              <a:buChar char="•"/>
              <a:defRPr sz="1575" b="0" i="0">
                <a:solidFill>
                  <a:srgbClr val="102338"/>
                </a:solidFill>
                <a:latin typeface="Helvetica Neue"/>
                <a:ea typeface="Helvetica Neue"/>
                <a:cs typeface="Helvetica Neue"/>
              </a:defRPr>
            </a:pPr>
            <a:r>
              <a:rPr sz="1575" b="0" i="0">
                <a:solidFill>
                  <a:srgbClr val="102338"/>
                </a:solidFill>
                <a:latin typeface="Helvetica Neue"/>
                <a:ea typeface="Helvetica Neue"/>
                <a:cs typeface="Helvetica Neue"/>
              </a:rPr>
              <a:t>Fixed HF and KAUH readouts</a:t>
            </a:r>
          </a:p>
          <a:p xmlns:a="http://schemas.openxmlformats.org/drawingml/2006/main">
            <a:pPr marL="266700" indent="-127000" algn="l">
              <a:spcAft>
                <a:spcPts val="900"/>
              </a:spcAft>
              <a:buChar char="•"/>
              <a:defRPr sz="1575" b="0" i="0">
                <a:solidFill>
                  <a:srgbClr val="102338"/>
                </a:solidFill>
                <a:latin typeface="Helvetica Neue"/>
                <a:ea typeface="Helvetica Neue"/>
                <a:cs typeface="Helvetica Neue"/>
              </a:defRPr>
            </a:pPr>
            <a:r>
              <a:rPr sz="1575" b="0" i="0">
                <a:solidFill>
                  <a:srgbClr val="102338"/>
                </a:solidFill>
                <a:latin typeface="Helvetica Neue"/>
                <a:ea typeface="Helvetica Neue"/>
                <a:cs typeface="Helvetica Neue"/>
              </a:rPr>
              <a:t>Native tasks retained for ICBHI and SPRSound</a:t>
            </a:r>
          </a:p>
        </p:txBody>
      </p:sp>
      <p:sp>
        <p:nvSpPr>
          <p:cNvPr id="7" name="">
            <a:extLst xmlns:a="http://schemas.openxmlformats.org/drawingml/2006/main">
              <a:ext uri="{FF2B5EF4-FFF2-40B4-BE49-F238E27FC236}">
                <a16:creationId xmlns:a16="http://schemas.microsoft.com/office/drawing/2014/main" id="{DA84C5F3-EDB6-4081-88A1-214E0EA35FFE}"/>
              </a:ext>
            </a:extLst>
          </p:cNvPr>
          <p:cNvSpPr>
            <a:spLocks xmlns:a="http://schemas.openxmlformats.org/drawingml/2006/main" noGrp="1"/>
          </p:cNvSpPr>
          <p:nvPr/>
        </p:nvSpPr>
        <p:spPr>
          <a:xfrm xmlns:a="http://schemas.openxmlformats.org/drawingml/2006/main">
            <a:off x="6362700" y="1581150"/>
            <a:ext cx="5162550" cy="3667125"/>
          </a:xfrm>
          <a:prstGeom xmlns:a="http://schemas.openxmlformats.org/drawingml/2006/main" prst="roundRect">
            <a:avLst>
              <a:gd name="adj" fmla="val 4675"/>
            </a:avLst>
          </a:prstGeom>
          <a:solidFill xmlns:a="http://schemas.openxmlformats.org/drawingml/2006/main">
            <a:srgbClr val="FBF3E6"/>
          </a:solidFill>
          <a:ln xmlns:a="http://schemas.openxmlformats.org/drawingml/2006/main" w="11430">
            <a:solidFill>
              <a:srgbClr val="B8873B"/>
            </a:solidFill>
            <a:prstDash val="solid"/>
          </a:ln>
        </p:spPr>
      </p:sp>
      <p:sp>
        <p:nvSpPr>
          <p:cNvPr id="8" name="">
            <a:extLst xmlns:a="http://schemas.openxmlformats.org/drawingml/2006/main">
              <a:ext uri="{FF2B5EF4-FFF2-40B4-BE49-F238E27FC236}">
                <a16:creationId xmlns:a16="http://schemas.microsoft.com/office/drawing/2014/main" id="{2C577E69-E9D7-418A-8387-701C512C6540}"/>
              </a:ext>
            </a:extLst>
          </p:cNvPr>
          <p:cNvSpPr>
            <a:spLocks xmlns:a="http://schemas.openxmlformats.org/drawingml/2006/main" noGrp="1"/>
          </p:cNvSpPr>
          <p:nvPr/>
        </p:nvSpPr>
        <p:spPr>
          <a:xfrm xmlns:a="http://schemas.openxmlformats.org/drawingml/2006/main">
            <a:off x="6648450" y="18478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B8873B"/>
                </a:solidFill>
                <a:latin typeface="Helvetica Neue"/>
                <a:ea typeface="Helvetica Neue"/>
                <a:cs typeface="Helvetica Neue"/>
              </a:defRPr>
            </a:pPr>
            <a:r>
              <a:rPr sz="1875" b="1" i="0">
                <a:solidFill>
                  <a:srgbClr val="B8873B"/>
                </a:solidFill>
                <a:latin typeface="Helvetica Neue"/>
                <a:ea typeface="Helvetica Neue"/>
                <a:cs typeface="Helvetica Neue"/>
              </a:rPr>
              <a:t>Still to clarify in the manuscript</a:t>
            </a:r>
          </a:p>
        </p:txBody>
      </p:sp>
      <p:sp>
        <p:nvSpPr>
          <p:cNvPr id="9" name="">
            <a:extLst xmlns:a="http://schemas.openxmlformats.org/drawingml/2006/main">
              <a:ext uri="{FF2B5EF4-FFF2-40B4-BE49-F238E27FC236}">
                <a16:creationId xmlns:a16="http://schemas.microsoft.com/office/drawing/2014/main" id="{1C8FC3C8-5CAA-4F50-B03D-5B76B2BB559B}"/>
              </a:ext>
            </a:extLst>
          </p:cNvPr>
          <p:cNvSpPr>
            <a:spLocks xmlns:a="http://schemas.openxmlformats.org/drawingml/2006/main" noGrp="1"/>
          </p:cNvSpPr>
          <p:nvPr/>
        </p:nvSpPr>
        <p:spPr>
          <a:xfrm xmlns:a="http://schemas.openxmlformats.org/drawingml/2006/main">
            <a:off x="6667500" y="2343150"/>
            <a:ext cx="4381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27000" algn="l">
              <a:spcAft>
                <a:spcPts val="900"/>
              </a:spcAft>
              <a:buChar char="•"/>
              <a:defRPr sz="1575" b="0" i="0">
                <a:solidFill>
                  <a:srgbClr val="102338"/>
                </a:solidFill>
                <a:latin typeface="Helvetica Neue"/>
                <a:ea typeface="Helvetica Neue"/>
                <a:cs typeface="Helvetica Neue"/>
              </a:defRPr>
            </a:pPr>
            <a:r>
              <a:rPr sz="1575" b="0" i="0">
                <a:solidFill>
                  <a:srgbClr val="102338"/>
                </a:solidFill>
                <a:latin typeface="Helvetica Neue"/>
                <a:ea typeface="Helvetica Neue"/>
                <a:cs typeface="Helvetica Neue"/>
              </a:rPr>
              <a:t>Source mixing and batch composition</a:t>
            </a:r>
          </a:p>
          <a:p xmlns:a="http://schemas.openxmlformats.org/drawingml/2006/main">
            <a:pPr marL="266700" indent="-127000" algn="l">
              <a:spcAft>
                <a:spcPts val="900"/>
              </a:spcAft>
              <a:buChar char="•"/>
              <a:defRPr sz="1575" b="0" i="0">
                <a:solidFill>
                  <a:srgbClr val="102338"/>
                </a:solidFill>
                <a:latin typeface="Helvetica Neue"/>
                <a:ea typeface="Helvetica Neue"/>
                <a:cs typeface="Helvetica Neue"/>
              </a:defRPr>
            </a:pPr>
            <a:r>
              <a:rPr sz="1575" b="0" i="0">
                <a:solidFill>
                  <a:srgbClr val="102338"/>
                </a:solidFill>
                <a:latin typeface="Helvetica Neue"/>
                <a:ea typeface="Helvetica Neue"/>
                <a:cs typeface="Helvetica Neue"/>
              </a:rPr>
              <a:t>Split construction and validation terminology</a:t>
            </a:r>
          </a:p>
          <a:p xmlns:a="http://schemas.openxmlformats.org/drawingml/2006/main">
            <a:pPr marL="266700" indent="-127000" algn="l">
              <a:spcAft>
                <a:spcPts val="900"/>
              </a:spcAft>
              <a:buChar char="•"/>
              <a:defRPr sz="1575" b="0" i="0">
                <a:solidFill>
                  <a:srgbClr val="102338"/>
                </a:solidFill>
                <a:latin typeface="Helvetica Neue"/>
                <a:ea typeface="Helvetica Neue"/>
                <a:cs typeface="Helvetica Neue"/>
              </a:defRPr>
            </a:pPr>
            <a:r>
              <a:rPr sz="1575" b="0" i="0">
                <a:solidFill>
                  <a:srgbClr val="102338"/>
                </a:solidFill>
                <a:latin typeface="Helvetica Neue"/>
                <a:ea typeface="Helvetica Neue"/>
                <a:cs typeface="Helvetica Neue"/>
              </a:rPr>
              <a:t>Optimizer, scheduler, epochs, augmentation, early stopping</a:t>
            </a:r>
          </a:p>
          <a:p xmlns:a="http://schemas.openxmlformats.org/drawingml/2006/main">
            <a:pPr marL="266700" indent="-127000" algn="l">
              <a:spcAft>
                <a:spcPts val="900"/>
              </a:spcAft>
              <a:buChar char="•"/>
              <a:defRPr sz="1575" b="0" i="0">
                <a:solidFill>
                  <a:srgbClr val="102338"/>
                </a:solidFill>
                <a:latin typeface="Helvetica Neue"/>
                <a:ea typeface="Helvetica Neue"/>
                <a:cs typeface="Helvetica Neue"/>
              </a:defRPr>
            </a:pPr>
            <a:r>
              <a:rPr sz="1575" b="0" i="0">
                <a:solidFill>
                  <a:srgbClr val="102338"/>
                </a:solidFill>
                <a:latin typeface="Helvetica Neue"/>
                <a:ea typeface="Helvetica Neue"/>
                <a:cs typeface="Helvetica Neue"/>
              </a:rPr>
              <a:t>Matched controls for encoder and PAFA effects</a:t>
            </a:r>
          </a:p>
          <a:p xmlns:a="http://schemas.openxmlformats.org/drawingml/2006/main">
            <a:pPr marL="266700" indent="-127000" algn="l">
              <a:spcAft>
                <a:spcPts val="900"/>
              </a:spcAft>
              <a:buChar char="•"/>
              <a:defRPr sz="1575" b="0" i="0">
                <a:solidFill>
                  <a:srgbClr val="102338"/>
                </a:solidFill>
                <a:latin typeface="Helvetica Neue"/>
                <a:ea typeface="Helvetica Neue"/>
                <a:cs typeface="Helvetica Neue"/>
              </a:defRPr>
            </a:pPr>
            <a:r>
              <a:rPr sz="1575" b="0" i="0">
                <a:solidFill>
                  <a:srgbClr val="102338"/>
                </a:solidFill>
                <a:latin typeface="Helvetica Neue"/>
                <a:ea typeface="Helvetica Neue"/>
                <a:cs typeface="Helvetica Neue"/>
              </a:rPr>
              <a:t>Paired statistical analysis for key comparisons</a:t>
            </a:r>
          </a:p>
        </p:txBody>
      </p:sp>
      <p:sp>
        <p:nvSpPr>
          <p:cNvPr id="10" name="">
            <a:extLst xmlns:a="http://schemas.openxmlformats.org/drawingml/2006/main">
              <a:ext uri="{FF2B5EF4-FFF2-40B4-BE49-F238E27FC236}">
                <a16:creationId xmlns:a16="http://schemas.microsoft.com/office/drawing/2014/main" id="{5831B22E-FA77-4363-904B-49561C974A12}"/>
              </a:ext>
            </a:extLst>
          </p:cNvPr>
          <p:cNvSpPr>
            <a:spLocks xmlns:a="http://schemas.openxmlformats.org/drawingml/2006/main" noGrp="1"/>
          </p:cNvSpPr>
          <p:nvPr/>
        </p:nvSpPr>
        <p:spPr>
          <a:xfrm xmlns:a="http://schemas.openxmlformats.org/drawingml/2006/main">
            <a:off x="647700" y="6419850"/>
            <a:ext cx="10896600" cy="9525"/>
          </a:xfrm>
          <a:prstGeom xmlns:a="http://schemas.openxmlformats.org/drawingml/2006/main" prst="rect">
            <a:avLst/>
          </a:prstGeom>
          <a:solidFill xmlns:a="http://schemas.openxmlformats.org/drawingml/2006/main">
            <a:srgbClr val="D6E0E8"/>
          </a:solidFill>
          <a:ln xmlns:a="http://schemas.openxmlformats.org/drawingml/2006/main" w="0">
            <a:solidFill>
              <a:srgbClr val="D6E0E8"/>
            </a:solidFill>
            <a:prstDash val="solid"/>
          </a:ln>
        </p:spPr>
      </p:sp>
      <p:sp>
        <p:nvSpPr>
          <p:cNvPr id="11" name="">
            <a:extLst xmlns:a="http://schemas.openxmlformats.org/drawingml/2006/main">
              <a:ext uri="{FF2B5EF4-FFF2-40B4-BE49-F238E27FC236}">
                <a16:creationId xmlns:a16="http://schemas.microsoft.com/office/drawing/2014/main" id="{AE3A694C-1BF3-4913-8293-2FE97BA87A75}"/>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900" b="0" i="0">
                <a:solidFill>
                  <a:srgbClr val="5C6B79"/>
                </a:solidFill>
                <a:latin typeface="Helvetica Neue"/>
                <a:ea typeface="Helvetica Neue"/>
                <a:cs typeface="Helvetica Neue"/>
              </a:defRPr>
            </a:pPr>
            <a:r>
              <a:rPr sz="900" b="0" i="0">
                <a:solidFill>
                  <a:srgbClr val="5C6B79"/>
                </a:solidFill>
                <a:latin typeface="Helvetica Neue"/>
                <a:ea typeface="Helvetica Neue"/>
                <a:cs typeface="Helvetica Neue"/>
              </a:rPr>
              <a:t>NIcE X F26 Lab Meeting   18 September 2026</a:t>
            </a:r>
          </a:p>
        </p:txBody>
      </p:sp>
      <p:sp>
        <p:nvSpPr>
          <p:cNvPr id="12" name="">
            <a:extLst xmlns:a="http://schemas.openxmlformats.org/drawingml/2006/main">
              <a:ext uri="{FF2B5EF4-FFF2-40B4-BE49-F238E27FC236}">
                <a16:creationId xmlns:a16="http://schemas.microsoft.com/office/drawing/2014/main" id="{5E30F9FB-51CC-43F6-B8C3-3CAA63BCB55C}"/>
              </a:ext>
            </a:extLst>
          </p:cNvPr>
          <p:cNvSpPr>
            <a:spLocks xmlns:a="http://schemas.openxmlformats.org/drawingml/2006/main" noGrp="1"/>
          </p:cNvSpPr>
          <p:nvPr/>
        </p:nvSpPr>
        <p:spPr>
          <a:xfrm xmlns:a="http://schemas.openxmlformats.org/drawingml/2006/main">
            <a:off x="9810750" y="6496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900" b="1" i="0">
                <a:solidFill>
                  <a:srgbClr val="6D4CC2"/>
                </a:solidFill>
                <a:latin typeface="Helvetica Neue"/>
                <a:ea typeface="Helvetica Neue"/>
                <a:cs typeface="Helvetica Neue"/>
              </a:defRPr>
            </a:pPr>
            <a:r>
              <a:rPr sz="900" b="1" i="0">
                <a:solidFill>
                  <a:srgbClr val="6D4CC2"/>
                </a:solidFill>
                <a:latin typeface="Helvetica Neue"/>
                <a:ea typeface="Helvetica Neue"/>
                <a:cs typeface="Helvetica Neue"/>
              </a:rPr>
              <a:t>Backup   11 / 11</a:t>
            </a:r>
          </a:p>
        </p:txBody>
      </p:sp>
    </p:spTree>
    <p:extLst>
      <p:ext uri="{BB962C8B-B14F-4D97-AF65-F5344CB8AC3E}">
        <p14:creationId xmlns:p14="http://schemas.microsoft.com/office/powerpoint/2010/main" val="17875245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2026-09-18T08:32:19.0440000Z</dcterms:created>
  <dcterms:modified xsi:type="dcterms:W3CDTF">2026-09-18T08:32:19.0440000Z</dcterms:modified>
</coreProperties>
</file>