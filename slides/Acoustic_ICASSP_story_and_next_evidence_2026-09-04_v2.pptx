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e31a65d9094421" /><Relationship Type="http://schemas.openxmlformats.org/officeDocument/2006/relationships/extended-properties" Target="/docProps/app.xml" Id="Rb798b105beb54996" /><Relationship Type="http://schemas.openxmlformats.org/officeDocument/2006/relationships/officeDocument" Target="/ppt/presentation.xml" Id="R5245140fa374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c6b534d894b4c"/>
  </p:sldMasterIdLst>
  <p:notesMasterIdLst>
    <p:notesMasterId xmlns:r="http://schemas.openxmlformats.org/officeDocument/2006/relationships" r:id="Re783d16db09f4271"/>
  </p:notesMasterIdLst>
  <p:sldIdLst>
    <p:sldId xmlns:r="http://schemas.openxmlformats.org/officeDocument/2006/relationships" id="256" r:id="Rd719cab33f024c19"/>
    <p:sldId xmlns:r="http://schemas.openxmlformats.org/officeDocument/2006/relationships" id="257" r:id="Rb22962b95d6940c9"/>
    <p:sldId xmlns:r="http://schemas.openxmlformats.org/officeDocument/2006/relationships" id="258" r:id="R09b57e98542e40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54c2085d2430b" /><Relationship Type="http://schemas.openxmlformats.org/officeDocument/2006/relationships/slideMaster" Target="/ppt/slideMasters/slideMaster1.xml" Id="Rbd1c6b534d894b4c" /><Relationship Type="http://schemas.openxmlformats.org/officeDocument/2006/relationships/notesMaster" Target="/ppt/notesMasters/notesMaster1.xml" Id="Re783d16db09f4271" /><Relationship Type="http://schemas.openxmlformats.org/officeDocument/2006/relationships/presProps" Target="/ppt/presProps.xml" Id="R03ed90a511f24075" /><Relationship Type="http://schemas.openxmlformats.org/officeDocument/2006/relationships/tableStyles" Target="/ppt/tableStyles.xml" Id="R03e708faff714c61" /><Relationship Type="http://schemas.openxmlformats.org/officeDocument/2006/relationships/slide" Target="/ppt/slides/slide1.xml" Id="Rd719cab33f024c19" /><Relationship Type="http://schemas.openxmlformats.org/officeDocument/2006/relationships/slide" Target="/ppt/slides/slide2.xml" Id="Rb22962b95d6940c9" /><Relationship Type="http://schemas.openxmlformats.org/officeDocument/2006/relationships/slide" Target="/ppt/slides/slide3.xml" Id="R09b57e98542e40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e861796b874d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661e812fc479f" /><Relationship Type="http://schemas.openxmlformats.org/officeDocument/2006/relationships/notesMaster" Target="/ppt/notesMasters/notesMaster1.xml" Id="R7d53785621b6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990c9b642f42fe" /><Relationship Type="http://schemas.openxmlformats.org/officeDocument/2006/relationships/notesMaster" Target="/ppt/notesMasters/notesMaster1.xml" Id="R87b98511144f4c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8be70843142bf" /><Relationship Type="http://schemas.openxmlformats.org/officeDocument/2006/relationships/notesMaster" Target="/ppt/notesMasters/notesMaster1.xml" Id="Rac52b6607e94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docs/paper/ICASSP_2026_acoustic_disease/STORY_REVIEW_2026-09-04_zh.md; result/icbhi_strong_method_reproduction/metrics.json; result/pafa_sprsound_transfer_20260722_235659/metrics.json; result/sg_scl_sprsound_transfer_20260722_235659/metrics.json; result/sprsound_patchmix_frozen_transfer/metrics.json; result/reproduce/pafa_joint_hierarchy/PAFA_JH2_main_multiseed/multiseed_summary.md. Transfer rows are zero-target-tuning diagnostics, not matched joint-training gains.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Contribution wording follows the independent Claude and GPT-5.6 Pro reviews. Contribution 2 cannot claim superiority until a matched independent-head comparison is complete. Main evidence: JH2 ICBHI Score 0.611681 plus/minus 0.003139 and SPRSound official Score 0.906986 plus/minus 0.003424, n=3.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clean suite should contain joint hierarchy, joint independent heads, ICBHI-only hierarchy, and SPRSound-only hierarchy under one pre-registered seed42 protocol. Hanlin owns only the baseline registry and Table I source rows. HF/KAUH and JH3/JH4 expansions are outside the core queue.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f23cc658f42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ec7807bc944705" /><Relationship Type="http://schemas.openxmlformats.org/officeDocument/2006/relationships/slideLayout" Target="/ppt/slideLayouts/slideLayout1.xml" Id="R9cd94cddd4bc44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d94cddd4bc44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724c2697e4596" /><Relationship Type="http://schemas.openxmlformats.org/officeDocument/2006/relationships/notesSlide" Target="/ppt/notesSlides/notesSlide1.xml" Id="R2d8b87b3bc9c4e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9d8f1df24da8" /><Relationship Type="http://schemas.openxmlformats.org/officeDocument/2006/relationships/notesSlide" Target="/ppt/notesSlides/notesSlide2.xml" Id="Rad829005e37449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138469dc4820" /><Relationship Type="http://schemas.openxmlformats.org/officeDocument/2006/relationships/notesSlide" Target="/ppt/notesSlides/notesSlide3.xml" Id="Rfa28ab988ef44d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469AF-3873-41F5-B079-513842D5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D864F-68BD-40EF-813D-7796EA58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Paper story: controlled alignment across native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577F9-24A2-491E-BB1D-96D7859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ICASSP 2027 direction after the 3 September advisor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FC33D-2479-4ACD-AD04-B4B8F45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7AB8A-3B37-402D-A9FD-36FC59D9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2571750" cy="31432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BA76D-C8C5-42BC-B9D8-B1EF37DE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E2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18982-E098-44AA-91C8-00A65418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Observed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DFBA4-AE28-432B-A6B5-6CE78E4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0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ICBHI-specialized checkpoints retain their source result but approach the 50% floor on SPRSound transfer.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FBAED-C110-4FAC-ACEE-FFCCFBB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PAFA 64.14 / 55.82</a:t>
            </a:r>
          </a:p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SG-SCL 60.98 / 59.98</a:t>
            </a:r>
          </a:p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Patch-Mix 62.17 / 59.38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8AF22-D537-4626-9385-53E0CD9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2571750" cy="31432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1904E-3E2B-4A35-9EF6-D1BEF73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7A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D59AD-3A56-4A7E-97EF-2DED4F6B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rPr>
              <a:t>Concrete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32E43-4889-4E7C-9A89-E8E8DBA6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90750"/>
            <a:ext cx="220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0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Labels overlap only partially. Cycles and events use different outputs and metrics. Unavailable labels cannot be treated as negatives.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3F1F9-A687-4A7F-9A34-271A725B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Need semantic sharing without erasing native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BD99E-494B-4955-917F-761C054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2571750" cy="31432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CAB20-3E85-458D-BBAF-6EC43439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573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E93BD-1D0F-4F11-B929-3B5F2169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288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rPr>
              <a:t>Method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00EE1-0F3A-4CAF-AD2D-862F80E7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220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7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Shared BEATs representation with a Normal/Abnormal hierarchy, eligible Crackle/Wheeze losses, and dataset-native readouts.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A9BC32-338D-41CF-B6CC-1BD986A9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48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1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Key phrase: label-availability-aware task alignment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4EEBF-A511-4BAA-B4F0-0D61B5D8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2571750" cy="314325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68035F-36D1-4BE7-9421-AFD66ADC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573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90B884-2D53-418A-A9FF-BD713FF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7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rPr>
              <a:t>Evidence and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6D0D1-4C4E-4788-B5FA-057D3C51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2209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JH2 reaches ICBHI 61.17±0.31 and SPRSound 90.70±0.34 across three seeds.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9899F-B0B2-436F-8A1C-74B2FE0B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48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Still missing matched independent heads and source-only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7BF75-D8F7-4155-88ED-998D0E88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6705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5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DEA9D-C423-49E8-9652-4252E92A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6705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57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3D16D-8B2E-4108-9DF2-ED9D3FC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67050"/>
            <a:ext cx="2095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657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AF00FE-CF08-4264-8B1F-5D4C40F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7F8FB"/>
          </a:solidFill>
          <a:ln xmlns:a="http://schemas.openxmlformats.org/drawingml/2006/main" w="11430">
            <a:solidFill>
              <a:srgbClr val="4E2A8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79DF18-70A6-419A-BE0D-DEA006BC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rPr>
              <a:t>Recommended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5616D-B4DE-4EBA-A062-4315D59B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911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ICBHI + SPRSound core paper. HF Lung and KAUH remain bounded supporting diagnostics.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BB66E8-863D-493B-BBD7-B5B0965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828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Claim target: controlled retention across native tasks, not SOTA or universal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436822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A1D63-F61F-46BC-BB5A-CD4FB2F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270DC-E66D-45E0-B1C7-0BFBD2C1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Three contributions, each tied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5FFAD-E400-4497-A03C-A00713E0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The method claim remains conditional until the matched control is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C9C1-4FCD-44D2-9413-A3CA6023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2/3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38C9C-ACEC-4422-9DA7-FF4FA5C8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6A321-91EE-4665-9797-1DDEFDD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287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Native-task-preserving formulation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31DDA-6431-44A4-8366-81FD2EE3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383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Align partially observed respiratory labels while retaining cycle-level ICBHI and event-level SPRSound outputs and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DEC49-3502-47DF-A798-B3478C7E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022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rPr>
              <a:t>Figure 1 + task/label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C36CB-0B87-4884-AD78-6A86F94B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B6796-4D48-4768-B425-26BC649B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69B82-6175-4A3C-A676-13D4C719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813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Eligibility-aware hierarchical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91F60-2534-479B-B790-D971B32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909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Share Normal/Abnormal, Crackle, and Wheeze semantics without converting unavailable targets into negative supervision.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27F4B-127A-4D4A-8672-27E6B4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5277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rPr>
              <a:t>Figure 2 + independent-head control needed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FCA186-C934-494A-AC2E-E31F25B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C4D36-80E5-43FE-A178-DC88375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38B92-ECD1-4377-BC11-C41BECB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338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Dataset-dependent retention analysis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DBA8E-70B4-42A3-9BA4-5596BA8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Report native scores, specificity, sensitivity, and class recall across three seeds instead of constructing one pooled score.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F1645-CCB8-4E05-B77B-596504CE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05325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47D76"/>
                </a:solidFill>
                <a:latin typeface="Helvetica Neue"/>
                <a:ea typeface="Helvetica Neue"/>
                <a:cs typeface="Helvetica Neue"/>
              </a:rPr>
              <a:t>Table I + Table II + per-class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D8DEAC-2684-4085-BD52-02A22582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BEEE7"/>
          </a:solidFill>
          <a:ln xmlns:a="http://schemas.openxmlformats.org/drawingml/2006/main" w="11430">
            <a:solidFill>
              <a:srgbClr val="C95E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D77E0-C6D9-4AFD-A252-6D496C4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245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7943E-320F-4754-8C89-156788A1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8959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ICBHI is test-selected; no pooled score; no SOTA claim; HF/KAUH remain diagnostics.</a:t>
            </a:r>
          </a:p>
        </p:txBody>
      </p:sp>
    </p:spTree>
    <p:extLst>
      <p:ext uri="{BB962C8B-B14F-4D97-AF65-F5344CB8AC3E}">
        <p14:creationId xmlns:p14="http://schemas.microsoft.com/office/powerpoint/2010/main" val="783309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BAC419-6C40-4CCF-802B-2BBC949C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2A8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F8C71-93B2-4586-B647-97F6C11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Evidence needed before the method claim is credible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BF2A1-2EBC-4DE3-8546-13BF1F74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Run only work that fills Figure 1, Figure 2, Table I, or Table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69F5B-88A0-4E1B-A120-01A730F3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8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3/3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5D14D-BD86-4E1F-AC53-DABE712E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Priority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9380B-895E-4B73-A5B3-17C9E7A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28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B4CFB-2AED-4BA3-B9B8-4BA9633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Question answered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39E38-4533-4C5E-A650-9084AE3E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28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8F62A-A164-4B5A-87CE-700A792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7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73973-9644-47F7-8070-235652BF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8C829-B790-44E3-AA3D-568DB04A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78EE1-1F1F-4324-9555-8CBFC586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Joint independent heads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85D71-541E-4CAB-88B4-E68C98CE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621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Does the hierarchy add value beyond a shared encoder?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A7730-5897-4C6F-B47C-637FD603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Zilong / model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622A5-E1DA-42AF-AD5F-9B94C0CC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08486-E758-4F04-9455-F7668A8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ICBHI-only + SPR-only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314B3-6CC1-4402-AB52-437F7DB1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Does joint learning help, hurt, or retain each native task?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05223-778D-4633-B109-A05F710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Zilong / model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41320-69EF-41F1-B4EF-E44F2D2E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7CF63-21FA-43B5-B858-3F7B972E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470BD-E693-4CFB-BF76-43567A36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Prospective clean seed42 suite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DB923-32BF-483A-8D94-55E9889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099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Do conclusions survive validation-only selection and one test access?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633826-4968-4FFB-948D-78E758C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Zilong / model design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6BC98C-0479-4869-8330-5A588540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C95E24"/>
                </a:solidFill>
                <a:latin typeface="Helvetica Neue"/>
                <a:ea typeface="Helvetica Neue"/>
                <a:cs typeface="Helvetica Neue"/>
              </a:rPr>
              <a:t>P0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A42E3-AB0C-46F7-8F24-DCACEC6A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2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Class-matched acoustic analysis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3F767C-D3C4-499C-8FC7-6744117B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Which domain differences remain after controlling label composition?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65A501-E4CF-4AEF-8C6D-C2148F8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Wade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B973A6-BD40-449F-869E-3AF1AB3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23C71D-36C1-41B2-9E81-56B67EAE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C67A0"/>
                </a:solidFill>
                <a:latin typeface="Helvetica Neue"/>
                <a:ea typeface="Helvetica Neue"/>
                <a:cs typeface="Helvetica Neue"/>
              </a:rPr>
              <a:t>P1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8E308D-E864-4503-A7E4-848CEF0B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Baseline provenance registry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E9C1FC-77D6-42B7-B0FA-D8FBFF16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Which published and local rows are truly comparable?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8BBC7-9582-4986-980D-E5569B08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95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Hanlin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4A211-9A44-4147-978B-C04A8BEE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E8F6"/>
          </a:solidFill>
          <a:ln xmlns:a="http://schemas.openxmlformats.org/drawingml/2006/main" w="11430">
            <a:solidFill>
              <a:srgbClr val="4E2A8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CF8911-0C26-4787-8558-A4F3E5F5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E2A84"/>
                </a:solidFill>
                <a:latin typeface="Helvetica Neue"/>
                <a:ea typeface="Helvetica Neue"/>
                <a:cs typeface="Helvetica Neue"/>
              </a:rPr>
              <a:t>Sunday 9/6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51F5B-7372-4785-A2D3-B76FD030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9597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033"/>
                </a:solidFill>
                <a:latin typeface="Helvetica Neue"/>
                <a:ea typeface="Helvetica Neue"/>
                <a:cs typeface="Helvetica Neue"/>
              </a:rPr>
              <a:t>Data/Method v1, Figure 2, fixed Table I/II contracts, and one submission-blocker list</a:t>
            </a:r>
          </a:p>
        </p:txBody>
      </p:sp>
    </p:spTree>
    <p:extLst>
      <p:ext uri="{BB962C8B-B14F-4D97-AF65-F5344CB8AC3E}">
        <p14:creationId xmlns:p14="http://schemas.microsoft.com/office/powerpoint/2010/main" val="1415795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2026-09-04T18:03:33.2770000Z</dcterms:created>
  <dcterms:modified xsi:type="dcterms:W3CDTF">2026-09-04T18:03:33.2770000Z</dcterms:modified>
</coreProperties>
</file>